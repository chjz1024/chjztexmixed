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5" r:id="rId1"/>
  </p:sldMasterIdLst>
  <p:notesMasterIdLst>
    <p:notesMasterId r:id="rId32"/>
  </p:notesMasterIdLst>
  <p:sldIdLst>
    <p:sldId id="274" r:id="rId2"/>
    <p:sldId id="306" r:id="rId3"/>
    <p:sldId id="300" r:id="rId4"/>
    <p:sldId id="295" r:id="rId5"/>
    <p:sldId id="310" r:id="rId6"/>
    <p:sldId id="277" r:id="rId7"/>
    <p:sldId id="307" r:id="rId8"/>
    <p:sldId id="308" r:id="rId9"/>
    <p:sldId id="278" r:id="rId10"/>
    <p:sldId id="280" r:id="rId11"/>
    <p:sldId id="281" r:id="rId12"/>
    <p:sldId id="282" r:id="rId13"/>
    <p:sldId id="283" r:id="rId14"/>
    <p:sldId id="284" r:id="rId15"/>
    <p:sldId id="297" r:id="rId16"/>
    <p:sldId id="286" r:id="rId17"/>
    <p:sldId id="287" r:id="rId18"/>
    <p:sldId id="288" r:id="rId19"/>
    <p:sldId id="290" r:id="rId20"/>
    <p:sldId id="291" r:id="rId21"/>
    <p:sldId id="298" r:id="rId22"/>
    <p:sldId id="296" r:id="rId23"/>
    <p:sldId id="299" r:id="rId24"/>
    <p:sldId id="301" r:id="rId25"/>
    <p:sldId id="302" r:id="rId26"/>
    <p:sldId id="303" r:id="rId27"/>
    <p:sldId id="304" r:id="rId28"/>
    <p:sldId id="305" r:id="rId29"/>
    <p:sldId id="294" r:id="rId30"/>
    <p:sldId id="309"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4098"/>
    <a:srgbClr val="00347A"/>
    <a:srgbClr val="0000DC"/>
    <a:srgbClr val="1CADE4"/>
    <a:srgbClr val="90E8EF"/>
    <a:srgbClr val="9292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0" y="1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9BCFFA-E89E-4B37-801C-C6475E8D1C2F}" type="datetimeFigureOut">
              <a:rPr lang="zh-CN" altLang="en-US" smtClean="0"/>
              <a:t>2019/5/6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C8BCD0-B12F-4AC5-A214-25B534410FF0}" type="slidenum">
              <a:rPr lang="zh-CN" altLang="en-US" smtClean="0"/>
              <a:t>‹#›</a:t>
            </a:fld>
            <a:endParaRPr lang="zh-CN" altLang="en-US"/>
          </a:p>
        </p:txBody>
      </p:sp>
    </p:spTree>
    <p:extLst>
      <p:ext uri="{BB962C8B-B14F-4D97-AF65-F5344CB8AC3E}">
        <p14:creationId xmlns:p14="http://schemas.microsoft.com/office/powerpoint/2010/main" val="3331018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上图所示为网络分析仪内部组成框图。 为完成被测件传输</a:t>
            </a:r>
            <a:r>
              <a:rPr lang="en-US" altLang="zh-CN" dirty="0" smtClean="0"/>
              <a:t>/</a:t>
            </a:r>
            <a:r>
              <a:rPr lang="zh-CN" altLang="en-US" dirty="0" smtClean="0"/>
              <a:t>反射特性测试，网络分析仪包含以下四个部分：</a:t>
            </a:r>
          </a:p>
          <a:p>
            <a:r>
              <a:rPr lang="en-US" altLang="zh-CN" b="1" dirty="0" smtClean="0"/>
              <a:t>1</a:t>
            </a:r>
            <a:r>
              <a:rPr lang="zh-CN" altLang="en-US" b="1" dirty="0" smtClean="0"/>
              <a:t>、</a:t>
            </a:r>
            <a:r>
              <a:rPr lang="zh-CN" altLang="en-US" b="1" u="sng" dirty="0" smtClean="0"/>
              <a:t>激励信号源</a:t>
            </a:r>
            <a:r>
              <a:rPr lang="zh-CN" altLang="en-US" dirty="0" smtClean="0"/>
              <a:t>， 提供被测件激励输入信号；</a:t>
            </a:r>
          </a:p>
          <a:p>
            <a:r>
              <a:rPr lang="en-US" altLang="zh-CN" b="1" dirty="0" smtClean="0"/>
              <a:t>2</a:t>
            </a:r>
            <a:r>
              <a:rPr lang="zh-CN" altLang="en-US" b="1" dirty="0" smtClean="0"/>
              <a:t>、</a:t>
            </a:r>
            <a:r>
              <a:rPr lang="zh-CN" altLang="en-US" b="1" u="sng" dirty="0" smtClean="0"/>
              <a:t>信号分离装置</a:t>
            </a:r>
            <a:r>
              <a:rPr lang="zh-CN" altLang="en-US" dirty="0" smtClean="0"/>
              <a:t>，含功分器和定向耦合器件，分别完成对被测试件输入和反射信号提取；</a:t>
            </a:r>
          </a:p>
          <a:p>
            <a:r>
              <a:rPr lang="en-US" altLang="zh-CN" b="1" dirty="0" smtClean="0"/>
              <a:t>3</a:t>
            </a:r>
            <a:r>
              <a:rPr lang="zh-CN" altLang="en-US" b="1" dirty="0" smtClean="0"/>
              <a:t>、</a:t>
            </a:r>
            <a:r>
              <a:rPr lang="zh-CN" altLang="en-US" b="1" u="sng" dirty="0" smtClean="0"/>
              <a:t>接收机</a:t>
            </a:r>
            <a:r>
              <a:rPr lang="zh-CN" altLang="en-US" dirty="0" smtClean="0"/>
              <a:t>：对被测件的反射；传输；输入信号进行测试比较；</a:t>
            </a:r>
          </a:p>
          <a:p>
            <a:r>
              <a:rPr lang="en-US" altLang="zh-CN" b="1" dirty="0" smtClean="0"/>
              <a:t>4</a:t>
            </a:r>
            <a:r>
              <a:rPr lang="zh-CN" altLang="en-US" b="1" dirty="0" smtClean="0"/>
              <a:t>、</a:t>
            </a:r>
            <a:r>
              <a:rPr lang="zh-CN" altLang="en-US" b="1" u="sng" dirty="0" smtClean="0"/>
              <a:t>处理显示单元</a:t>
            </a:r>
            <a:r>
              <a:rPr lang="zh-CN" altLang="en-US" dirty="0" smtClean="0"/>
              <a:t>，完成对测试结果进行处理和显示。</a:t>
            </a:r>
          </a:p>
        </p:txBody>
      </p:sp>
      <p:sp>
        <p:nvSpPr>
          <p:cNvPr id="4" name="灯片编号占位符 3"/>
          <p:cNvSpPr>
            <a:spLocks noGrp="1"/>
          </p:cNvSpPr>
          <p:nvPr>
            <p:ph type="sldNum" sz="quarter" idx="10"/>
          </p:nvPr>
        </p:nvSpPr>
        <p:spPr/>
        <p:txBody>
          <a:bodyPr/>
          <a:lstStyle/>
          <a:p>
            <a:fld id="{B4C8BCD0-B12F-4AC5-A214-25B534410FF0}" type="slidenum">
              <a:rPr lang="zh-CN" altLang="en-US" smtClean="0"/>
              <a:t>10</a:t>
            </a:fld>
            <a:endParaRPr lang="zh-CN" altLang="en-US"/>
          </a:p>
        </p:txBody>
      </p:sp>
    </p:spTree>
    <p:extLst>
      <p:ext uri="{BB962C8B-B14F-4D97-AF65-F5344CB8AC3E}">
        <p14:creationId xmlns:p14="http://schemas.microsoft.com/office/powerpoint/2010/main" val="461123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反射特性是被测件反射与输入激励的相对比值，网络分析仪要完成该项测试，需分别得到被测件输入激励信号和测试端口反射信号。</a:t>
            </a:r>
          </a:p>
          <a:p>
            <a:r>
              <a:rPr lang="zh-CN" altLang="en-US" dirty="0" smtClean="0"/>
              <a:t>网络分析仪内部信号源负责产生满足测试频率和功率要求的激励信号，信号源输出通过功分器均分为两路信号，一路直接进入</a:t>
            </a:r>
            <a:r>
              <a:rPr lang="en-US" altLang="zh-CN" dirty="0" smtClean="0"/>
              <a:t>R</a:t>
            </a:r>
            <a:r>
              <a:rPr lang="zh-CN" altLang="en-US" dirty="0" smtClean="0"/>
              <a:t>接收机，另一路通过开关输入到被测件相应测试口。所以，</a:t>
            </a:r>
            <a:r>
              <a:rPr lang="en-US" altLang="zh-CN" dirty="0" smtClean="0"/>
              <a:t>R </a:t>
            </a:r>
            <a:r>
              <a:rPr lang="zh-CN" altLang="en-US" dirty="0" smtClean="0"/>
              <a:t>接收机测试得到被测输入信号信息。</a:t>
            </a:r>
          </a:p>
          <a:p>
            <a:r>
              <a:rPr lang="zh-CN" altLang="en-US" dirty="0" smtClean="0"/>
              <a:t>激励信号输入到被测件后会发射反射，被测件端口反射信号与输入激励信号在相同物理路径上传播，定向耦合器负责把同一个物理路径上相反方向传播的信号进行分离，提取的反射信号信息进入</a:t>
            </a:r>
            <a:r>
              <a:rPr lang="en-US" altLang="zh-CN" dirty="0" smtClean="0"/>
              <a:t>A</a:t>
            </a:r>
            <a:r>
              <a:rPr lang="zh-CN" altLang="en-US" dirty="0" smtClean="0"/>
              <a:t>接收机。</a:t>
            </a:r>
          </a:p>
          <a:p>
            <a:endParaRPr lang="zh-CN" altLang="en-US" dirty="0" smtClean="0"/>
          </a:p>
          <a:p>
            <a:r>
              <a:rPr lang="en-US" altLang="zh-CN" dirty="0" smtClean="0"/>
              <a:t>A/R</a:t>
            </a:r>
            <a:r>
              <a:rPr lang="zh-CN" altLang="en-US" dirty="0" smtClean="0"/>
              <a:t>： 为被测试件端口反射特性。当需要测试另外端口反射特性时，需网络分析仪内部开关将激励信号转换到相应测试端口。</a:t>
            </a:r>
          </a:p>
          <a:p>
            <a:endParaRPr lang="zh-CN" altLang="en-US" dirty="0" smtClean="0"/>
          </a:p>
          <a:p>
            <a:r>
              <a:rPr lang="zh-CN" altLang="en-US" dirty="0" smtClean="0"/>
              <a:t>传输特性是被测件输出与输入激励的相对比值，网络分析仪要完成该项测试，需分别得到被测件输入激励信号和输出信号信息。</a:t>
            </a:r>
          </a:p>
          <a:p>
            <a:r>
              <a:rPr lang="zh-CN" altLang="en-US" dirty="0" smtClean="0"/>
              <a:t>网络分析仪内部信号源负责产生满足测试频率和功率要求的激励信号，信号源输出通过功分器均分为两路信号，一路直接进入</a:t>
            </a:r>
            <a:r>
              <a:rPr lang="en-US" altLang="zh-CN" dirty="0" smtClean="0"/>
              <a:t>R</a:t>
            </a:r>
            <a:r>
              <a:rPr lang="zh-CN" altLang="en-US" dirty="0" smtClean="0"/>
              <a:t>接收机，另一路通过开关输入到被测件相应测试口。所以，</a:t>
            </a:r>
            <a:r>
              <a:rPr lang="en-US" altLang="zh-CN" dirty="0" smtClean="0"/>
              <a:t>R </a:t>
            </a:r>
            <a:r>
              <a:rPr lang="zh-CN" altLang="en-US" dirty="0" smtClean="0"/>
              <a:t>接收机测试得到被测输入信号信息。</a:t>
            </a:r>
          </a:p>
          <a:p>
            <a:r>
              <a:rPr lang="zh-CN" altLang="en-US" dirty="0" smtClean="0"/>
              <a:t>被测件输出信号进入网络分析仪</a:t>
            </a:r>
            <a:r>
              <a:rPr lang="en-US" altLang="zh-CN" b="1" dirty="0" smtClean="0"/>
              <a:t>B</a:t>
            </a:r>
            <a:r>
              <a:rPr lang="zh-CN" altLang="en-US" b="1" dirty="0" smtClean="0"/>
              <a:t>接收机</a:t>
            </a:r>
            <a:r>
              <a:rPr lang="zh-CN" altLang="en-US" dirty="0" smtClean="0"/>
              <a:t>，所以，</a:t>
            </a:r>
            <a:r>
              <a:rPr lang="en-US" altLang="zh-CN" b="1" dirty="0" smtClean="0"/>
              <a:t>B</a:t>
            </a:r>
            <a:r>
              <a:rPr lang="zh-CN" altLang="en-US" b="1" dirty="0" smtClean="0"/>
              <a:t>接收机</a:t>
            </a:r>
            <a:r>
              <a:rPr lang="zh-CN" altLang="en-US" dirty="0" smtClean="0"/>
              <a:t>测试得到被测件输出信号信息。</a:t>
            </a:r>
          </a:p>
          <a:p>
            <a:r>
              <a:rPr lang="en-US" altLang="zh-CN" dirty="0" smtClean="0"/>
              <a:t>B/R</a:t>
            </a:r>
            <a:r>
              <a:rPr lang="zh-CN" altLang="en-US" dirty="0" smtClean="0"/>
              <a:t>：为被测试件正向传输特性</a:t>
            </a:r>
            <a:r>
              <a:rPr lang="en-US" altLang="zh-CN" dirty="0" smtClean="0"/>
              <a:t>.</a:t>
            </a:r>
            <a:r>
              <a:rPr lang="zh-CN" altLang="en-US" dirty="0" smtClean="0"/>
              <a:t>，当完成反向测试测试时，需要网络分析仪内部开关控制信号流程。</a:t>
            </a:r>
          </a:p>
        </p:txBody>
      </p:sp>
      <p:sp>
        <p:nvSpPr>
          <p:cNvPr id="4" name="灯片编号占位符 3"/>
          <p:cNvSpPr>
            <a:spLocks noGrp="1"/>
          </p:cNvSpPr>
          <p:nvPr>
            <p:ph type="sldNum" sz="quarter" idx="10"/>
          </p:nvPr>
        </p:nvSpPr>
        <p:spPr/>
        <p:txBody>
          <a:bodyPr/>
          <a:lstStyle/>
          <a:p>
            <a:fld id="{B4C8BCD0-B12F-4AC5-A214-25B534410FF0}" type="slidenum">
              <a:rPr lang="zh-CN" altLang="en-US" smtClean="0"/>
              <a:t>11</a:t>
            </a:fld>
            <a:endParaRPr lang="zh-CN" altLang="en-US"/>
          </a:p>
        </p:txBody>
      </p:sp>
    </p:spTree>
    <p:extLst>
      <p:ext uri="{BB962C8B-B14F-4D97-AF65-F5344CB8AC3E}">
        <p14:creationId xmlns:p14="http://schemas.microsoft.com/office/powerpoint/2010/main" val="1425298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信号源提供被测件激励信号，由于网络分析仪要测试被测件传输</a:t>
            </a:r>
            <a:r>
              <a:rPr lang="en-US" altLang="zh-CN" dirty="0" smtClean="0"/>
              <a:t>/</a:t>
            </a:r>
            <a:r>
              <a:rPr lang="zh-CN" altLang="en-US" dirty="0" smtClean="0"/>
              <a:t>反射特性与工作频率和功率的关系，所以，网络分析仪内信号源需具备频率扫描和功率扫描功能。</a:t>
            </a:r>
          </a:p>
          <a:p>
            <a:r>
              <a:rPr lang="zh-CN" altLang="en-US" dirty="0" smtClean="0"/>
              <a:t>为保证测试的频率精度</a:t>
            </a:r>
            <a:r>
              <a:rPr lang="en-US" altLang="zh-CN" dirty="0" smtClean="0"/>
              <a:t>,</a:t>
            </a:r>
            <a:r>
              <a:rPr lang="zh-CN" altLang="en-US" dirty="0" smtClean="0"/>
              <a:t>现在网络分析仪内信号源采用频率合成方法实现。当扫宽设置为零时，输出信号为点频</a:t>
            </a:r>
            <a:r>
              <a:rPr lang="en-US" altLang="zh-CN" dirty="0" smtClean="0"/>
              <a:t>CW</a:t>
            </a:r>
            <a:r>
              <a:rPr lang="zh-CN" altLang="en-US" dirty="0" smtClean="0"/>
              <a:t>信号。</a:t>
            </a:r>
          </a:p>
          <a:p>
            <a:r>
              <a:rPr lang="zh-CN" altLang="en-US" dirty="0" smtClean="0"/>
              <a:t>网络分析控制其输出功率依靠</a:t>
            </a:r>
            <a:r>
              <a:rPr lang="en-US" altLang="zh-CN" dirty="0" smtClean="0"/>
              <a:t>ALC</a:t>
            </a:r>
            <a:r>
              <a:rPr lang="zh-CN" altLang="en-US" dirty="0" smtClean="0"/>
              <a:t>和衰减器两个部分完成，</a:t>
            </a:r>
            <a:r>
              <a:rPr lang="en-US" altLang="zh-CN" dirty="0" smtClean="0"/>
              <a:t>ALC</a:t>
            </a:r>
            <a:r>
              <a:rPr lang="zh-CN" altLang="en-US" dirty="0" smtClean="0"/>
              <a:t>保证输入信号功率的稳定和功率扫描控制，由于</a:t>
            </a:r>
            <a:r>
              <a:rPr lang="en-US" altLang="zh-CN" dirty="0" smtClean="0"/>
              <a:t>ALC</a:t>
            </a:r>
            <a:r>
              <a:rPr lang="zh-CN" altLang="en-US" dirty="0" smtClean="0"/>
              <a:t>控制范围有限</a:t>
            </a:r>
            <a:r>
              <a:rPr lang="en-US" altLang="zh-CN" dirty="0" smtClean="0"/>
              <a:t>,</a:t>
            </a:r>
            <a:r>
              <a:rPr lang="zh-CN" altLang="en-US" dirty="0" smtClean="0"/>
              <a:t>需衰减器完成大范围功率调整。</a:t>
            </a:r>
          </a:p>
        </p:txBody>
      </p:sp>
      <p:sp>
        <p:nvSpPr>
          <p:cNvPr id="4" name="灯片编号占位符 3"/>
          <p:cNvSpPr>
            <a:spLocks noGrp="1"/>
          </p:cNvSpPr>
          <p:nvPr>
            <p:ph type="sldNum" sz="quarter" idx="10"/>
          </p:nvPr>
        </p:nvSpPr>
        <p:spPr/>
        <p:txBody>
          <a:bodyPr/>
          <a:lstStyle/>
          <a:p>
            <a:fld id="{B4C8BCD0-B12F-4AC5-A214-25B534410FF0}" type="slidenum">
              <a:rPr lang="zh-CN" altLang="en-US" smtClean="0"/>
              <a:t>12</a:t>
            </a:fld>
            <a:endParaRPr lang="zh-CN" altLang="en-US"/>
          </a:p>
        </p:txBody>
      </p:sp>
    </p:spTree>
    <p:extLst>
      <p:ext uri="{BB962C8B-B14F-4D97-AF65-F5344CB8AC3E}">
        <p14:creationId xmlns:p14="http://schemas.microsoft.com/office/powerpoint/2010/main" val="38052789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网络分析仪内部功分器和定向耦合器分别完成对被测件输入信号和反射信号的提取。其中当要测试被测件某个端口反射特性时，必须将定向耦合器直接连接在该测试端口上。</a:t>
            </a:r>
          </a:p>
          <a:p>
            <a:r>
              <a:rPr lang="zh-CN" altLang="en-US" dirty="0" smtClean="0"/>
              <a:t>这两部分统称为信号分离装置</a:t>
            </a:r>
            <a:r>
              <a:rPr lang="en-US" altLang="zh-CN" dirty="0" smtClean="0"/>
              <a:t>,</a:t>
            </a:r>
            <a:r>
              <a:rPr lang="zh-CN" altLang="en-US" dirty="0" smtClean="0"/>
              <a:t>，这部分硬件也通常被测试为“测试座”，在一些特殊测试场合</a:t>
            </a:r>
            <a:r>
              <a:rPr lang="en-US" altLang="zh-CN" dirty="0" smtClean="0"/>
              <a:t>(</a:t>
            </a:r>
            <a:r>
              <a:rPr lang="zh-CN" altLang="en-US" dirty="0" smtClean="0"/>
              <a:t>大功率测试等</a:t>
            </a:r>
            <a:r>
              <a:rPr lang="en-US" altLang="zh-CN" dirty="0" smtClean="0"/>
              <a:t>)</a:t>
            </a:r>
            <a:r>
              <a:rPr lang="zh-CN" altLang="en-US" dirty="0" smtClean="0"/>
              <a:t>可不使用网络分析仪表一体化的内置测试座，而使用外置测试座设备。</a:t>
            </a:r>
          </a:p>
        </p:txBody>
      </p:sp>
      <p:sp>
        <p:nvSpPr>
          <p:cNvPr id="4" name="灯片编号占位符 3"/>
          <p:cNvSpPr>
            <a:spLocks noGrp="1"/>
          </p:cNvSpPr>
          <p:nvPr>
            <p:ph type="sldNum" sz="quarter" idx="10"/>
          </p:nvPr>
        </p:nvSpPr>
        <p:spPr/>
        <p:txBody>
          <a:bodyPr/>
          <a:lstStyle/>
          <a:p>
            <a:fld id="{B4C8BCD0-B12F-4AC5-A214-25B534410FF0}" type="slidenum">
              <a:rPr lang="zh-CN" altLang="en-US" smtClean="0"/>
              <a:t>13</a:t>
            </a:fld>
            <a:endParaRPr lang="zh-CN" altLang="en-US"/>
          </a:p>
        </p:txBody>
      </p:sp>
    </p:spTree>
    <p:extLst>
      <p:ext uri="{BB962C8B-B14F-4D97-AF65-F5344CB8AC3E}">
        <p14:creationId xmlns:p14="http://schemas.microsoft.com/office/powerpoint/2010/main" val="24923843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反射测试中</a:t>
            </a:r>
            <a:r>
              <a:rPr lang="en-US" altLang="zh-CN" dirty="0" smtClean="0"/>
              <a:t>, </a:t>
            </a:r>
            <a:r>
              <a:rPr lang="zh-CN" altLang="en-US" dirty="0" smtClean="0"/>
              <a:t>定向耦合器对于被测件反射信号而言是正向连接，定向耦合器耦合端输出反映反射信号信息。</a:t>
            </a:r>
          </a:p>
          <a:p>
            <a:r>
              <a:rPr lang="zh-CN" altLang="en-US" dirty="0" smtClean="0"/>
              <a:t>网络分析仪测试反射特性时，由于定向耦合器有限的方向性影响，耦合器耦合端会包含泄露的输入激励信号，该信号会与反射信号进行矢量叠加，造成反射指标测试误差。</a:t>
            </a:r>
          </a:p>
          <a:p>
            <a:r>
              <a:rPr lang="zh-CN" altLang="en-US" dirty="0" smtClean="0"/>
              <a:t>被测件匹配性能越好，定向耦合器方向性对测试影响越大。</a:t>
            </a:r>
          </a:p>
        </p:txBody>
      </p:sp>
      <p:sp>
        <p:nvSpPr>
          <p:cNvPr id="4" name="灯片编号占位符 3"/>
          <p:cNvSpPr>
            <a:spLocks noGrp="1"/>
          </p:cNvSpPr>
          <p:nvPr>
            <p:ph type="sldNum" sz="quarter" idx="10"/>
          </p:nvPr>
        </p:nvSpPr>
        <p:spPr/>
        <p:txBody>
          <a:bodyPr/>
          <a:lstStyle/>
          <a:p>
            <a:fld id="{B4C8BCD0-B12F-4AC5-A214-25B534410FF0}" type="slidenum">
              <a:rPr lang="zh-CN" altLang="en-US" smtClean="0"/>
              <a:t>14</a:t>
            </a:fld>
            <a:endParaRPr lang="zh-CN" altLang="en-US"/>
          </a:p>
        </p:txBody>
      </p:sp>
    </p:spTree>
    <p:extLst>
      <p:ext uri="{BB962C8B-B14F-4D97-AF65-F5344CB8AC3E}">
        <p14:creationId xmlns:p14="http://schemas.microsoft.com/office/powerpoint/2010/main" val="3707907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网络分析仪测试过程中的误差主要分为三类：系统误差；随机误差；漂移误差。</a:t>
            </a:r>
          </a:p>
          <a:p>
            <a:r>
              <a:rPr lang="zh-CN" altLang="en-US" b="1" u="sng" dirty="0" smtClean="0"/>
              <a:t>系统误差</a:t>
            </a:r>
            <a:r>
              <a:rPr lang="zh-CN" altLang="en-US" dirty="0" smtClean="0"/>
              <a:t>是由于仪表内部测试装置的不理想引起，它是可预示和可重复出现的。假设是不随时间变化的，从而可以定量进行描述。系统误差可在测试过程中通过校准消除。</a:t>
            </a:r>
          </a:p>
          <a:p>
            <a:r>
              <a:rPr lang="zh-CN" altLang="en-US" b="1" u="sng" dirty="0" smtClean="0"/>
              <a:t>随机误差</a:t>
            </a:r>
            <a:r>
              <a:rPr lang="zh-CN" altLang="en-US" dirty="0" smtClean="0"/>
              <a:t>是不可预示的，因为它以随机形式存在，会随时间变化，因此不能通过校准消除。随机误差的主要来源为：仪表内部噪声</a:t>
            </a:r>
            <a:r>
              <a:rPr lang="en-US" altLang="zh-CN" dirty="0" smtClean="0"/>
              <a:t>(</a:t>
            </a:r>
            <a:r>
              <a:rPr lang="zh-CN" altLang="en-US" dirty="0" smtClean="0"/>
              <a:t>如：激励源相位噪声；采样噪声；中频接收机本底噪声等</a:t>
            </a:r>
            <a:r>
              <a:rPr lang="en-US" altLang="zh-CN" dirty="0" smtClean="0"/>
              <a:t>)</a:t>
            </a:r>
            <a:r>
              <a:rPr lang="zh-CN" altLang="en-US" dirty="0" smtClean="0"/>
              <a:t>。仪表的开关动作重复性和连接器重复性也属于随机误差。</a:t>
            </a:r>
          </a:p>
          <a:p>
            <a:r>
              <a:rPr lang="zh-CN" altLang="en-US" b="1" u="sng" dirty="0" smtClean="0"/>
              <a:t>漂移误差</a:t>
            </a:r>
            <a:r>
              <a:rPr lang="zh-CN" altLang="en-US" dirty="0" smtClean="0"/>
              <a:t>是仪表在校准后测试装置性能漂移。漂移误差主要是由于温度变化造成，可通过进一步校准消除。校准后仪表能够保持稳定精度的时间长短取决与测试环境中仪表的漂移速度。</a:t>
            </a:r>
          </a:p>
        </p:txBody>
      </p:sp>
      <p:sp>
        <p:nvSpPr>
          <p:cNvPr id="4" name="灯片编号占位符 3"/>
          <p:cNvSpPr>
            <a:spLocks noGrp="1"/>
          </p:cNvSpPr>
          <p:nvPr>
            <p:ph type="sldNum" sz="quarter" idx="10"/>
          </p:nvPr>
        </p:nvSpPr>
        <p:spPr/>
        <p:txBody>
          <a:bodyPr/>
          <a:lstStyle/>
          <a:p>
            <a:fld id="{B4C8BCD0-B12F-4AC5-A214-25B534410FF0}" type="slidenum">
              <a:rPr lang="zh-CN" altLang="en-US" smtClean="0"/>
              <a:t>15</a:t>
            </a:fld>
            <a:endParaRPr lang="zh-CN" altLang="en-US"/>
          </a:p>
        </p:txBody>
      </p:sp>
    </p:spTree>
    <p:extLst>
      <p:ext uri="{BB962C8B-B14F-4D97-AF65-F5344CB8AC3E}">
        <p14:creationId xmlns:p14="http://schemas.microsoft.com/office/powerpoint/2010/main" val="863731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网络分析仪校准可消除测试过程中出现的系统误差。</a:t>
            </a:r>
          </a:p>
          <a:p>
            <a:r>
              <a:rPr lang="zh-CN" altLang="en-US" dirty="0" smtClean="0"/>
              <a:t>下面具体分析一下反射测试过程中网络分析仪存在的系统误差。</a:t>
            </a:r>
          </a:p>
          <a:p>
            <a:r>
              <a:rPr lang="zh-CN" altLang="en-US" dirty="0" smtClean="0"/>
              <a:t>上图明确了当网络分析仪测试器件反射特性时仪表存在的误差内容。</a:t>
            </a:r>
          </a:p>
          <a:p>
            <a:r>
              <a:rPr lang="zh-CN" altLang="en-US" b="1" u="sng" dirty="0" smtClean="0"/>
              <a:t>误差项</a:t>
            </a:r>
            <a:r>
              <a:rPr lang="en-US" altLang="zh-CN" b="1" u="sng" dirty="0" smtClean="0"/>
              <a:t>1</a:t>
            </a:r>
            <a:r>
              <a:rPr lang="zh-CN" altLang="en-US" b="1" u="sng" dirty="0" smtClean="0"/>
              <a:t>： 频响误差</a:t>
            </a:r>
          </a:p>
          <a:p>
            <a:r>
              <a:rPr lang="zh-CN" altLang="en-US" dirty="0" smtClean="0"/>
              <a:t>网络分析仪在扫频状态下工作，无论是仪表内部设备还是外接的测试电缆等在工作频带范围内其特性都会存在变化，这些与频率变化相关的测试误差称为“ 频响误差”，也被称为“ 跟踪误差”。</a:t>
            </a:r>
          </a:p>
          <a:p>
            <a:r>
              <a:rPr lang="zh-CN" altLang="en-US" b="1" u="sng" dirty="0" smtClean="0"/>
              <a:t>误差项</a:t>
            </a:r>
            <a:r>
              <a:rPr lang="en-US" altLang="zh-CN" b="1" u="sng" dirty="0" smtClean="0"/>
              <a:t>2</a:t>
            </a:r>
            <a:r>
              <a:rPr lang="zh-CN" altLang="en-US" b="1" u="sng" dirty="0" smtClean="0"/>
              <a:t>：方向性误差</a:t>
            </a:r>
          </a:p>
          <a:p>
            <a:r>
              <a:rPr lang="zh-CN" altLang="en-US" dirty="0" smtClean="0"/>
              <a:t>由于定向耦合器有限方向性造成的误差为方向性误差，方向性误差引起的泄漏信号会叠加在真实的反射信号上，造成测试误差。当被测件端口匹配性能好时，方向性误差对测试影响较大。</a:t>
            </a:r>
          </a:p>
          <a:p>
            <a:r>
              <a:rPr lang="zh-CN" altLang="en-US" b="1" u="sng" dirty="0" smtClean="0"/>
              <a:t>误差项</a:t>
            </a:r>
            <a:r>
              <a:rPr lang="en-US" altLang="zh-CN" b="1" u="sng" dirty="0" smtClean="0"/>
              <a:t>3</a:t>
            </a:r>
            <a:r>
              <a:rPr lang="zh-CN" altLang="en-US" b="1" u="sng" dirty="0" smtClean="0"/>
              <a:t>：端口失配误差</a:t>
            </a:r>
          </a:p>
          <a:p>
            <a:r>
              <a:rPr lang="zh-CN" altLang="en-US" dirty="0" smtClean="0"/>
              <a:t>反射指标测试过程中，反射信号通过传输路径返回仪端口，仪表端口阻抗与传输线间会存在失配，该失配会造成信号二次入射，最终在传输路径中的信号的多次入射，相应又形成多次反射，这项误差称为</a:t>
            </a:r>
            <a:r>
              <a:rPr lang="zh-CN" altLang="en-US" b="1" u="sng" dirty="0" smtClean="0"/>
              <a:t>源失配误差</a:t>
            </a:r>
            <a:r>
              <a:rPr lang="zh-CN" altLang="en-US" dirty="0" smtClean="0"/>
              <a:t>。被测件匹配性能越差，该项误差对测试的影响越明显。</a:t>
            </a:r>
          </a:p>
          <a:p>
            <a:endParaRPr lang="zh-CN" altLang="en-US" dirty="0" smtClean="0"/>
          </a:p>
          <a:p>
            <a:r>
              <a:rPr lang="zh-CN" altLang="en-US" dirty="0" smtClean="0"/>
              <a:t>同样，被测件输出的传输信号也会由于接收端阻抗失配造成反射，该信号会通过被测件的反向传输而叠加在真实反射信号上。从而形成</a:t>
            </a:r>
            <a:r>
              <a:rPr lang="zh-CN" altLang="en-US" b="1" u="sng" dirty="0" smtClean="0"/>
              <a:t>负载失配误差</a:t>
            </a:r>
            <a:r>
              <a:rPr lang="zh-CN" altLang="en-US" dirty="0" smtClean="0"/>
              <a:t>。如果被测件反向传输隔离性能较差，负载失配误差的影响较大。</a:t>
            </a:r>
          </a:p>
          <a:p>
            <a:r>
              <a:rPr lang="zh-CN" altLang="en-US" b="1" u="sng" dirty="0" smtClean="0"/>
              <a:t>误差项</a:t>
            </a:r>
            <a:r>
              <a:rPr lang="en-US" altLang="zh-CN" b="1" u="sng" dirty="0" smtClean="0"/>
              <a:t>4</a:t>
            </a:r>
            <a:r>
              <a:rPr lang="zh-CN" altLang="en-US" b="1" u="sng" dirty="0" smtClean="0"/>
              <a:t>：隔离误差</a:t>
            </a:r>
          </a:p>
          <a:p>
            <a:r>
              <a:rPr lang="zh-CN" altLang="en-US" dirty="0" smtClean="0"/>
              <a:t>在网络分析仪内部</a:t>
            </a:r>
            <a:r>
              <a:rPr lang="en-US" altLang="zh-CN" dirty="0" smtClean="0"/>
              <a:t>R</a:t>
            </a:r>
            <a:r>
              <a:rPr lang="zh-CN" altLang="en-US" dirty="0" smtClean="0"/>
              <a:t>，</a:t>
            </a:r>
            <a:r>
              <a:rPr lang="en-US" altLang="zh-CN" dirty="0" smtClean="0"/>
              <a:t>A</a:t>
            </a:r>
            <a:r>
              <a:rPr lang="zh-CN" altLang="en-US" dirty="0" smtClean="0"/>
              <a:t>，</a:t>
            </a:r>
            <a:r>
              <a:rPr lang="en-US" altLang="zh-CN" dirty="0" smtClean="0"/>
              <a:t>B</a:t>
            </a:r>
            <a:r>
              <a:rPr lang="zh-CN" altLang="en-US" dirty="0" smtClean="0"/>
              <a:t>接收机应该分别反映测试的输入</a:t>
            </a:r>
            <a:r>
              <a:rPr lang="en-US" altLang="zh-CN" dirty="0" smtClean="0"/>
              <a:t>,</a:t>
            </a:r>
            <a:r>
              <a:rPr lang="zh-CN" altLang="en-US" dirty="0" smtClean="0"/>
              <a:t>反射及传输信号。但这些接收机之间会存在信号串扰，对于高隔离被测件</a:t>
            </a:r>
            <a:r>
              <a:rPr lang="en-US" altLang="zh-CN" dirty="0" smtClean="0"/>
              <a:t>(</a:t>
            </a:r>
            <a:r>
              <a:rPr lang="zh-CN" altLang="en-US" dirty="0" smtClean="0"/>
              <a:t>开关；隔离器； 大范围衰减器</a:t>
            </a:r>
            <a:r>
              <a:rPr lang="en-US" altLang="zh-CN" dirty="0" smtClean="0"/>
              <a:t>)</a:t>
            </a:r>
            <a:r>
              <a:rPr lang="zh-CN" altLang="en-US" dirty="0" smtClean="0"/>
              <a:t>的测试。该项误差影响明显。</a:t>
            </a:r>
          </a:p>
          <a:p>
            <a:endParaRPr lang="zh-CN" altLang="en-US" dirty="0" smtClean="0"/>
          </a:p>
          <a:p>
            <a:r>
              <a:rPr lang="zh-CN" altLang="en-US" dirty="0" smtClean="0"/>
              <a:t>上例中，正向测试存在共</a:t>
            </a:r>
            <a:r>
              <a:rPr lang="en-US" altLang="zh-CN" dirty="0" smtClean="0"/>
              <a:t>6</a:t>
            </a:r>
            <a:r>
              <a:rPr lang="zh-CN" altLang="en-US" dirty="0" smtClean="0"/>
              <a:t>项误差，反向测试存在对称的</a:t>
            </a:r>
            <a:r>
              <a:rPr lang="en-US" altLang="zh-CN" dirty="0" smtClean="0"/>
              <a:t>6</a:t>
            </a:r>
            <a:r>
              <a:rPr lang="zh-CN" altLang="en-US" dirty="0" smtClean="0"/>
              <a:t>项测试误差，所以二端口器件测试中共存在</a:t>
            </a:r>
            <a:r>
              <a:rPr lang="en-US" altLang="zh-CN" dirty="0" smtClean="0"/>
              <a:t>12</a:t>
            </a:r>
            <a:r>
              <a:rPr lang="zh-CN" altLang="en-US" dirty="0" smtClean="0"/>
              <a:t>项误差。仪表的二端口校准也被称为</a:t>
            </a:r>
            <a:r>
              <a:rPr lang="en-US" altLang="zh-CN" dirty="0" smtClean="0"/>
              <a:t>12</a:t>
            </a:r>
            <a:r>
              <a:rPr lang="zh-CN" altLang="en-US" dirty="0" smtClean="0"/>
              <a:t>项误差校准。</a:t>
            </a:r>
          </a:p>
        </p:txBody>
      </p:sp>
      <p:sp>
        <p:nvSpPr>
          <p:cNvPr id="4" name="灯片编号占位符 3"/>
          <p:cNvSpPr>
            <a:spLocks noGrp="1"/>
          </p:cNvSpPr>
          <p:nvPr>
            <p:ph type="sldNum" sz="quarter" idx="10"/>
          </p:nvPr>
        </p:nvSpPr>
        <p:spPr/>
        <p:txBody>
          <a:bodyPr/>
          <a:lstStyle/>
          <a:p>
            <a:fld id="{B4C8BCD0-B12F-4AC5-A214-25B534410FF0}" type="slidenum">
              <a:rPr lang="zh-CN" altLang="en-US" smtClean="0"/>
              <a:t>16</a:t>
            </a:fld>
            <a:endParaRPr lang="zh-CN" altLang="en-US"/>
          </a:p>
        </p:txBody>
      </p:sp>
    </p:spTree>
    <p:extLst>
      <p:ext uri="{BB962C8B-B14F-4D97-AF65-F5344CB8AC3E}">
        <p14:creationId xmlns:p14="http://schemas.microsoft.com/office/powerpoint/2010/main" val="28141083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通过前面的介绍和分析，网络分析仪的校准过程就是通过测试标准件来明确仪表系统误差的过程。根据校准消除误差项性质的不同，网络分析仪校准方式主要可分为频响校准和矢量校准。校准的方法不同，消除误差项目的个数与测试的标准件数目也不相同。</a:t>
            </a:r>
          </a:p>
          <a:p>
            <a:r>
              <a:rPr lang="zh-CN" altLang="en-US" b="1" u="sng" dirty="0" smtClean="0"/>
              <a:t>频响校准（</a:t>
            </a:r>
            <a:r>
              <a:rPr lang="en-US" altLang="zh-CN" b="1" u="sng" dirty="0" smtClean="0"/>
              <a:t>Response)</a:t>
            </a:r>
            <a:r>
              <a:rPr lang="zh-CN" altLang="en-US" dirty="0" smtClean="0"/>
              <a:t>只测试一个标准件，其中</a:t>
            </a:r>
          </a:p>
          <a:p>
            <a:r>
              <a:rPr lang="zh-CN" altLang="en-US" dirty="0" smtClean="0"/>
              <a:t>反射测试时为全反射校准件，可使用</a:t>
            </a:r>
            <a:r>
              <a:rPr lang="zh-CN" altLang="en-US" b="1" dirty="0" smtClean="0"/>
              <a:t>短路校准件（</a:t>
            </a:r>
            <a:r>
              <a:rPr lang="en-US" altLang="zh-CN" b="1" dirty="0" smtClean="0"/>
              <a:t>Short)</a:t>
            </a:r>
            <a:r>
              <a:rPr lang="zh-CN" altLang="en-US" dirty="0" smtClean="0"/>
              <a:t>或</a:t>
            </a:r>
            <a:r>
              <a:rPr lang="zh-CN" altLang="en-US" b="1" dirty="0" smtClean="0"/>
              <a:t>开路校准件</a:t>
            </a:r>
            <a:r>
              <a:rPr lang="en-US" altLang="zh-CN" b="1" dirty="0" smtClean="0"/>
              <a:t>(Open)</a:t>
            </a:r>
            <a:r>
              <a:rPr lang="zh-CN" altLang="en-US" dirty="0" smtClean="0"/>
              <a:t>。一般使用终端短路更接近理想全反射状态。</a:t>
            </a:r>
          </a:p>
          <a:p>
            <a:r>
              <a:rPr lang="zh-CN" altLang="en-US" dirty="0" smtClean="0"/>
              <a:t>传输测试时，使用</a:t>
            </a:r>
            <a:r>
              <a:rPr lang="zh-CN" altLang="en-US" b="1" dirty="0" smtClean="0"/>
              <a:t>直通校准件（</a:t>
            </a:r>
            <a:r>
              <a:rPr lang="en-US" altLang="zh-CN" b="1" dirty="0" smtClean="0"/>
              <a:t>Through)</a:t>
            </a:r>
            <a:r>
              <a:rPr lang="zh-CN" altLang="en-US" dirty="0" smtClean="0"/>
              <a:t>。</a:t>
            </a:r>
          </a:p>
          <a:p>
            <a:r>
              <a:rPr lang="zh-CN" altLang="en-US" dirty="0" smtClean="0"/>
              <a:t>频响校准的校准过程较简单。但只可确定频响误差这一项误差。频响校准的过程相当于测试归一化过程。既先将测试结果存入存储器中得到参考线，然后用被测件测试结果与其比较。这样可消除参考线中系统误差影响。</a:t>
            </a:r>
          </a:p>
          <a:p>
            <a:r>
              <a:rPr lang="zh-CN" altLang="en-US" b="1" u="sng" dirty="0" smtClean="0"/>
              <a:t>矢量校准</a:t>
            </a:r>
            <a:r>
              <a:rPr lang="zh-CN" altLang="en-US" dirty="0" smtClean="0"/>
              <a:t>要求网络分析仪具有幅度和相位的测试能力，计算误差项的过程中需要联立方程组。矢量校准过程中要求测试多个标准件，从而可消除更多的误差项，保证仪表具有更高的测试精度。</a:t>
            </a:r>
          </a:p>
        </p:txBody>
      </p:sp>
      <p:sp>
        <p:nvSpPr>
          <p:cNvPr id="4" name="灯片编号占位符 3"/>
          <p:cNvSpPr>
            <a:spLocks noGrp="1"/>
          </p:cNvSpPr>
          <p:nvPr>
            <p:ph type="sldNum" sz="quarter" idx="10"/>
          </p:nvPr>
        </p:nvSpPr>
        <p:spPr/>
        <p:txBody>
          <a:bodyPr/>
          <a:lstStyle/>
          <a:p>
            <a:fld id="{B4C8BCD0-B12F-4AC5-A214-25B534410FF0}" type="slidenum">
              <a:rPr lang="zh-CN" altLang="en-US" smtClean="0"/>
              <a:t>17</a:t>
            </a:fld>
            <a:endParaRPr lang="zh-CN" altLang="en-US"/>
          </a:p>
        </p:txBody>
      </p:sp>
    </p:spTree>
    <p:extLst>
      <p:ext uri="{BB962C8B-B14F-4D97-AF65-F5344CB8AC3E}">
        <p14:creationId xmlns:p14="http://schemas.microsoft.com/office/powerpoint/2010/main" val="394425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网络分析仪误差校准是通过已知标准件的测试来得到仪表误差项的过程。</a:t>
            </a:r>
          </a:p>
          <a:p>
            <a:r>
              <a:rPr lang="zh-CN" altLang="en-US" dirty="0" smtClean="0"/>
              <a:t>仪表有两个连接端口，每个端口都存在误差。校准方法的类型除可根据消除误差类型可分为标量校准和矢量校准外，还可根据校准的端口数分为单端口校准和双端口校准（多端口校准）。</a:t>
            </a:r>
          </a:p>
          <a:p>
            <a:r>
              <a:rPr lang="zh-CN" altLang="en-US" b="1" dirty="0" smtClean="0"/>
              <a:t>单端口校准</a:t>
            </a:r>
            <a:r>
              <a:rPr lang="en-US" altLang="zh-CN" b="1" dirty="0" smtClean="0"/>
              <a:t>( One Port CAL)</a:t>
            </a:r>
            <a:r>
              <a:rPr lang="zh-CN" altLang="en-US" dirty="0" smtClean="0"/>
              <a:t>可消除被校准端口的所有系统误差</a:t>
            </a:r>
            <a:r>
              <a:rPr lang="en-US" altLang="zh-CN" dirty="0" smtClean="0"/>
              <a:t>(</a:t>
            </a:r>
            <a:r>
              <a:rPr lang="zh-CN" altLang="en-US" dirty="0" smtClean="0"/>
              <a:t>方向性误差； 源失配误差； 反射跟踪误差</a:t>
            </a:r>
            <a:r>
              <a:rPr lang="en-US" altLang="zh-CN" dirty="0" smtClean="0"/>
              <a:t>)</a:t>
            </a:r>
            <a:r>
              <a:rPr lang="zh-CN" altLang="en-US" dirty="0" smtClean="0"/>
              <a:t>。</a:t>
            </a:r>
          </a:p>
          <a:p>
            <a:r>
              <a:rPr lang="zh-CN" altLang="en-US" dirty="0" smtClean="0"/>
              <a:t>当校准端口为仪表的端口</a:t>
            </a:r>
            <a:r>
              <a:rPr lang="en-US" altLang="zh-CN" dirty="0" smtClean="0"/>
              <a:t>1</a:t>
            </a:r>
            <a:r>
              <a:rPr lang="zh-CN" altLang="en-US" dirty="0" smtClean="0"/>
              <a:t>时，称为</a:t>
            </a:r>
            <a:r>
              <a:rPr lang="en-US" altLang="zh-CN" b="1" u="sng" dirty="0" smtClean="0"/>
              <a:t>S11</a:t>
            </a:r>
            <a:r>
              <a:rPr lang="zh-CN" altLang="en-US" b="1" u="sng" dirty="0" smtClean="0"/>
              <a:t>单端口校准（</a:t>
            </a:r>
            <a:r>
              <a:rPr lang="en-US" altLang="zh-CN" b="1" u="sng" dirty="0" smtClean="0"/>
              <a:t>S11 One-Port)</a:t>
            </a:r>
            <a:r>
              <a:rPr lang="zh-CN" altLang="en-US" dirty="0" smtClean="0"/>
              <a:t>；</a:t>
            </a:r>
          </a:p>
          <a:p>
            <a:r>
              <a:rPr lang="zh-CN" altLang="en-US" dirty="0" smtClean="0"/>
              <a:t>当校准端口为仪表的端口</a:t>
            </a:r>
            <a:r>
              <a:rPr lang="en-US" altLang="zh-CN" dirty="0" smtClean="0"/>
              <a:t>2</a:t>
            </a:r>
            <a:r>
              <a:rPr lang="zh-CN" altLang="en-US" dirty="0" smtClean="0"/>
              <a:t>时，称为</a:t>
            </a:r>
            <a:r>
              <a:rPr lang="en-US" altLang="zh-CN" b="1" u="sng" dirty="0" smtClean="0"/>
              <a:t>S22</a:t>
            </a:r>
            <a:r>
              <a:rPr lang="zh-CN" altLang="en-US" b="1" u="sng" dirty="0" smtClean="0"/>
              <a:t>单端口校准（</a:t>
            </a:r>
            <a:r>
              <a:rPr lang="en-US" altLang="zh-CN" b="1" u="sng" dirty="0" smtClean="0"/>
              <a:t>S22 One-Port)</a:t>
            </a:r>
            <a:r>
              <a:rPr lang="zh-CN" altLang="en-US" dirty="0" smtClean="0"/>
              <a:t>。</a:t>
            </a:r>
            <a:endParaRPr lang="zh-CN" altLang="en-US" u="sng" dirty="0" smtClean="0"/>
          </a:p>
          <a:p>
            <a:r>
              <a:rPr lang="zh-CN" altLang="en-US" dirty="0" smtClean="0"/>
              <a:t>单端口校准的类型为矢量校准。</a:t>
            </a:r>
          </a:p>
          <a:p>
            <a:endParaRPr lang="zh-CN" altLang="en-US" dirty="0" smtClean="0"/>
          </a:p>
          <a:p>
            <a:r>
              <a:rPr lang="zh-CN" altLang="en-US" dirty="0" smtClean="0"/>
              <a:t>当网络分析仪用于被测试件全部传输</a:t>
            </a:r>
            <a:r>
              <a:rPr lang="en-US" altLang="zh-CN" dirty="0" smtClean="0"/>
              <a:t>/</a:t>
            </a:r>
            <a:r>
              <a:rPr lang="zh-CN" altLang="en-US" dirty="0" smtClean="0"/>
              <a:t>反射性能测试时，仪表需对所有端口和传输连接线进行校准，</a:t>
            </a:r>
            <a:r>
              <a:rPr lang="zh-CN" altLang="en-US" b="1" dirty="0" smtClean="0"/>
              <a:t>双端口校准</a:t>
            </a:r>
            <a:r>
              <a:rPr lang="en-US" altLang="zh-CN" b="1" dirty="0" smtClean="0"/>
              <a:t>( Two Port CAL)</a:t>
            </a:r>
            <a:r>
              <a:rPr lang="zh-CN" altLang="en-US" dirty="0" smtClean="0"/>
              <a:t>能消除</a:t>
            </a:r>
            <a:r>
              <a:rPr lang="en-US" altLang="zh-CN" dirty="0" smtClean="0"/>
              <a:t>12</a:t>
            </a:r>
            <a:r>
              <a:rPr lang="zh-CN" altLang="en-US" dirty="0" smtClean="0"/>
              <a:t>项系统误差。双端口校准过程中需要使用四种校准件（</a:t>
            </a:r>
            <a:r>
              <a:rPr lang="en-US" altLang="zh-CN" dirty="0" smtClean="0"/>
              <a:t>SOLT</a:t>
            </a:r>
            <a:r>
              <a:rPr lang="zh-CN" altLang="en-US" dirty="0" smtClean="0"/>
              <a:t>），需完成进行</a:t>
            </a:r>
            <a:r>
              <a:rPr lang="en-US" altLang="zh-CN" dirty="0" smtClean="0"/>
              <a:t>7</a:t>
            </a:r>
            <a:r>
              <a:rPr lang="zh-CN" altLang="en-US" dirty="0" smtClean="0"/>
              <a:t>次标准件的连接测试。</a:t>
            </a:r>
          </a:p>
        </p:txBody>
      </p:sp>
      <p:sp>
        <p:nvSpPr>
          <p:cNvPr id="4" name="灯片编号占位符 3"/>
          <p:cNvSpPr>
            <a:spLocks noGrp="1"/>
          </p:cNvSpPr>
          <p:nvPr>
            <p:ph type="sldNum" sz="quarter" idx="10"/>
          </p:nvPr>
        </p:nvSpPr>
        <p:spPr/>
        <p:txBody>
          <a:bodyPr/>
          <a:lstStyle/>
          <a:p>
            <a:fld id="{B4C8BCD0-B12F-4AC5-A214-25B534410FF0}" type="slidenum">
              <a:rPr lang="zh-CN" altLang="en-US" smtClean="0"/>
              <a:t>18</a:t>
            </a:fld>
            <a:endParaRPr lang="zh-CN" altLang="en-US"/>
          </a:p>
        </p:txBody>
      </p:sp>
    </p:spTree>
    <p:extLst>
      <p:ext uri="{BB962C8B-B14F-4D97-AF65-F5344CB8AC3E}">
        <p14:creationId xmlns:p14="http://schemas.microsoft.com/office/powerpoint/2010/main" val="3574224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Agilent ENA</a:t>
            </a:r>
            <a:r>
              <a:rPr lang="zh-CN" altLang="en-US" dirty="0" smtClean="0"/>
              <a:t>系列网络分析仪除可以使用传统的机械校准件进行校准外，还可以使用电子校准件（</a:t>
            </a:r>
            <a:r>
              <a:rPr lang="en-US" altLang="zh-CN" dirty="0" smtClean="0"/>
              <a:t>E-Cal)</a:t>
            </a:r>
            <a:r>
              <a:rPr lang="zh-CN" altLang="en-US" dirty="0" smtClean="0"/>
              <a:t>。</a:t>
            </a:r>
          </a:p>
          <a:p>
            <a:r>
              <a:rPr lang="zh-CN" altLang="en-US" dirty="0" smtClean="0"/>
              <a:t>和机械校准件相比，电子校准件具有以下特点：</a:t>
            </a:r>
          </a:p>
          <a:p>
            <a:r>
              <a:rPr lang="en-US" altLang="zh-CN" b="1" u="sng" dirty="0" smtClean="0"/>
              <a:t>1</a:t>
            </a:r>
            <a:r>
              <a:rPr lang="zh-CN" altLang="en-US" b="1" u="sng" dirty="0" smtClean="0"/>
              <a:t>、校准过程简单</a:t>
            </a:r>
          </a:p>
          <a:p>
            <a:r>
              <a:rPr lang="zh-CN" altLang="en-US" dirty="0" smtClean="0"/>
              <a:t>电子校准件只需要和网络仪连接一次，既可完成双端口校准所要求的测试项目。而不需要多次的校准件连接。</a:t>
            </a:r>
          </a:p>
          <a:p>
            <a:r>
              <a:rPr lang="en-US" altLang="zh-CN" b="1" u="sng" dirty="0" smtClean="0"/>
              <a:t>2</a:t>
            </a:r>
            <a:r>
              <a:rPr lang="zh-CN" altLang="en-US" b="1" u="sng" dirty="0" smtClean="0"/>
              <a:t>、校准速度快</a:t>
            </a:r>
          </a:p>
          <a:p>
            <a:r>
              <a:rPr lang="zh-CN" altLang="en-US" dirty="0" smtClean="0"/>
              <a:t>利用电子校准完成双端口校准只需要几秒钟时间，使整个测试过程的效率大大提高。</a:t>
            </a:r>
          </a:p>
          <a:p>
            <a:r>
              <a:rPr lang="en-US" altLang="zh-CN" b="1" u="sng" dirty="0" smtClean="0"/>
              <a:t>3</a:t>
            </a:r>
            <a:r>
              <a:rPr lang="zh-CN" altLang="en-US" b="1" u="sng" dirty="0" smtClean="0"/>
              <a:t>、校准过程中不确定因素少</a:t>
            </a:r>
          </a:p>
          <a:p>
            <a:r>
              <a:rPr lang="zh-CN" altLang="en-US" dirty="0" smtClean="0"/>
              <a:t>由于不需要多次的连接过程，所以电子校准受到误操作影响的概率会降低。</a:t>
            </a:r>
          </a:p>
          <a:p>
            <a:r>
              <a:rPr lang="en-US" altLang="zh-CN" b="1" u="sng" dirty="0" smtClean="0"/>
              <a:t>4</a:t>
            </a:r>
            <a:r>
              <a:rPr lang="zh-CN" altLang="en-US" b="1" u="sng" dirty="0" smtClean="0"/>
              <a:t>、支持混合端口校准</a:t>
            </a:r>
            <a:endParaRPr lang="zh-CN" altLang="en-US" b="1" dirty="0" smtClean="0"/>
          </a:p>
          <a:p>
            <a:r>
              <a:rPr lang="en-US" altLang="zh-CN" b="1" dirty="0" smtClean="0"/>
              <a:t>Agilent</a:t>
            </a:r>
            <a:r>
              <a:rPr lang="zh-CN" altLang="en-US" dirty="0" smtClean="0"/>
              <a:t>可提供混合端口形式的电子校准件，如校准件端口</a:t>
            </a:r>
            <a:r>
              <a:rPr lang="en-US" altLang="zh-CN" dirty="0" smtClean="0"/>
              <a:t>1</a:t>
            </a:r>
            <a:r>
              <a:rPr lang="zh-CN" altLang="en-US" dirty="0" smtClean="0"/>
              <a:t>为</a:t>
            </a:r>
            <a:r>
              <a:rPr lang="en-US" altLang="zh-CN" dirty="0" smtClean="0"/>
              <a:t>N</a:t>
            </a:r>
            <a:r>
              <a:rPr lang="zh-CN" altLang="en-US" dirty="0" smtClean="0"/>
              <a:t>型，端口</a:t>
            </a:r>
            <a:r>
              <a:rPr lang="en-US" altLang="zh-CN" dirty="0" smtClean="0"/>
              <a:t>2</a:t>
            </a:r>
            <a:r>
              <a:rPr lang="zh-CN" altLang="en-US" dirty="0" smtClean="0"/>
              <a:t>为</a:t>
            </a:r>
            <a:r>
              <a:rPr lang="en-US" altLang="zh-CN" dirty="0" smtClean="0"/>
              <a:t>3.5mm</a:t>
            </a:r>
            <a:r>
              <a:rPr lang="zh-CN" altLang="en-US" dirty="0" smtClean="0"/>
              <a:t>。这样可保证对许多非插入器件测试的准确性。</a:t>
            </a:r>
          </a:p>
          <a:p>
            <a:r>
              <a:rPr lang="en-US" altLang="zh-CN" dirty="0" smtClean="0"/>
              <a:t>Agilent ENA</a:t>
            </a:r>
            <a:r>
              <a:rPr lang="zh-CN" altLang="en-US" dirty="0" smtClean="0"/>
              <a:t>网络分析仪与电子校准件间的通信控制采用</a:t>
            </a:r>
            <a:r>
              <a:rPr lang="en-US" altLang="zh-CN" dirty="0" smtClean="0"/>
              <a:t>USB</a:t>
            </a:r>
            <a:r>
              <a:rPr lang="zh-CN" altLang="en-US" dirty="0" smtClean="0"/>
              <a:t>接口。</a:t>
            </a:r>
            <a:endParaRPr lang="zh-CN" altLang="en-US" u="sng" dirty="0" smtClean="0"/>
          </a:p>
        </p:txBody>
      </p:sp>
      <p:sp>
        <p:nvSpPr>
          <p:cNvPr id="4" name="灯片编号占位符 3"/>
          <p:cNvSpPr>
            <a:spLocks noGrp="1"/>
          </p:cNvSpPr>
          <p:nvPr>
            <p:ph type="sldNum" sz="quarter" idx="10"/>
          </p:nvPr>
        </p:nvSpPr>
        <p:spPr/>
        <p:txBody>
          <a:bodyPr/>
          <a:lstStyle/>
          <a:p>
            <a:fld id="{B4C8BCD0-B12F-4AC5-A214-25B534410FF0}" type="slidenum">
              <a:rPr lang="zh-CN" altLang="en-US" smtClean="0"/>
              <a:t>21</a:t>
            </a:fld>
            <a:endParaRPr lang="zh-CN" altLang="en-US"/>
          </a:p>
        </p:txBody>
      </p:sp>
    </p:spTree>
    <p:extLst>
      <p:ext uri="{BB962C8B-B14F-4D97-AF65-F5344CB8AC3E}">
        <p14:creationId xmlns:p14="http://schemas.microsoft.com/office/powerpoint/2010/main" val="3472279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Rectangle 9"/>
          <p:cNvSpPr/>
          <p:nvPr/>
        </p:nvSpPr>
        <p:spPr>
          <a:xfrm>
            <a:off x="0" y="1"/>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1"/>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Autofit/>
          </a:bodyPr>
          <a:lstStyle>
            <a:lvl1pPr marL="0" indent="0" algn="l">
              <a:lnSpc>
                <a:spcPct val="100000"/>
              </a:lnSpc>
              <a:spcBef>
                <a:spcPts val="0"/>
              </a:spcBef>
              <a:buNone/>
              <a:defRPr sz="4800" b="1">
                <a:solidFill>
                  <a:schemeClr val="tx1">
                    <a:lumMod val="95000"/>
                    <a:lumOff val="5000"/>
                  </a:schemeClr>
                </a:solidFill>
              </a:defRPr>
            </a:lvl1pPr>
            <a:lvl2pPr marL="457189" indent="0" algn="ctr">
              <a:buNone/>
              <a:defRPr sz="1800"/>
            </a:lvl2pPr>
            <a:lvl3pPr marL="914377" indent="0" algn="ctr">
              <a:buNone/>
              <a:defRPr sz="1800"/>
            </a:lvl3pPr>
            <a:lvl4pPr marL="1371566" indent="0" algn="ctr">
              <a:buNone/>
              <a:defRPr sz="1800"/>
            </a:lvl4pPr>
            <a:lvl5pPr marL="1828754" indent="0" algn="ctr">
              <a:buNone/>
              <a:defRPr sz="1800"/>
            </a:lvl5pPr>
            <a:lvl6pPr marL="2285943" indent="0" algn="ctr">
              <a:buNone/>
              <a:defRPr sz="1800"/>
            </a:lvl6pPr>
            <a:lvl7pPr marL="2743131" indent="0" algn="ctr">
              <a:buNone/>
              <a:defRPr sz="1800"/>
            </a:lvl7pPr>
            <a:lvl8pPr marL="3200320" indent="0" algn="ctr">
              <a:buNone/>
              <a:defRPr sz="1800"/>
            </a:lvl8pPr>
            <a:lvl9pPr marL="3657509" indent="0" algn="ctr">
              <a:buNone/>
              <a:defRPr sz="18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lvl1pPr algn="l">
              <a:defRPr/>
            </a:lvl1pPr>
          </a:lstStyle>
          <a:p>
            <a:fld id="{3C3F3FE2-23DA-4E77-BC81-DBB833610E7E}" type="datetime3">
              <a:rPr lang="zh-CN" altLang="en-US" smtClean="0"/>
              <a:t>2019年5月6日星期一</a:t>
            </a:fld>
            <a:endParaRPr lang="zh-CN" altLang="en-US"/>
          </a:p>
        </p:txBody>
      </p:sp>
      <p:sp>
        <p:nvSpPr>
          <p:cNvPr id="5" name="Footer Placeholder 4"/>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6" name="Slide Number Placeholder 5"/>
          <p:cNvSpPr>
            <a:spLocks noGrp="1"/>
          </p:cNvSpPr>
          <p:nvPr>
            <p:ph type="sldNum" sz="quarter" idx="12"/>
          </p:nvPr>
        </p:nvSpPr>
        <p:spPr/>
        <p:txBody>
          <a:bodyPr/>
          <a:lstStyle/>
          <a:p>
            <a:fld id="{D5BA5A3D-E723-4639-877B-B187790AC552}" type="slidenum">
              <a:rPr lang="zh-CN" altLang="en-US" smtClean="0"/>
              <a:pPr/>
              <a:t>‹#›</a:t>
            </a:fld>
            <a:endParaRPr lang="zh-CN" altLang="en-US"/>
          </a:p>
        </p:txBody>
      </p:sp>
      <p:cxnSp>
        <p:nvCxnSpPr>
          <p:cNvPr id="8" name="Straight Connector 7"/>
          <p:cNvCxnSpPr/>
          <p:nvPr/>
        </p:nvCxnSpPr>
        <p:spPr>
          <a:xfrm flipV="1">
            <a:off x="8386843" y="5264107"/>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4763441"/>
      </p:ext>
    </p:extLst>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7"/>
            <a:ext cx="10328087" cy="1188023"/>
          </a:xfrm>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a:xfrm>
            <a:off x="1024128" y="1916114"/>
            <a:ext cx="10328085" cy="4393247"/>
          </a:xfrm>
        </p:spPr>
        <p:txBody>
          <a:bodyPr>
            <a:normAutofit/>
          </a:bodyPr>
          <a:lstStyle>
            <a:lvl1pPr marL="0" indent="0">
              <a:buFontTx/>
              <a:buNone/>
              <a:defRPr sz="4000"/>
            </a:lvl1pPr>
            <a:lvl2pPr marL="265169" indent="-137157">
              <a:buFont typeface="Wingdings" panose="05000000000000000000" pitchFamily="2" charset="2"/>
              <a:buChar char="n"/>
              <a:defRPr sz="3600"/>
            </a:lvl2pPr>
            <a:lvl3pPr marL="448045" indent="-137157">
              <a:buFont typeface="Wingdings" panose="05000000000000000000" pitchFamily="2" charset="2"/>
              <a:buChar char="n"/>
              <a:defRPr sz="2800"/>
            </a:lvl3pPr>
            <a:lvl4pPr marL="594345" indent="-137157">
              <a:buFont typeface="Wingdings" panose="05000000000000000000" pitchFamily="2" charset="2"/>
              <a:buChar char="n"/>
              <a:defRPr sz="2800"/>
            </a:lvl4pPr>
            <a:lvl5pPr>
              <a:defRPr sz="2800"/>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5786447-E877-45AF-8E6E-2A720413AD78}" type="datetime3">
              <a:rPr lang="zh-CN" altLang="en-US" smtClean="0"/>
              <a:t>2019年5月6日星期一</a:t>
            </a:fld>
            <a:endParaRPr lang="zh-CN" altLang="en-US"/>
          </a:p>
        </p:txBody>
      </p:sp>
      <p:sp>
        <p:nvSpPr>
          <p:cNvPr id="5" name="Footer Placeholder 4"/>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6" name="Slide Number Placeholder 5"/>
          <p:cNvSpPr>
            <a:spLocks noGrp="1"/>
          </p:cNvSpPr>
          <p:nvPr>
            <p:ph type="sldNum" sz="quarter" idx="12"/>
          </p:nvPr>
        </p:nvSpPr>
        <p:spPr/>
        <p:txBody>
          <a:bodyPr/>
          <a:lstStyle/>
          <a:p>
            <a:fld id="{D5BA5A3D-E723-4639-877B-B187790AC552}" type="slidenum">
              <a:rPr lang="zh-CN" altLang="en-US" smtClean="0"/>
              <a:pPr/>
              <a:t>‹#›</a:t>
            </a:fld>
            <a:endParaRPr lang="zh-CN" altLang="en-US"/>
          </a:p>
        </p:txBody>
      </p:sp>
    </p:spTree>
    <p:extLst>
      <p:ext uri="{BB962C8B-B14F-4D97-AF65-F5344CB8AC3E}">
        <p14:creationId xmlns:p14="http://schemas.microsoft.com/office/powerpoint/2010/main" val="3099955312"/>
      </p:ext>
    </p:extLst>
  </p:cSld>
  <p:clrMapOvr>
    <a:masterClrMapping/>
  </p:clrMapOvr>
  <p:timing>
    <p:tnLst>
      <p:par>
        <p:cTn id="1" dur="indefinite" restart="never" nodeType="tmRoot"/>
      </p:par>
    </p:tnLst>
  </p:timing>
  <p:hf hdr="0"/>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实验原理大空白">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5554A4C0-CA58-4851-BA0B-B19D44A04B4A}" type="datetime3">
              <a:rPr lang="zh-CN" altLang="en-US" smtClean="0"/>
              <a:t>2019年5月6日星期一</a:t>
            </a:fld>
            <a:endParaRPr lang="zh-CN" altLang="en-US"/>
          </a:p>
        </p:txBody>
      </p:sp>
      <p:sp>
        <p:nvSpPr>
          <p:cNvPr id="4" name="页脚占位符 3"/>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5" name="灯片编号占位符 4"/>
          <p:cNvSpPr>
            <a:spLocks noGrp="1"/>
          </p:cNvSpPr>
          <p:nvPr>
            <p:ph type="sldNum" sz="quarter" idx="12"/>
          </p:nvPr>
        </p:nvSpPr>
        <p:spPr/>
        <p:txBody>
          <a:bodyPr/>
          <a:lstStyle/>
          <a:p>
            <a:fld id="{D5BA5A3D-E723-4639-877B-B187790AC552}" type="slidenum">
              <a:rPr lang="zh-CN" altLang="en-US" smtClean="0"/>
              <a:pPr/>
              <a:t>‹#›</a:t>
            </a:fld>
            <a:endParaRPr lang="zh-CN" altLang="en-US"/>
          </a:p>
        </p:txBody>
      </p:sp>
      <p:sp>
        <p:nvSpPr>
          <p:cNvPr id="10" name="标题 1"/>
          <p:cNvSpPr>
            <a:spLocks noGrp="1"/>
          </p:cNvSpPr>
          <p:nvPr>
            <p:ph type="title"/>
          </p:nvPr>
        </p:nvSpPr>
        <p:spPr>
          <a:xfrm>
            <a:off x="557614" y="695266"/>
            <a:ext cx="10515600" cy="553296"/>
          </a:xfrm>
        </p:spPr>
        <p:txBody>
          <a:bodyPr>
            <a:noAutofit/>
          </a:bodyPr>
          <a:lstStyle>
            <a:lvl1pPr>
              <a:lnSpc>
                <a:spcPct val="100000"/>
              </a:lnSpc>
              <a:defRPr sz="3600" b="1">
                <a:solidFill>
                  <a:schemeClr val="bg1"/>
                </a:solidFill>
              </a:defRPr>
            </a:lvl1pPr>
          </a:lstStyle>
          <a:p>
            <a:r>
              <a:rPr lang="zh-CN" altLang="en-US" smtClean="0"/>
              <a:t>单击此处编辑母版标题样式</a:t>
            </a:r>
            <a:endParaRPr lang="zh-CN" altLang="en-US"/>
          </a:p>
        </p:txBody>
      </p:sp>
    </p:spTree>
    <p:extLst>
      <p:ext uri="{BB962C8B-B14F-4D97-AF65-F5344CB8AC3E}">
        <p14:creationId xmlns:p14="http://schemas.microsoft.com/office/powerpoint/2010/main" val="1685289636"/>
      </p:ext>
    </p:extLst>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9" y="585217"/>
            <a:ext cx="10256447" cy="115550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24128" y="1916832"/>
            <a:ext cx="10256448" cy="4392528"/>
          </a:xfrm>
          <a:prstGeom prst="rect">
            <a:avLst/>
          </a:prstGeom>
        </p:spPr>
        <p:txBody>
          <a:bodyPr vert="horz" lIns="45720" tIns="45720" rIns="4572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1024130"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5786447-E877-45AF-8E6E-2A720413AD78}" type="datetime3">
              <a:rPr lang="zh-CN" altLang="en-US" smtClean="0"/>
              <a:t>2019年5月6日星期一</a:t>
            </a:fld>
            <a:endParaRPr lang="zh-CN" altLang="en-US"/>
          </a:p>
        </p:txBody>
      </p:sp>
      <p:sp>
        <p:nvSpPr>
          <p:cNvPr id="5" name="Footer Placeholder 4"/>
          <p:cNvSpPr>
            <a:spLocks noGrp="1"/>
          </p:cNvSpPr>
          <p:nvPr>
            <p:ph type="ftr" sz="quarter" idx="3"/>
          </p:nvPr>
        </p:nvSpPr>
        <p:spPr>
          <a:xfrm>
            <a:off x="4842933"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zh-CN" altLang="en-US" smtClean="0"/>
              <a:t>中国科大信息与计算机实验教学中心</a:t>
            </a:r>
            <a:endParaRPr lang="zh-CN" alt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5BA5A3D-E723-4639-877B-B187790AC552}" type="slidenum">
              <a:rPr lang="zh-CN" altLang="en-US" smtClean="0"/>
              <a:pPr/>
              <a:t>‹#›</a:t>
            </a:fld>
            <a:endParaRPr lang="zh-CN" altLang="en-US"/>
          </a:p>
        </p:txBody>
      </p:sp>
      <p:cxnSp>
        <p:nvCxnSpPr>
          <p:cNvPr id="7" name="Straight Connector 6"/>
          <p:cNvCxnSpPr/>
          <p:nvPr/>
        </p:nvCxnSpPr>
        <p:spPr>
          <a:xfrm flipV="1">
            <a:off x="762000" y="714400"/>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289012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Lst>
  <p:transition spd="slow">
    <p:push dir="d"/>
  </p:transition>
  <p:timing>
    <p:tnLst>
      <p:par>
        <p:cTn id="1" dur="indefinite" restart="never" nodeType="tmRoot"/>
      </p:par>
    </p:tnLst>
  </p:timing>
  <p:hf hdr="0"/>
  <p:txStyles>
    <p:titleStyle>
      <a:lvl1pPr algn="l" defTabSz="914377" rtl="0" eaLnBrk="1" latinLnBrk="0" hangingPunct="1">
        <a:lnSpc>
          <a:spcPct val="80000"/>
        </a:lnSpc>
        <a:spcBef>
          <a:spcPct val="0"/>
        </a:spcBef>
        <a:buNone/>
        <a:defRPr sz="5000" b="1" kern="1200" cap="all" spc="100" baseline="0">
          <a:solidFill>
            <a:schemeClr val="tx1">
              <a:lumMod val="95000"/>
              <a:lumOff val="5000"/>
            </a:schemeClr>
          </a:solidFill>
          <a:latin typeface="+mj-lt"/>
          <a:ea typeface="+mj-ea"/>
          <a:cs typeface="+mj-cs"/>
        </a:defRPr>
      </a:lvl1pPr>
    </p:titleStyle>
    <p:bodyStyle>
      <a:lvl1pPr marL="91438" indent="-91438" algn="l" defTabSz="914377"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b="1" kern="1200">
          <a:solidFill>
            <a:schemeClr val="tx1"/>
          </a:solidFill>
          <a:latin typeface="+mn-lt"/>
          <a:ea typeface="+mn-ea"/>
          <a:cs typeface="+mn-cs"/>
        </a:defRPr>
      </a:lvl1pPr>
      <a:lvl2pPr marL="265169" indent="-137157" algn="l" defTabSz="914377" rtl="0" eaLnBrk="1" latinLnBrk="0" hangingPunct="1">
        <a:lnSpc>
          <a:spcPct val="90000"/>
        </a:lnSpc>
        <a:spcBef>
          <a:spcPts val="200"/>
        </a:spcBef>
        <a:spcAft>
          <a:spcPts val="400"/>
        </a:spcAft>
        <a:buClr>
          <a:schemeClr val="accent1"/>
        </a:buClr>
        <a:buFont typeface="Wingdings 3" pitchFamily="18" charset="2"/>
        <a:buChar char=""/>
        <a:defRPr sz="1800" b="1" kern="1200">
          <a:solidFill>
            <a:schemeClr val="tx1"/>
          </a:solidFill>
          <a:latin typeface="+mn-lt"/>
          <a:ea typeface="+mn-ea"/>
          <a:cs typeface="+mn-cs"/>
        </a:defRPr>
      </a:lvl2pPr>
      <a:lvl3pPr marL="448045" indent="-137157" algn="l" defTabSz="914377" rtl="0" eaLnBrk="1" latinLnBrk="0" hangingPunct="1">
        <a:lnSpc>
          <a:spcPct val="90000"/>
        </a:lnSpc>
        <a:spcBef>
          <a:spcPts val="200"/>
        </a:spcBef>
        <a:spcAft>
          <a:spcPts val="400"/>
        </a:spcAft>
        <a:buClr>
          <a:schemeClr val="accent1"/>
        </a:buClr>
        <a:buFont typeface="Wingdings 3" pitchFamily="18" charset="2"/>
        <a:buChar char=""/>
        <a:defRPr sz="1400" b="1" kern="1200">
          <a:solidFill>
            <a:schemeClr val="tx1"/>
          </a:solidFill>
          <a:latin typeface="+mn-lt"/>
          <a:ea typeface="+mn-ea"/>
          <a:cs typeface="+mn-cs"/>
        </a:defRPr>
      </a:lvl3pPr>
      <a:lvl4pPr marL="594345" indent="-137157" algn="l" defTabSz="914377" rtl="0" eaLnBrk="1" latinLnBrk="0" hangingPunct="1">
        <a:lnSpc>
          <a:spcPct val="90000"/>
        </a:lnSpc>
        <a:spcBef>
          <a:spcPts val="200"/>
        </a:spcBef>
        <a:spcAft>
          <a:spcPts val="400"/>
        </a:spcAft>
        <a:buClr>
          <a:schemeClr val="accent1"/>
        </a:buClr>
        <a:buFont typeface="Wingdings 3" pitchFamily="18" charset="2"/>
        <a:buChar char=""/>
        <a:defRPr sz="1400" b="1" kern="1200">
          <a:solidFill>
            <a:schemeClr val="tx1"/>
          </a:solidFill>
          <a:latin typeface="+mn-lt"/>
          <a:ea typeface="+mn-ea"/>
          <a:cs typeface="+mn-cs"/>
        </a:defRPr>
      </a:lvl4pPr>
      <a:lvl5pPr marL="777221" indent="-137157" algn="l" defTabSz="914377" rtl="0" eaLnBrk="1" latinLnBrk="0" hangingPunct="1">
        <a:lnSpc>
          <a:spcPct val="90000"/>
        </a:lnSpc>
        <a:spcBef>
          <a:spcPts val="200"/>
        </a:spcBef>
        <a:spcAft>
          <a:spcPts val="400"/>
        </a:spcAft>
        <a:buClr>
          <a:schemeClr val="accent1"/>
        </a:buClr>
        <a:buFont typeface="Wingdings 3" pitchFamily="18" charset="2"/>
        <a:buChar char=""/>
        <a:defRPr sz="1400" b="1" kern="1200">
          <a:solidFill>
            <a:schemeClr val="tx1"/>
          </a:solidFill>
          <a:latin typeface="+mn-lt"/>
          <a:ea typeface="+mn-ea"/>
          <a:cs typeface="+mn-cs"/>
        </a:defRPr>
      </a:lvl5pPr>
      <a:lvl6pPr marL="914377" indent="-137157" algn="l" defTabSz="914377"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677" indent="-137157" algn="l" defTabSz="914377"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22" indent="-137157" algn="l" defTabSz="914377"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22" indent="-137157" algn="l" defTabSz="914377"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4294967295" orient="horz" pos="1117">
          <p15:clr>
            <a:srgbClr val="F26B43"/>
          </p15:clr>
        </p15:guide>
        <p15:guide id="4294967295" pos="619">
          <p15:clr>
            <a:srgbClr val="F26B43"/>
          </p15:clr>
        </p15:guide>
        <p15:guide id="4294967295" orient="horz" pos="1207">
          <p15:clr>
            <a:srgbClr val="F26B43"/>
          </p15:clr>
        </p15:guide>
        <p15:guide id="4294967295" pos="715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4800" dirty="0"/>
              <a:t>网络分析仪的认识与基本</a:t>
            </a:r>
            <a:r>
              <a:rPr lang="zh-CN" altLang="en-US" sz="4800" dirty="0" smtClean="0"/>
              <a:t>操作</a:t>
            </a:r>
            <a:endParaRPr lang="zh-CN" altLang="en-US" dirty="0"/>
          </a:p>
        </p:txBody>
      </p:sp>
      <p:sp>
        <p:nvSpPr>
          <p:cNvPr id="4" name="文本占位符 3"/>
          <p:cNvSpPr>
            <a:spLocks noGrp="1"/>
          </p:cNvSpPr>
          <p:nvPr>
            <p:ph type="subTitle" idx="1"/>
          </p:nvPr>
        </p:nvSpPr>
        <p:spPr/>
        <p:txBody>
          <a:bodyPr/>
          <a:lstStyle/>
          <a:p>
            <a:r>
              <a:rPr lang="zh-CN" altLang="en-US" sz="5400" dirty="0"/>
              <a:t>实验六</a:t>
            </a:r>
            <a:endParaRPr lang="zh-CN" altLang="en-US" sz="5400" dirty="0"/>
          </a:p>
        </p:txBody>
      </p:sp>
    </p:spTree>
    <p:extLst>
      <p:ext uri="{BB962C8B-B14F-4D97-AF65-F5344CB8AC3E}">
        <p14:creationId xmlns:p14="http://schemas.microsoft.com/office/powerpoint/2010/main" val="3491698734"/>
      </p:ext>
    </p:extLst>
  </p:cSld>
  <p:clrMapOvr>
    <a:masterClrMapping/>
  </p:clrMapOvr>
  <p:transition spd="slow">
    <p:push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实验注意事项及要求</a:t>
            </a:r>
            <a:endParaRPr lang="zh-CN" altLang="en-US" dirty="0"/>
          </a:p>
        </p:txBody>
      </p:sp>
      <p:sp>
        <p:nvSpPr>
          <p:cNvPr id="2" name="内容占位符 1"/>
          <p:cNvSpPr>
            <a:spLocks noGrp="1"/>
          </p:cNvSpPr>
          <p:nvPr>
            <p:ph idx="1"/>
          </p:nvPr>
        </p:nvSpPr>
        <p:spPr/>
        <p:txBody>
          <a:bodyPr/>
          <a:lstStyle/>
          <a:p>
            <a:r>
              <a:rPr lang="zh-CN" altLang="en-US" dirty="0" smtClean="0"/>
              <a:t>严格</a:t>
            </a:r>
            <a:r>
              <a:rPr lang="zh-CN" altLang="en-US" dirty="0"/>
              <a:t>按照实验操作规范进行操作，注意安全，不要损坏仪器（同轴电缆连接到网络分析仪的端口时，要注意公头母头的配对，旋转螺纹时一定要对正，不能强行旋转，以防损坏接头）；</a:t>
            </a:r>
          </a:p>
          <a:p>
            <a:r>
              <a:rPr lang="zh-CN" altLang="en-US" dirty="0" smtClean="0"/>
              <a:t>按照</a:t>
            </a:r>
            <a:r>
              <a:rPr lang="zh-CN" altLang="en-US" dirty="0"/>
              <a:t>实验内容完成实验操作，记录相关测量数据，完成实验报告。</a:t>
            </a:r>
          </a:p>
          <a:p>
            <a:endParaRPr lang="zh-CN" altLang="en-US" dirty="0"/>
          </a:p>
        </p:txBody>
      </p:sp>
      <p:sp>
        <p:nvSpPr>
          <p:cNvPr id="4" name="日期占位符 3"/>
          <p:cNvSpPr>
            <a:spLocks noGrp="1"/>
          </p:cNvSpPr>
          <p:nvPr>
            <p:ph type="dt" sz="half" idx="10"/>
          </p:nvPr>
        </p:nvSpPr>
        <p:spPr/>
        <p:txBody>
          <a:bodyPr/>
          <a:lstStyle/>
          <a:p>
            <a:fld id="{2B414261-A4DA-4141-92D3-8F8AF406E3DC}" type="datetime3">
              <a:rPr lang="zh-CN" altLang="en-US" smtClean="0"/>
              <a:t>2019年5月6日星期一</a:t>
            </a:fld>
            <a:endParaRPr lang="zh-CN" altLang="en-US"/>
          </a:p>
        </p:txBody>
      </p:sp>
      <p:sp>
        <p:nvSpPr>
          <p:cNvPr id="5" name="页脚占位符 4"/>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6" name="灯片编号占位符 5"/>
          <p:cNvSpPr>
            <a:spLocks noGrp="1"/>
          </p:cNvSpPr>
          <p:nvPr>
            <p:ph type="sldNum" sz="quarter" idx="12"/>
          </p:nvPr>
        </p:nvSpPr>
        <p:spPr/>
        <p:txBody>
          <a:bodyPr/>
          <a:lstStyle/>
          <a:p>
            <a:fld id="{D5BA5A3D-E723-4639-877B-B187790AC552}" type="slidenum">
              <a:rPr lang="zh-CN" altLang="en-US" smtClean="0"/>
              <a:pPr/>
              <a:t>2</a:t>
            </a:fld>
            <a:endParaRPr lang="zh-CN" altLang="en-US"/>
          </a:p>
        </p:txBody>
      </p:sp>
    </p:spTree>
    <p:extLst>
      <p:ext uri="{BB962C8B-B14F-4D97-AF65-F5344CB8AC3E}">
        <p14:creationId xmlns:p14="http://schemas.microsoft.com/office/powerpoint/2010/main" val="1208655590"/>
      </p:ext>
    </p:extLst>
  </p:cSld>
  <p:clrMapOvr>
    <a:masterClrMapping/>
  </p:clrMapOvr>
  <p:transition spd="slow">
    <p:push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实验目的</a:t>
            </a:r>
            <a:endParaRPr lang="zh-CN" altLang="en-US" dirty="0"/>
          </a:p>
        </p:txBody>
      </p:sp>
      <p:sp>
        <p:nvSpPr>
          <p:cNvPr id="2" name="内容占位符 1"/>
          <p:cNvSpPr>
            <a:spLocks noGrp="1"/>
          </p:cNvSpPr>
          <p:nvPr>
            <p:ph idx="1"/>
          </p:nvPr>
        </p:nvSpPr>
        <p:spPr/>
        <p:txBody>
          <a:bodyPr/>
          <a:lstStyle/>
          <a:p>
            <a:pPr marL="457200" indent="-457200">
              <a:buFont typeface="+mj-lt"/>
              <a:buAutoNum type="arabicPeriod"/>
            </a:pPr>
            <a:r>
              <a:rPr lang="zh-CN" altLang="en-US" dirty="0" smtClean="0"/>
              <a:t>了解</a:t>
            </a:r>
            <a:r>
              <a:rPr lang="zh-CN" altLang="en-US" dirty="0"/>
              <a:t>矢量网络分析仪的基本原理与测试原理；</a:t>
            </a:r>
          </a:p>
          <a:p>
            <a:pPr marL="457200" indent="-457200">
              <a:buFont typeface="+mj-lt"/>
              <a:buAutoNum type="arabicPeriod"/>
            </a:pPr>
            <a:r>
              <a:rPr lang="zh-CN" altLang="en-US" dirty="0" smtClean="0"/>
              <a:t>熟悉</a:t>
            </a:r>
            <a:r>
              <a:rPr lang="zh-CN" altLang="en-US" dirty="0"/>
              <a:t>矢量网络分析仪的基本使用和校准、测量操作；</a:t>
            </a:r>
          </a:p>
          <a:p>
            <a:pPr marL="457200" indent="-457200">
              <a:buFont typeface="+mj-lt"/>
              <a:buAutoNum type="arabicPeriod"/>
            </a:pPr>
            <a:r>
              <a:rPr lang="zh-CN" altLang="en-US" dirty="0" smtClean="0"/>
              <a:t>测量</a:t>
            </a:r>
            <a:r>
              <a:rPr lang="zh-CN" altLang="en-US" dirty="0"/>
              <a:t>并了解不同传输线的特性。</a:t>
            </a:r>
          </a:p>
          <a:p>
            <a:endParaRPr lang="zh-CN" altLang="en-US" dirty="0"/>
          </a:p>
        </p:txBody>
      </p:sp>
      <p:sp>
        <p:nvSpPr>
          <p:cNvPr id="4" name="日期占位符 3"/>
          <p:cNvSpPr>
            <a:spLocks noGrp="1"/>
          </p:cNvSpPr>
          <p:nvPr>
            <p:ph type="dt" sz="half" idx="10"/>
          </p:nvPr>
        </p:nvSpPr>
        <p:spPr/>
        <p:txBody>
          <a:bodyPr/>
          <a:lstStyle/>
          <a:p>
            <a:fld id="{F930C229-6906-442E-9012-B40A79BD0CF6}" type="datetime3">
              <a:rPr lang="zh-CN" altLang="en-US" smtClean="0"/>
              <a:t>2019年5月6日星期一</a:t>
            </a:fld>
            <a:endParaRPr lang="zh-CN" altLang="en-US"/>
          </a:p>
        </p:txBody>
      </p:sp>
      <p:sp>
        <p:nvSpPr>
          <p:cNvPr id="5" name="页脚占位符 4"/>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6" name="灯片编号占位符 5"/>
          <p:cNvSpPr>
            <a:spLocks noGrp="1"/>
          </p:cNvSpPr>
          <p:nvPr>
            <p:ph type="sldNum" sz="quarter" idx="12"/>
          </p:nvPr>
        </p:nvSpPr>
        <p:spPr/>
        <p:txBody>
          <a:bodyPr/>
          <a:lstStyle/>
          <a:p>
            <a:fld id="{D5BA5A3D-E723-4639-877B-B187790AC552}" type="slidenum">
              <a:rPr lang="zh-CN" altLang="en-US" smtClean="0"/>
              <a:pPr/>
              <a:t>3</a:t>
            </a:fld>
            <a:endParaRPr lang="zh-CN" altLang="en-US"/>
          </a:p>
        </p:txBody>
      </p:sp>
    </p:spTree>
    <p:extLst>
      <p:ext uri="{BB962C8B-B14F-4D97-AF65-F5344CB8AC3E}">
        <p14:creationId xmlns:p14="http://schemas.microsoft.com/office/powerpoint/2010/main" val="542986488"/>
      </p:ext>
    </p:extLst>
  </p:cSld>
  <p:clrMapOvr>
    <a:masterClrMapping/>
  </p:clrMapOvr>
  <p:transition spd="slow">
    <p:push di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网络分析仪的用途</a:t>
            </a:r>
            <a:endParaRPr lang="zh-CN" altLang="en-US" dirty="0"/>
          </a:p>
        </p:txBody>
      </p:sp>
      <p:sp>
        <p:nvSpPr>
          <p:cNvPr id="2" name="内容占位符 1"/>
          <p:cNvSpPr>
            <a:spLocks noGrp="1"/>
          </p:cNvSpPr>
          <p:nvPr>
            <p:ph idx="1"/>
          </p:nvPr>
        </p:nvSpPr>
        <p:spPr/>
        <p:txBody>
          <a:bodyPr>
            <a:normAutofit fontScale="92500" lnSpcReduction="20000"/>
          </a:bodyPr>
          <a:lstStyle/>
          <a:p>
            <a:r>
              <a:rPr lang="zh-CN" altLang="en-US" dirty="0" smtClean="0"/>
              <a:t>网络分析仪</a:t>
            </a:r>
            <a:r>
              <a:rPr lang="zh-CN" altLang="en-US" dirty="0"/>
              <a:t>功能很多，被</a:t>
            </a:r>
            <a:r>
              <a:rPr lang="zh-CN" altLang="en-US" dirty="0" smtClean="0"/>
              <a:t>称为</a:t>
            </a:r>
            <a:r>
              <a:rPr lang="en-US" altLang="zh-CN" dirty="0" smtClean="0"/>
              <a:t>“</a:t>
            </a:r>
            <a:r>
              <a:rPr lang="zh-CN" altLang="en-US" dirty="0" smtClean="0"/>
              <a:t>仪器</a:t>
            </a:r>
            <a:r>
              <a:rPr lang="zh-CN" altLang="en-US" dirty="0"/>
              <a:t>之</a:t>
            </a:r>
            <a:r>
              <a:rPr lang="zh-CN" altLang="en-US" dirty="0" smtClean="0"/>
              <a:t>王</a:t>
            </a:r>
            <a:r>
              <a:rPr lang="en-US" altLang="zh-CN" dirty="0" smtClean="0"/>
              <a:t>”</a:t>
            </a:r>
            <a:r>
              <a:rPr lang="zh-CN" altLang="en-US" dirty="0" smtClean="0"/>
              <a:t>，</a:t>
            </a:r>
            <a:r>
              <a:rPr lang="zh-CN" altLang="en-US" dirty="0"/>
              <a:t>是射频微波领域的</a:t>
            </a:r>
            <a:r>
              <a:rPr lang="zh-CN" altLang="en-US" dirty="0" smtClean="0"/>
              <a:t>万用表；</a:t>
            </a:r>
            <a:endParaRPr lang="en-US" altLang="zh-CN" dirty="0" smtClean="0"/>
          </a:p>
          <a:p>
            <a:r>
              <a:rPr lang="zh-CN" altLang="en-US" dirty="0" smtClean="0"/>
              <a:t>网络分析仪</a:t>
            </a:r>
            <a:r>
              <a:rPr lang="zh-CN" altLang="en-US" dirty="0"/>
              <a:t>器是一种电磁波能量的测试设备。它既能测量</a:t>
            </a:r>
            <a:r>
              <a:rPr lang="zh-CN" altLang="en-US" dirty="0" smtClean="0"/>
              <a:t>单、两、多端口</a:t>
            </a:r>
            <a:r>
              <a:rPr lang="zh-CN" altLang="en-US" dirty="0"/>
              <a:t>网络的各种参数幅值，又能测相位，矢量网络分析仪能用史密斯圆图显示</a:t>
            </a:r>
            <a:r>
              <a:rPr lang="zh-CN" altLang="en-US" dirty="0" smtClean="0"/>
              <a:t>测试数据；</a:t>
            </a:r>
            <a:endParaRPr lang="zh-CN" altLang="en-US" dirty="0"/>
          </a:p>
          <a:p>
            <a:r>
              <a:rPr lang="zh-CN" altLang="en-US" dirty="0" smtClean="0"/>
              <a:t>网络分析仪</a:t>
            </a:r>
            <a:r>
              <a:rPr lang="zh-CN" altLang="en-US" dirty="0"/>
              <a:t>既能测量单端口网络或两端口网络的各种参数幅值，又能测相位，矢量网络分析仪能用史密斯圆图显示</a:t>
            </a:r>
            <a:r>
              <a:rPr lang="zh-CN" altLang="en-US" dirty="0" smtClean="0"/>
              <a:t>测试数据；</a:t>
            </a:r>
            <a:endParaRPr lang="en-US" altLang="zh-CN" dirty="0" smtClean="0"/>
          </a:p>
          <a:p>
            <a:endParaRPr lang="zh-CN" altLang="en-US" dirty="0"/>
          </a:p>
        </p:txBody>
      </p:sp>
      <p:sp>
        <p:nvSpPr>
          <p:cNvPr id="4" name="日期占位符 3"/>
          <p:cNvSpPr>
            <a:spLocks noGrp="1"/>
          </p:cNvSpPr>
          <p:nvPr>
            <p:ph type="dt" sz="half" idx="10"/>
          </p:nvPr>
        </p:nvSpPr>
        <p:spPr/>
        <p:txBody>
          <a:bodyPr/>
          <a:lstStyle/>
          <a:p>
            <a:fld id="{CC7F1E68-F9D9-461F-825C-DFF538C5BBA7}" type="datetime3">
              <a:rPr lang="zh-CN" altLang="en-US" smtClean="0"/>
              <a:t>2019年5月6日星期一</a:t>
            </a:fld>
            <a:endParaRPr lang="zh-CN" altLang="en-US"/>
          </a:p>
        </p:txBody>
      </p:sp>
      <p:sp>
        <p:nvSpPr>
          <p:cNvPr id="5" name="页脚占位符 4"/>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6" name="灯片编号占位符 5"/>
          <p:cNvSpPr>
            <a:spLocks noGrp="1"/>
          </p:cNvSpPr>
          <p:nvPr>
            <p:ph type="sldNum" sz="quarter" idx="12"/>
          </p:nvPr>
        </p:nvSpPr>
        <p:spPr/>
        <p:txBody>
          <a:bodyPr/>
          <a:lstStyle/>
          <a:p>
            <a:fld id="{D5BA5A3D-E723-4639-877B-B187790AC552}" type="slidenum">
              <a:rPr lang="zh-CN" altLang="en-US" smtClean="0"/>
              <a:pPr/>
              <a:t>4</a:t>
            </a:fld>
            <a:endParaRPr lang="zh-CN" altLang="en-US"/>
          </a:p>
        </p:txBody>
      </p:sp>
    </p:spTree>
    <p:extLst>
      <p:ext uri="{BB962C8B-B14F-4D97-AF65-F5344CB8AC3E}">
        <p14:creationId xmlns:p14="http://schemas.microsoft.com/office/powerpoint/2010/main" val="1635930864"/>
      </p:ext>
    </p:extLst>
  </p:cSld>
  <p:clrMapOvr>
    <a:masterClrMapping/>
  </p:clrMapOvr>
  <p:transition spd="slow">
    <p:push di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网络分析仪的用途</a:t>
            </a:r>
            <a:endParaRPr lang="zh-CN" altLang="en-US" dirty="0"/>
          </a:p>
        </p:txBody>
      </p:sp>
      <p:sp>
        <p:nvSpPr>
          <p:cNvPr id="2" name="内容占位符 1"/>
          <p:cNvSpPr>
            <a:spLocks noGrp="1"/>
          </p:cNvSpPr>
          <p:nvPr>
            <p:ph idx="1"/>
          </p:nvPr>
        </p:nvSpPr>
        <p:spPr/>
        <p:txBody>
          <a:bodyPr>
            <a:normAutofit/>
          </a:bodyPr>
          <a:lstStyle/>
          <a:p>
            <a:r>
              <a:rPr lang="zh-CN" altLang="en-US" smtClean="0"/>
              <a:t>标量网络分析仪</a:t>
            </a:r>
            <a:endParaRPr lang="en-US" altLang="zh-CN" dirty="0" smtClean="0"/>
          </a:p>
          <a:p>
            <a:pPr lvl="1"/>
            <a:r>
              <a:rPr lang="zh-CN" altLang="en-US" dirty="0" smtClean="0"/>
              <a:t>主要</a:t>
            </a:r>
            <a:r>
              <a:rPr lang="zh-CN" altLang="en-US" dirty="0"/>
              <a:t>就是测传输、驻波比。不能运用斯密斯圆图，也就不能测试阻抗</a:t>
            </a:r>
            <a:endParaRPr lang="en-US" altLang="zh-CN" dirty="0" smtClean="0"/>
          </a:p>
          <a:p>
            <a:r>
              <a:rPr lang="zh-CN" altLang="en-US" dirty="0" smtClean="0"/>
              <a:t>矢量网络分析仪</a:t>
            </a:r>
            <a:endParaRPr lang="en-US" altLang="zh-CN" dirty="0" smtClean="0"/>
          </a:p>
          <a:p>
            <a:pPr lvl="1"/>
            <a:r>
              <a:rPr lang="zh-CN" altLang="en-US" dirty="0" smtClean="0"/>
              <a:t>矢量网络分析仪</a:t>
            </a:r>
            <a:r>
              <a:rPr lang="zh-CN" altLang="en-US" dirty="0"/>
              <a:t>，具备标量网络分析仪的功能外，还有史密斯圆图，能测试阻抗</a:t>
            </a:r>
          </a:p>
          <a:p>
            <a:endParaRPr lang="zh-CN" altLang="en-US" dirty="0"/>
          </a:p>
        </p:txBody>
      </p:sp>
      <p:sp>
        <p:nvSpPr>
          <p:cNvPr id="4" name="日期占位符 3"/>
          <p:cNvSpPr>
            <a:spLocks noGrp="1"/>
          </p:cNvSpPr>
          <p:nvPr>
            <p:ph type="dt" sz="half" idx="10"/>
          </p:nvPr>
        </p:nvSpPr>
        <p:spPr/>
        <p:txBody>
          <a:bodyPr/>
          <a:lstStyle/>
          <a:p>
            <a:fld id="{CC7F1E68-F9D9-461F-825C-DFF538C5BBA7}" type="datetime3">
              <a:rPr lang="zh-CN" altLang="en-US" smtClean="0"/>
              <a:t>2019年5月6日星期一</a:t>
            </a:fld>
            <a:endParaRPr lang="zh-CN" altLang="en-US"/>
          </a:p>
        </p:txBody>
      </p:sp>
      <p:sp>
        <p:nvSpPr>
          <p:cNvPr id="5" name="页脚占位符 4"/>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6" name="灯片编号占位符 5"/>
          <p:cNvSpPr>
            <a:spLocks noGrp="1"/>
          </p:cNvSpPr>
          <p:nvPr>
            <p:ph type="sldNum" sz="quarter" idx="12"/>
          </p:nvPr>
        </p:nvSpPr>
        <p:spPr/>
        <p:txBody>
          <a:bodyPr/>
          <a:lstStyle/>
          <a:p>
            <a:fld id="{D5BA5A3D-E723-4639-877B-B187790AC552}" type="slidenum">
              <a:rPr lang="zh-CN" altLang="en-US" smtClean="0"/>
              <a:pPr/>
              <a:t>5</a:t>
            </a:fld>
            <a:endParaRPr lang="zh-CN" altLang="en-US"/>
          </a:p>
        </p:txBody>
      </p:sp>
    </p:spTree>
    <p:extLst>
      <p:ext uri="{BB962C8B-B14F-4D97-AF65-F5344CB8AC3E}">
        <p14:creationId xmlns:p14="http://schemas.microsoft.com/office/powerpoint/2010/main" val="3585456955"/>
      </p:ext>
    </p:extLst>
  </p:cSld>
  <p:clrMapOvr>
    <a:masterClrMapping/>
  </p:clrMapOvr>
  <p:transition spd="slow">
    <p:push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矢量网络分析仪</a:t>
            </a:r>
            <a:r>
              <a:rPr lang="en-US" altLang="zh-CN" dirty="0" smtClean="0"/>
              <a:t>E5061B</a:t>
            </a:r>
            <a:r>
              <a:rPr lang="zh-CN" altLang="en-US" dirty="0"/>
              <a:t>面板图（正面）</a:t>
            </a:r>
          </a:p>
        </p:txBody>
      </p:sp>
      <p:sp>
        <p:nvSpPr>
          <p:cNvPr id="8" name="内容占位符 7"/>
          <p:cNvSpPr>
            <a:spLocks noGrp="1"/>
          </p:cNvSpPr>
          <p:nvPr>
            <p:ph idx="1"/>
          </p:nvPr>
        </p:nvSpPr>
        <p:spPr/>
        <p:txBody>
          <a:bodyPr/>
          <a:lstStyle/>
          <a:p>
            <a:endParaRPr lang="zh-CN" altLang="en-US"/>
          </a:p>
        </p:txBody>
      </p:sp>
      <p:sp>
        <p:nvSpPr>
          <p:cNvPr id="5" name="日期占位符 4"/>
          <p:cNvSpPr>
            <a:spLocks noGrp="1"/>
          </p:cNvSpPr>
          <p:nvPr>
            <p:ph type="dt" sz="half" idx="10"/>
          </p:nvPr>
        </p:nvSpPr>
        <p:spPr/>
        <p:txBody>
          <a:bodyPr/>
          <a:lstStyle/>
          <a:p>
            <a:fld id="{9997A817-BFEB-4A13-B783-03A48EAD5EC9}" type="datetime3">
              <a:rPr lang="zh-CN" altLang="en-US" smtClean="0"/>
              <a:t>2019年5月6日星期一</a:t>
            </a:fld>
            <a:endParaRPr lang="zh-CN" altLang="en-US"/>
          </a:p>
        </p:txBody>
      </p:sp>
      <p:sp>
        <p:nvSpPr>
          <p:cNvPr id="6" name="页脚占位符 5"/>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7" name="灯片编号占位符 6"/>
          <p:cNvSpPr>
            <a:spLocks noGrp="1"/>
          </p:cNvSpPr>
          <p:nvPr>
            <p:ph type="sldNum" sz="quarter" idx="12"/>
          </p:nvPr>
        </p:nvSpPr>
        <p:spPr/>
        <p:txBody>
          <a:bodyPr/>
          <a:lstStyle/>
          <a:p>
            <a:fld id="{D5BA5A3D-E723-4639-877B-B187790AC552}" type="slidenum">
              <a:rPr lang="zh-CN" altLang="en-US" smtClean="0"/>
              <a:pPr/>
              <a:t>6</a:t>
            </a:fld>
            <a:endParaRPr lang="zh-CN" altLang="en-US"/>
          </a:p>
        </p:txBody>
      </p:sp>
      <p:pic>
        <p:nvPicPr>
          <p:cNvPr id="3" name="图片 2"/>
          <p:cNvPicPr>
            <a:picLocks noChangeAspect="1"/>
          </p:cNvPicPr>
          <p:nvPr/>
        </p:nvPicPr>
        <p:blipFill rotWithShape="1">
          <a:blip r:embed="rId2"/>
          <a:srcRect b="46239"/>
          <a:stretch/>
        </p:blipFill>
        <p:spPr>
          <a:xfrm>
            <a:off x="2095635" y="2509893"/>
            <a:ext cx="8000731" cy="2950885"/>
          </a:xfrm>
          <a:prstGeom prst="rect">
            <a:avLst/>
          </a:prstGeom>
        </p:spPr>
      </p:pic>
      <p:pic>
        <p:nvPicPr>
          <p:cNvPr id="4" name="图片 3"/>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97728" y="1614321"/>
            <a:ext cx="3456375" cy="1686037"/>
          </a:xfrm>
          <a:prstGeom prst="rect">
            <a:avLst/>
          </a:prstGeom>
        </p:spPr>
      </p:pic>
    </p:spTree>
    <p:extLst>
      <p:ext uri="{BB962C8B-B14F-4D97-AF65-F5344CB8AC3E}">
        <p14:creationId xmlns:p14="http://schemas.microsoft.com/office/powerpoint/2010/main" val="816329504"/>
      </p:ext>
    </p:extLst>
  </p:cSld>
  <p:clrMapOvr>
    <a:masterClrMapping/>
  </p:clrMapOvr>
  <p:transition spd="slow">
    <p:push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矢量网络分析仪</a:t>
            </a:r>
            <a:r>
              <a:rPr lang="en-US" altLang="zh-CN" dirty="0" smtClean="0"/>
              <a:t>E5061B</a:t>
            </a:r>
            <a:r>
              <a:rPr lang="zh-CN" altLang="en-US" dirty="0"/>
              <a:t>面板图（正面）</a:t>
            </a:r>
          </a:p>
        </p:txBody>
      </p:sp>
      <p:sp>
        <p:nvSpPr>
          <p:cNvPr id="3" name="内容占位符 2"/>
          <p:cNvSpPr>
            <a:spLocks noGrp="1"/>
          </p:cNvSpPr>
          <p:nvPr>
            <p:ph idx="1"/>
          </p:nvPr>
        </p:nvSpPr>
        <p:spPr/>
        <p:txBody>
          <a:bodyPr/>
          <a:lstStyle/>
          <a:p>
            <a:endParaRPr lang="zh-CN" altLang="en-US"/>
          </a:p>
        </p:txBody>
      </p:sp>
      <p:sp>
        <p:nvSpPr>
          <p:cNvPr id="5" name="日期占位符 4"/>
          <p:cNvSpPr>
            <a:spLocks noGrp="1"/>
          </p:cNvSpPr>
          <p:nvPr>
            <p:ph type="dt" sz="half" idx="10"/>
          </p:nvPr>
        </p:nvSpPr>
        <p:spPr/>
        <p:txBody>
          <a:bodyPr/>
          <a:lstStyle/>
          <a:p>
            <a:fld id="{9997A817-BFEB-4A13-B783-03A48EAD5EC9}" type="datetime3">
              <a:rPr lang="zh-CN" altLang="en-US" smtClean="0"/>
              <a:t>2019年5月6日星期一</a:t>
            </a:fld>
            <a:endParaRPr lang="zh-CN" altLang="en-US"/>
          </a:p>
        </p:txBody>
      </p:sp>
      <p:sp>
        <p:nvSpPr>
          <p:cNvPr id="6" name="页脚占位符 5"/>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7" name="灯片编号占位符 6"/>
          <p:cNvSpPr>
            <a:spLocks noGrp="1"/>
          </p:cNvSpPr>
          <p:nvPr>
            <p:ph type="sldNum" sz="quarter" idx="12"/>
          </p:nvPr>
        </p:nvSpPr>
        <p:spPr/>
        <p:txBody>
          <a:bodyPr/>
          <a:lstStyle/>
          <a:p>
            <a:fld id="{D5BA5A3D-E723-4639-877B-B187790AC552}" type="slidenum">
              <a:rPr lang="zh-CN" altLang="en-US" smtClean="0"/>
              <a:pPr/>
              <a:t>7</a:t>
            </a:fld>
            <a:endParaRPr lang="zh-CN" altLang="en-US"/>
          </a:p>
        </p:txBody>
      </p:sp>
      <p:pic>
        <p:nvPicPr>
          <p:cNvPr id="8" name="图片 7"/>
          <p:cNvPicPr>
            <a:picLocks noChangeAspect="1"/>
          </p:cNvPicPr>
          <p:nvPr/>
        </p:nvPicPr>
        <p:blipFill rotWithShape="1">
          <a:blip r:embed="rId2" cstate="print">
            <a:extLst>
              <a:ext uri="{28A0092B-C50C-407E-A947-70E740481C1C}">
                <a14:useLocalDpi xmlns:a14="http://schemas.microsoft.com/office/drawing/2010/main" val="0"/>
              </a:ext>
            </a:extLst>
          </a:blip>
          <a:srcRect l="4323" t="10666" r="8665" b="9754"/>
          <a:stretch/>
        </p:blipFill>
        <p:spPr>
          <a:xfrm>
            <a:off x="1799925" y="1615401"/>
            <a:ext cx="8758990" cy="4515891"/>
          </a:xfrm>
          <a:prstGeom prst="rect">
            <a:avLst/>
          </a:prstGeom>
        </p:spPr>
      </p:pic>
    </p:spTree>
    <p:extLst>
      <p:ext uri="{BB962C8B-B14F-4D97-AF65-F5344CB8AC3E}">
        <p14:creationId xmlns:p14="http://schemas.microsoft.com/office/powerpoint/2010/main" val="3859034235"/>
      </p:ext>
    </p:extLst>
  </p:cSld>
  <p:clrMapOvr>
    <a:masterClrMapping/>
  </p:clrMapOvr>
  <p:transition spd="slow">
    <p:push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矢量网络分析仪</a:t>
            </a:r>
            <a:r>
              <a:rPr lang="en-US" altLang="zh-CN" dirty="0" smtClean="0"/>
              <a:t>E5061B</a:t>
            </a:r>
            <a:r>
              <a:rPr lang="zh-CN" altLang="en-US" dirty="0"/>
              <a:t>面板图（正面）</a:t>
            </a:r>
          </a:p>
        </p:txBody>
      </p:sp>
      <p:sp>
        <p:nvSpPr>
          <p:cNvPr id="4" name="内容占位符 3"/>
          <p:cNvSpPr>
            <a:spLocks noGrp="1"/>
          </p:cNvSpPr>
          <p:nvPr>
            <p:ph idx="1"/>
          </p:nvPr>
        </p:nvSpPr>
        <p:spPr/>
        <p:txBody>
          <a:bodyPr/>
          <a:lstStyle/>
          <a:p>
            <a:endParaRPr lang="zh-CN" altLang="en-US"/>
          </a:p>
        </p:txBody>
      </p:sp>
      <p:sp>
        <p:nvSpPr>
          <p:cNvPr id="5" name="日期占位符 4"/>
          <p:cNvSpPr>
            <a:spLocks noGrp="1"/>
          </p:cNvSpPr>
          <p:nvPr>
            <p:ph type="dt" sz="half" idx="10"/>
          </p:nvPr>
        </p:nvSpPr>
        <p:spPr/>
        <p:txBody>
          <a:bodyPr/>
          <a:lstStyle/>
          <a:p>
            <a:fld id="{9997A817-BFEB-4A13-B783-03A48EAD5EC9}" type="datetime3">
              <a:rPr lang="zh-CN" altLang="en-US" smtClean="0"/>
              <a:t>2019年5月6日星期一</a:t>
            </a:fld>
            <a:endParaRPr lang="zh-CN" altLang="en-US"/>
          </a:p>
        </p:txBody>
      </p:sp>
      <p:sp>
        <p:nvSpPr>
          <p:cNvPr id="6" name="页脚占位符 5"/>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7" name="灯片编号占位符 6"/>
          <p:cNvSpPr>
            <a:spLocks noGrp="1"/>
          </p:cNvSpPr>
          <p:nvPr>
            <p:ph type="sldNum" sz="quarter" idx="12"/>
          </p:nvPr>
        </p:nvSpPr>
        <p:spPr/>
        <p:txBody>
          <a:bodyPr/>
          <a:lstStyle/>
          <a:p>
            <a:fld id="{D5BA5A3D-E723-4639-877B-B187790AC552}" type="slidenum">
              <a:rPr lang="zh-CN" altLang="en-US" smtClean="0"/>
              <a:pPr/>
              <a:t>8</a:t>
            </a:fld>
            <a:endParaRPr lang="zh-CN" altLang="en-US"/>
          </a:p>
        </p:txBody>
      </p:sp>
      <p:pic>
        <p:nvPicPr>
          <p:cNvPr id="8" name="图片 7"/>
          <p:cNvPicPr>
            <a:picLocks noChangeAspect="1"/>
          </p:cNvPicPr>
          <p:nvPr/>
        </p:nvPicPr>
        <p:blipFill rotWithShape="1">
          <a:blip r:embed="rId2" cstate="print">
            <a:extLst>
              <a:ext uri="{28A0092B-C50C-407E-A947-70E740481C1C}">
                <a14:useLocalDpi xmlns:a14="http://schemas.microsoft.com/office/drawing/2010/main" val="0"/>
              </a:ext>
            </a:extLst>
          </a:blip>
          <a:srcRect l="57200" t="16971" r="8665" b="30447"/>
          <a:stretch/>
        </p:blipFill>
        <p:spPr>
          <a:xfrm>
            <a:off x="3452261" y="1645938"/>
            <a:ext cx="5158339" cy="4479230"/>
          </a:xfrm>
          <a:prstGeom prst="rect">
            <a:avLst/>
          </a:prstGeom>
        </p:spPr>
      </p:pic>
      <p:sp>
        <p:nvSpPr>
          <p:cNvPr id="3" name="文本框 2"/>
          <p:cNvSpPr txBox="1"/>
          <p:nvPr/>
        </p:nvSpPr>
        <p:spPr>
          <a:xfrm>
            <a:off x="8804029" y="1891117"/>
            <a:ext cx="1793633" cy="369332"/>
          </a:xfrm>
          <a:prstGeom prst="rect">
            <a:avLst/>
          </a:prstGeom>
          <a:solidFill>
            <a:srgbClr val="004098"/>
          </a:solidFill>
        </p:spPr>
        <p:txBody>
          <a:bodyPr wrap="none" rtlCol="0">
            <a:noAutofit/>
          </a:bodyPr>
          <a:lstStyle/>
          <a:p>
            <a:r>
              <a:rPr lang="en-US" altLang="zh-CN" sz="1400" dirty="0" smtClean="0">
                <a:solidFill>
                  <a:schemeClr val="bg1">
                    <a:lumMod val="95000"/>
                  </a:schemeClr>
                </a:solidFill>
              </a:rPr>
              <a:t>GHz/</a:t>
            </a:r>
            <a:r>
              <a:rPr lang="en-US" altLang="zh-CN" sz="1400" dirty="0" err="1" smtClean="0">
                <a:solidFill>
                  <a:schemeClr val="bg1">
                    <a:lumMod val="95000"/>
                  </a:schemeClr>
                </a:solidFill>
              </a:rPr>
              <a:t>nH</a:t>
            </a:r>
            <a:endParaRPr lang="zh-CN" altLang="en-US" sz="1400" dirty="0">
              <a:solidFill>
                <a:schemeClr val="bg1">
                  <a:lumMod val="95000"/>
                </a:schemeClr>
              </a:solidFill>
            </a:endParaRPr>
          </a:p>
        </p:txBody>
      </p:sp>
      <p:cxnSp>
        <p:nvCxnSpPr>
          <p:cNvPr id="11" name="直接箭头连接符 10"/>
          <p:cNvCxnSpPr/>
          <p:nvPr/>
        </p:nvCxnSpPr>
        <p:spPr>
          <a:xfrm flipH="1">
            <a:off x="8352691" y="2075783"/>
            <a:ext cx="451338" cy="0"/>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8804029" y="2320963"/>
            <a:ext cx="1793633" cy="369332"/>
          </a:xfrm>
          <a:prstGeom prst="rect">
            <a:avLst/>
          </a:prstGeom>
          <a:solidFill>
            <a:srgbClr val="004098"/>
          </a:solidFill>
        </p:spPr>
        <p:txBody>
          <a:bodyPr wrap="none" rtlCol="0">
            <a:noAutofit/>
          </a:bodyPr>
          <a:lstStyle/>
          <a:p>
            <a:r>
              <a:rPr lang="en-US" altLang="zh-CN" sz="1400" dirty="0" smtClean="0">
                <a:solidFill>
                  <a:schemeClr val="bg1">
                    <a:lumMod val="95000"/>
                  </a:schemeClr>
                </a:solidFill>
              </a:rPr>
              <a:t>MHz/</a:t>
            </a:r>
            <a:r>
              <a:rPr lang="en-US" altLang="zh-CN" sz="1400" dirty="0" err="1" smtClean="0">
                <a:solidFill>
                  <a:schemeClr val="bg1">
                    <a:lumMod val="95000"/>
                  </a:schemeClr>
                </a:solidFill>
              </a:rPr>
              <a:t>uF</a:t>
            </a:r>
            <a:endParaRPr lang="zh-CN" altLang="en-US" sz="1400" dirty="0">
              <a:solidFill>
                <a:schemeClr val="bg1">
                  <a:lumMod val="95000"/>
                </a:schemeClr>
              </a:solidFill>
            </a:endParaRPr>
          </a:p>
        </p:txBody>
      </p:sp>
      <p:cxnSp>
        <p:nvCxnSpPr>
          <p:cNvPr id="13" name="直接箭头连接符 12"/>
          <p:cNvCxnSpPr/>
          <p:nvPr/>
        </p:nvCxnSpPr>
        <p:spPr>
          <a:xfrm flipH="1">
            <a:off x="8352691" y="2505629"/>
            <a:ext cx="451338" cy="0"/>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8804029" y="2804590"/>
            <a:ext cx="1793633" cy="369332"/>
          </a:xfrm>
          <a:prstGeom prst="rect">
            <a:avLst/>
          </a:prstGeom>
          <a:solidFill>
            <a:srgbClr val="004098"/>
          </a:solidFill>
        </p:spPr>
        <p:txBody>
          <a:bodyPr wrap="none" rtlCol="0">
            <a:noAutofit/>
          </a:bodyPr>
          <a:lstStyle/>
          <a:p>
            <a:r>
              <a:rPr lang="en-US" altLang="zh-CN" sz="1400" dirty="0">
                <a:solidFill>
                  <a:schemeClr val="bg1">
                    <a:lumMod val="95000"/>
                  </a:schemeClr>
                </a:solidFill>
              </a:rPr>
              <a:t>K</a:t>
            </a:r>
            <a:r>
              <a:rPr lang="en-US" altLang="zh-CN" sz="1400" dirty="0" smtClean="0">
                <a:solidFill>
                  <a:schemeClr val="bg1">
                    <a:lumMod val="95000"/>
                  </a:schemeClr>
                </a:solidFill>
              </a:rPr>
              <a:t>Hz/</a:t>
            </a:r>
            <a:r>
              <a:rPr lang="en-US" altLang="zh-CN" sz="1400" dirty="0" err="1" smtClean="0">
                <a:solidFill>
                  <a:schemeClr val="bg1">
                    <a:lumMod val="95000"/>
                  </a:schemeClr>
                </a:solidFill>
              </a:rPr>
              <a:t>nH</a:t>
            </a:r>
            <a:endParaRPr lang="zh-CN" altLang="en-US" sz="1400" dirty="0">
              <a:solidFill>
                <a:schemeClr val="bg1">
                  <a:lumMod val="95000"/>
                </a:schemeClr>
              </a:solidFill>
            </a:endParaRPr>
          </a:p>
        </p:txBody>
      </p:sp>
      <p:cxnSp>
        <p:nvCxnSpPr>
          <p:cNvPr id="15" name="直接箭头连接符 14"/>
          <p:cNvCxnSpPr/>
          <p:nvPr/>
        </p:nvCxnSpPr>
        <p:spPr>
          <a:xfrm flipH="1">
            <a:off x="8352691" y="2989256"/>
            <a:ext cx="451338" cy="0"/>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8804029" y="3288216"/>
            <a:ext cx="1793633" cy="369332"/>
          </a:xfrm>
          <a:prstGeom prst="rect">
            <a:avLst/>
          </a:prstGeom>
          <a:solidFill>
            <a:srgbClr val="004098"/>
          </a:solidFill>
        </p:spPr>
        <p:txBody>
          <a:bodyPr wrap="none" rtlCol="0">
            <a:noAutofit/>
          </a:bodyPr>
          <a:lstStyle/>
          <a:p>
            <a:r>
              <a:rPr lang="zh-CN" altLang="en-US" sz="1400" dirty="0" smtClean="0">
                <a:solidFill>
                  <a:schemeClr val="bg1">
                    <a:lumMod val="95000"/>
                  </a:schemeClr>
                </a:solidFill>
              </a:rPr>
              <a:t>表示不加前缀</a:t>
            </a:r>
            <a:endParaRPr lang="zh-CN" altLang="en-US" sz="1400" dirty="0">
              <a:solidFill>
                <a:schemeClr val="bg1">
                  <a:lumMod val="95000"/>
                </a:schemeClr>
              </a:solidFill>
            </a:endParaRPr>
          </a:p>
        </p:txBody>
      </p:sp>
      <p:cxnSp>
        <p:nvCxnSpPr>
          <p:cNvPr id="17" name="直接箭头连接符 16"/>
          <p:cNvCxnSpPr/>
          <p:nvPr/>
        </p:nvCxnSpPr>
        <p:spPr>
          <a:xfrm flipH="1">
            <a:off x="8352691" y="3472882"/>
            <a:ext cx="451338" cy="0"/>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1055078" y="1891117"/>
            <a:ext cx="2110154" cy="369332"/>
          </a:xfrm>
          <a:prstGeom prst="rect">
            <a:avLst/>
          </a:prstGeom>
          <a:solidFill>
            <a:srgbClr val="004098"/>
          </a:solidFill>
        </p:spPr>
        <p:txBody>
          <a:bodyPr wrap="none" rtlCol="0">
            <a:noAutofit/>
          </a:bodyPr>
          <a:lstStyle/>
          <a:p>
            <a:r>
              <a:rPr lang="zh-CN" altLang="en-US" sz="1400" dirty="0" smtClean="0">
                <a:solidFill>
                  <a:schemeClr val="bg1">
                    <a:lumMod val="95000"/>
                  </a:schemeClr>
                </a:solidFill>
              </a:rPr>
              <a:t>选中前一个或后一个通道</a:t>
            </a:r>
            <a:endParaRPr lang="zh-CN" altLang="en-US" sz="1400" dirty="0">
              <a:solidFill>
                <a:schemeClr val="bg1">
                  <a:lumMod val="95000"/>
                </a:schemeClr>
              </a:solidFill>
            </a:endParaRPr>
          </a:p>
        </p:txBody>
      </p:sp>
      <p:cxnSp>
        <p:nvCxnSpPr>
          <p:cNvPr id="20" name="直接箭头连接符 19"/>
          <p:cNvCxnSpPr/>
          <p:nvPr/>
        </p:nvCxnSpPr>
        <p:spPr>
          <a:xfrm>
            <a:off x="3165231" y="2083723"/>
            <a:ext cx="550984" cy="0"/>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1055077" y="2350243"/>
            <a:ext cx="2110154" cy="369332"/>
          </a:xfrm>
          <a:prstGeom prst="rect">
            <a:avLst/>
          </a:prstGeom>
          <a:solidFill>
            <a:srgbClr val="004098"/>
          </a:solidFill>
        </p:spPr>
        <p:txBody>
          <a:bodyPr wrap="none" rtlCol="0">
            <a:noAutofit/>
          </a:bodyPr>
          <a:lstStyle/>
          <a:p>
            <a:r>
              <a:rPr lang="zh-CN" altLang="en-US" sz="1400" dirty="0" smtClean="0">
                <a:solidFill>
                  <a:schemeClr val="bg1">
                    <a:lumMod val="95000"/>
                  </a:schemeClr>
                </a:solidFill>
              </a:rPr>
              <a:t>选中前一个或后一个轨迹</a:t>
            </a:r>
            <a:endParaRPr lang="zh-CN" altLang="en-US" sz="1400" dirty="0">
              <a:solidFill>
                <a:schemeClr val="bg1">
                  <a:lumMod val="95000"/>
                </a:schemeClr>
              </a:solidFill>
            </a:endParaRPr>
          </a:p>
        </p:txBody>
      </p:sp>
      <p:cxnSp>
        <p:nvCxnSpPr>
          <p:cNvPr id="22" name="直接箭头连接符 21"/>
          <p:cNvCxnSpPr/>
          <p:nvPr/>
        </p:nvCxnSpPr>
        <p:spPr>
          <a:xfrm>
            <a:off x="3165230" y="2542849"/>
            <a:ext cx="550984" cy="0"/>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6545981" y="1891116"/>
            <a:ext cx="1390543" cy="1766431"/>
          </a:xfrm>
          <a:prstGeom prst="rect">
            <a:avLst/>
          </a:prstGeom>
          <a:solidFill>
            <a:srgbClr val="004098">
              <a:alpha val="62000"/>
            </a:srgbClr>
          </a:solidFill>
        </p:spPr>
        <p:txBody>
          <a:bodyPr wrap="square" rtlCol="0">
            <a:noAutofit/>
          </a:bodyPr>
          <a:lstStyle/>
          <a:p>
            <a:pPr algn="ctr"/>
            <a:r>
              <a:rPr lang="zh-CN" altLang="en-US" sz="1400" dirty="0" smtClean="0">
                <a:solidFill>
                  <a:schemeClr val="bg1">
                    <a:lumMod val="95000"/>
                  </a:schemeClr>
                </a:solidFill>
              </a:rPr>
              <a:t>数字，小数点及正负号输入</a:t>
            </a:r>
            <a:endParaRPr lang="zh-CN" altLang="en-US" sz="1400" dirty="0">
              <a:solidFill>
                <a:schemeClr val="bg1">
                  <a:lumMod val="95000"/>
                </a:schemeClr>
              </a:solidFill>
            </a:endParaRPr>
          </a:p>
        </p:txBody>
      </p:sp>
      <p:sp>
        <p:nvSpPr>
          <p:cNvPr id="24" name="文本框 23"/>
          <p:cNvSpPr txBox="1"/>
          <p:nvPr/>
        </p:nvSpPr>
        <p:spPr>
          <a:xfrm>
            <a:off x="8804029" y="3704386"/>
            <a:ext cx="1793633" cy="369332"/>
          </a:xfrm>
          <a:prstGeom prst="rect">
            <a:avLst/>
          </a:prstGeom>
          <a:solidFill>
            <a:srgbClr val="004098"/>
          </a:solidFill>
        </p:spPr>
        <p:txBody>
          <a:bodyPr wrap="none" rtlCol="0">
            <a:noAutofit/>
          </a:bodyPr>
          <a:lstStyle/>
          <a:p>
            <a:r>
              <a:rPr lang="zh-CN" altLang="en-US" sz="1400" dirty="0" smtClean="0">
                <a:solidFill>
                  <a:schemeClr val="bg1">
                    <a:lumMod val="95000"/>
                  </a:schemeClr>
                </a:solidFill>
              </a:rPr>
              <a:t>关闭数据输入栏显示</a:t>
            </a:r>
            <a:endParaRPr lang="zh-CN" altLang="en-US" sz="1400" dirty="0">
              <a:solidFill>
                <a:schemeClr val="bg1">
                  <a:lumMod val="95000"/>
                </a:schemeClr>
              </a:solidFill>
            </a:endParaRPr>
          </a:p>
        </p:txBody>
      </p:sp>
      <p:cxnSp>
        <p:nvCxnSpPr>
          <p:cNvPr id="25" name="直接箭头连接符 24"/>
          <p:cNvCxnSpPr/>
          <p:nvPr/>
        </p:nvCxnSpPr>
        <p:spPr>
          <a:xfrm flipH="1">
            <a:off x="6904892" y="3889052"/>
            <a:ext cx="1899137" cy="0"/>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6799385" y="3849971"/>
            <a:ext cx="105507" cy="105507"/>
          </a:xfrm>
          <a:prstGeom prst="ellipse">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8804029" y="4130572"/>
            <a:ext cx="1793633" cy="369332"/>
          </a:xfrm>
          <a:prstGeom prst="rect">
            <a:avLst/>
          </a:prstGeom>
          <a:solidFill>
            <a:srgbClr val="004098"/>
          </a:solidFill>
        </p:spPr>
        <p:txBody>
          <a:bodyPr wrap="none" rtlCol="0">
            <a:noAutofit/>
          </a:bodyPr>
          <a:lstStyle/>
          <a:p>
            <a:r>
              <a:rPr lang="zh-CN" altLang="en-US" sz="1400" dirty="0" smtClean="0">
                <a:solidFill>
                  <a:schemeClr val="bg1">
                    <a:lumMod val="95000"/>
                  </a:schemeClr>
                </a:solidFill>
              </a:rPr>
              <a:t>集焦选中</a:t>
            </a:r>
            <a:endParaRPr lang="zh-CN" altLang="en-US" sz="1400" dirty="0">
              <a:solidFill>
                <a:schemeClr val="bg1">
                  <a:lumMod val="95000"/>
                </a:schemeClr>
              </a:solidFill>
            </a:endParaRPr>
          </a:p>
        </p:txBody>
      </p:sp>
      <p:cxnSp>
        <p:nvCxnSpPr>
          <p:cNvPr id="29" name="直接箭头连接符 28"/>
          <p:cNvCxnSpPr/>
          <p:nvPr/>
        </p:nvCxnSpPr>
        <p:spPr>
          <a:xfrm flipH="1" flipV="1">
            <a:off x="7760677" y="3981385"/>
            <a:ext cx="1043352" cy="333853"/>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椭圆 31"/>
          <p:cNvSpPr/>
          <p:nvPr/>
        </p:nvSpPr>
        <p:spPr>
          <a:xfrm>
            <a:off x="7704992" y="3924909"/>
            <a:ext cx="105507" cy="105507"/>
          </a:xfrm>
          <a:prstGeom prst="ellipse">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5304326" y="1739656"/>
            <a:ext cx="1098140" cy="1098140"/>
          </a:xfrm>
          <a:prstGeom prst="ellipse">
            <a:avLst/>
          </a:prstGeom>
          <a:solidFill>
            <a:srgbClr val="004098">
              <a:alpha val="5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t>旋转输入及按下确认</a:t>
            </a:r>
            <a:endParaRPr lang="zh-CN" altLang="en-US" sz="1400" dirty="0"/>
          </a:p>
        </p:txBody>
      </p:sp>
      <p:sp>
        <p:nvSpPr>
          <p:cNvPr id="34" name="文本框 33"/>
          <p:cNvSpPr txBox="1"/>
          <p:nvPr/>
        </p:nvSpPr>
        <p:spPr>
          <a:xfrm>
            <a:off x="8804029" y="4556758"/>
            <a:ext cx="1793633" cy="369332"/>
          </a:xfrm>
          <a:prstGeom prst="rect">
            <a:avLst/>
          </a:prstGeom>
          <a:solidFill>
            <a:srgbClr val="004098"/>
          </a:solidFill>
        </p:spPr>
        <p:txBody>
          <a:bodyPr wrap="none" rtlCol="0">
            <a:noAutofit/>
          </a:bodyPr>
          <a:lstStyle/>
          <a:p>
            <a:r>
              <a:rPr lang="zh-CN" altLang="en-US" sz="1400" dirty="0" smtClean="0">
                <a:solidFill>
                  <a:schemeClr val="bg1">
                    <a:lumMod val="95000"/>
                  </a:schemeClr>
                </a:solidFill>
              </a:rPr>
              <a:t>宏设置、运行、中断</a:t>
            </a:r>
            <a:endParaRPr lang="zh-CN" altLang="en-US" sz="1400" dirty="0">
              <a:solidFill>
                <a:schemeClr val="bg1">
                  <a:lumMod val="95000"/>
                </a:schemeClr>
              </a:solidFill>
            </a:endParaRPr>
          </a:p>
        </p:txBody>
      </p:sp>
      <p:sp>
        <p:nvSpPr>
          <p:cNvPr id="40" name="文本框 39"/>
          <p:cNvSpPr txBox="1"/>
          <p:nvPr/>
        </p:nvSpPr>
        <p:spPr>
          <a:xfrm>
            <a:off x="8804029" y="4983788"/>
            <a:ext cx="1793633" cy="369332"/>
          </a:xfrm>
          <a:prstGeom prst="rect">
            <a:avLst/>
          </a:prstGeom>
          <a:solidFill>
            <a:srgbClr val="004098"/>
          </a:solidFill>
        </p:spPr>
        <p:txBody>
          <a:bodyPr wrap="none" rtlCol="0">
            <a:noAutofit/>
          </a:bodyPr>
          <a:lstStyle/>
          <a:p>
            <a:r>
              <a:rPr lang="zh-CN" altLang="en-US" sz="1400" dirty="0" smtClean="0">
                <a:solidFill>
                  <a:schemeClr val="bg1">
                    <a:lumMod val="95000"/>
                  </a:schemeClr>
                </a:solidFill>
              </a:rPr>
              <a:t>重置系统设置状态</a:t>
            </a:r>
            <a:endParaRPr lang="zh-CN" altLang="en-US" sz="1400" dirty="0">
              <a:solidFill>
                <a:schemeClr val="bg1">
                  <a:lumMod val="95000"/>
                </a:schemeClr>
              </a:solidFill>
            </a:endParaRPr>
          </a:p>
        </p:txBody>
      </p:sp>
      <p:cxnSp>
        <p:nvCxnSpPr>
          <p:cNvPr id="41" name="直接箭头连接符 40"/>
          <p:cNvCxnSpPr/>
          <p:nvPr/>
        </p:nvCxnSpPr>
        <p:spPr>
          <a:xfrm flipH="1" flipV="1">
            <a:off x="8153400" y="4926090"/>
            <a:ext cx="650629" cy="242364"/>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7233135" y="5353120"/>
            <a:ext cx="920265" cy="369332"/>
          </a:xfrm>
          <a:prstGeom prst="rect">
            <a:avLst/>
          </a:prstGeom>
          <a:solidFill>
            <a:srgbClr val="004098"/>
          </a:solidFill>
        </p:spPr>
        <p:txBody>
          <a:bodyPr wrap="none" rtlCol="0">
            <a:noAutofit/>
          </a:bodyPr>
          <a:lstStyle/>
          <a:p>
            <a:r>
              <a:rPr lang="zh-CN" altLang="en-US" sz="1400" dirty="0" smtClean="0">
                <a:solidFill>
                  <a:schemeClr val="bg1">
                    <a:lumMod val="95000"/>
                  </a:schemeClr>
                </a:solidFill>
              </a:rPr>
              <a:t>系统设置</a:t>
            </a:r>
            <a:endParaRPr lang="zh-CN" altLang="en-US" sz="1400" dirty="0">
              <a:solidFill>
                <a:schemeClr val="bg1">
                  <a:lumMod val="95000"/>
                </a:schemeClr>
              </a:solidFill>
            </a:endParaRPr>
          </a:p>
        </p:txBody>
      </p:sp>
      <p:cxnSp>
        <p:nvCxnSpPr>
          <p:cNvPr id="45" name="直接箭头连接符 44"/>
          <p:cNvCxnSpPr/>
          <p:nvPr/>
        </p:nvCxnSpPr>
        <p:spPr>
          <a:xfrm flipV="1">
            <a:off x="7514492" y="4926090"/>
            <a:ext cx="0" cy="427030"/>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椭圆 45"/>
          <p:cNvSpPr/>
          <p:nvPr/>
        </p:nvSpPr>
        <p:spPr>
          <a:xfrm>
            <a:off x="7461738" y="4862417"/>
            <a:ext cx="105507" cy="105507"/>
          </a:xfrm>
          <a:prstGeom prst="ellipse">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6658708" y="4186660"/>
            <a:ext cx="1623645" cy="370098"/>
          </a:xfrm>
          <a:prstGeom prst="rect">
            <a:avLst/>
          </a:prstGeom>
          <a:solidFill>
            <a:srgbClr val="004098">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箭头连接符 50"/>
          <p:cNvCxnSpPr>
            <a:stCxn id="34" idx="1"/>
          </p:cNvCxnSpPr>
          <p:nvPr/>
        </p:nvCxnSpPr>
        <p:spPr>
          <a:xfrm flipH="1" flipV="1">
            <a:off x="8352691" y="4456602"/>
            <a:ext cx="451338" cy="284822"/>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6134095" y="5358026"/>
            <a:ext cx="1046288" cy="369332"/>
          </a:xfrm>
          <a:prstGeom prst="rect">
            <a:avLst/>
          </a:prstGeom>
          <a:solidFill>
            <a:srgbClr val="004098"/>
          </a:solidFill>
        </p:spPr>
        <p:txBody>
          <a:bodyPr wrap="none" rtlCol="0">
            <a:noAutofit/>
          </a:bodyPr>
          <a:lstStyle/>
          <a:p>
            <a:r>
              <a:rPr lang="zh-CN" altLang="en-US" sz="1400" dirty="0" smtClean="0">
                <a:solidFill>
                  <a:schemeClr val="bg1">
                    <a:lumMod val="95000"/>
                  </a:schemeClr>
                </a:solidFill>
              </a:rPr>
              <a:t>保存或载入</a:t>
            </a:r>
            <a:endParaRPr lang="zh-CN" altLang="en-US" sz="1400" dirty="0">
              <a:solidFill>
                <a:schemeClr val="bg1">
                  <a:lumMod val="95000"/>
                </a:schemeClr>
              </a:solidFill>
            </a:endParaRPr>
          </a:p>
        </p:txBody>
      </p:sp>
      <p:cxnSp>
        <p:nvCxnSpPr>
          <p:cNvPr id="53" name="直接箭头连接符 52"/>
          <p:cNvCxnSpPr/>
          <p:nvPr/>
        </p:nvCxnSpPr>
        <p:spPr>
          <a:xfrm flipV="1">
            <a:off x="6541475" y="4967924"/>
            <a:ext cx="257910" cy="390102"/>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4" name="椭圆 53"/>
          <p:cNvSpPr/>
          <p:nvPr/>
        </p:nvSpPr>
        <p:spPr>
          <a:xfrm>
            <a:off x="6875583" y="4820583"/>
            <a:ext cx="105507" cy="105507"/>
          </a:xfrm>
          <a:prstGeom prst="ellipse">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5175740" y="4223146"/>
            <a:ext cx="1154721" cy="903697"/>
          </a:xfrm>
          <a:prstGeom prst="rect">
            <a:avLst/>
          </a:prstGeom>
          <a:solidFill>
            <a:srgbClr val="004098">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5143492" y="5353120"/>
            <a:ext cx="920265" cy="369332"/>
          </a:xfrm>
          <a:prstGeom prst="rect">
            <a:avLst/>
          </a:prstGeom>
          <a:solidFill>
            <a:srgbClr val="004098"/>
          </a:solidFill>
        </p:spPr>
        <p:txBody>
          <a:bodyPr wrap="none" rtlCol="0">
            <a:noAutofit/>
          </a:bodyPr>
          <a:lstStyle/>
          <a:p>
            <a:r>
              <a:rPr lang="zh-CN" altLang="en-US" sz="1400" dirty="0" smtClean="0">
                <a:solidFill>
                  <a:schemeClr val="bg1">
                    <a:lumMod val="95000"/>
                  </a:schemeClr>
                </a:solidFill>
              </a:rPr>
              <a:t>频标相关</a:t>
            </a:r>
            <a:endParaRPr lang="zh-CN" altLang="en-US" sz="1400" dirty="0">
              <a:solidFill>
                <a:schemeClr val="bg1">
                  <a:lumMod val="95000"/>
                </a:schemeClr>
              </a:solidFill>
            </a:endParaRPr>
          </a:p>
        </p:txBody>
      </p:sp>
      <p:cxnSp>
        <p:nvCxnSpPr>
          <p:cNvPr id="59" name="直接箭头连接符 58"/>
          <p:cNvCxnSpPr/>
          <p:nvPr/>
        </p:nvCxnSpPr>
        <p:spPr>
          <a:xfrm flipV="1">
            <a:off x="5424849" y="4926090"/>
            <a:ext cx="0" cy="427030"/>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0" name="矩形 59"/>
          <p:cNvSpPr/>
          <p:nvPr/>
        </p:nvSpPr>
        <p:spPr>
          <a:xfrm>
            <a:off x="3736640" y="4653608"/>
            <a:ext cx="1154721" cy="1301715"/>
          </a:xfrm>
          <a:prstGeom prst="rect">
            <a:avLst/>
          </a:prstGeom>
          <a:solidFill>
            <a:srgbClr val="004098">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1066616" y="5151856"/>
            <a:ext cx="2110154" cy="803467"/>
          </a:xfrm>
          <a:prstGeom prst="rect">
            <a:avLst/>
          </a:prstGeom>
          <a:solidFill>
            <a:srgbClr val="004098"/>
          </a:solidFill>
        </p:spPr>
        <p:txBody>
          <a:bodyPr wrap="none" rtlCol="0">
            <a:noAutofit/>
          </a:bodyPr>
          <a:lstStyle/>
          <a:p>
            <a:r>
              <a:rPr lang="zh-CN" altLang="en-US" sz="1400" dirty="0" smtClean="0">
                <a:solidFill>
                  <a:schemeClr val="bg1">
                    <a:lumMod val="95000"/>
                  </a:schemeClr>
                </a:solidFill>
              </a:rPr>
              <a:t>测量频率起始、终止、中</a:t>
            </a:r>
            <a:endParaRPr lang="en-US" altLang="zh-CN" sz="1400" dirty="0" smtClean="0">
              <a:solidFill>
                <a:schemeClr val="bg1">
                  <a:lumMod val="95000"/>
                </a:schemeClr>
              </a:solidFill>
            </a:endParaRPr>
          </a:p>
          <a:p>
            <a:r>
              <a:rPr lang="zh-CN" altLang="en-US" sz="1400" dirty="0" smtClean="0">
                <a:solidFill>
                  <a:schemeClr val="bg1">
                    <a:lumMod val="95000"/>
                  </a:schemeClr>
                </a:solidFill>
              </a:rPr>
              <a:t>心频率、扫宽设置；扫频</a:t>
            </a:r>
            <a:endParaRPr lang="en-US" altLang="zh-CN" sz="1400" dirty="0" smtClean="0">
              <a:solidFill>
                <a:schemeClr val="bg1">
                  <a:lumMod val="95000"/>
                </a:schemeClr>
              </a:solidFill>
            </a:endParaRPr>
          </a:p>
          <a:p>
            <a:r>
              <a:rPr lang="zh-CN" altLang="en-US" sz="1400" dirty="0" smtClean="0">
                <a:solidFill>
                  <a:schemeClr val="bg1">
                    <a:lumMod val="95000"/>
                  </a:schemeClr>
                </a:solidFill>
              </a:rPr>
              <a:t>设置；触发设置</a:t>
            </a:r>
            <a:endParaRPr lang="zh-CN" altLang="en-US" sz="1400" dirty="0">
              <a:solidFill>
                <a:schemeClr val="bg1">
                  <a:lumMod val="95000"/>
                </a:schemeClr>
              </a:solidFill>
            </a:endParaRPr>
          </a:p>
        </p:txBody>
      </p:sp>
      <p:cxnSp>
        <p:nvCxnSpPr>
          <p:cNvPr id="62" name="直接箭头连接符 61"/>
          <p:cNvCxnSpPr/>
          <p:nvPr/>
        </p:nvCxnSpPr>
        <p:spPr>
          <a:xfrm>
            <a:off x="3185656" y="5578925"/>
            <a:ext cx="550984" cy="0"/>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3" name="文本框 62"/>
          <p:cNvSpPr txBox="1"/>
          <p:nvPr/>
        </p:nvSpPr>
        <p:spPr>
          <a:xfrm>
            <a:off x="1055076" y="3453294"/>
            <a:ext cx="2110154" cy="803467"/>
          </a:xfrm>
          <a:prstGeom prst="rect">
            <a:avLst/>
          </a:prstGeom>
          <a:solidFill>
            <a:srgbClr val="004098"/>
          </a:solidFill>
        </p:spPr>
        <p:txBody>
          <a:bodyPr wrap="none" rtlCol="0">
            <a:noAutofit/>
          </a:bodyPr>
          <a:lstStyle/>
          <a:p>
            <a:r>
              <a:rPr lang="zh-CN" altLang="en-US" sz="1400" dirty="0" smtClean="0">
                <a:solidFill>
                  <a:schemeClr val="bg1">
                    <a:lumMod val="95000"/>
                  </a:schemeClr>
                </a:solidFill>
              </a:rPr>
              <a:t>测量参数、数据显示格式、</a:t>
            </a:r>
            <a:endParaRPr lang="en-US" altLang="zh-CN" sz="1400" dirty="0" smtClean="0">
              <a:solidFill>
                <a:schemeClr val="bg1">
                  <a:lumMod val="95000"/>
                </a:schemeClr>
              </a:solidFill>
            </a:endParaRPr>
          </a:p>
          <a:p>
            <a:r>
              <a:rPr lang="zh-CN" altLang="en-US" sz="1400" dirty="0" smtClean="0">
                <a:solidFill>
                  <a:schemeClr val="bg1">
                    <a:lumMod val="95000"/>
                  </a:schemeClr>
                </a:solidFill>
              </a:rPr>
              <a:t>窗口缩放、显示、平均值 、</a:t>
            </a:r>
            <a:endParaRPr lang="en-US" altLang="zh-CN" sz="1400" dirty="0" smtClean="0">
              <a:solidFill>
                <a:schemeClr val="bg1">
                  <a:lumMod val="95000"/>
                </a:schemeClr>
              </a:solidFill>
            </a:endParaRPr>
          </a:p>
          <a:p>
            <a:r>
              <a:rPr lang="zh-CN" altLang="en-US" sz="1400" dirty="0" smtClean="0">
                <a:solidFill>
                  <a:schemeClr val="bg1">
                    <a:lumMod val="95000"/>
                  </a:schemeClr>
                </a:solidFill>
              </a:rPr>
              <a:t>校准等</a:t>
            </a:r>
            <a:endParaRPr lang="zh-CN" altLang="en-US" sz="1400" dirty="0">
              <a:solidFill>
                <a:schemeClr val="bg1">
                  <a:lumMod val="95000"/>
                </a:schemeClr>
              </a:solidFill>
            </a:endParaRPr>
          </a:p>
        </p:txBody>
      </p:sp>
      <p:cxnSp>
        <p:nvCxnSpPr>
          <p:cNvPr id="64" name="直接箭头连接符 63"/>
          <p:cNvCxnSpPr/>
          <p:nvPr/>
        </p:nvCxnSpPr>
        <p:spPr>
          <a:xfrm>
            <a:off x="3174116" y="3880363"/>
            <a:ext cx="550984" cy="0"/>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5" name="矩形 64"/>
          <p:cNvSpPr/>
          <p:nvPr/>
        </p:nvSpPr>
        <p:spPr>
          <a:xfrm>
            <a:off x="3736639" y="3297298"/>
            <a:ext cx="1154721" cy="1301715"/>
          </a:xfrm>
          <a:prstGeom prst="rect">
            <a:avLst/>
          </a:prstGeom>
          <a:solidFill>
            <a:srgbClr val="004098">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26115140"/>
      </p:ext>
    </p:extLst>
  </p:cSld>
  <p:clrMapOvr>
    <a:masterClrMapping/>
  </p:clrMapOvr>
  <p:transition spd="slow">
    <p:push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nSpc>
                <a:spcPct val="150000"/>
              </a:lnSpc>
            </a:pPr>
            <a:r>
              <a:rPr lang="en-US" altLang="zh-CN" dirty="0" smtClean="0"/>
              <a:t>E5061B</a:t>
            </a:r>
            <a:r>
              <a:rPr lang="zh-CN" altLang="en-US" dirty="0"/>
              <a:t>面板图（背面）</a:t>
            </a:r>
          </a:p>
        </p:txBody>
      </p:sp>
      <p:sp>
        <p:nvSpPr>
          <p:cNvPr id="3" name="内容占位符 2"/>
          <p:cNvSpPr>
            <a:spLocks noGrp="1"/>
          </p:cNvSpPr>
          <p:nvPr>
            <p:ph idx="1"/>
          </p:nvPr>
        </p:nvSpPr>
        <p:spPr/>
        <p:txBody>
          <a:bodyPr/>
          <a:lstStyle/>
          <a:p>
            <a:endParaRPr lang="zh-CN" altLang="en-US"/>
          </a:p>
        </p:txBody>
      </p:sp>
      <p:sp>
        <p:nvSpPr>
          <p:cNvPr id="5" name="日期占位符 4"/>
          <p:cNvSpPr>
            <a:spLocks noGrp="1"/>
          </p:cNvSpPr>
          <p:nvPr>
            <p:ph type="dt" sz="half" idx="10"/>
          </p:nvPr>
        </p:nvSpPr>
        <p:spPr/>
        <p:txBody>
          <a:bodyPr/>
          <a:lstStyle/>
          <a:p>
            <a:fld id="{47DB4057-6453-4311-9572-3B06E9FA1D9B}" type="datetime3">
              <a:rPr lang="zh-CN" altLang="en-US" smtClean="0"/>
              <a:t>2019年5月6日星期一</a:t>
            </a:fld>
            <a:endParaRPr lang="zh-CN" altLang="en-US"/>
          </a:p>
        </p:txBody>
      </p:sp>
      <p:sp>
        <p:nvSpPr>
          <p:cNvPr id="6" name="页脚占位符 5"/>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7" name="灯片编号占位符 6"/>
          <p:cNvSpPr>
            <a:spLocks noGrp="1"/>
          </p:cNvSpPr>
          <p:nvPr>
            <p:ph type="sldNum" sz="quarter" idx="12"/>
          </p:nvPr>
        </p:nvSpPr>
        <p:spPr/>
        <p:txBody>
          <a:bodyPr/>
          <a:lstStyle/>
          <a:p>
            <a:fld id="{D5BA5A3D-E723-4639-877B-B187790AC552}" type="slidenum">
              <a:rPr lang="zh-CN" altLang="en-US" smtClean="0"/>
              <a:pPr/>
              <a:t>9</a:t>
            </a:fld>
            <a:endParaRPr lang="zh-CN" altLang="en-US"/>
          </a:p>
        </p:txBody>
      </p:sp>
      <p:pic>
        <p:nvPicPr>
          <p:cNvPr id="4" name="图片 3"/>
          <p:cNvPicPr>
            <a:picLocks noChangeAspect="1"/>
          </p:cNvPicPr>
          <p:nvPr/>
        </p:nvPicPr>
        <p:blipFill rotWithShape="1">
          <a:blip r:embed="rId2"/>
          <a:srcRect t="54723"/>
          <a:stretch/>
        </p:blipFill>
        <p:spPr>
          <a:xfrm>
            <a:off x="1883798" y="2757987"/>
            <a:ext cx="8000731" cy="2485176"/>
          </a:xfrm>
          <a:prstGeom prst="rect">
            <a:avLst/>
          </a:prstGeom>
        </p:spPr>
      </p:pic>
    </p:spTree>
    <p:extLst>
      <p:ext uri="{BB962C8B-B14F-4D97-AF65-F5344CB8AC3E}">
        <p14:creationId xmlns:p14="http://schemas.microsoft.com/office/powerpoint/2010/main" val="1826050596"/>
      </p:ext>
    </p:extLst>
  </p:cSld>
  <p:clrMapOvr>
    <a:masterClrMapping/>
  </p:clrMapOvr>
  <p:transition spd="slow">
    <p:push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网络分析仪组成框图</a:t>
            </a:r>
          </a:p>
        </p:txBody>
      </p:sp>
      <p:sp>
        <p:nvSpPr>
          <p:cNvPr id="128" name="内容占位符 127"/>
          <p:cNvSpPr>
            <a:spLocks noGrp="1"/>
          </p:cNvSpPr>
          <p:nvPr>
            <p:ph idx="1"/>
          </p:nvPr>
        </p:nvSpPr>
        <p:spPr/>
        <p:txBody>
          <a:bodyPr/>
          <a:lstStyle/>
          <a:p>
            <a:endParaRPr lang="zh-CN" altLang="en-US"/>
          </a:p>
        </p:txBody>
      </p:sp>
      <p:sp>
        <p:nvSpPr>
          <p:cNvPr id="129" name="日期占位符 128"/>
          <p:cNvSpPr>
            <a:spLocks noGrp="1"/>
          </p:cNvSpPr>
          <p:nvPr>
            <p:ph type="dt" sz="half" idx="10"/>
          </p:nvPr>
        </p:nvSpPr>
        <p:spPr/>
        <p:txBody>
          <a:bodyPr/>
          <a:lstStyle/>
          <a:p>
            <a:fld id="{FD1A0C9B-F162-466F-B2F7-E89C2269F983}" type="datetime3">
              <a:rPr lang="zh-CN" altLang="en-US" smtClean="0"/>
              <a:t>2019年5月6日星期一</a:t>
            </a:fld>
            <a:endParaRPr lang="zh-CN" altLang="en-US"/>
          </a:p>
        </p:txBody>
      </p:sp>
      <p:sp>
        <p:nvSpPr>
          <p:cNvPr id="130" name="页脚占位符 129"/>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131" name="灯片编号占位符 130"/>
          <p:cNvSpPr>
            <a:spLocks noGrp="1"/>
          </p:cNvSpPr>
          <p:nvPr>
            <p:ph type="sldNum" sz="quarter" idx="12"/>
          </p:nvPr>
        </p:nvSpPr>
        <p:spPr/>
        <p:txBody>
          <a:bodyPr/>
          <a:lstStyle/>
          <a:p>
            <a:fld id="{D5BA5A3D-E723-4639-877B-B187790AC552}" type="slidenum">
              <a:rPr lang="zh-CN" altLang="en-US" smtClean="0"/>
              <a:pPr/>
              <a:t>10</a:t>
            </a:fld>
            <a:endParaRPr lang="zh-CN" altLang="en-US"/>
          </a:p>
        </p:txBody>
      </p:sp>
      <p:grpSp>
        <p:nvGrpSpPr>
          <p:cNvPr id="3" name="组合 2"/>
          <p:cNvGrpSpPr/>
          <p:nvPr/>
        </p:nvGrpSpPr>
        <p:grpSpPr>
          <a:xfrm>
            <a:off x="2027784" y="1633781"/>
            <a:ext cx="6146800" cy="4594226"/>
            <a:chOff x="2320925" y="1473200"/>
            <a:chExt cx="6146800" cy="4594226"/>
          </a:xfrm>
        </p:grpSpPr>
        <p:sp>
          <p:nvSpPr>
            <p:cNvPr id="4" name="Text Box 3"/>
            <p:cNvSpPr txBox="1">
              <a:spLocks noChangeArrowheads="1"/>
            </p:cNvSpPr>
            <p:nvPr/>
          </p:nvSpPr>
          <p:spPr bwMode="auto">
            <a:xfrm flipH="1">
              <a:off x="6635751" y="5216526"/>
              <a:ext cx="569913"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647700" indent="-238125" defTabSz="409575">
                <a:defRPr>
                  <a:solidFill>
                    <a:schemeClr val="tx1"/>
                  </a:solidFill>
                  <a:latin typeface="Arial" panose="020B0604020202020204" pitchFamily="34" charset="0"/>
                  <a:ea typeface="宋体" panose="02010600030101010101" pitchFamily="2" charset="-122"/>
                </a:defRPr>
              </a:lvl2pPr>
              <a:lvl3pPr marL="1108075" indent="-2873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200" b="1">
                  <a:solidFill>
                    <a:srgbClr val="FF3300"/>
                  </a:solidFill>
                  <a:latin typeface="微软雅黑" panose="020B0503020204020204" pitchFamily="34" charset="-122"/>
                  <a:ea typeface="微软雅黑" panose="020B0503020204020204" pitchFamily="34" charset="-122"/>
                </a:rPr>
                <a:t>Port 2</a:t>
              </a:r>
            </a:p>
          </p:txBody>
        </p:sp>
        <p:sp>
          <p:nvSpPr>
            <p:cNvPr id="5" name="Freeform 4"/>
            <p:cNvSpPr>
              <a:spLocks/>
            </p:cNvSpPr>
            <p:nvPr/>
          </p:nvSpPr>
          <p:spPr bwMode="auto">
            <a:xfrm flipH="1">
              <a:off x="6762751" y="5122864"/>
              <a:ext cx="92075" cy="111125"/>
            </a:xfrm>
            <a:custGeom>
              <a:avLst/>
              <a:gdLst>
                <a:gd name="T0" fmla="*/ 0 w 63"/>
                <a:gd name="T1" fmla="*/ 0 h 72"/>
                <a:gd name="T2" fmla="*/ 62 w 63"/>
                <a:gd name="T3" fmla="*/ 0 h 72"/>
                <a:gd name="T4" fmla="*/ 62 w 63"/>
                <a:gd name="T5" fmla="*/ 71 h 72"/>
                <a:gd name="T6" fmla="*/ 0 w 63"/>
                <a:gd name="T7" fmla="*/ 71 h 72"/>
                <a:gd name="T8" fmla="*/ 0 w 63"/>
                <a:gd name="T9" fmla="*/ 0 h 72"/>
              </a:gdLst>
              <a:ahLst/>
              <a:cxnLst>
                <a:cxn ang="0">
                  <a:pos x="T0" y="T1"/>
                </a:cxn>
                <a:cxn ang="0">
                  <a:pos x="T2" y="T3"/>
                </a:cxn>
                <a:cxn ang="0">
                  <a:pos x="T4" y="T5"/>
                </a:cxn>
                <a:cxn ang="0">
                  <a:pos x="T6" y="T7"/>
                </a:cxn>
                <a:cxn ang="0">
                  <a:pos x="T8" y="T9"/>
                </a:cxn>
              </a:cxnLst>
              <a:rect l="0" t="0" r="r" b="b"/>
              <a:pathLst>
                <a:path w="63" h="72">
                  <a:moveTo>
                    <a:pt x="0" y="0"/>
                  </a:moveTo>
                  <a:lnTo>
                    <a:pt x="62" y="0"/>
                  </a:lnTo>
                  <a:lnTo>
                    <a:pt x="62" y="71"/>
                  </a:lnTo>
                  <a:lnTo>
                    <a:pt x="0" y="71"/>
                  </a:lnTo>
                  <a:lnTo>
                    <a:pt x="0"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 name="AutoShape 5" descr="50%"/>
            <p:cNvSpPr>
              <a:spLocks noChangeArrowheads="1"/>
            </p:cNvSpPr>
            <p:nvPr/>
          </p:nvSpPr>
          <p:spPr bwMode="auto">
            <a:xfrm flipH="1" flipV="1">
              <a:off x="6472238" y="4424364"/>
              <a:ext cx="431800" cy="682625"/>
            </a:xfrm>
            <a:prstGeom prst="roundRect">
              <a:avLst>
                <a:gd name="adj" fmla="val 0"/>
              </a:avLst>
            </a:prstGeom>
            <a:pattFill prst="pct50">
              <a:fgClr>
                <a:srgbClr val="C0E1FF"/>
              </a:fgClr>
              <a:bgClr>
                <a:srgbClr val="FFFFFF"/>
              </a:bgClr>
            </a:pattFill>
            <a:ln w="1905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 name="Line 6"/>
            <p:cNvSpPr>
              <a:spLocks noChangeShapeType="1"/>
            </p:cNvSpPr>
            <p:nvPr/>
          </p:nvSpPr>
          <p:spPr bwMode="auto">
            <a:xfrm flipH="1">
              <a:off x="6807200" y="4338639"/>
              <a:ext cx="0" cy="77628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nvGrpSpPr>
            <p:cNvPr id="8" name="Group 7"/>
            <p:cNvGrpSpPr>
              <a:grpSpLocks/>
            </p:cNvGrpSpPr>
            <p:nvPr/>
          </p:nvGrpSpPr>
          <p:grpSpPr bwMode="auto">
            <a:xfrm flipH="1">
              <a:off x="6621463" y="4662489"/>
              <a:ext cx="150812" cy="219075"/>
              <a:chOff x="3476" y="2630"/>
              <a:chExt cx="101" cy="141"/>
            </a:xfrm>
          </p:grpSpPr>
          <p:grpSp>
            <p:nvGrpSpPr>
              <p:cNvPr id="121" name="Group 8"/>
              <p:cNvGrpSpPr>
                <a:grpSpLocks/>
              </p:cNvGrpSpPr>
              <p:nvPr/>
            </p:nvGrpSpPr>
            <p:grpSpPr bwMode="auto">
              <a:xfrm>
                <a:off x="3476" y="2630"/>
                <a:ext cx="96" cy="136"/>
                <a:chOff x="3476" y="2630"/>
                <a:chExt cx="96" cy="136"/>
              </a:xfrm>
            </p:grpSpPr>
            <p:sp>
              <p:nvSpPr>
                <p:cNvPr id="125" name="Line 9"/>
                <p:cNvSpPr>
                  <a:spLocks noChangeShapeType="1"/>
                </p:cNvSpPr>
                <p:nvPr/>
              </p:nvSpPr>
              <p:spPr bwMode="auto">
                <a:xfrm flipV="1">
                  <a:off x="3476" y="2660"/>
                  <a:ext cx="75" cy="106"/>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6" name="Freeform 10"/>
                <p:cNvSpPr>
                  <a:spLocks/>
                </p:cNvSpPr>
                <p:nvPr/>
              </p:nvSpPr>
              <p:spPr bwMode="auto">
                <a:xfrm>
                  <a:off x="3547" y="2630"/>
                  <a:ext cx="25" cy="36"/>
                </a:xfrm>
                <a:custGeom>
                  <a:avLst/>
                  <a:gdLst>
                    <a:gd name="T0" fmla="*/ 0 w 25"/>
                    <a:gd name="T1" fmla="*/ 23 h 36"/>
                    <a:gd name="T2" fmla="*/ 8 w 25"/>
                    <a:gd name="T3" fmla="*/ 35 h 36"/>
                    <a:gd name="T4" fmla="*/ 24 w 25"/>
                    <a:gd name="T5" fmla="*/ 0 h 36"/>
                    <a:gd name="T6" fmla="*/ 0 w 25"/>
                    <a:gd name="T7" fmla="*/ 23 h 36"/>
                    <a:gd name="T8" fmla="*/ 0 w 25"/>
                    <a:gd name="T9" fmla="*/ 23 h 36"/>
                  </a:gdLst>
                  <a:ahLst/>
                  <a:cxnLst>
                    <a:cxn ang="0">
                      <a:pos x="T0" y="T1"/>
                    </a:cxn>
                    <a:cxn ang="0">
                      <a:pos x="T2" y="T3"/>
                    </a:cxn>
                    <a:cxn ang="0">
                      <a:pos x="T4" y="T5"/>
                    </a:cxn>
                    <a:cxn ang="0">
                      <a:pos x="T6" y="T7"/>
                    </a:cxn>
                    <a:cxn ang="0">
                      <a:pos x="T8" y="T9"/>
                    </a:cxn>
                  </a:cxnLst>
                  <a:rect l="0" t="0" r="r" b="b"/>
                  <a:pathLst>
                    <a:path w="25" h="36">
                      <a:moveTo>
                        <a:pt x="0" y="23"/>
                      </a:moveTo>
                      <a:lnTo>
                        <a:pt x="8" y="35"/>
                      </a:lnTo>
                      <a:lnTo>
                        <a:pt x="24" y="0"/>
                      </a:lnTo>
                      <a:lnTo>
                        <a:pt x="0" y="23"/>
                      </a:lnTo>
                      <a:lnTo>
                        <a:pt x="0" y="23"/>
                      </a:lnTo>
                    </a:path>
                  </a:pathLst>
                </a:custGeom>
                <a:solidFill>
                  <a:srgbClr val="0000FF"/>
                </a:solidFill>
                <a:ln w="19050" cap="flat"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grpSp>
            <p:nvGrpSpPr>
              <p:cNvPr id="122" name="Group 11"/>
              <p:cNvGrpSpPr>
                <a:grpSpLocks/>
              </p:cNvGrpSpPr>
              <p:nvPr/>
            </p:nvGrpSpPr>
            <p:grpSpPr bwMode="auto">
              <a:xfrm>
                <a:off x="3482" y="2633"/>
                <a:ext cx="95" cy="138"/>
                <a:chOff x="3482" y="2633"/>
                <a:chExt cx="95" cy="138"/>
              </a:xfrm>
            </p:grpSpPr>
            <p:sp>
              <p:nvSpPr>
                <p:cNvPr id="123" name="Line 12"/>
                <p:cNvSpPr>
                  <a:spLocks noChangeShapeType="1"/>
                </p:cNvSpPr>
                <p:nvPr/>
              </p:nvSpPr>
              <p:spPr bwMode="auto">
                <a:xfrm>
                  <a:off x="3482" y="2633"/>
                  <a:ext cx="75" cy="106"/>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4" name="Freeform 13"/>
                <p:cNvSpPr>
                  <a:spLocks/>
                </p:cNvSpPr>
                <p:nvPr/>
              </p:nvSpPr>
              <p:spPr bwMode="auto">
                <a:xfrm>
                  <a:off x="3553" y="2734"/>
                  <a:ext cx="24" cy="37"/>
                </a:xfrm>
                <a:custGeom>
                  <a:avLst/>
                  <a:gdLst>
                    <a:gd name="T0" fmla="*/ 0 w 24"/>
                    <a:gd name="T1" fmla="*/ 12 h 37"/>
                    <a:gd name="T2" fmla="*/ 8 w 24"/>
                    <a:gd name="T3" fmla="*/ 0 h 37"/>
                    <a:gd name="T4" fmla="*/ 23 w 24"/>
                    <a:gd name="T5" fmla="*/ 36 h 37"/>
                    <a:gd name="T6" fmla="*/ 0 w 24"/>
                    <a:gd name="T7" fmla="*/ 12 h 37"/>
                    <a:gd name="T8" fmla="*/ 0 w 24"/>
                    <a:gd name="T9" fmla="*/ 12 h 37"/>
                  </a:gdLst>
                  <a:ahLst/>
                  <a:cxnLst>
                    <a:cxn ang="0">
                      <a:pos x="T0" y="T1"/>
                    </a:cxn>
                    <a:cxn ang="0">
                      <a:pos x="T2" y="T3"/>
                    </a:cxn>
                    <a:cxn ang="0">
                      <a:pos x="T4" y="T5"/>
                    </a:cxn>
                    <a:cxn ang="0">
                      <a:pos x="T6" y="T7"/>
                    </a:cxn>
                    <a:cxn ang="0">
                      <a:pos x="T8" y="T9"/>
                    </a:cxn>
                  </a:cxnLst>
                  <a:rect l="0" t="0" r="r" b="b"/>
                  <a:pathLst>
                    <a:path w="24" h="37">
                      <a:moveTo>
                        <a:pt x="0" y="12"/>
                      </a:moveTo>
                      <a:lnTo>
                        <a:pt x="8" y="0"/>
                      </a:lnTo>
                      <a:lnTo>
                        <a:pt x="23" y="36"/>
                      </a:lnTo>
                      <a:lnTo>
                        <a:pt x="0" y="12"/>
                      </a:lnTo>
                      <a:lnTo>
                        <a:pt x="0" y="12"/>
                      </a:lnTo>
                    </a:path>
                  </a:pathLst>
                </a:custGeom>
                <a:solidFill>
                  <a:srgbClr val="0000FF"/>
                </a:solidFill>
                <a:ln w="19050" cap="flat"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grpSp>
        <p:grpSp>
          <p:nvGrpSpPr>
            <p:cNvPr id="9" name="Group 14"/>
            <p:cNvGrpSpPr>
              <a:grpSpLocks/>
            </p:cNvGrpSpPr>
            <p:nvPr/>
          </p:nvGrpSpPr>
          <p:grpSpPr bwMode="auto">
            <a:xfrm flipH="1">
              <a:off x="6505575" y="4983164"/>
              <a:ext cx="204788" cy="58737"/>
              <a:chOff x="3518" y="2837"/>
              <a:chExt cx="137" cy="36"/>
            </a:xfrm>
          </p:grpSpPr>
          <p:sp>
            <p:nvSpPr>
              <p:cNvPr id="118" name="Freeform 15"/>
              <p:cNvSpPr>
                <a:spLocks/>
              </p:cNvSpPr>
              <p:nvPr/>
            </p:nvSpPr>
            <p:spPr bwMode="auto">
              <a:xfrm>
                <a:off x="3545" y="2837"/>
                <a:ext cx="110" cy="36"/>
              </a:xfrm>
              <a:custGeom>
                <a:avLst/>
                <a:gdLst>
                  <a:gd name="T0" fmla="*/ 0 w 110"/>
                  <a:gd name="T1" fmla="*/ 35 h 36"/>
                  <a:gd name="T2" fmla="*/ 16 w 110"/>
                  <a:gd name="T3" fmla="*/ 0 h 36"/>
                  <a:gd name="T4" fmla="*/ 31 w 110"/>
                  <a:gd name="T5" fmla="*/ 35 h 36"/>
                  <a:gd name="T6" fmla="*/ 51 w 110"/>
                  <a:gd name="T7" fmla="*/ 1 h 36"/>
                  <a:gd name="T8" fmla="*/ 62 w 110"/>
                  <a:gd name="T9" fmla="*/ 35 h 36"/>
                  <a:gd name="T10" fmla="*/ 81 w 110"/>
                  <a:gd name="T11" fmla="*/ 5 h 36"/>
                  <a:gd name="T12" fmla="*/ 90 w 110"/>
                  <a:gd name="T13" fmla="*/ 23 h 36"/>
                  <a:gd name="T14" fmla="*/ 109 w 110"/>
                  <a:gd name="T15" fmla="*/ 23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36">
                    <a:moveTo>
                      <a:pt x="0" y="35"/>
                    </a:moveTo>
                    <a:lnTo>
                      <a:pt x="16" y="0"/>
                    </a:lnTo>
                    <a:lnTo>
                      <a:pt x="31" y="35"/>
                    </a:lnTo>
                    <a:lnTo>
                      <a:pt x="51" y="1"/>
                    </a:lnTo>
                    <a:lnTo>
                      <a:pt x="62" y="35"/>
                    </a:lnTo>
                    <a:lnTo>
                      <a:pt x="81" y="5"/>
                    </a:lnTo>
                    <a:lnTo>
                      <a:pt x="90" y="23"/>
                    </a:lnTo>
                    <a:lnTo>
                      <a:pt x="109" y="23"/>
                    </a:lnTo>
                  </a:path>
                </a:pathLst>
              </a:custGeom>
              <a:noFill/>
              <a:ln w="1905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9" name="Line 16"/>
              <p:cNvSpPr>
                <a:spLocks noChangeShapeType="1"/>
              </p:cNvSpPr>
              <p:nvPr/>
            </p:nvSpPr>
            <p:spPr bwMode="auto">
              <a:xfrm flipH="1" flipV="1">
                <a:off x="3538" y="2856"/>
                <a:ext cx="5" cy="16"/>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0" name="Line 17"/>
              <p:cNvSpPr>
                <a:spLocks noChangeShapeType="1"/>
              </p:cNvSpPr>
              <p:nvPr/>
            </p:nvSpPr>
            <p:spPr bwMode="auto">
              <a:xfrm flipH="1">
                <a:off x="3518" y="2856"/>
                <a:ext cx="19"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10" name="Freeform 18"/>
            <p:cNvSpPr>
              <a:spLocks/>
            </p:cNvSpPr>
            <p:nvPr/>
          </p:nvSpPr>
          <p:spPr bwMode="auto">
            <a:xfrm flipH="1">
              <a:off x="6311900" y="4456114"/>
              <a:ext cx="273050" cy="484187"/>
            </a:xfrm>
            <a:custGeom>
              <a:avLst/>
              <a:gdLst>
                <a:gd name="T0" fmla="*/ 0 w 455"/>
                <a:gd name="T1" fmla="*/ 313 h 314"/>
                <a:gd name="T2" fmla="*/ 0 w 455"/>
                <a:gd name="T3" fmla="*/ 106 h 314"/>
                <a:gd name="T4" fmla="*/ 0 w 455"/>
                <a:gd name="T5" fmla="*/ 105 h 314"/>
                <a:gd name="T6" fmla="*/ 0 w 455"/>
                <a:gd name="T7" fmla="*/ 105 h 314"/>
                <a:gd name="T8" fmla="*/ 0 w 455"/>
                <a:gd name="T9" fmla="*/ 98 h 314"/>
                <a:gd name="T10" fmla="*/ 0 w 455"/>
                <a:gd name="T11" fmla="*/ 91 h 314"/>
                <a:gd name="T12" fmla="*/ 2 w 455"/>
                <a:gd name="T13" fmla="*/ 86 h 314"/>
                <a:gd name="T14" fmla="*/ 2 w 455"/>
                <a:gd name="T15" fmla="*/ 78 h 314"/>
                <a:gd name="T16" fmla="*/ 3 w 455"/>
                <a:gd name="T17" fmla="*/ 73 h 314"/>
                <a:gd name="T18" fmla="*/ 5 w 455"/>
                <a:gd name="T19" fmla="*/ 67 h 314"/>
                <a:gd name="T20" fmla="*/ 9 w 455"/>
                <a:gd name="T21" fmla="*/ 62 h 314"/>
                <a:gd name="T22" fmla="*/ 10 w 455"/>
                <a:gd name="T23" fmla="*/ 55 h 314"/>
                <a:gd name="T24" fmla="*/ 13 w 455"/>
                <a:gd name="T25" fmla="*/ 49 h 314"/>
                <a:gd name="T26" fmla="*/ 16 w 455"/>
                <a:gd name="T27" fmla="*/ 44 h 314"/>
                <a:gd name="T28" fmla="*/ 19 w 455"/>
                <a:gd name="T29" fmla="*/ 40 h 314"/>
                <a:gd name="T30" fmla="*/ 23 w 455"/>
                <a:gd name="T31" fmla="*/ 35 h 314"/>
                <a:gd name="T32" fmla="*/ 26 w 455"/>
                <a:gd name="T33" fmla="*/ 29 h 314"/>
                <a:gd name="T34" fmla="*/ 30 w 455"/>
                <a:gd name="T35" fmla="*/ 27 h 314"/>
                <a:gd name="T36" fmla="*/ 33 w 455"/>
                <a:gd name="T37" fmla="*/ 22 h 314"/>
                <a:gd name="T38" fmla="*/ 38 w 455"/>
                <a:gd name="T39" fmla="*/ 18 h 314"/>
                <a:gd name="T40" fmla="*/ 44 w 455"/>
                <a:gd name="T41" fmla="*/ 16 h 314"/>
                <a:gd name="T42" fmla="*/ 47 w 455"/>
                <a:gd name="T43" fmla="*/ 13 h 314"/>
                <a:gd name="T44" fmla="*/ 53 w 455"/>
                <a:gd name="T45" fmla="*/ 9 h 314"/>
                <a:gd name="T46" fmla="*/ 59 w 455"/>
                <a:gd name="T47" fmla="*/ 8 h 314"/>
                <a:gd name="T48" fmla="*/ 62 w 455"/>
                <a:gd name="T49" fmla="*/ 6 h 314"/>
                <a:gd name="T50" fmla="*/ 67 w 455"/>
                <a:gd name="T51" fmla="*/ 3 h 314"/>
                <a:gd name="T52" fmla="*/ 72 w 455"/>
                <a:gd name="T53" fmla="*/ 3 h 314"/>
                <a:gd name="T54" fmla="*/ 79 w 455"/>
                <a:gd name="T55" fmla="*/ 1 h 314"/>
                <a:gd name="T56" fmla="*/ 85 w 455"/>
                <a:gd name="T57" fmla="*/ 1 h 314"/>
                <a:gd name="T58" fmla="*/ 88 w 455"/>
                <a:gd name="T59" fmla="*/ 0 h 314"/>
                <a:gd name="T60" fmla="*/ 454 w 455"/>
                <a:gd name="T61"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55" h="314">
                  <a:moveTo>
                    <a:pt x="0" y="313"/>
                  </a:moveTo>
                  <a:lnTo>
                    <a:pt x="0" y="106"/>
                  </a:lnTo>
                  <a:lnTo>
                    <a:pt x="0" y="105"/>
                  </a:lnTo>
                  <a:lnTo>
                    <a:pt x="0" y="105"/>
                  </a:lnTo>
                  <a:lnTo>
                    <a:pt x="0" y="98"/>
                  </a:lnTo>
                  <a:lnTo>
                    <a:pt x="0" y="91"/>
                  </a:lnTo>
                  <a:lnTo>
                    <a:pt x="2" y="86"/>
                  </a:lnTo>
                  <a:lnTo>
                    <a:pt x="2" y="78"/>
                  </a:lnTo>
                  <a:lnTo>
                    <a:pt x="3" y="73"/>
                  </a:lnTo>
                  <a:lnTo>
                    <a:pt x="5" y="67"/>
                  </a:lnTo>
                  <a:lnTo>
                    <a:pt x="9" y="62"/>
                  </a:lnTo>
                  <a:lnTo>
                    <a:pt x="10" y="55"/>
                  </a:lnTo>
                  <a:lnTo>
                    <a:pt x="13" y="49"/>
                  </a:lnTo>
                  <a:lnTo>
                    <a:pt x="16" y="44"/>
                  </a:lnTo>
                  <a:lnTo>
                    <a:pt x="19" y="40"/>
                  </a:lnTo>
                  <a:lnTo>
                    <a:pt x="23" y="35"/>
                  </a:lnTo>
                  <a:lnTo>
                    <a:pt x="26" y="29"/>
                  </a:lnTo>
                  <a:lnTo>
                    <a:pt x="30" y="27"/>
                  </a:lnTo>
                  <a:lnTo>
                    <a:pt x="33" y="22"/>
                  </a:lnTo>
                  <a:lnTo>
                    <a:pt x="38" y="18"/>
                  </a:lnTo>
                  <a:lnTo>
                    <a:pt x="44" y="16"/>
                  </a:lnTo>
                  <a:lnTo>
                    <a:pt x="47" y="13"/>
                  </a:lnTo>
                  <a:lnTo>
                    <a:pt x="53" y="9"/>
                  </a:lnTo>
                  <a:lnTo>
                    <a:pt x="59" y="8"/>
                  </a:lnTo>
                  <a:lnTo>
                    <a:pt x="62" y="6"/>
                  </a:lnTo>
                  <a:lnTo>
                    <a:pt x="67" y="3"/>
                  </a:lnTo>
                  <a:lnTo>
                    <a:pt x="72" y="3"/>
                  </a:lnTo>
                  <a:lnTo>
                    <a:pt x="79" y="1"/>
                  </a:lnTo>
                  <a:lnTo>
                    <a:pt x="85" y="1"/>
                  </a:lnTo>
                  <a:lnTo>
                    <a:pt x="88" y="0"/>
                  </a:lnTo>
                  <a:lnTo>
                    <a:pt x="454" y="0"/>
                  </a:lnTo>
                </a:path>
              </a:pathLst>
            </a:custGeom>
            <a:noFill/>
            <a:ln w="1905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 name="Rectangle 19"/>
            <p:cNvSpPr>
              <a:spLocks noChangeArrowheads="1"/>
            </p:cNvSpPr>
            <p:nvPr/>
          </p:nvSpPr>
          <p:spPr bwMode="auto">
            <a:xfrm>
              <a:off x="2320925" y="1473200"/>
              <a:ext cx="6146800" cy="3625850"/>
            </a:xfrm>
            <a:prstGeom prst="rect">
              <a:avLst/>
            </a:prstGeom>
            <a:solidFill>
              <a:schemeClr val="bg1">
                <a:lumMod val="95000"/>
              </a:schemeClr>
            </a:solidFill>
            <a:ln w="2857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dirty="0">
                <a:latin typeface="微软雅黑" panose="020B0503020204020204" pitchFamily="34" charset="-122"/>
                <a:ea typeface="微软雅黑" panose="020B0503020204020204" pitchFamily="34" charset="-122"/>
              </a:endParaRPr>
            </a:p>
          </p:txBody>
        </p:sp>
        <p:sp>
          <p:nvSpPr>
            <p:cNvPr id="12" name="Text Box 20"/>
            <p:cNvSpPr txBox="1">
              <a:spLocks noChangeArrowheads="1"/>
            </p:cNvSpPr>
            <p:nvPr/>
          </p:nvSpPr>
          <p:spPr bwMode="auto">
            <a:xfrm rot="-21600000">
              <a:off x="5802313" y="1916114"/>
              <a:ext cx="969962"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647700" indent="-238125" defTabSz="409575">
                <a:defRPr>
                  <a:solidFill>
                    <a:schemeClr val="tx1"/>
                  </a:solidFill>
                  <a:latin typeface="Arial" panose="020B0604020202020204" pitchFamily="34" charset="0"/>
                  <a:ea typeface="宋体" panose="02010600030101010101" pitchFamily="2" charset="-122"/>
                </a:defRPr>
              </a:lvl2pPr>
              <a:lvl3pPr marL="1108075" indent="-2873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zh-CN" altLang="en-US" sz="1000" dirty="0">
                  <a:solidFill>
                    <a:srgbClr val="0000FF"/>
                  </a:solidFill>
                  <a:latin typeface="微软雅黑" panose="020B0503020204020204" pitchFamily="34" charset="-122"/>
                  <a:ea typeface="微软雅黑" panose="020B0503020204020204" pitchFamily="34" charset="-122"/>
                </a:rPr>
                <a:t>功率分配</a:t>
              </a:r>
              <a:r>
                <a:rPr lang="en-US" altLang="zh-CN" sz="1000" dirty="0">
                  <a:solidFill>
                    <a:srgbClr val="0000FF"/>
                  </a:solidFill>
                  <a:latin typeface="微软雅黑" panose="020B0503020204020204" pitchFamily="34" charset="-122"/>
                  <a:ea typeface="微软雅黑" panose="020B0503020204020204" pitchFamily="34" charset="-122"/>
                </a:rPr>
                <a:t>/</a:t>
              </a:r>
              <a:r>
                <a:rPr lang="zh-CN" altLang="en-US" sz="1000" dirty="0">
                  <a:solidFill>
                    <a:srgbClr val="0000FF"/>
                  </a:solidFill>
                  <a:latin typeface="微软雅黑" panose="020B0503020204020204" pitchFamily="34" charset="-122"/>
                  <a:ea typeface="微软雅黑" panose="020B0503020204020204" pitchFamily="34" charset="-122"/>
                </a:rPr>
                <a:t>开关</a:t>
              </a:r>
              <a:endParaRPr lang="zh-CN" altLang="en-US" sz="2200" dirty="0">
                <a:latin typeface="微软雅黑" panose="020B0503020204020204" pitchFamily="34" charset="-122"/>
                <a:ea typeface="微软雅黑" panose="020B0503020204020204" pitchFamily="34" charset="-122"/>
              </a:endParaRPr>
            </a:p>
          </p:txBody>
        </p:sp>
        <p:sp>
          <p:nvSpPr>
            <p:cNvPr id="13" name="Text Box 21"/>
            <p:cNvSpPr txBox="1">
              <a:spLocks noChangeArrowheads="1"/>
            </p:cNvSpPr>
            <p:nvPr/>
          </p:nvSpPr>
          <p:spPr bwMode="auto">
            <a:xfrm rot="-21600000">
              <a:off x="5610225" y="1649414"/>
              <a:ext cx="871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647700" indent="-238125" defTabSz="409575">
                <a:defRPr>
                  <a:solidFill>
                    <a:schemeClr val="tx1"/>
                  </a:solidFill>
                  <a:latin typeface="Arial" panose="020B0604020202020204" pitchFamily="34" charset="0"/>
                  <a:ea typeface="宋体" panose="02010600030101010101" pitchFamily="2" charset="-122"/>
                </a:defRPr>
              </a:lvl2pPr>
              <a:lvl3pPr marL="1108075" indent="-2873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zh-CN" altLang="en-US" sz="1000">
                  <a:solidFill>
                    <a:srgbClr val="0000FF"/>
                  </a:solidFill>
                  <a:latin typeface="微软雅黑" panose="020B0503020204020204" pitchFamily="34" charset="-122"/>
                  <a:ea typeface="微软雅黑" panose="020B0503020204020204" pitchFamily="34" charset="-122"/>
                </a:rPr>
                <a:t>源</a:t>
              </a:r>
              <a:endParaRPr lang="zh-CN" altLang="en-US" sz="2200">
                <a:latin typeface="微软雅黑" panose="020B0503020204020204" pitchFamily="34" charset="-122"/>
                <a:ea typeface="微软雅黑" panose="020B0503020204020204" pitchFamily="34" charset="-122"/>
              </a:endParaRPr>
            </a:p>
          </p:txBody>
        </p:sp>
        <p:grpSp>
          <p:nvGrpSpPr>
            <p:cNvPr id="14" name="Group 22"/>
            <p:cNvGrpSpPr>
              <a:grpSpLocks/>
            </p:cNvGrpSpPr>
            <p:nvPr/>
          </p:nvGrpSpPr>
          <p:grpSpPr bwMode="auto">
            <a:xfrm>
              <a:off x="5124450" y="1590676"/>
              <a:ext cx="395288" cy="542925"/>
              <a:chOff x="2572" y="184"/>
              <a:chExt cx="351" cy="446"/>
            </a:xfrm>
          </p:grpSpPr>
          <p:sp>
            <p:nvSpPr>
              <p:cNvPr id="111" name="Oval 23" descr="50%"/>
              <p:cNvSpPr>
                <a:spLocks noChangeArrowheads="1"/>
              </p:cNvSpPr>
              <p:nvPr/>
            </p:nvSpPr>
            <p:spPr bwMode="auto">
              <a:xfrm rot="-16200000">
                <a:off x="2709" y="188"/>
                <a:ext cx="217" cy="210"/>
              </a:xfrm>
              <a:prstGeom prst="ellipse">
                <a:avLst/>
              </a:prstGeom>
              <a:pattFill prst="pct50">
                <a:fgClr>
                  <a:srgbClr val="C0E1FF"/>
                </a:fgClr>
                <a:bgClr>
                  <a:srgbClr val="FFFFFF"/>
                </a:bgClr>
              </a:pattFill>
              <a:ln w="1905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2" name="Line 24"/>
              <p:cNvSpPr>
                <a:spLocks noChangeShapeType="1"/>
              </p:cNvSpPr>
              <p:nvPr/>
            </p:nvSpPr>
            <p:spPr bwMode="auto">
              <a:xfrm rot="-16200000">
                <a:off x="2700" y="515"/>
                <a:ext cx="23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nvGrpSpPr>
              <p:cNvPr id="113" name="Group 25"/>
              <p:cNvGrpSpPr>
                <a:grpSpLocks/>
              </p:cNvGrpSpPr>
              <p:nvPr/>
            </p:nvGrpSpPr>
            <p:grpSpPr bwMode="auto">
              <a:xfrm rot="489153">
                <a:off x="2738" y="254"/>
                <a:ext cx="148" cy="83"/>
                <a:chOff x="3396" y="1321"/>
                <a:chExt cx="112" cy="64"/>
              </a:xfrm>
            </p:grpSpPr>
            <p:sp>
              <p:nvSpPr>
                <p:cNvPr id="116" name="Freeform 26"/>
                <p:cNvSpPr>
                  <a:spLocks/>
                </p:cNvSpPr>
                <p:nvPr/>
              </p:nvSpPr>
              <p:spPr bwMode="auto">
                <a:xfrm>
                  <a:off x="3452" y="1321"/>
                  <a:ext cx="56" cy="35"/>
                </a:xfrm>
                <a:custGeom>
                  <a:avLst/>
                  <a:gdLst>
                    <a:gd name="T0" fmla="*/ 55 w 56"/>
                    <a:gd name="T1" fmla="*/ 34 h 35"/>
                    <a:gd name="T2" fmla="*/ 55 w 56"/>
                    <a:gd name="T3" fmla="*/ 34 h 35"/>
                    <a:gd name="T4" fmla="*/ 55 w 56"/>
                    <a:gd name="T5" fmla="*/ 31 h 35"/>
                    <a:gd name="T6" fmla="*/ 55 w 56"/>
                    <a:gd name="T7" fmla="*/ 29 h 35"/>
                    <a:gd name="T8" fmla="*/ 55 w 56"/>
                    <a:gd name="T9" fmla="*/ 26 h 35"/>
                    <a:gd name="T10" fmla="*/ 54 w 56"/>
                    <a:gd name="T11" fmla="*/ 25 h 35"/>
                    <a:gd name="T12" fmla="*/ 54 w 56"/>
                    <a:gd name="T13" fmla="*/ 22 h 35"/>
                    <a:gd name="T14" fmla="*/ 52 w 56"/>
                    <a:gd name="T15" fmla="*/ 21 h 35"/>
                    <a:gd name="T16" fmla="*/ 52 w 56"/>
                    <a:gd name="T17" fmla="*/ 18 h 35"/>
                    <a:gd name="T18" fmla="*/ 52 w 56"/>
                    <a:gd name="T19" fmla="*/ 17 h 35"/>
                    <a:gd name="T20" fmla="*/ 50 w 56"/>
                    <a:gd name="T21" fmla="*/ 15 h 35"/>
                    <a:gd name="T22" fmla="*/ 50 w 56"/>
                    <a:gd name="T23" fmla="*/ 13 h 35"/>
                    <a:gd name="T24" fmla="*/ 48 w 56"/>
                    <a:gd name="T25" fmla="*/ 12 h 35"/>
                    <a:gd name="T26" fmla="*/ 46 w 56"/>
                    <a:gd name="T27" fmla="*/ 10 h 35"/>
                    <a:gd name="T28" fmla="*/ 46 w 56"/>
                    <a:gd name="T29" fmla="*/ 8 h 35"/>
                    <a:gd name="T30" fmla="*/ 45 w 56"/>
                    <a:gd name="T31" fmla="*/ 8 h 35"/>
                    <a:gd name="T32" fmla="*/ 44 w 56"/>
                    <a:gd name="T33" fmla="*/ 6 h 35"/>
                    <a:gd name="T34" fmla="*/ 42 w 56"/>
                    <a:gd name="T35" fmla="*/ 5 h 35"/>
                    <a:gd name="T36" fmla="*/ 40 w 56"/>
                    <a:gd name="T37" fmla="*/ 4 h 35"/>
                    <a:gd name="T38" fmla="*/ 39 w 56"/>
                    <a:gd name="T39" fmla="*/ 3 h 35"/>
                    <a:gd name="T40" fmla="*/ 38 w 56"/>
                    <a:gd name="T41" fmla="*/ 3 h 35"/>
                    <a:gd name="T42" fmla="*/ 36 w 56"/>
                    <a:gd name="T43" fmla="*/ 1 h 35"/>
                    <a:gd name="T44" fmla="*/ 34 w 56"/>
                    <a:gd name="T45" fmla="*/ 1 h 35"/>
                    <a:gd name="T46" fmla="*/ 34 w 56"/>
                    <a:gd name="T47" fmla="*/ 1 h 35"/>
                    <a:gd name="T48" fmla="*/ 31 w 56"/>
                    <a:gd name="T49" fmla="*/ 0 h 35"/>
                    <a:gd name="T50" fmla="*/ 29 w 56"/>
                    <a:gd name="T51" fmla="*/ 0 h 35"/>
                    <a:gd name="T52" fmla="*/ 27 w 56"/>
                    <a:gd name="T53" fmla="*/ 0 h 35"/>
                    <a:gd name="T54" fmla="*/ 25 w 56"/>
                    <a:gd name="T55" fmla="*/ 0 h 35"/>
                    <a:gd name="T56" fmla="*/ 24 w 56"/>
                    <a:gd name="T57" fmla="*/ 0 h 35"/>
                    <a:gd name="T58" fmla="*/ 22 w 56"/>
                    <a:gd name="T59" fmla="*/ 1 h 35"/>
                    <a:gd name="T60" fmla="*/ 20 w 56"/>
                    <a:gd name="T61" fmla="*/ 1 h 35"/>
                    <a:gd name="T62" fmla="*/ 18 w 56"/>
                    <a:gd name="T63" fmla="*/ 1 h 35"/>
                    <a:gd name="T64" fmla="*/ 18 w 56"/>
                    <a:gd name="T65" fmla="*/ 3 h 35"/>
                    <a:gd name="T66" fmla="*/ 16 w 56"/>
                    <a:gd name="T67" fmla="*/ 3 h 35"/>
                    <a:gd name="T68" fmla="*/ 15 w 56"/>
                    <a:gd name="T69" fmla="*/ 4 h 35"/>
                    <a:gd name="T70" fmla="*/ 13 w 56"/>
                    <a:gd name="T71" fmla="*/ 5 h 35"/>
                    <a:gd name="T72" fmla="*/ 11 w 56"/>
                    <a:gd name="T73" fmla="*/ 6 h 35"/>
                    <a:gd name="T74" fmla="*/ 11 w 56"/>
                    <a:gd name="T75" fmla="*/ 8 h 35"/>
                    <a:gd name="T76" fmla="*/ 9 w 56"/>
                    <a:gd name="T77" fmla="*/ 8 h 35"/>
                    <a:gd name="T78" fmla="*/ 8 w 56"/>
                    <a:gd name="T79" fmla="*/ 10 h 35"/>
                    <a:gd name="T80" fmla="*/ 6 w 56"/>
                    <a:gd name="T81" fmla="*/ 12 h 35"/>
                    <a:gd name="T82" fmla="*/ 6 w 56"/>
                    <a:gd name="T83" fmla="*/ 13 h 35"/>
                    <a:gd name="T84" fmla="*/ 5 w 56"/>
                    <a:gd name="T85" fmla="*/ 15 h 35"/>
                    <a:gd name="T86" fmla="*/ 3 w 56"/>
                    <a:gd name="T87" fmla="*/ 17 h 35"/>
                    <a:gd name="T88" fmla="*/ 2 w 56"/>
                    <a:gd name="T89" fmla="*/ 18 h 35"/>
                    <a:gd name="T90" fmla="*/ 2 w 56"/>
                    <a:gd name="T91" fmla="*/ 21 h 35"/>
                    <a:gd name="T92" fmla="*/ 1 w 56"/>
                    <a:gd name="T93" fmla="*/ 22 h 35"/>
                    <a:gd name="T94" fmla="*/ 1 w 56"/>
                    <a:gd name="T95" fmla="*/ 25 h 35"/>
                    <a:gd name="T96" fmla="*/ 0 w 56"/>
                    <a:gd name="T97" fmla="*/ 26 h 35"/>
                    <a:gd name="T98" fmla="*/ 0 w 56"/>
                    <a:gd name="T99" fmla="*/ 29 h 35"/>
                    <a:gd name="T100" fmla="*/ 0 w 56"/>
                    <a:gd name="T101" fmla="*/ 31 h 35"/>
                    <a:gd name="T102" fmla="*/ 0 w 56"/>
                    <a:gd name="T103" fmla="*/ 34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 h="35">
                      <a:moveTo>
                        <a:pt x="55" y="34"/>
                      </a:moveTo>
                      <a:lnTo>
                        <a:pt x="55" y="34"/>
                      </a:lnTo>
                      <a:lnTo>
                        <a:pt x="55" y="31"/>
                      </a:lnTo>
                      <a:lnTo>
                        <a:pt x="55" y="29"/>
                      </a:lnTo>
                      <a:lnTo>
                        <a:pt x="55" y="26"/>
                      </a:lnTo>
                      <a:lnTo>
                        <a:pt x="54" y="25"/>
                      </a:lnTo>
                      <a:lnTo>
                        <a:pt x="54" y="22"/>
                      </a:lnTo>
                      <a:lnTo>
                        <a:pt x="52" y="21"/>
                      </a:lnTo>
                      <a:lnTo>
                        <a:pt x="52" y="18"/>
                      </a:lnTo>
                      <a:lnTo>
                        <a:pt x="52" y="17"/>
                      </a:lnTo>
                      <a:lnTo>
                        <a:pt x="50" y="15"/>
                      </a:lnTo>
                      <a:lnTo>
                        <a:pt x="50" y="13"/>
                      </a:lnTo>
                      <a:lnTo>
                        <a:pt x="48" y="12"/>
                      </a:lnTo>
                      <a:lnTo>
                        <a:pt x="46" y="10"/>
                      </a:lnTo>
                      <a:lnTo>
                        <a:pt x="46" y="8"/>
                      </a:lnTo>
                      <a:lnTo>
                        <a:pt x="45" y="8"/>
                      </a:lnTo>
                      <a:lnTo>
                        <a:pt x="44" y="6"/>
                      </a:lnTo>
                      <a:lnTo>
                        <a:pt x="42" y="5"/>
                      </a:lnTo>
                      <a:lnTo>
                        <a:pt x="40" y="4"/>
                      </a:lnTo>
                      <a:lnTo>
                        <a:pt x="39" y="3"/>
                      </a:lnTo>
                      <a:lnTo>
                        <a:pt x="38" y="3"/>
                      </a:lnTo>
                      <a:lnTo>
                        <a:pt x="36" y="1"/>
                      </a:lnTo>
                      <a:lnTo>
                        <a:pt x="34" y="1"/>
                      </a:lnTo>
                      <a:lnTo>
                        <a:pt x="34" y="1"/>
                      </a:lnTo>
                      <a:lnTo>
                        <a:pt x="31" y="0"/>
                      </a:lnTo>
                      <a:lnTo>
                        <a:pt x="29" y="0"/>
                      </a:lnTo>
                      <a:lnTo>
                        <a:pt x="27" y="0"/>
                      </a:lnTo>
                      <a:lnTo>
                        <a:pt x="25" y="0"/>
                      </a:lnTo>
                      <a:lnTo>
                        <a:pt x="24" y="0"/>
                      </a:lnTo>
                      <a:lnTo>
                        <a:pt x="22" y="1"/>
                      </a:lnTo>
                      <a:lnTo>
                        <a:pt x="20" y="1"/>
                      </a:lnTo>
                      <a:lnTo>
                        <a:pt x="18" y="1"/>
                      </a:lnTo>
                      <a:lnTo>
                        <a:pt x="18" y="3"/>
                      </a:lnTo>
                      <a:lnTo>
                        <a:pt x="16" y="3"/>
                      </a:lnTo>
                      <a:lnTo>
                        <a:pt x="15" y="4"/>
                      </a:lnTo>
                      <a:lnTo>
                        <a:pt x="13" y="5"/>
                      </a:lnTo>
                      <a:lnTo>
                        <a:pt x="11" y="6"/>
                      </a:lnTo>
                      <a:lnTo>
                        <a:pt x="11" y="8"/>
                      </a:lnTo>
                      <a:lnTo>
                        <a:pt x="9" y="8"/>
                      </a:lnTo>
                      <a:lnTo>
                        <a:pt x="8" y="10"/>
                      </a:lnTo>
                      <a:lnTo>
                        <a:pt x="6" y="12"/>
                      </a:lnTo>
                      <a:lnTo>
                        <a:pt x="6" y="13"/>
                      </a:lnTo>
                      <a:lnTo>
                        <a:pt x="5" y="15"/>
                      </a:lnTo>
                      <a:lnTo>
                        <a:pt x="3" y="17"/>
                      </a:lnTo>
                      <a:lnTo>
                        <a:pt x="2" y="18"/>
                      </a:lnTo>
                      <a:lnTo>
                        <a:pt x="2" y="21"/>
                      </a:lnTo>
                      <a:lnTo>
                        <a:pt x="1" y="22"/>
                      </a:lnTo>
                      <a:lnTo>
                        <a:pt x="1" y="25"/>
                      </a:lnTo>
                      <a:lnTo>
                        <a:pt x="0" y="26"/>
                      </a:lnTo>
                      <a:lnTo>
                        <a:pt x="0" y="29"/>
                      </a:lnTo>
                      <a:lnTo>
                        <a:pt x="0" y="31"/>
                      </a:lnTo>
                      <a:lnTo>
                        <a:pt x="0" y="34"/>
                      </a:lnTo>
                    </a:path>
                  </a:pathLst>
                </a:custGeom>
                <a:noFill/>
                <a:ln w="1905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7" name="Freeform 27"/>
                <p:cNvSpPr>
                  <a:spLocks/>
                </p:cNvSpPr>
                <p:nvPr/>
              </p:nvSpPr>
              <p:spPr bwMode="auto">
                <a:xfrm>
                  <a:off x="3396" y="1350"/>
                  <a:ext cx="56" cy="35"/>
                </a:xfrm>
                <a:custGeom>
                  <a:avLst/>
                  <a:gdLst>
                    <a:gd name="T0" fmla="*/ 0 w 56"/>
                    <a:gd name="T1" fmla="*/ 0 h 35"/>
                    <a:gd name="T2" fmla="*/ 0 w 56"/>
                    <a:gd name="T3" fmla="*/ 0 h 35"/>
                    <a:gd name="T4" fmla="*/ 2 w 56"/>
                    <a:gd name="T5" fmla="*/ 2 h 35"/>
                    <a:gd name="T6" fmla="*/ 2 w 56"/>
                    <a:gd name="T7" fmla="*/ 5 h 35"/>
                    <a:gd name="T8" fmla="*/ 2 w 56"/>
                    <a:gd name="T9" fmla="*/ 6 h 35"/>
                    <a:gd name="T10" fmla="*/ 2 w 56"/>
                    <a:gd name="T11" fmla="*/ 8 h 35"/>
                    <a:gd name="T12" fmla="*/ 2 w 56"/>
                    <a:gd name="T13" fmla="*/ 10 h 35"/>
                    <a:gd name="T14" fmla="*/ 2 w 56"/>
                    <a:gd name="T15" fmla="*/ 13 h 35"/>
                    <a:gd name="T16" fmla="*/ 3 w 56"/>
                    <a:gd name="T17" fmla="*/ 13 h 35"/>
                    <a:gd name="T18" fmla="*/ 3 w 56"/>
                    <a:gd name="T19" fmla="*/ 16 h 35"/>
                    <a:gd name="T20" fmla="*/ 5 w 56"/>
                    <a:gd name="T21" fmla="*/ 18 h 35"/>
                    <a:gd name="T22" fmla="*/ 5 w 56"/>
                    <a:gd name="T23" fmla="*/ 20 h 35"/>
                    <a:gd name="T24" fmla="*/ 6 w 56"/>
                    <a:gd name="T25" fmla="*/ 22 h 35"/>
                    <a:gd name="T26" fmla="*/ 8 w 56"/>
                    <a:gd name="T27" fmla="*/ 23 h 35"/>
                    <a:gd name="T28" fmla="*/ 8 w 56"/>
                    <a:gd name="T29" fmla="*/ 24 h 35"/>
                    <a:gd name="T30" fmla="*/ 10 w 56"/>
                    <a:gd name="T31" fmla="*/ 26 h 35"/>
                    <a:gd name="T32" fmla="*/ 12 w 56"/>
                    <a:gd name="T33" fmla="*/ 28 h 35"/>
                    <a:gd name="T34" fmla="*/ 13 w 56"/>
                    <a:gd name="T35" fmla="*/ 29 h 35"/>
                    <a:gd name="T36" fmla="*/ 14 w 56"/>
                    <a:gd name="T37" fmla="*/ 30 h 35"/>
                    <a:gd name="T38" fmla="*/ 15 w 56"/>
                    <a:gd name="T39" fmla="*/ 31 h 35"/>
                    <a:gd name="T40" fmla="*/ 18 w 56"/>
                    <a:gd name="T41" fmla="*/ 32 h 35"/>
                    <a:gd name="T42" fmla="*/ 20 w 56"/>
                    <a:gd name="T43" fmla="*/ 32 h 35"/>
                    <a:gd name="T44" fmla="*/ 22 w 56"/>
                    <a:gd name="T45" fmla="*/ 33 h 35"/>
                    <a:gd name="T46" fmla="*/ 23 w 56"/>
                    <a:gd name="T47" fmla="*/ 33 h 35"/>
                    <a:gd name="T48" fmla="*/ 24 w 56"/>
                    <a:gd name="T49" fmla="*/ 34 h 35"/>
                    <a:gd name="T50" fmla="*/ 26 w 56"/>
                    <a:gd name="T51" fmla="*/ 34 h 35"/>
                    <a:gd name="T52" fmla="*/ 29 w 56"/>
                    <a:gd name="T53" fmla="*/ 34 h 35"/>
                    <a:gd name="T54" fmla="*/ 30 w 56"/>
                    <a:gd name="T55" fmla="*/ 34 h 35"/>
                    <a:gd name="T56" fmla="*/ 32 w 56"/>
                    <a:gd name="T57" fmla="*/ 34 h 35"/>
                    <a:gd name="T58" fmla="*/ 33 w 56"/>
                    <a:gd name="T59" fmla="*/ 33 h 35"/>
                    <a:gd name="T60" fmla="*/ 34 w 56"/>
                    <a:gd name="T61" fmla="*/ 33 h 35"/>
                    <a:gd name="T62" fmla="*/ 36 w 56"/>
                    <a:gd name="T63" fmla="*/ 32 h 35"/>
                    <a:gd name="T64" fmla="*/ 38 w 56"/>
                    <a:gd name="T65" fmla="*/ 32 h 35"/>
                    <a:gd name="T66" fmla="*/ 39 w 56"/>
                    <a:gd name="T67" fmla="*/ 31 h 35"/>
                    <a:gd name="T68" fmla="*/ 41 w 56"/>
                    <a:gd name="T69" fmla="*/ 30 h 35"/>
                    <a:gd name="T70" fmla="*/ 43 w 56"/>
                    <a:gd name="T71" fmla="*/ 29 h 35"/>
                    <a:gd name="T72" fmla="*/ 44 w 56"/>
                    <a:gd name="T73" fmla="*/ 28 h 35"/>
                    <a:gd name="T74" fmla="*/ 46 w 56"/>
                    <a:gd name="T75" fmla="*/ 26 h 35"/>
                    <a:gd name="T76" fmla="*/ 47 w 56"/>
                    <a:gd name="T77" fmla="*/ 24 h 35"/>
                    <a:gd name="T78" fmla="*/ 48 w 56"/>
                    <a:gd name="T79" fmla="*/ 23 h 35"/>
                    <a:gd name="T80" fmla="*/ 50 w 56"/>
                    <a:gd name="T81" fmla="*/ 22 h 35"/>
                    <a:gd name="T82" fmla="*/ 50 w 56"/>
                    <a:gd name="T83" fmla="*/ 20 h 35"/>
                    <a:gd name="T84" fmla="*/ 52 w 56"/>
                    <a:gd name="T85" fmla="*/ 18 h 35"/>
                    <a:gd name="T86" fmla="*/ 52 w 56"/>
                    <a:gd name="T87" fmla="*/ 16 h 35"/>
                    <a:gd name="T88" fmla="*/ 53 w 56"/>
                    <a:gd name="T89" fmla="*/ 13 h 35"/>
                    <a:gd name="T90" fmla="*/ 53 w 56"/>
                    <a:gd name="T91" fmla="*/ 13 h 35"/>
                    <a:gd name="T92" fmla="*/ 54 w 56"/>
                    <a:gd name="T93" fmla="*/ 10 h 35"/>
                    <a:gd name="T94" fmla="*/ 55 w 56"/>
                    <a:gd name="T95" fmla="*/ 8 h 35"/>
                    <a:gd name="T96" fmla="*/ 55 w 56"/>
                    <a:gd name="T97" fmla="*/ 6 h 35"/>
                    <a:gd name="T98" fmla="*/ 55 w 56"/>
                    <a:gd name="T99" fmla="*/ 5 h 35"/>
                    <a:gd name="T100" fmla="*/ 55 w 56"/>
                    <a:gd name="T101" fmla="*/ 2 h 35"/>
                    <a:gd name="T102" fmla="*/ 55 w 56"/>
                    <a:gd name="T10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 h="35">
                      <a:moveTo>
                        <a:pt x="0" y="0"/>
                      </a:moveTo>
                      <a:lnTo>
                        <a:pt x="0" y="0"/>
                      </a:lnTo>
                      <a:lnTo>
                        <a:pt x="2" y="2"/>
                      </a:lnTo>
                      <a:lnTo>
                        <a:pt x="2" y="5"/>
                      </a:lnTo>
                      <a:lnTo>
                        <a:pt x="2" y="6"/>
                      </a:lnTo>
                      <a:lnTo>
                        <a:pt x="2" y="8"/>
                      </a:lnTo>
                      <a:lnTo>
                        <a:pt x="2" y="10"/>
                      </a:lnTo>
                      <a:lnTo>
                        <a:pt x="2" y="13"/>
                      </a:lnTo>
                      <a:lnTo>
                        <a:pt x="3" y="13"/>
                      </a:lnTo>
                      <a:lnTo>
                        <a:pt x="3" y="16"/>
                      </a:lnTo>
                      <a:lnTo>
                        <a:pt x="5" y="18"/>
                      </a:lnTo>
                      <a:lnTo>
                        <a:pt x="5" y="20"/>
                      </a:lnTo>
                      <a:lnTo>
                        <a:pt x="6" y="22"/>
                      </a:lnTo>
                      <a:lnTo>
                        <a:pt x="8" y="23"/>
                      </a:lnTo>
                      <a:lnTo>
                        <a:pt x="8" y="24"/>
                      </a:lnTo>
                      <a:lnTo>
                        <a:pt x="10" y="26"/>
                      </a:lnTo>
                      <a:lnTo>
                        <a:pt x="12" y="28"/>
                      </a:lnTo>
                      <a:lnTo>
                        <a:pt x="13" y="29"/>
                      </a:lnTo>
                      <a:lnTo>
                        <a:pt x="14" y="30"/>
                      </a:lnTo>
                      <a:lnTo>
                        <a:pt x="15" y="31"/>
                      </a:lnTo>
                      <a:lnTo>
                        <a:pt x="18" y="32"/>
                      </a:lnTo>
                      <a:lnTo>
                        <a:pt x="20" y="32"/>
                      </a:lnTo>
                      <a:lnTo>
                        <a:pt x="22" y="33"/>
                      </a:lnTo>
                      <a:lnTo>
                        <a:pt x="23" y="33"/>
                      </a:lnTo>
                      <a:lnTo>
                        <a:pt x="24" y="34"/>
                      </a:lnTo>
                      <a:lnTo>
                        <a:pt x="26" y="34"/>
                      </a:lnTo>
                      <a:lnTo>
                        <a:pt x="29" y="34"/>
                      </a:lnTo>
                      <a:lnTo>
                        <a:pt x="30" y="34"/>
                      </a:lnTo>
                      <a:lnTo>
                        <a:pt x="32" y="34"/>
                      </a:lnTo>
                      <a:lnTo>
                        <a:pt x="33" y="33"/>
                      </a:lnTo>
                      <a:lnTo>
                        <a:pt x="34" y="33"/>
                      </a:lnTo>
                      <a:lnTo>
                        <a:pt x="36" y="32"/>
                      </a:lnTo>
                      <a:lnTo>
                        <a:pt x="38" y="32"/>
                      </a:lnTo>
                      <a:lnTo>
                        <a:pt x="39" y="31"/>
                      </a:lnTo>
                      <a:lnTo>
                        <a:pt x="41" y="30"/>
                      </a:lnTo>
                      <a:lnTo>
                        <a:pt x="43" y="29"/>
                      </a:lnTo>
                      <a:lnTo>
                        <a:pt x="44" y="28"/>
                      </a:lnTo>
                      <a:lnTo>
                        <a:pt x="46" y="26"/>
                      </a:lnTo>
                      <a:lnTo>
                        <a:pt x="47" y="24"/>
                      </a:lnTo>
                      <a:lnTo>
                        <a:pt x="48" y="23"/>
                      </a:lnTo>
                      <a:lnTo>
                        <a:pt x="50" y="22"/>
                      </a:lnTo>
                      <a:lnTo>
                        <a:pt x="50" y="20"/>
                      </a:lnTo>
                      <a:lnTo>
                        <a:pt x="52" y="18"/>
                      </a:lnTo>
                      <a:lnTo>
                        <a:pt x="52" y="16"/>
                      </a:lnTo>
                      <a:lnTo>
                        <a:pt x="53" y="13"/>
                      </a:lnTo>
                      <a:lnTo>
                        <a:pt x="53" y="13"/>
                      </a:lnTo>
                      <a:lnTo>
                        <a:pt x="54" y="10"/>
                      </a:lnTo>
                      <a:lnTo>
                        <a:pt x="55" y="8"/>
                      </a:lnTo>
                      <a:lnTo>
                        <a:pt x="55" y="6"/>
                      </a:lnTo>
                      <a:lnTo>
                        <a:pt x="55" y="5"/>
                      </a:lnTo>
                      <a:lnTo>
                        <a:pt x="55" y="2"/>
                      </a:lnTo>
                      <a:lnTo>
                        <a:pt x="55" y="0"/>
                      </a:lnTo>
                    </a:path>
                  </a:pathLst>
                </a:custGeom>
                <a:noFill/>
                <a:ln w="1905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114" name="Freeform 28"/>
              <p:cNvSpPr>
                <a:spLocks/>
              </p:cNvSpPr>
              <p:nvPr/>
            </p:nvSpPr>
            <p:spPr bwMode="auto">
              <a:xfrm rot="-16200000">
                <a:off x="2572" y="296"/>
                <a:ext cx="241" cy="241"/>
              </a:xfrm>
              <a:custGeom>
                <a:avLst/>
                <a:gdLst>
                  <a:gd name="T0" fmla="*/ 181 w 182"/>
                  <a:gd name="T1" fmla="*/ 0 h 187"/>
                  <a:gd name="T2" fmla="*/ 181 w 182"/>
                  <a:gd name="T3" fmla="*/ 186 h 187"/>
                  <a:gd name="T4" fmla="*/ 0 w 182"/>
                  <a:gd name="T5" fmla="*/ 186 h 187"/>
                  <a:gd name="T6" fmla="*/ 0 w 182"/>
                  <a:gd name="T7" fmla="*/ 107 h 187"/>
                </a:gdLst>
                <a:ahLst/>
                <a:cxnLst>
                  <a:cxn ang="0">
                    <a:pos x="T0" y="T1"/>
                  </a:cxn>
                  <a:cxn ang="0">
                    <a:pos x="T2" y="T3"/>
                  </a:cxn>
                  <a:cxn ang="0">
                    <a:pos x="T4" y="T5"/>
                  </a:cxn>
                  <a:cxn ang="0">
                    <a:pos x="T6" y="T7"/>
                  </a:cxn>
                </a:cxnLst>
                <a:rect l="0" t="0" r="r" b="b"/>
                <a:pathLst>
                  <a:path w="182" h="187">
                    <a:moveTo>
                      <a:pt x="181" y="0"/>
                    </a:moveTo>
                    <a:lnTo>
                      <a:pt x="181" y="186"/>
                    </a:lnTo>
                    <a:lnTo>
                      <a:pt x="0" y="186"/>
                    </a:lnTo>
                    <a:lnTo>
                      <a:pt x="0" y="107"/>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5" name="Freeform 29" descr="50%"/>
              <p:cNvSpPr>
                <a:spLocks/>
              </p:cNvSpPr>
              <p:nvPr/>
            </p:nvSpPr>
            <p:spPr bwMode="auto">
              <a:xfrm rot="-16200000">
                <a:off x="2678" y="271"/>
                <a:ext cx="22" cy="46"/>
              </a:xfrm>
              <a:custGeom>
                <a:avLst/>
                <a:gdLst>
                  <a:gd name="T0" fmla="*/ 9 w 17"/>
                  <a:gd name="T1" fmla="*/ 0 h 36"/>
                  <a:gd name="T2" fmla="*/ 16 w 17"/>
                  <a:gd name="T3" fmla="*/ 35 h 36"/>
                  <a:gd name="T4" fmla="*/ 9 w 17"/>
                  <a:gd name="T5" fmla="*/ 25 h 36"/>
                  <a:gd name="T6" fmla="*/ 0 w 17"/>
                  <a:gd name="T7" fmla="*/ 35 h 36"/>
                  <a:gd name="T8" fmla="*/ 9 w 17"/>
                  <a:gd name="T9" fmla="*/ 0 h 36"/>
                  <a:gd name="T10" fmla="*/ 9 w 17"/>
                  <a:gd name="T11" fmla="*/ 0 h 36"/>
                </a:gdLst>
                <a:ahLst/>
                <a:cxnLst>
                  <a:cxn ang="0">
                    <a:pos x="T0" y="T1"/>
                  </a:cxn>
                  <a:cxn ang="0">
                    <a:pos x="T2" y="T3"/>
                  </a:cxn>
                  <a:cxn ang="0">
                    <a:pos x="T4" y="T5"/>
                  </a:cxn>
                  <a:cxn ang="0">
                    <a:pos x="T6" y="T7"/>
                  </a:cxn>
                  <a:cxn ang="0">
                    <a:pos x="T8" y="T9"/>
                  </a:cxn>
                  <a:cxn ang="0">
                    <a:pos x="T10" y="T11"/>
                  </a:cxn>
                </a:cxnLst>
                <a:rect l="0" t="0" r="r" b="b"/>
                <a:pathLst>
                  <a:path w="17" h="36">
                    <a:moveTo>
                      <a:pt x="9" y="0"/>
                    </a:moveTo>
                    <a:lnTo>
                      <a:pt x="16" y="35"/>
                    </a:lnTo>
                    <a:lnTo>
                      <a:pt x="9" y="25"/>
                    </a:lnTo>
                    <a:lnTo>
                      <a:pt x="0" y="35"/>
                    </a:lnTo>
                    <a:lnTo>
                      <a:pt x="9" y="0"/>
                    </a:lnTo>
                    <a:lnTo>
                      <a:pt x="9" y="0"/>
                    </a:lnTo>
                  </a:path>
                </a:pathLst>
              </a:custGeom>
              <a:pattFill prst="pct50">
                <a:fgClr>
                  <a:srgbClr val="000000"/>
                </a:fgClr>
                <a:bgClr>
                  <a:srgbClr val="FFFFFF"/>
                </a:bgClr>
              </a:patt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15" name="AutoShape 30" descr="50%"/>
            <p:cNvSpPr>
              <a:spLocks noChangeArrowheads="1"/>
            </p:cNvSpPr>
            <p:nvPr/>
          </p:nvSpPr>
          <p:spPr bwMode="auto">
            <a:xfrm flipV="1">
              <a:off x="5124451" y="2174876"/>
              <a:ext cx="525463" cy="365125"/>
            </a:xfrm>
            <a:prstGeom prst="roundRect">
              <a:avLst>
                <a:gd name="adj" fmla="val 0"/>
              </a:avLst>
            </a:prstGeom>
            <a:pattFill prst="pct50">
              <a:fgClr>
                <a:srgbClr val="C0E1FF"/>
              </a:fgClr>
              <a:bgClr>
                <a:srgbClr val="FFFFFF"/>
              </a:bgClr>
            </a:pattFill>
            <a:ln w="1905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 name="Freeform 31"/>
            <p:cNvSpPr>
              <a:spLocks/>
            </p:cNvSpPr>
            <p:nvPr/>
          </p:nvSpPr>
          <p:spPr bwMode="auto">
            <a:xfrm>
              <a:off x="5386389" y="2254250"/>
              <a:ext cx="26987" cy="33338"/>
            </a:xfrm>
            <a:custGeom>
              <a:avLst/>
              <a:gdLst>
                <a:gd name="T0" fmla="*/ 6 w 17"/>
                <a:gd name="T1" fmla="*/ 0 h 20"/>
                <a:gd name="T2" fmla="*/ 8 w 17"/>
                <a:gd name="T3" fmla="*/ 0 h 20"/>
                <a:gd name="T4" fmla="*/ 8 w 17"/>
                <a:gd name="T5" fmla="*/ 1 h 20"/>
                <a:gd name="T6" fmla="*/ 12 w 17"/>
                <a:gd name="T7" fmla="*/ 1 h 20"/>
                <a:gd name="T8" fmla="*/ 12 w 17"/>
                <a:gd name="T9" fmla="*/ 2 h 20"/>
                <a:gd name="T10" fmla="*/ 14 w 17"/>
                <a:gd name="T11" fmla="*/ 4 h 20"/>
                <a:gd name="T12" fmla="*/ 15 w 17"/>
                <a:gd name="T13" fmla="*/ 4 h 20"/>
                <a:gd name="T14" fmla="*/ 15 w 17"/>
                <a:gd name="T15" fmla="*/ 6 h 20"/>
                <a:gd name="T16" fmla="*/ 15 w 17"/>
                <a:gd name="T17" fmla="*/ 7 h 20"/>
                <a:gd name="T18" fmla="*/ 15 w 17"/>
                <a:gd name="T19" fmla="*/ 9 h 20"/>
                <a:gd name="T20" fmla="*/ 16 w 17"/>
                <a:gd name="T21" fmla="*/ 9 h 20"/>
                <a:gd name="T22" fmla="*/ 15 w 17"/>
                <a:gd name="T23" fmla="*/ 10 h 20"/>
                <a:gd name="T24" fmla="*/ 15 w 17"/>
                <a:gd name="T25" fmla="*/ 13 h 20"/>
                <a:gd name="T26" fmla="*/ 15 w 17"/>
                <a:gd name="T27" fmla="*/ 13 h 20"/>
                <a:gd name="T28" fmla="*/ 15 w 17"/>
                <a:gd name="T29" fmla="*/ 14 h 20"/>
                <a:gd name="T30" fmla="*/ 14 w 17"/>
                <a:gd name="T31" fmla="*/ 16 h 20"/>
                <a:gd name="T32" fmla="*/ 12 w 17"/>
                <a:gd name="T33" fmla="*/ 17 h 20"/>
                <a:gd name="T34" fmla="*/ 12 w 17"/>
                <a:gd name="T35" fmla="*/ 17 h 20"/>
                <a:gd name="T36" fmla="*/ 8 w 17"/>
                <a:gd name="T37" fmla="*/ 19 h 20"/>
                <a:gd name="T38" fmla="*/ 8 w 17"/>
                <a:gd name="T39" fmla="*/ 19 h 20"/>
                <a:gd name="T40" fmla="*/ 6 w 17"/>
                <a:gd name="T41" fmla="*/ 19 h 20"/>
                <a:gd name="T42" fmla="*/ 6 w 17"/>
                <a:gd name="T43" fmla="*/ 19 h 20"/>
                <a:gd name="T44" fmla="*/ 5 w 17"/>
                <a:gd name="T45" fmla="*/ 19 h 20"/>
                <a:gd name="T46" fmla="*/ 5 w 17"/>
                <a:gd name="T47" fmla="*/ 19 h 20"/>
                <a:gd name="T48" fmla="*/ 3 w 17"/>
                <a:gd name="T49" fmla="*/ 17 h 20"/>
                <a:gd name="T50" fmla="*/ 2 w 17"/>
                <a:gd name="T51" fmla="*/ 17 h 20"/>
                <a:gd name="T52" fmla="*/ 1 w 17"/>
                <a:gd name="T53" fmla="*/ 16 h 20"/>
                <a:gd name="T54" fmla="*/ 1 w 17"/>
                <a:gd name="T55" fmla="*/ 14 h 20"/>
                <a:gd name="T56" fmla="*/ 0 w 17"/>
                <a:gd name="T57" fmla="*/ 13 h 20"/>
                <a:gd name="T58" fmla="*/ 0 w 17"/>
                <a:gd name="T59" fmla="*/ 13 h 20"/>
                <a:gd name="T60" fmla="*/ 0 w 17"/>
                <a:gd name="T61" fmla="*/ 10 h 20"/>
                <a:gd name="T62" fmla="*/ 0 w 17"/>
                <a:gd name="T63" fmla="*/ 9 h 20"/>
                <a:gd name="T64" fmla="*/ 0 w 17"/>
                <a:gd name="T65" fmla="*/ 9 h 20"/>
                <a:gd name="T66" fmla="*/ 0 w 17"/>
                <a:gd name="T67" fmla="*/ 7 h 20"/>
                <a:gd name="T68" fmla="*/ 0 w 17"/>
                <a:gd name="T69" fmla="*/ 6 h 20"/>
                <a:gd name="T70" fmla="*/ 1 w 17"/>
                <a:gd name="T71" fmla="*/ 4 h 20"/>
                <a:gd name="T72" fmla="*/ 1 w 17"/>
                <a:gd name="T73" fmla="*/ 4 h 20"/>
                <a:gd name="T74" fmla="*/ 2 w 17"/>
                <a:gd name="T75" fmla="*/ 2 h 20"/>
                <a:gd name="T76" fmla="*/ 3 w 17"/>
                <a:gd name="T77" fmla="*/ 1 h 20"/>
                <a:gd name="T78" fmla="*/ 5 w 17"/>
                <a:gd name="T79" fmla="*/ 1 h 20"/>
                <a:gd name="T80" fmla="*/ 5 w 17"/>
                <a:gd name="T81" fmla="*/ 0 h 20"/>
                <a:gd name="T82" fmla="*/ 6 w 17"/>
                <a:gd name="T83"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 h="20">
                  <a:moveTo>
                    <a:pt x="6" y="0"/>
                  </a:moveTo>
                  <a:lnTo>
                    <a:pt x="6" y="0"/>
                  </a:lnTo>
                  <a:lnTo>
                    <a:pt x="6" y="0"/>
                  </a:lnTo>
                  <a:lnTo>
                    <a:pt x="8" y="0"/>
                  </a:lnTo>
                  <a:lnTo>
                    <a:pt x="8" y="1"/>
                  </a:lnTo>
                  <a:lnTo>
                    <a:pt x="8" y="1"/>
                  </a:lnTo>
                  <a:lnTo>
                    <a:pt x="12" y="1"/>
                  </a:lnTo>
                  <a:lnTo>
                    <a:pt x="12" y="1"/>
                  </a:lnTo>
                  <a:lnTo>
                    <a:pt x="12" y="2"/>
                  </a:lnTo>
                  <a:lnTo>
                    <a:pt x="12" y="2"/>
                  </a:lnTo>
                  <a:lnTo>
                    <a:pt x="14" y="3"/>
                  </a:lnTo>
                  <a:lnTo>
                    <a:pt x="14" y="4"/>
                  </a:lnTo>
                  <a:lnTo>
                    <a:pt x="14" y="4"/>
                  </a:lnTo>
                  <a:lnTo>
                    <a:pt x="15" y="4"/>
                  </a:lnTo>
                  <a:lnTo>
                    <a:pt x="15" y="6"/>
                  </a:lnTo>
                  <a:lnTo>
                    <a:pt x="15" y="6"/>
                  </a:lnTo>
                  <a:lnTo>
                    <a:pt x="15" y="6"/>
                  </a:lnTo>
                  <a:lnTo>
                    <a:pt x="15" y="7"/>
                  </a:lnTo>
                  <a:lnTo>
                    <a:pt x="15" y="9"/>
                  </a:lnTo>
                  <a:lnTo>
                    <a:pt x="15" y="9"/>
                  </a:lnTo>
                  <a:lnTo>
                    <a:pt x="16" y="9"/>
                  </a:lnTo>
                  <a:lnTo>
                    <a:pt x="16" y="9"/>
                  </a:lnTo>
                  <a:lnTo>
                    <a:pt x="16" y="10"/>
                  </a:lnTo>
                  <a:lnTo>
                    <a:pt x="15" y="10"/>
                  </a:lnTo>
                  <a:lnTo>
                    <a:pt x="15" y="12"/>
                  </a:lnTo>
                  <a:lnTo>
                    <a:pt x="15" y="13"/>
                  </a:lnTo>
                  <a:lnTo>
                    <a:pt x="15" y="13"/>
                  </a:lnTo>
                  <a:lnTo>
                    <a:pt x="15" y="13"/>
                  </a:lnTo>
                  <a:lnTo>
                    <a:pt x="15" y="14"/>
                  </a:lnTo>
                  <a:lnTo>
                    <a:pt x="15" y="14"/>
                  </a:lnTo>
                  <a:lnTo>
                    <a:pt x="14" y="16"/>
                  </a:lnTo>
                  <a:lnTo>
                    <a:pt x="14" y="16"/>
                  </a:lnTo>
                  <a:lnTo>
                    <a:pt x="14" y="17"/>
                  </a:lnTo>
                  <a:lnTo>
                    <a:pt x="12" y="17"/>
                  </a:lnTo>
                  <a:lnTo>
                    <a:pt x="12" y="17"/>
                  </a:lnTo>
                  <a:lnTo>
                    <a:pt x="12" y="17"/>
                  </a:lnTo>
                  <a:lnTo>
                    <a:pt x="12" y="17"/>
                  </a:lnTo>
                  <a:lnTo>
                    <a:pt x="8" y="19"/>
                  </a:lnTo>
                  <a:lnTo>
                    <a:pt x="8" y="19"/>
                  </a:lnTo>
                  <a:lnTo>
                    <a:pt x="8" y="19"/>
                  </a:lnTo>
                  <a:lnTo>
                    <a:pt x="6" y="19"/>
                  </a:lnTo>
                  <a:lnTo>
                    <a:pt x="6" y="19"/>
                  </a:lnTo>
                  <a:lnTo>
                    <a:pt x="6" y="19"/>
                  </a:lnTo>
                  <a:lnTo>
                    <a:pt x="6" y="19"/>
                  </a:lnTo>
                  <a:lnTo>
                    <a:pt x="5" y="19"/>
                  </a:lnTo>
                  <a:lnTo>
                    <a:pt x="5" y="19"/>
                  </a:lnTo>
                  <a:lnTo>
                    <a:pt x="5" y="19"/>
                  </a:lnTo>
                  <a:lnTo>
                    <a:pt x="5" y="19"/>
                  </a:lnTo>
                  <a:lnTo>
                    <a:pt x="5" y="17"/>
                  </a:lnTo>
                  <a:lnTo>
                    <a:pt x="3" y="17"/>
                  </a:lnTo>
                  <a:lnTo>
                    <a:pt x="3" y="17"/>
                  </a:lnTo>
                  <a:lnTo>
                    <a:pt x="2" y="17"/>
                  </a:lnTo>
                  <a:lnTo>
                    <a:pt x="2" y="17"/>
                  </a:lnTo>
                  <a:lnTo>
                    <a:pt x="1" y="16"/>
                  </a:lnTo>
                  <a:lnTo>
                    <a:pt x="1" y="16"/>
                  </a:lnTo>
                  <a:lnTo>
                    <a:pt x="1" y="14"/>
                  </a:lnTo>
                  <a:lnTo>
                    <a:pt x="0" y="14"/>
                  </a:lnTo>
                  <a:lnTo>
                    <a:pt x="0" y="13"/>
                  </a:lnTo>
                  <a:lnTo>
                    <a:pt x="0" y="13"/>
                  </a:lnTo>
                  <a:lnTo>
                    <a:pt x="0" y="13"/>
                  </a:lnTo>
                  <a:lnTo>
                    <a:pt x="0" y="12"/>
                  </a:lnTo>
                  <a:lnTo>
                    <a:pt x="0" y="10"/>
                  </a:lnTo>
                  <a:lnTo>
                    <a:pt x="0" y="10"/>
                  </a:lnTo>
                  <a:lnTo>
                    <a:pt x="0" y="9"/>
                  </a:lnTo>
                  <a:lnTo>
                    <a:pt x="0" y="9"/>
                  </a:lnTo>
                  <a:lnTo>
                    <a:pt x="0" y="9"/>
                  </a:lnTo>
                  <a:lnTo>
                    <a:pt x="0" y="9"/>
                  </a:lnTo>
                  <a:lnTo>
                    <a:pt x="0" y="7"/>
                  </a:lnTo>
                  <a:lnTo>
                    <a:pt x="0" y="6"/>
                  </a:lnTo>
                  <a:lnTo>
                    <a:pt x="0" y="6"/>
                  </a:lnTo>
                  <a:lnTo>
                    <a:pt x="0" y="6"/>
                  </a:lnTo>
                  <a:lnTo>
                    <a:pt x="1" y="4"/>
                  </a:lnTo>
                  <a:lnTo>
                    <a:pt x="1" y="4"/>
                  </a:lnTo>
                  <a:lnTo>
                    <a:pt x="1" y="4"/>
                  </a:lnTo>
                  <a:lnTo>
                    <a:pt x="2" y="3"/>
                  </a:lnTo>
                  <a:lnTo>
                    <a:pt x="2" y="2"/>
                  </a:lnTo>
                  <a:lnTo>
                    <a:pt x="3" y="2"/>
                  </a:lnTo>
                  <a:lnTo>
                    <a:pt x="3" y="1"/>
                  </a:lnTo>
                  <a:lnTo>
                    <a:pt x="5" y="1"/>
                  </a:lnTo>
                  <a:lnTo>
                    <a:pt x="5" y="1"/>
                  </a:lnTo>
                  <a:lnTo>
                    <a:pt x="5" y="1"/>
                  </a:lnTo>
                  <a:lnTo>
                    <a:pt x="5" y="0"/>
                  </a:lnTo>
                  <a:lnTo>
                    <a:pt x="5" y="0"/>
                  </a:lnTo>
                  <a:lnTo>
                    <a:pt x="6" y="0"/>
                  </a:lnTo>
                  <a:lnTo>
                    <a:pt x="6" y="0"/>
                  </a:lnTo>
                </a:path>
              </a:pathLst>
            </a:custGeom>
            <a:noFill/>
            <a:ln w="1905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 name="Line 32"/>
            <p:cNvSpPr>
              <a:spLocks noChangeShapeType="1"/>
            </p:cNvSpPr>
            <p:nvPr/>
          </p:nvSpPr>
          <p:spPr bwMode="auto">
            <a:xfrm flipV="1">
              <a:off x="5395913" y="2116138"/>
              <a:ext cx="0" cy="1762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 name="Freeform 33" descr="50%"/>
            <p:cNvSpPr>
              <a:spLocks/>
            </p:cNvSpPr>
            <p:nvPr/>
          </p:nvSpPr>
          <p:spPr bwMode="auto">
            <a:xfrm rot="-5400000">
              <a:off x="3652045" y="2534445"/>
              <a:ext cx="625475" cy="376237"/>
            </a:xfrm>
            <a:custGeom>
              <a:avLst/>
              <a:gdLst>
                <a:gd name="T0" fmla="*/ 0 w 388"/>
                <a:gd name="T1" fmla="*/ 135 h 261"/>
                <a:gd name="T2" fmla="*/ 129 w 388"/>
                <a:gd name="T3" fmla="*/ 260 h 261"/>
                <a:gd name="T4" fmla="*/ 269 w 388"/>
                <a:gd name="T5" fmla="*/ 259 h 261"/>
                <a:gd name="T6" fmla="*/ 387 w 388"/>
                <a:gd name="T7" fmla="*/ 133 h 261"/>
                <a:gd name="T8" fmla="*/ 278 w 388"/>
                <a:gd name="T9" fmla="*/ 0 h 261"/>
                <a:gd name="T10" fmla="*/ 111 w 388"/>
                <a:gd name="T11" fmla="*/ 0 h 261"/>
                <a:gd name="T12" fmla="*/ 0 w 388"/>
                <a:gd name="T13" fmla="*/ 133 h 261"/>
                <a:gd name="T14" fmla="*/ 0 w 388"/>
                <a:gd name="T15" fmla="*/ 135 h 261"/>
                <a:gd name="T16" fmla="*/ 0 w 388"/>
                <a:gd name="T17" fmla="*/ 135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8" h="261">
                  <a:moveTo>
                    <a:pt x="0" y="135"/>
                  </a:moveTo>
                  <a:lnTo>
                    <a:pt x="129" y="260"/>
                  </a:lnTo>
                  <a:lnTo>
                    <a:pt x="269" y="259"/>
                  </a:lnTo>
                  <a:lnTo>
                    <a:pt x="387" y="133"/>
                  </a:lnTo>
                  <a:lnTo>
                    <a:pt x="278" y="0"/>
                  </a:lnTo>
                  <a:lnTo>
                    <a:pt x="111" y="0"/>
                  </a:lnTo>
                  <a:lnTo>
                    <a:pt x="0" y="133"/>
                  </a:lnTo>
                  <a:lnTo>
                    <a:pt x="0" y="135"/>
                  </a:lnTo>
                  <a:lnTo>
                    <a:pt x="0" y="135"/>
                  </a:lnTo>
                </a:path>
              </a:pathLst>
            </a:custGeom>
            <a:pattFill prst="pct50">
              <a:fgClr>
                <a:srgbClr val="FFC0E4"/>
              </a:fgClr>
              <a:bgClr>
                <a:srgbClr val="FFFFFF"/>
              </a:bgClr>
            </a:pattFill>
            <a:ln w="19050" cap="flat" cmpd="sng">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 name="Freeform 34"/>
            <p:cNvSpPr>
              <a:spLocks/>
            </p:cNvSpPr>
            <p:nvPr/>
          </p:nvSpPr>
          <p:spPr bwMode="auto">
            <a:xfrm>
              <a:off x="4856164" y="3343275"/>
              <a:ext cx="377825" cy="603250"/>
            </a:xfrm>
            <a:custGeom>
              <a:avLst/>
              <a:gdLst>
                <a:gd name="T0" fmla="*/ 121 w 254"/>
                <a:gd name="T1" fmla="*/ 0 h 384"/>
                <a:gd name="T2" fmla="*/ 253 w 254"/>
                <a:gd name="T3" fmla="*/ 117 h 384"/>
                <a:gd name="T4" fmla="*/ 253 w 254"/>
                <a:gd name="T5" fmla="*/ 271 h 384"/>
                <a:gd name="T6" fmla="*/ 125 w 254"/>
                <a:gd name="T7" fmla="*/ 383 h 384"/>
                <a:gd name="T8" fmla="*/ 0 w 254"/>
                <a:gd name="T9" fmla="*/ 269 h 384"/>
                <a:gd name="T10" fmla="*/ 1 w 254"/>
                <a:gd name="T11" fmla="*/ 115 h 384"/>
                <a:gd name="T12" fmla="*/ 125 w 254"/>
                <a:gd name="T13" fmla="*/ 0 h 384"/>
                <a:gd name="T14" fmla="*/ 121 w 254"/>
                <a:gd name="T15" fmla="*/ 0 h 384"/>
                <a:gd name="T16" fmla="*/ 121 w 254"/>
                <a:gd name="T17"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4" h="384">
                  <a:moveTo>
                    <a:pt x="121" y="0"/>
                  </a:moveTo>
                  <a:lnTo>
                    <a:pt x="253" y="117"/>
                  </a:lnTo>
                  <a:lnTo>
                    <a:pt x="253" y="271"/>
                  </a:lnTo>
                  <a:lnTo>
                    <a:pt x="125" y="383"/>
                  </a:lnTo>
                  <a:lnTo>
                    <a:pt x="0" y="269"/>
                  </a:lnTo>
                  <a:lnTo>
                    <a:pt x="1" y="115"/>
                  </a:lnTo>
                  <a:lnTo>
                    <a:pt x="125" y="0"/>
                  </a:lnTo>
                  <a:lnTo>
                    <a:pt x="121" y="0"/>
                  </a:lnTo>
                  <a:lnTo>
                    <a:pt x="121" y="0"/>
                  </a:lnTo>
                </a:path>
              </a:pathLst>
            </a:custGeom>
            <a:solidFill>
              <a:srgbClr val="FF00FF"/>
            </a:solidFill>
            <a:ln w="19050" cap="flat"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0" name="Freeform 35"/>
            <p:cNvSpPr>
              <a:spLocks/>
            </p:cNvSpPr>
            <p:nvPr/>
          </p:nvSpPr>
          <p:spPr bwMode="auto">
            <a:xfrm>
              <a:off x="3930651" y="2759075"/>
              <a:ext cx="53975" cy="52388"/>
            </a:xfrm>
            <a:custGeom>
              <a:avLst/>
              <a:gdLst>
                <a:gd name="T0" fmla="*/ 16 w 36"/>
                <a:gd name="T1" fmla="*/ 0 h 33"/>
                <a:gd name="T2" fmla="*/ 13 w 36"/>
                <a:gd name="T3" fmla="*/ 0 h 33"/>
                <a:gd name="T4" fmla="*/ 11 w 36"/>
                <a:gd name="T5" fmla="*/ 2 h 33"/>
                <a:gd name="T6" fmla="*/ 9 w 36"/>
                <a:gd name="T7" fmla="*/ 2 h 33"/>
                <a:gd name="T8" fmla="*/ 6 w 36"/>
                <a:gd name="T9" fmla="*/ 5 h 33"/>
                <a:gd name="T10" fmla="*/ 5 w 36"/>
                <a:gd name="T11" fmla="*/ 6 h 33"/>
                <a:gd name="T12" fmla="*/ 3 w 36"/>
                <a:gd name="T13" fmla="*/ 8 h 33"/>
                <a:gd name="T14" fmla="*/ 2 w 36"/>
                <a:gd name="T15" fmla="*/ 10 h 33"/>
                <a:gd name="T16" fmla="*/ 1 w 36"/>
                <a:gd name="T17" fmla="*/ 12 h 33"/>
                <a:gd name="T18" fmla="*/ 1 w 36"/>
                <a:gd name="T19" fmla="*/ 15 h 33"/>
                <a:gd name="T20" fmla="*/ 0 w 36"/>
                <a:gd name="T21" fmla="*/ 17 h 33"/>
                <a:gd name="T22" fmla="*/ 1 w 36"/>
                <a:gd name="T23" fmla="*/ 18 h 33"/>
                <a:gd name="T24" fmla="*/ 1 w 36"/>
                <a:gd name="T25" fmla="*/ 20 h 33"/>
                <a:gd name="T26" fmla="*/ 2 w 36"/>
                <a:gd name="T27" fmla="*/ 24 h 33"/>
                <a:gd name="T28" fmla="*/ 3 w 36"/>
                <a:gd name="T29" fmla="*/ 25 h 33"/>
                <a:gd name="T30" fmla="*/ 5 w 36"/>
                <a:gd name="T31" fmla="*/ 27 h 33"/>
                <a:gd name="T32" fmla="*/ 6 w 36"/>
                <a:gd name="T33" fmla="*/ 28 h 33"/>
                <a:gd name="T34" fmla="*/ 9 w 36"/>
                <a:gd name="T35" fmla="*/ 30 h 33"/>
                <a:gd name="T36" fmla="*/ 11 w 36"/>
                <a:gd name="T37" fmla="*/ 31 h 33"/>
                <a:gd name="T38" fmla="*/ 13 w 36"/>
                <a:gd name="T39" fmla="*/ 32 h 33"/>
                <a:gd name="T40" fmla="*/ 16 w 36"/>
                <a:gd name="T41" fmla="*/ 32 h 33"/>
                <a:gd name="T42" fmla="*/ 19 w 36"/>
                <a:gd name="T43" fmla="*/ 32 h 33"/>
                <a:gd name="T44" fmla="*/ 21 w 36"/>
                <a:gd name="T45" fmla="*/ 32 h 33"/>
                <a:gd name="T46" fmla="*/ 23 w 36"/>
                <a:gd name="T47" fmla="*/ 31 h 33"/>
                <a:gd name="T48" fmla="*/ 25 w 36"/>
                <a:gd name="T49" fmla="*/ 30 h 33"/>
                <a:gd name="T50" fmla="*/ 27 w 36"/>
                <a:gd name="T51" fmla="*/ 28 h 33"/>
                <a:gd name="T52" fmla="*/ 30 w 36"/>
                <a:gd name="T53" fmla="*/ 27 h 33"/>
                <a:gd name="T54" fmla="*/ 30 w 36"/>
                <a:gd name="T55" fmla="*/ 25 h 33"/>
                <a:gd name="T56" fmla="*/ 32 w 36"/>
                <a:gd name="T57" fmla="*/ 24 h 33"/>
                <a:gd name="T58" fmla="*/ 33 w 36"/>
                <a:gd name="T59" fmla="*/ 20 h 33"/>
                <a:gd name="T60" fmla="*/ 33 w 36"/>
                <a:gd name="T61" fmla="*/ 18 h 33"/>
                <a:gd name="T62" fmla="*/ 35 w 36"/>
                <a:gd name="T63" fmla="*/ 17 h 33"/>
                <a:gd name="T64" fmla="*/ 33 w 36"/>
                <a:gd name="T65" fmla="*/ 15 h 33"/>
                <a:gd name="T66" fmla="*/ 33 w 36"/>
                <a:gd name="T67" fmla="*/ 12 h 33"/>
                <a:gd name="T68" fmla="*/ 32 w 36"/>
                <a:gd name="T69" fmla="*/ 10 h 33"/>
                <a:gd name="T70" fmla="*/ 30 w 36"/>
                <a:gd name="T71" fmla="*/ 8 h 33"/>
                <a:gd name="T72" fmla="*/ 30 w 36"/>
                <a:gd name="T73" fmla="*/ 6 h 33"/>
                <a:gd name="T74" fmla="*/ 27 w 36"/>
                <a:gd name="T75" fmla="*/ 5 h 33"/>
                <a:gd name="T76" fmla="*/ 25 w 36"/>
                <a:gd name="T77" fmla="*/ 2 h 33"/>
                <a:gd name="T78" fmla="*/ 23 w 36"/>
                <a:gd name="T79" fmla="*/ 2 h 33"/>
                <a:gd name="T80" fmla="*/ 21 w 36"/>
                <a:gd name="T81" fmla="*/ 0 h 33"/>
                <a:gd name="T82" fmla="*/ 19 w 36"/>
                <a:gd name="T8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6" h="33">
                  <a:moveTo>
                    <a:pt x="17" y="0"/>
                  </a:moveTo>
                  <a:lnTo>
                    <a:pt x="16" y="0"/>
                  </a:lnTo>
                  <a:lnTo>
                    <a:pt x="15" y="0"/>
                  </a:lnTo>
                  <a:lnTo>
                    <a:pt x="13" y="0"/>
                  </a:lnTo>
                  <a:lnTo>
                    <a:pt x="12" y="2"/>
                  </a:lnTo>
                  <a:lnTo>
                    <a:pt x="11" y="2"/>
                  </a:lnTo>
                  <a:lnTo>
                    <a:pt x="10" y="2"/>
                  </a:lnTo>
                  <a:lnTo>
                    <a:pt x="9" y="2"/>
                  </a:lnTo>
                  <a:lnTo>
                    <a:pt x="9" y="2"/>
                  </a:lnTo>
                  <a:lnTo>
                    <a:pt x="6" y="5"/>
                  </a:lnTo>
                  <a:lnTo>
                    <a:pt x="6" y="5"/>
                  </a:lnTo>
                  <a:lnTo>
                    <a:pt x="5" y="6"/>
                  </a:lnTo>
                  <a:lnTo>
                    <a:pt x="4" y="8"/>
                  </a:lnTo>
                  <a:lnTo>
                    <a:pt x="3" y="8"/>
                  </a:lnTo>
                  <a:lnTo>
                    <a:pt x="3" y="9"/>
                  </a:lnTo>
                  <a:lnTo>
                    <a:pt x="2" y="10"/>
                  </a:lnTo>
                  <a:lnTo>
                    <a:pt x="2" y="10"/>
                  </a:lnTo>
                  <a:lnTo>
                    <a:pt x="1" y="12"/>
                  </a:lnTo>
                  <a:lnTo>
                    <a:pt x="1" y="14"/>
                  </a:lnTo>
                  <a:lnTo>
                    <a:pt x="1" y="15"/>
                  </a:lnTo>
                  <a:lnTo>
                    <a:pt x="0" y="16"/>
                  </a:lnTo>
                  <a:lnTo>
                    <a:pt x="0" y="17"/>
                  </a:lnTo>
                  <a:lnTo>
                    <a:pt x="0" y="18"/>
                  </a:lnTo>
                  <a:lnTo>
                    <a:pt x="1" y="18"/>
                  </a:lnTo>
                  <a:lnTo>
                    <a:pt x="1" y="20"/>
                  </a:lnTo>
                  <a:lnTo>
                    <a:pt x="1" y="20"/>
                  </a:lnTo>
                  <a:lnTo>
                    <a:pt x="2" y="22"/>
                  </a:lnTo>
                  <a:lnTo>
                    <a:pt x="2" y="24"/>
                  </a:lnTo>
                  <a:lnTo>
                    <a:pt x="3" y="25"/>
                  </a:lnTo>
                  <a:lnTo>
                    <a:pt x="3" y="25"/>
                  </a:lnTo>
                  <a:lnTo>
                    <a:pt x="4" y="27"/>
                  </a:lnTo>
                  <a:lnTo>
                    <a:pt x="5" y="27"/>
                  </a:lnTo>
                  <a:lnTo>
                    <a:pt x="6" y="28"/>
                  </a:lnTo>
                  <a:lnTo>
                    <a:pt x="6" y="28"/>
                  </a:lnTo>
                  <a:lnTo>
                    <a:pt x="9" y="29"/>
                  </a:lnTo>
                  <a:lnTo>
                    <a:pt x="9" y="30"/>
                  </a:lnTo>
                  <a:lnTo>
                    <a:pt x="10" y="31"/>
                  </a:lnTo>
                  <a:lnTo>
                    <a:pt x="11" y="31"/>
                  </a:lnTo>
                  <a:lnTo>
                    <a:pt x="12" y="32"/>
                  </a:lnTo>
                  <a:lnTo>
                    <a:pt x="13" y="32"/>
                  </a:lnTo>
                  <a:lnTo>
                    <a:pt x="15" y="32"/>
                  </a:lnTo>
                  <a:lnTo>
                    <a:pt x="16" y="32"/>
                  </a:lnTo>
                  <a:lnTo>
                    <a:pt x="17" y="32"/>
                  </a:lnTo>
                  <a:lnTo>
                    <a:pt x="19" y="32"/>
                  </a:lnTo>
                  <a:lnTo>
                    <a:pt x="19" y="32"/>
                  </a:lnTo>
                  <a:lnTo>
                    <a:pt x="21" y="32"/>
                  </a:lnTo>
                  <a:lnTo>
                    <a:pt x="22" y="32"/>
                  </a:lnTo>
                  <a:lnTo>
                    <a:pt x="23" y="31"/>
                  </a:lnTo>
                  <a:lnTo>
                    <a:pt x="25" y="31"/>
                  </a:lnTo>
                  <a:lnTo>
                    <a:pt x="25" y="30"/>
                  </a:lnTo>
                  <a:lnTo>
                    <a:pt x="27" y="29"/>
                  </a:lnTo>
                  <a:lnTo>
                    <a:pt x="27" y="28"/>
                  </a:lnTo>
                  <a:lnTo>
                    <a:pt x="28" y="28"/>
                  </a:lnTo>
                  <a:lnTo>
                    <a:pt x="30" y="27"/>
                  </a:lnTo>
                  <a:lnTo>
                    <a:pt x="30" y="27"/>
                  </a:lnTo>
                  <a:lnTo>
                    <a:pt x="30" y="25"/>
                  </a:lnTo>
                  <a:lnTo>
                    <a:pt x="31" y="25"/>
                  </a:lnTo>
                  <a:lnTo>
                    <a:pt x="32" y="24"/>
                  </a:lnTo>
                  <a:lnTo>
                    <a:pt x="33" y="22"/>
                  </a:lnTo>
                  <a:lnTo>
                    <a:pt x="33" y="20"/>
                  </a:lnTo>
                  <a:lnTo>
                    <a:pt x="33" y="20"/>
                  </a:lnTo>
                  <a:lnTo>
                    <a:pt x="33" y="18"/>
                  </a:lnTo>
                  <a:lnTo>
                    <a:pt x="35" y="18"/>
                  </a:lnTo>
                  <a:lnTo>
                    <a:pt x="35" y="17"/>
                  </a:lnTo>
                  <a:lnTo>
                    <a:pt x="35" y="16"/>
                  </a:lnTo>
                  <a:lnTo>
                    <a:pt x="33" y="15"/>
                  </a:lnTo>
                  <a:lnTo>
                    <a:pt x="33" y="14"/>
                  </a:lnTo>
                  <a:lnTo>
                    <a:pt x="33" y="12"/>
                  </a:lnTo>
                  <a:lnTo>
                    <a:pt x="33" y="10"/>
                  </a:lnTo>
                  <a:lnTo>
                    <a:pt x="32" y="10"/>
                  </a:lnTo>
                  <a:lnTo>
                    <a:pt x="31" y="9"/>
                  </a:lnTo>
                  <a:lnTo>
                    <a:pt x="30" y="8"/>
                  </a:lnTo>
                  <a:lnTo>
                    <a:pt x="30" y="8"/>
                  </a:lnTo>
                  <a:lnTo>
                    <a:pt x="30" y="6"/>
                  </a:lnTo>
                  <a:lnTo>
                    <a:pt x="28" y="5"/>
                  </a:lnTo>
                  <a:lnTo>
                    <a:pt x="27" y="5"/>
                  </a:lnTo>
                  <a:lnTo>
                    <a:pt x="27" y="2"/>
                  </a:lnTo>
                  <a:lnTo>
                    <a:pt x="25" y="2"/>
                  </a:lnTo>
                  <a:lnTo>
                    <a:pt x="25" y="2"/>
                  </a:lnTo>
                  <a:lnTo>
                    <a:pt x="23" y="2"/>
                  </a:lnTo>
                  <a:lnTo>
                    <a:pt x="22" y="2"/>
                  </a:lnTo>
                  <a:lnTo>
                    <a:pt x="21" y="0"/>
                  </a:lnTo>
                  <a:lnTo>
                    <a:pt x="19" y="0"/>
                  </a:lnTo>
                  <a:lnTo>
                    <a:pt x="19" y="0"/>
                  </a:lnTo>
                  <a:lnTo>
                    <a:pt x="17"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1" name="Text Box 36"/>
            <p:cNvSpPr txBox="1">
              <a:spLocks noChangeArrowheads="1"/>
            </p:cNvSpPr>
            <p:nvPr/>
          </p:nvSpPr>
          <p:spPr bwMode="auto">
            <a:xfrm>
              <a:off x="3886201" y="2584451"/>
              <a:ext cx="168275" cy="16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647700" indent="-238125" defTabSz="409575">
                <a:defRPr>
                  <a:solidFill>
                    <a:schemeClr val="tx1"/>
                  </a:solidFill>
                  <a:latin typeface="Arial" panose="020B0604020202020204" pitchFamily="34" charset="0"/>
                  <a:ea typeface="宋体" panose="02010600030101010101" pitchFamily="2" charset="-122"/>
                </a:defRPr>
              </a:lvl2pPr>
              <a:lvl3pPr marL="1108075" indent="-2873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0" hangingPunct="0">
                <a:lnSpc>
                  <a:spcPct val="150000"/>
                </a:lnSpc>
                <a:buClr>
                  <a:srgbClr val="000000"/>
                </a:buClr>
                <a:buSzPct val="90000"/>
                <a:buFont typeface="Monotype Sorts" pitchFamily="2" charset="2"/>
                <a:buNone/>
              </a:pPr>
              <a:r>
                <a:rPr lang="en-US" altLang="zh-CN" sz="1000">
                  <a:solidFill>
                    <a:srgbClr val="FF0000"/>
                  </a:solidFill>
                  <a:latin typeface="微软雅黑" panose="020B0503020204020204" pitchFamily="34" charset="-122"/>
                  <a:ea typeface="微软雅黑" panose="020B0503020204020204" pitchFamily="34" charset="-122"/>
                </a:rPr>
                <a:t>R1</a:t>
              </a:r>
              <a:endParaRPr lang="en-US" altLang="zh-CN" sz="2200">
                <a:latin typeface="微软雅黑" panose="020B0503020204020204" pitchFamily="34" charset="-122"/>
                <a:ea typeface="微软雅黑" panose="020B0503020204020204" pitchFamily="34" charset="-122"/>
              </a:endParaRPr>
            </a:p>
          </p:txBody>
        </p:sp>
        <p:grpSp>
          <p:nvGrpSpPr>
            <p:cNvPr id="22" name="Group 37"/>
            <p:cNvGrpSpPr>
              <a:grpSpLocks/>
            </p:cNvGrpSpPr>
            <p:nvPr/>
          </p:nvGrpSpPr>
          <p:grpSpPr bwMode="auto">
            <a:xfrm>
              <a:off x="5018089" y="3460750"/>
              <a:ext cx="103187" cy="236538"/>
              <a:chOff x="4944" y="3504"/>
              <a:chExt cx="92" cy="194"/>
            </a:xfrm>
          </p:grpSpPr>
          <p:sp>
            <p:nvSpPr>
              <p:cNvPr id="109" name="Freeform 38"/>
              <p:cNvSpPr>
                <a:spLocks/>
              </p:cNvSpPr>
              <p:nvPr/>
            </p:nvSpPr>
            <p:spPr bwMode="auto">
              <a:xfrm>
                <a:off x="4960" y="3655"/>
                <a:ext cx="43" cy="43"/>
              </a:xfrm>
              <a:custGeom>
                <a:avLst/>
                <a:gdLst>
                  <a:gd name="T0" fmla="*/ 14 w 33"/>
                  <a:gd name="T1" fmla="*/ 0 h 34"/>
                  <a:gd name="T2" fmla="*/ 13 w 33"/>
                  <a:gd name="T3" fmla="*/ 1 h 34"/>
                  <a:gd name="T4" fmla="*/ 10 w 33"/>
                  <a:gd name="T5" fmla="*/ 1 h 34"/>
                  <a:gd name="T6" fmla="*/ 6 w 33"/>
                  <a:gd name="T7" fmla="*/ 2 h 34"/>
                  <a:gd name="T8" fmla="*/ 5 w 33"/>
                  <a:gd name="T9" fmla="*/ 5 h 34"/>
                  <a:gd name="T10" fmla="*/ 3 w 33"/>
                  <a:gd name="T11" fmla="*/ 6 h 34"/>
                  <a:gd name="T12" fmla="*/ 2 w 33"/>
                  <a:gd name="T13" fmla="*/ 7 h 34"/>
                  <a:gd name="T14" fmla="*/ 0 w 33"/>
                  <a:gd name="T15" fmla="*/ 9 h 34"/>
                  <a:gd name="T16" fmla="*/ 0 w 33"/>
                  <a:gd name="T17" fmla="*/ 11 h 34"/>
                  <a:gd name="T18" fmla="*/ 0 w 33"/>
                  <a:gd name="T19" fmla="*/ 13 h 34"/>
                  <a:gd name="T20" fmla="*/ 0 w 33"/>
                  <a:gd name="T21" fmla="*/ 16 h 34"/>
                  <a:gd name="T22" fmla="*/ 0 w 33"/>
                  <a:gd name="T23" fmla="*/ 18 h 34"/>
                  <a:gd name="T24" fmla="*/ 0 w 33"/>
                  <a:gd name="T25" fmla="*/ 21 h 34"/>
                  <a:gd name="T26" fmla="*/ 0 w 33"/>
                  <a:gd name="T27" fmla="*/ 23 h 34"/>
                  <a:gd name="T28" fmla="*/ 2 w 33"/>
                  <a:gd name="T29" fmla="*/ 24 h 34"/>
                  <a:gd name="T30" fmla="*/ 3 w 33"/>
                  <a:gd name="T31" fmla="*/ 27 h 34"/>
                  <a:gd name="T32" fmla="*/ 5 w 33"/>
                  <a:gd name="T33" fmla="*/ 27 h 34"/>
                  <a:gd name="T34" fmla="*/ 6 w 33"/>
                  <a:gd name="T35" fmla="*/ 29 h 34"/>
                  <a:gd name="T36" fmla="*/ 10 w 33"/>
                  <a:gd name="T37" fmla="*/ 31 h 34"/>
                  <a:gd name="T38" fmla="*/ 13 w 33"/>
                  <a:gd name="T39" fmla="*/ 31 h 34"/>
                  <a:gd name="T40" fmla="*/ 14 w 33"/>
                  <a:gd name="T41" fmla="*/ 31 h 34"/>
                  <a:gd name="T42" fmla="*/ 18 w 33"/>
                  <a:gd name="T43" fmla="*/ 31 h 34"/>
                  <a:gd name="T44" fmla="*/ 20 w 33"/>
                  <a:gd name="T45" fmla="*/ 31 h 34"/>
                  <a:gd name="T46" fmla="*/ 22 w 33"/>
                  <a:gd name="T47" fmla="*/ 31 h 34"/>
                  <a:gd name="T48" fmla="*/ 24 w 33"/>
                  <a:gd name="T49" fmla="*/ 29 h 34"/>
                  <a:gd name="T50" fmla="*/ 26 w 33"/>
                  <a:gd name="T51" fmla="*/ 27 h 34"/>
                  <a:gd name="T52" fmla="*/ 28 w 33"/>
                  <a:gd name="T53" fmla="*/ 27 h 34"/>
                  <a:gd name="T54" fmla="*/ 30 w 33"/>
                  <a:gd name="T55" fmla="*/ 24 h 34"/>
                  <a:gd name="T56" fmla="*/ 31 w 33"/>
                  <a:gd name="T57" fmla="*/ 23 h 34"/>
                  <a:gd name="T58" fmla="*/ 32 w 33"/>
                  <a:gd name="T59" fmla="*/ 21 h 34"/>
                  <a:gd name="T60" fmla="*/ 32 w 33"/>
                  <a:gd name="T61" fmla="*/ 18 h 34"/>
                  <a:gd name="T62" fmla="*/ 32 w 33"/>
                  <a:gd name="T63" fmla="*/ 16 h 34"/>
                  <a:gd name="T64" fmla="*/ 32 w 33"/>
                  <a:gd name="T65" fmla="*/ 13 h 34"/>
                  <a:gd name="T66" fmla="*/ 32 w 33"/>
                  <a:gd name="T67" fmla="*/ 11 h 34"/>
                  <a:gd name="T68" fmla="*/ 31 w 33"/>
                  <a:gd name="T69" fmla="*/ 9 h 34"/>
                  <a:gd name="T70" fmla="*/ 30 w 33"/>
                  <a:gd name="T71" fmla="*/ 7 h 34"/>
                  <a:gd name="T72" fmla="*/ 28 w 33"/>
                  <a:gd name="T73" fmla="*/ 6 h 34"/>
                  <a:gd name="T74" fmla="*/ 26 w 33"/>
                  <a:gd name="T75" fmla="*/ 5 h 34"/>
                  <a:gd name="T76" fmla="*/ 24 w 33"/>
                  <a:gd name="T77" fmla="*/ 2 h 34"/>
                  <a:gd name="T78" fmla="*/ 22 w 33"/>
                  <a:gd name="T79" fmla="*/ 1 h 34"/>
                  <a:gd name="T80" fmla="*/ 20 w 33"/>
                  <a:gd name="T81" fmla="*/ 1 h 34"/>
                  <a:gd name="T82" fmla="*/ 18 w 33"/>
                  <a:gd name="T8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3" h="34">
                    <a:moveTo>
                      <a:pt x="16" y="0"/>
                    </a:moveTo>
                    <a:lnTo>
                      <a:pt x="14" y="0"/>
                    </a:lnTo>
                    <a:lnTo>
                      <a:pt x="13" y="1"/>
                    </a:lnTo>
                    <a:lnTo>
                      <a:pt x="13" y="1"/>
                    </a:lnTo>
                    <a:lnTo>
                      <a:pt x="11" y="1"/>
                    </a:lnTo>
                    <a:lnTo>
                      <a:pt x="10" y="1"/>
                    </a:lnTo>
                    <a:lnTo>
                      <a:pt x="8" y="1"/>
                    </a:lnTo>
                    <a:lnTo>
                      <a:pt x="6" y="2"/>
                    </a:lnTo>
                    <a:lnTo>
                      <a:pt x="6" y="2"/>
                    </a:lnTo>
                    <a:lnTo>
                      <a:pt x="5" y="5"/>
                    </a:lnTo>
                    <a:lnTo>
                      <a:pt x="4" y="5"/>
                    </a:lnTo>
                    <a:lnTo>
                      <a:pt x="3" y="6"/>
                    </a:lnTo>
                    <a:lnTo>
                      <a:pt x="3" y="6"/>
                    </a:lnTo>
                    <a:lnTo>
                      <a:pt x="2" y="7"/>
                    </a:lnTo>
                    <a:lnTo>
                      <a:pt x="0" y="8"/>
                    </a:lnTo>
                    <a:lnTo>
                      <a:pt x="0" y="9"/>
                    </a:lnTo>
                    <a:lnTo>
                      <a:pt x="0" y="10"/>
                    </a:lnTo>
                    <a:lnTo>
                      <a:pt x="0" y="11"/>
                    </a:lnTo>
                    <a:lnTo>
                      <a:pt x="0" y="13"/>
                    </a:lnTo>
                    <a:lnTo>
                      <a:pt x="0" y="13"/>
                    </a:lnTo>
                    <a:lnTo>
                      <a:pt x="0" y="15"/>
                    </a:lnTo>
                    <a:lnTo>
                      <a:pt x="0" y="16"/>
                    </a:lnTo>
                    <a:lnTo>
                      <a:pt x="0" y="17"/>
                    </a:lnTo>
                    <a:lnTo>
                      <a:pt x="0" y="18"/>
                    </a:lnTo>
                    <a:lnTo>
                      <a:pt x="0" y="18"/>
                    </a:lnTo>
                    <a:lnTo>
                      <a:pt x="0" y="21"/>
                    </a:lnTo>
                    <a:lnTo>
                      <a:pt x="0" y="21"/>
                    </a:lnTo>
                    <a:lnTo>
                      <a:pt x="0" y="23"/>
                    </a:lnTo>
                    <a:lnTo>
                      <a:pt x="0" y="23"/>
                    </a:lnTo>
                    <a:lnTo>
                      <a:pt x="2" y="24"/>
                    </a:lnTo>
                    <a:lnTo>
                      <a:pt x="3" y="26"/>
                    </a:lnTo>
                    <a:lnTo>
                      <a:pt x="3" y="27"/>
                    </a:lnTo>
                    <a:lnTo>
                      <a:pt x="4" y="27"/>
                    </a:lnTo>
                    <a:lnTo>
                      <a:pt x="5" y="27"/>
                    </a:lnTo>
                    <a:lnTo>
                      <a:pt x="6" y="29"/>
                    </a:lnTo>
                    <a:lnTo>
                      <a:pt x="6" y="29"/>
                    </a:lnTo>
                    <a:lnTo>
                      <a:pt x="8" y="29"/>
                    </a:lnTo>
                    <a:lnTo>
                      <a:pt x="10" y="31"/>
                    </a:lnTo>
                    <a:lnTo>
                      <a:pt x="11" y="31"/>
                    </a:lnTo>
                    <a:lnTo>
                      <a:pt x="13" y="31"/>
                    </a:lnTo>
                    <a:lnTo>
                      <a:pt x="13" y="31"/>
                    </a:lnTo>
                    <a:lnTo>
                      <a:pt x="14" y="31"/>
                    </a:lnTo>
                    <a:lnTo>
                      <a:pt x="16" y="33"/>
                    </a:lnTo>
                    <a:lnTo>
                      <a:pt x="18" y="31"/>
                    </a:lnTo>
                    <a:lnTo>
                      <a:pt x="19" y="31"/>
                    </a:lnTo>
                    <a:lnTo>
                      <a:pt x="20" y="31"/>
                    </a:lnTo>
                    <a:lnTo>
                      <a:pt x="21" y="31"/>
                    </a:lnTo>
                    <a:lnTo>
                      <a:pt x="22" y="31"/>
                    </a:lnTo>
                    <a:lnTo>
                      <a:pt x="23" y="29"/>
                    </a:lnTo>
                    <a:lnTo>
                      <a:pt x="24" y="29"/>
                    </a:lnTo>
                    <a:lnTo>
                      <a:pt x="26" y="29"/>
                    </a:lnTo>
                    <a:lnTo>
                      <a:pt x="26" y="27"/>
                    </a:lnTo>
                    <a:lnTo>
                      <a:pt x="26" y="27"/>
                    </a:lnTo>
                    <a:lnTo>
                      <a:pt x="28" y="27"/>
                    </a:lnTo>
                    <a:lnTo>
                      <a:pt x="29" y="26"/>
                    </a:lnTo>
                    <a:lnTo>
                      <a:pt x="30" y="24"/>
                    </a:lnTo>
                    <a:lnTo>
                      <a:pt x="30" y="23"/>
                    </a:lnTo>
                    <a:lnTo>
                      <a:pt x="31" y="23"/>
                    </a:lnTo>
                    <a:lnTo>
                      <a:pt x="31" y="21"/>
                    </a:lnTo>
                    <a:lnTo>
                      <a:pt x="32" y="21"/>
                    </a:lnTo>
                    <a:lnTo>
                      <a:pt x="32" y="18"/>
                    </a:lnTo>
                    <a:lnTo>
                      <a:pt x="32" y="18"/>
                    </a:lnTo>
                    <a:lnTo>
                      <a:pt x="32" y="17"/>
                    </a:lnTo>
                    <a:lnTo>
                      <a:pt x="32" y="16"/>
                    </a:lnTo>
                    <a:lnTo>
                      <a:pt x="32" y="15"/>
                    </a:lnTo>
                    <a:lnTo>
                      <a:pt x="32" y="13"/>
                    </a:lnTo>
                    <a:lnTo>
                      <a:pt x="32" y="13"/>
                    </a:lnTo>
                    <a:lnTo>
                      <a:pt x="32" y="11"/>
                    </a:lnTo>
                    <a:lnTo>
                      <a:pt x="31" y="10"/>
                    </a:lnTo>
                    <a:lnTo>
                      <a:pt x="31" y="9"/>
                    </a:lnTo>
                    <a:lnTo>
                      <a:pt x="30" y="8"/>
                    </a:lnTo>
                    <a:lnTo>
                      <a:pt x="30" y="7"/>
                    </a:lnTo>
                    <a:lnTo>
                      <a:pt x="29" y="6"/>
                    </a:lnTo>
                    <a:lnTo>
                      <a:pt x="28" y="6"/>
                    </a:lnTo>
                    <a:lnTo>
                      <a:pt x="26" y="5"/>
                    </a:lnTo>
                    <a:lnTo>
                      <a:pt x="26" y="5"/>
                    </a:lnTo>
                    <a:lnTo>
                      <a:pt x="26" y="2"/>
                    </a:lnTo>
                    <a:lnTo>
                      <a:pt x="24" y="2"/>
                    </a:lnTo>
                    <a:lnTo>
                      <a:pt x="23" y="1"/>
                    </a:lnTo>
                    <a:lnTo>
                      <a:pt x="22" y="1"/>
                    </a:lnTo>
                    <a:lnTo>
                      <a:pt x="21" y="1"/>
                    </a:lnTo>
                    <a:lnTo>
                      <a:pt x="20" y="1"/>
                    </a:lnTo>
                    <a:lnTo>
                      <a:pt x="19" y="1"/>
                    </a:lnTo>
                    <a:lnTo>
                      <a:pt x="18" y="0"/>
                    </a:lnTo>
                    <a:lnTo>
                      <a:pt x="16"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0" name="Text Box 39"/>
              <p:cNvSpPr txBox="1">
                <a:spLocks noChangeArrowheads="1"/>
              </p:cNvSpPr>
              <p:nvPr/>
            </p:nvSpPr>
            <p:spPr bwMode="auto">
              <a:xfrm>
                <a:off x="4944" y="3504"/>
                <a:ext cx="92"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647700" indent="-238125" defTabSz="409575">
                  <a:defRPr>
                    <a:solidFill>
                      <a:schemeClr val="tx1"/>
                    </a:solidFill>
                    <a:latin typeface="Arial" panose="020B0604020202020204" pitchFamily="34" charset="0"/>
                    <a:ea typeface="宋体" panose="02010600030101010101" pitchFamily="2" charset="-122"/>
                  </a:defRPr>
                </a:lvl2pPr>
                <a:lvl3pPr marL="1108075" indent="-2873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000">
                    <a:solidFill>
                      <a:srgbClr val="0000FF"/>
                    </a:solidFill>
                    <a:latin typeface="微软雅黑" panose="020B0503020204020204" pitchFamily="34" charset="-122"/>
                    <a:ea typeface="微软雅黑" panose="020B0503020204020204" pitchFamily="34" charset="-122"/>
                  </a:rPr>
                  <a:t>A</a:t>
                </a:r>
                <a:endParaRPr lang="en-US" altLang="zh-CN" sz="2200">
                  <a:latin typeface="微软雅黑" panose="020B0503020204020204" pitchFamily="34" charset="-122"/>
                  <a:ea typeface="微软雅黑" panose="020B0503020204020204" pitchFamily="34" charset="-122"/>
                </a:endParaRPr>
              </a:p>
            </p:txBody>
          </p:sp>
        </p:grpSp>
        <p:sp>
          <p:nvSpPr>
            <p:cNvPr id="23" name="Freeform 40"/>
            <p:cNvSpPr>
              <a:spLocks/>
            </p:cNvSpPr>
            <p:nvPr/>
          </p:nvSpPr>
          <p:spPr bwMode="auto">
            <a:xfrm>
              <a:off x="4048125" y="2525713"/>
              <a:ext cx="1238250" cy="684212"/>
            </a:xfrm>
            <a:custGeom>
              <a:avLst/>
              <a:gdLst>
                <a:gd name="T0" fmla="*/ 117 w 118"/>
                <a:gd name="T1" fmla="*/ 0 h 215"/>
                <a:gd name="T2" fmla="*/ 117 w 118"/>
                <a:gd name="T3" fmla="*/ 214 h 215"/>
                <a:gd name="T4" fmla="*/ 0 w 118"/>
                <a:gd name="T5" fmla="*/ 214 h 215"/>
              </a:gdLst>
              <a:ahLst/>
              <a:cxnLst>
                <a:cxn ang="0">
                  <a:pos x="T0" y="T1"/>
                </a:cxn>
                <a:cxn ang="0">
                  <a:pos x="T2" y="T3"/>
                </a:cxn>
                <a:cxn ang="0">
                  <a:pos x="T4" y="T5"/>
                </a:cxn>
              </a:cxnLst>
              <a:rect l="0" t="0" r="r" b="b"/>
              <a:pathLst>
                <a:path w="118" h="215">
                  <a:moveTo>
                    <a:pt x="117" y="0"/>
                  </a:moveTo>
                  <a:lnTo>
                    <a:pt x="117" y="214"/>
                  </a:lnTo>
                  <a:lnTo>
                    <a:pt x="0" y="214"/>
                  </a:lnTo>
                </a:path>
              </a:pathLst>
            </a:custGeom>
            <a:noFill/>
            <a:ln w="254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4" name="Freeform 41"/>
            <p:cNvSpPr>
              <a:spLocks/>
            </p:cNvSpPr>
            <p:nvPr/>
          </p:nvSpPr>
          <p:spPr bwMode="auto">
            <a:xfrm>
              <a:off x="3400426" y="3209926"/>
              <a:ext cx="677863" cy="1128713"/>
            </a:xfrm>
            <a:custGeom>
              <a:avLst/>
              <a:gdLst>
                <a:gd name="T0" fmla="*/ 455 w 456"/>
                <a:gd name="T1" fmla="*/ 0 h 628"/>
                <a:gd name="T2" fmla="*/ 0 w 456"/>
                <a:gd name="T3" fmla="*/ 0 h 628"/>
                <a:gd name="T4" fmla="*/ 0 w 456"/>
                <a:gd name="T5" fmla="*/ 627 h 628"/>
              </a:gdLst>
              <a:ahLst/>
              <a:cxnLst>
                <a:cxn ang="0">
                  <a:pos x="T0" y="T1"/>
                </a:cxn>
                <a:cxn ang="0">
                  <a:pos x="T2" y="T3"/>
                </a:cxn>
                <a:cxn ang="0">
                  <a:pos x="T4" y="T5"/>
                </a:cxn>
              </a:cxnLst>
              <a:rect l="0" t="0" r="r" b="b"/>
              <a:pathLst>
                <a:path w="456" h="628">
                  <a:moveTo>
                    <a:pt x="455" y="0"/>
                  </a:moveTo>
                  <a:lnTo>
                    <a:pt x="0" y="0"/>
                  </a:lnTo>
                  <a:lnTo>
                    <a:pt x="0" y="627"/>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nvGrpSpPr>
            <p:cNvPr id="25" name="Group 42"/>
            <p:cNvGrpSpPr>
              <a:grpSpLocks/>
            </p:cNvGrpSpPr>
            <p:nvPr/>
          </p:nvGrpSpPr>
          <p:grpSpPr bwMode="auto">
            <a:xfrm>
              <a:off x="4424363" y="3051175"/>
              <a:ext cx="400050" cy="317500"/>
              <a:chOff x="3600" y="1440"/>
              <a:chExt cx="356" cy="260"/>
            </a:xfrm>
          </p:grpSpPr>
          <p:sp>
            <p:nvSpPr>
              <p:cNvPr id="102" name="AutoShape 43" descr="50%"/>
              <p:cNvSpPr>
                <a:spLocks noChangeArrowheads="1"/>
              </p:cNvSpPr>
              <p:nvPr/>
            </p:nvSpPr>
            <p:spPr bwMode="auto">
              <a:xfrm flipV="1">
                <a:off x="3600" y="1440"/>
                <a:ext cx="356" cy="260"/>
              </a:xfrm>
              <a:prstGeom prst="roundRect">
                <a:avLst>
                  <a:gd name="adj" fmla="val 0"/>
                </a:avLst>
              </a:prstGeom>
              <a:pattFill prst="pct50">
                <a:fgClr>
                  <a:srgbClr val="C0E1FF"/>
                </a:fgClr>
                <a:bgClr>
                  <a:srgbClr val="FFFFFF"/>
                </a:bgClr>
              </a:pattFill>
              <a:ln w="1905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3" name="Freeform 44"/>
              <p:cNvSpPr>
                <a:spLocks/>
              </p:cNvSpPr>
              <p:nvPr/>
            </p:nvSpPr>
            <p:spPr bwMode="auto">
              <a:xfrm>
                <a:off x="3669" y="1537"/>
                <a:ext cx="281" cy="88"/>
              </a:xfrm>
              <a:custGeom>
                <a:avLst/>
                <a:gdLst>
                  <a:gd name="T0" fmla="*/ 0 w 212"/>
                  <a:gd name="T1" fmla="*/ 68 h 69"/>
                  <a:gd name="T2" fmla="*/ 32 w 212"/>
                  <a:gd name="T3" fmla="*/ 0 h 69"/>
                  <a:gd name="T4" fmla="*/ 65 w 212"/>
                  <a:gd name="T5" fmla="*/ 68 h 69"/>
                  <a:gd name="T6" fmla="*/ 99 w 212"/>
                  <a:gd name="T7" fmla="*/ 3 h 69"/>
                  <a:gd name="T8" fmla="*/ 129 w 212"/>
                  <a:gd name="T9" fmla="*/ 68 h 69"/>
                  <a:gd name="T10" fmla="*/ 158 w 212"/>
                  <a:gd name="T11" fmla="*/ 1 h 69"/>
                  <a:gd name="T12" fmla="*/ 174 w 212"/>
                  <a:gd name="T13" fmla="*/ 38 h 69"/>
                  <a:gd name="T14" fmla="*/ 211 w 212"/>
                  <a:gd name="T15" fmla="*/ 38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2" h="69">
                    <a:moveTo>
                      <a:pt x="0" y="68"/>
                    </a:moveTo>
                    <a:lnTo>
                      <a:pt x="32" y="0"/>
                    </a:lnTo>
                    <a:lnTo>
                      <a:pt x="65" y="68"/>
                    </a:lnTo>
                    <a:lnTo>
                      <a:pt x="99" y="3"/>
                    </a:lnTo>
                    <a:lnTo>
                      <a:pt x="129" y="68"/>
                    </a:lnTo>
                    <a:lnTo>
                      <a:pt x="158" y="1"/>
                    </a:lnTo>
                    <a:lnTo>
                      <a:pt x="174" y="38"/>
                    </a:lnTo>
                    <a:lnTo>
                      <a:pt x="211" y="38"/>
                    </a:lnTo>
                  </a:path>
                </a:pathLst>
              </a:custGeom>
              <a:noFill/>
              <a:ln w="1905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4" name="Line 45"/>
              <p:cNvSpPr>
                <a:spLocks noChangeShapeType="1"/>
              </p:cNvSpPr>
              <p:nvPr/>
            </p:nvSpPr>
            <p:spPr bwMode="auto">
              <a:xfrm flipH="1" flipV="1">
                <a:off x="3652" y="1585"/>
                <a:ext cx="11" cy="39"/>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5" name="Line 46"/>
              <p:cNvSpPr>
                <a:spLocks noChangeShapeType="1"/>
              </p:cNvSpPr>
              <p:nvPr/>
            </p:nvSpPr>
            <p:spPr bwMode="auto">
              <a:xfrm flipH="1">
                <a:off x="3600" y="1585"/>
                <a:ext cx="48"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nvGrpSpPr>
              <p:cNvPr id="106" name="Group 47"/>
              <p:cNvGrpSpPr>
                <a:grpSpLocks/>
              </p:cNvGrpSpPr>
              <p:nvPr/>
            </p:nvGrpSpPr>
            <p:grpSpPr bwMode="auto">
              <a:xfrm>
                <a:off x="3677" y="1464"/>
                <a:ext cx="211" cy="211"/>
                <a:chOff x="4944" y="1716"/>
                <a:chExt cx="159" cy="164"/>
              </a:xfrm>
            </p:grpSpPr>
            <p:sp>
              <p:nvSpPr>
                <p:cNvPr id="107" name="Line 48"/>
                <p:cNvSpPr>
                  <a:spLocks noChangeShapeType="1"/>
                </p:cNvSpPr>
                <p:nvPr/>
              </p:nvSpPr>
              <p:spPr bwMode="auto">
                <a:xfrm flipV="1">
                  <a:off x="4944" y="1753"/>
                  <a:ext cx="125" cy="12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8" name="Freeform 49"/>
                <p:cNvSpPr>
                  <a:spLocks/>
                </p:cNvSpPr>
                <p:nvPr/>
              </p:nvSpPr>
              <p:spPr bwMode="auto">
                <a:xfrm>
                  <a:off x="5062" y="1716"/>
                  <a:ext cx="41" cy="44"/>
                </a:xfrm>
                <a:custGeom>
                  <a:avLst/>
                  <a:gdLst>
                    <a:gd name="T0" fmla="*/ 0 w 41"/>
                    <a:gd name="T1" fmla="*/ 29 h 44"/>
                    <a:gd name="T2" fmla="*/ 14 w 41"/>
                    <a:gd name="T3" fmla="*/ 43 h 44"/>
                    <a:gd name="T4" fmla="*/ 40 w 41"/>
                    <a:gd name="T5" fmla="*/ 0 h 44"/>
                    <a:gd name="T6" fmla="*/ 0 w 41"/>
                    <a:gd name="T7" fmla="*/ 29 h 44"/>
                    <a:gd name="T8" fmla="*/ 0 w 41"/>
                    <a:gd name="T9" fmla="*/ 29 h 44"/>
                  </a:gdLst>
                  <a:ahLst/>
                  <a:cxnLst>
                    <a:cxn ang="0">
                      <a:pos x="T0" y="T1"/>
                    </a:cxn>
                    <a:cxn ang="0">
                      <a:pos x="T2" y="T3"/>
                    </a:cxn>
                    <a:cxn ang="0">
                      <a:pos x="T4" y="T5"/>
                    </a:cxn>
                    <a:cxn ang="0">
                      <a:pos x="T6" y="T7"/>
                    </a:cxn>
                    <a:cxn ang="0">
                      <a:pos x="T8" y="T9"/>
                    </a:cxn>
                  </a:cxnLst>
                  <a:rect l="0" t="0" r="r" b="b"/>
                  <a:pathLst>
                    <a:path w="41" h="44">
                      <a:moveTo>
                        <a:pt x="0" y="29"/>
                      </a:moveTo>
                      <a:lnTo>
                        <a:pt x="14" y="43"/>
                      </a:lnTo>
                      <a:lnTo>
                        <a:pt x="40" y="0"/>
                      </a:lnTo>
                      <a:lnTo>
                        <a:pt x="0" y="29"/>
                      </a:lnTo>
                      <a:lnTo>
                        <a:pt x="0" y="29"/>
                      </a:lnTo>
                    </a:path>
                  </a:pathLst>
                </a:custGeom>
                <a:solidFill>
                  <a:srgbClr val="0000FF"/>
                </a:solidFill>
                <a:ln w="19050" cap="flat"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grpSp>
        <p:grpSp>
          <p:nvGrpSpPr>
            <p:cNvPr id="26" name="Group 50"/>
            <p:cNvGrpSpPr>
              <a:grpSpLocks/>
            </p:cNvGrpSpPr>
            <p:nvPr/>
          </p:nvGrpSpPr>
          <p:grpSpPr bwMode="auto">
            <a:xfrm>
              <a:off x="3830638" y="4338638"/>
              <a:ext cx="647700" cy="1212850"/>
              <a:chOff x="1488" y="2160"/>
              <a:chExt cx="576" cy="997"/>
            </a:xfrm>
          </p:grpSpPr>
          <p:sp>
            <p:nvSpPr>
              <p:cNvPr id="86" name="Text Box 51"/>
              <p:cNvSpPr txBox="1">
                <a:spLocks noChangeArrowheads="1"/>
              </p:cNvSpPr>
              <p:nvPr/>
            </p:nvSpPr>
            <p:spPr bwMode="auto">
              <a:xfrm>
                <a:off x="1488" y="2898"/>
                <a:ext cx="508"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647700" indent="-238125" defTabSz="409575">
                  <a:defRPr>
                    <a:solidFill>
                      <a:schemeClr val="tx1"/>
                    </a:solidFill>
                    <a:latin typeface="Arial" panose="020B0604020202020204" pitchFamily="34" charset="0"/>
                    <a:ea typeface="宋体" panose="02010600030101010101" pitchFamily="2" charset="-122"/>
                  </a:defRPr>
                </a:lvl2pPr>
                <a:lvl3pPr marL="1108075" indent="-2873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200" b="1">
                    <a:latin typeface="微软雅黑" panose="020B0503020204020204" pitchFamily="34" charset="-122"/>
                    <a:ea typeface="微软雅黑" panose="020B0503020204020204" pitchFamily="34" charset="-122"/>
                  </a:rPr>
                  <a:t>Port 1</a:t>
                </a:r>
              </a:p>
            </p:txBody>
          </p:sp>
          <p:sp>
            <p:nvSpPr>
              <p:cNvPr id="87" name="Freeform 52"/>
              <p:cNvSpPr>
                <a:spLocks/>
              </p:cNvSpPr>
              <p:nvPr/>
            </p:nvSpPr>
            <p:spPr bwMode="auto">
              <a:xfrm>
                <a:off x="1579" y="2804"/>
                <a:ext cx="83" cy="92"/>
              </a:xfrm>
              <a:custGeom>
                <a:avLst/>
                <a:gdLst>
                  <a:gd name="T0" fmla="*/ 0 w 63"/>
                  <a:gd name="T1" fmla="*/ 0 h 72"/>
                  <a:gd name="T2" fmla="*/ 62 w 63"/>
                  <a:gd name="T3" fmla="*/ 0 h 72"/>
                  <a:gd name="T4" fmla="*/ 62 w 63"/>
                  <a:gd name="T5" fmla="*/ 71 h 72"/>
                  <a:gd name="T6" fmla="*/ 0 w 63"/>
                  <a:gd name="T7" fmla="*/ 71 h 72"/>
                  <a:gd name="T8" fmla="*/ 0 w 63"/>
                  <a:gd name="T9" fmla="*/ 0 h 72"/>
                </a:gdLst>
                <a:ahLst/>
                <a:cxnLst>
                  <a:cxn ang="0">
                    <a:pos x="T0" y="T1"/>
                  </a:cxn>
                  <a:cxn ang="0">
                    <a:pos x="T2" y="T3"/>
                  </a:cxn>
                  <a:cxn ang="0">
                    <a:pos x="T4" y="T5"/>
                  </a:cxn>
                  <a:cxn ang="0">
                    <a:pos x="T6" y="T7"/>
                  </a:cxn>
                  <a:cxn ang="0">
                    <a:pos x="T8" y="T9"/>
                  </a:cxn>
                </a:cxnLst>
                <a:rect l="0" t="0" r="r" b="b"/>
                <a:pathLst>
                  <a:path w="63" h="72">
                    <a:moveTo>
                      <a:pt x="0" y="0"/>
                    </a:moveTo>
                    <a:lnTo>
                      <a:pt x="62" y="0"/>
                    </a:lnTo>
                    <a:lnTo>
                      <a:pt x="62" y="71"/>
                    </a:lnTo>
                    <a:lnTo>
                      <a:pt x="0" y="71"/>
                    </a:lnTo>
                    <a:lnTo>
                      <a:pt x="0"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8" name="AutoShape 53" descr="50%"/>
              <p:cNvSpPr>
                <a:spLocks noChangeArrowheads="1"/>
              </p:cNvSpPr>
              <p:nvPr/>
            </p:nvSpPr>
            <p:spPr bwMode="auto">
              <a:xfrm flipV="1">
                <a:off x="1536" y="2231"/>
                <a:ext cx="385" cy="560"/>
              </a:xfrm>
              <a:prstGeom prst="roundRect">
                <a:avLst>
                  <a:gd name="adj" fmla="val 0"/>
                </a:avLst>
              </a:prstGeom>
              <a:pattFill prst="pct50">
                <a:fgClr>
                  <a:srgbClr val="C0E1FF"/>
                </a:fgClr>
                <a:bgClr>
                  <a:srgbClr val="FFFFFF"/>
                </a:bgClr>
              </a:pattFill>
              <a:ln w="1905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9" name="Line 54"/>
              <p:cNvSpPr>
                <a:spLocks noChangeShapeType="1"/>
              </p:cNvSpPr>
              <p:nvPr/>
            </p:nvSpPr>
            <p:spPr bwMode="auto">
              <a:xfrm>
                <a:off x="1621" y="2160"/>
                <a:ext cx="0" cy="63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nvGrpSpPr>
              <p:cNvPr id="90" name="Group 55"/>
              <p:cNvGrpSpPr>
                <a:grpSpLocks/>
              </p:cNvGrpSpPr>
              <p:nvPr/>
            </p:nvGrpSpPr>
            <p:grpSpPr bwMode="auto">
              <a:xfrm>
                <a:off x="1653" y="2425"/>
                <a:ext cx="134" cy="181"/>
                <a:chOff x="3476" y="2630"/>
                <a:chExt cx="101" cy="141"/>
              </a:xfrm>
            </p:grpSpPr>
            <p:grpSp>
              <p:nvGrpSpPr>
                <p:cNvPr id="96" name="Group 56"/>
                <p:cNvGrpSpPr>
                  <a:grpSpLocks/>
                </p:cNvGrpSpPr>
                <p:nvPr/>
              </p:nvGrpSpPr>
              <p:grpSpPr bwMode="auto">
                <a:xfrm>
                  <a:off x="3476" y="2630"/>
                  <a:ext cx="96" cy="136"/>
                  <a:chOff x="3476" y="2630"/>
                  <a:chExt cx="96" cy="136"/>
                </a:xfrm>
              </p:grpSpPr>
              <p:sp>
                <p:nvSpPr>
                  <p:cNvPr id="100" name="Line 57"/>
                  <p:cNvSpPr>
                    <a:spLocks noChangeShapeType="1"/>
                  </p:cNvSpPr>
                  <p:nvPr/>
                </p:nvSpPr>
                <p:spPr bwMode="auto">
                  <a:xfrm flipV="1">
                    <a:off x="3476" y="2660"/>
                    <a:ext cx="75" cy="106"/>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1" name="Freeform 58"/>
                  <p:cNvSpPr>
                    <a:spLocks/>
                  </p:cNvSpPr>
                  <p:nvPr/>
                </p:nvSpPr>
                <p:spPr bwMode="auto">
                  <a:xfrm>
                    <a:off x="3547" y="2630"/>
                    <a:ext cx="25" cy="36"/>
                  </a:xfrm>
                  <a:custGeom>
                    <a:avLst/>
                    <a:gdLst>
                      <a:gd name="T0" fmla="*/ 0 w 25"/>
                      <a:gd name="T1" fmla="*/ 23 h 36"/>
                      <a:gd name="T2" fmla="*/ 8 w 25"/>
                      <a:gd name="T3" fmla="*/ 35 h 36"/>
                      <a:gd name="T4" fmla="*/ 24 w 25"/>
                      <a:gd name="T5" fmla="*/ 0 h 36"/>
                      <a:gd name="T6" fmla="*/ 0 w 25"/>
                      <a:gd name="T7" fmla="*/ 23 h 36"/>
                      <a:gd name="T8" fmla="*/ 0 w 25"/>
                      <a:gd name="T9" fmla="*/ 23 h 36"/>
                    </a:gdLst>
                    <a:ahLst/>
                    <a:cxnLst>
                      <a:cxn ang="0">
                        <a:pos x="T0" y="T1"/>
                      </a:cxn>
                      <a:cxn ang="0">
                        <a:pos x="T2" y="T3"/>
                      </a:cxn>
                      <a:cxn ang="0">
                        <a:pos x="T4" y="T5"/>
                      </a:cxn>
                      <a:cxn ang="0">
                        <a:pos x="T6" y="T7"/>
                      </a:cxn>
                      <a:cxn ang="0">
                        <a:pos x="T8" y="T9"/>
                      </a:cxn>
                    </a:cxnLst>
                    <a:rect l="0" t="0" r="r" b="b"/>
                    <a:pathLst>
                      <a:path w="25" h="36">
                        <a:moveTo>
                          <a:pt x="0" y="23"/>
                        </a:moveTo>
                        <a:lnTo>
                          <a:pt x="8" y="35"/>
                        </a:lnTo>
                        <a:lnTo>
                          <a:pt x="24" y="0"/>
                        </a:lnTo>
                        <a:lnTo>
                          <a:pt x="0" y="23"/>
                        </a:lnTo>
                        <a:lnTo>
                          <a:pt x="0" y="23"/>
                        </a:lnTo>
                      </a:path>
                    </a:pathLst>
                  </a:custGeom>
                  <a:solidFill>
                    <a:srgbClr val="0000FF"/>
                  </a:solidFill>
                  <a:ln w="19050" cap="flat"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grpSp>
              <p:nvGrpSpPr>
                <p:cNvPr id="97" name="Group 59"/>
                <p:cNvGrpSpPr>
                  <a:grpSpLocks/>
                </p:cNvGrpSpPr>
                <p:nvPr/>
              </p:nvGrpSpPr>
              <p:grpSpPr bwMode="auto">
                <a:xfrm>
                  <a:off x="3482" y="2633"/>
                  <a:ext cx="95" cy="138"/>
                  <a:chOff x="3482" y="2633"/>
                  <a:chExt cx="95" cy="138"/>
                </a:xfrm>
              </p:grpSpPr>
              <p:sp>
                <p:nvSpPr>
                  <p:cNvPr id="98" name="Line 60"/>
                  <p:cNvSpPr>
                    <a:spLocks noChangeShapeType="1"/>
                  </p:cNvSpPr>
                  <p:nvPr/>
                </p:nvSpPr>
                <p:spPr bwMode="auto">
                  <a:xfrm>
                    <a:off x="3482" y="2633"/>
                    <a:ext cx="75" cy="106"/>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9" name="Freeform 61"/>
                  <p:cNvSpPr>
                    <a:spLocks/>
                  </p:cNvSpPr>
                  <p:nvPr/>
                </p:nvSpPr>
                <p:spPr bwMode="auto">
                  <a:xfrm>
                    <a:off x="3553" y="2734"/>
                    <a:ext cx="24" cy="37"/>
                  </a:xfrm>
                  <a:custGeom>
                    <a:avLst/>
                    <a:gdLst>
                      <a:gd name="T0" fmla="*/ 0 w 24"/>
                      <a:gd name="T1" fmla="*/ 12 h 37"/>
                      <a:gd name="T2" fmla="*/ 8 w 24"/>
                      <a:gd name="T3" fmla="*/ 0 h 37"/>
                      <a:gd name="T4" fmla="*/ 23 w 24"/>
                      <a:gd name="T5" fmla="*/ 36 h 37"/>
                      <a:gd name="T6" fmla="*/ 0 w 24"/>
                      <a:gd name="T7" fmla="*/ 12 h 37"/>
                      <a:gd name="T8" fmla="*/ 0 w 24"/>
                      <a:gd name="T9" fmla="*/ 12 h 37"/>
                    </a:gdLst>
                    <a:ahLst/>
                    <a:cxnLst>
                      <a:cxn ang="0">
                        <a:pos x="T0" y="T1"/>
                      </a:cxn>
                      <a:cxn ang="0">
                        <a:pos x="T2" y="T3"/>
                      </a:cxn>
                      <a:cxn ang="0">
                        <a:pos x="T4" y="T5"/>
                      </a:cxn>
                      <a:cxn ang="0">
                        <a:pos x="T6" y="T7"/>
                      </a:cxn>
                      <a:cxn ang="0">
                        <a:pos x="T8" y="T9"/>
                      </a:cxn>
                    </a:cxnLst>
                    <a:rect l="0" t="0" r="r" b="b"/>
                    <a:pathLst>
                      <a:path w="24" h="37">
                        <a:moveTo>
                          <a:pt x="0" y="12"/>
                        </a:moveTo>
                        <a:lnTo>
                          <a:pt x="8" y="0"/>
                        </a:lnTo>
                        <a:lnTo>
                          <a:pt x="23" y="36"/>
                        </a:lnTo>
                        <a:lnTo>
                          <a:pt x="0" y="12"/>
                        </a:lnTo>
                        <a:lnTo>
                          <a:pt x="0" y="12"/>
                        </a:lnTo>
                      </a:path>
                    </a:pathLst>
                  </a:custGeom>
                  <a:solidFill>
                    <a:srgbClr val="0000FF"/>
                  </a:solidFill>
                  <a:ln w="19050" cap="flat"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grpSp>
          <p:grpSp>
            <p:nvGrpSpPr>
              <p:cNvPr id="91" name="Group 62"/>
              <p:cNvGrpSpPr>
                <a:grpSpLocks/>
              </p:cNvGrpSpPr>
              <p:nvPr/>
            </p:nvGrpSpPr>
            <p:grpSpPr bwMode="auto">
              <a:xfrm>
                <a:off x="1708" y="2690"/>
                <a:ext cx="182" cy="47"/>
                <a:chOff x="3518" y="2837"/>
                <a:chExt cx="137" cy="36"/>
              </a:xfrm>
            </p:grpSpPr>
            <p:sp>
              <p:nvSpPr>
                <p:cNvPr id="93" name="Freeform 63"/>
                <p:cNvSpPr>
                  <a:spLocks/>
                </p:cNvSpPr>
                <p:nvPr/>
              </p:nvSpPr>
              <p:spPr bwMode="auto">
                <a:xfrm>
                  <a:off x="3545" y="2837"/>
                  <a:ext cx="110" cy="36"/>
                </a:xfrm>
                <a:custGeom>
                  <a:avLst/>
                  <a:gdLst>
                    <a:gd name="T0" fmla="*/ 0 w 110"/>
                    <a:gd name="T1" fmla="*/ 35 h 36"/>
                    <a:gd name="T2" fmla="*/ 16 w 110"/>
                    <a:gd name="T3" fmla="*/ 0 h 36"/>
                    <a:gd name="T4" fmla="*/ 31 w 110"/>
                    <a:gd name="T5" fmla="*/ 35 h 36"/>
                    <a:gd name="T6" fmla="*/ 51 w 110"/>
                    <a:gd name="T7" fmla="*/ 1 h 36"/>
                    <a:gd name="T8" fmla="*/ 62 w 110"/>
                    <a:gd name="T9" fmla="*/ 35 h 36"/>
                    <a:gd name="T10" fmla="*/ 81 w 110"/>
                    <a:gd name="T11" fmla="*/ 5 h 36"/>
                    <a:gd name="T12" fmla="*/ 90 w 110"/>
                    <a:gd name="T13" fmla="*/ 23 h 36"/>
                    <a:gd name="T14" fmla="*/ 109 w 110"/>
                    <a:gd name="T15" fmla="*/ 23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36">
                      <a:moveTo>
                        <a:pt x="0" y="35"/>
                      </a:moveTo>
                      <a:lnTo>
                        <a:pt x="16" y="0"/>
                      </a:lnTo>
                      <a:lnTo>
                        <a:pt x="31" y="35"/>
                      </a:lnTo>
                      <a:lnTo>
                        <a:pt x="51" y="1"/>
                      </a:lnTo>
                      <a:lnTo>
                        <a:pt x="62" y="35"/>
                      </a:lnTo>
                      <a:lnTo>
                        <a:pt x="81" y="5"/>
                      </a:lnTo>
                      <a:lnTo>
                        <a:pt x="90" y="23"/>
                      </a:lnTo>
                      <a:lnTo>
                        <a:pt x="109" y="23"/>
                      </a:lnTo>
                    </a:path>
                  </a:pathLst>
                </a:custGeom>
                <a:noFill/>
                <a:ln w="1905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4" name="Line 64"/>
                <p:cNvSpPr>
                  <a:spLocks noChangeShapeType="1"/>
                </p:cNvSpPr>
                <p:nvPr/>
              </p:nvSpPr>
              <p:spPr bwMode="auto">
                <a:xfrm flipH="1" flipV="1">
                  <a:off x="3538" y="2856"/>
                  <a:ext cx="5" cy="16"/>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5" name="Line 65"/>
                <p:cNvSpPr>
                  <a:spLocks noChangeShapeType="1"/>
                </p:cNvSpPr>
                <p:nvPr/>
              </p:nvSpPr>
              <p:spPr bwMode="auto">
                <a:xfrm flipH="1">
                  <a:off x="3518" y="2856"/>
                  <a:ext cx="19"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92" name="Freeform 66"/>
              <p:cNvSpPr>
                <a:spLocks/>
              </p:cNvSpPr>
              <p:nvPr/>
            </p:nvSpPr>
            <p:spPr bwMode="auto">
              <a:xfrm>
                <a:off x="1821" y="2256"/>
                <a:ext cx="243" cy="399"/>
              </a:xfrm>
              <a:custGeom>
                <a:avLst/>
                <a:gdLst>
                  <a:gd name="T0" fmla="*/ 0 w 455"/>
                  <a:gd name="T1" fmla="*/ 313 h 314"/>
                  <a:gd name="T2" fmla="*/ 0 w 455"/>
                  <a:gd name="T3" fmla="*/ 106 h 314"/>
                  <a:gd name="T4" fmla="*/ 0 w 455"/>
                  <a:gd name="T5" fmla="*/ 105 h 314"/>
                  <a:gd name="T6" fmla="*/ 0 w 455"/>
                  <a:gd name="T7" fmla="*/ 105 h 314"/>
                  <a:gd name="T8" fmla="*/ 0 w 455"/>
                  <a:gd name="T9" fmla="*/ 98 h 314"/>
                  <a:gd name="T10" fmla="*/ 0 w 455"/>
                  <a:gd name="T11" fmla="*/ 91 h 314"/>
                  <a:gd name="T12" fmla="*/ 2 w 455"/>
                  <a:gd name="T13" fmla="*/ 86 h 314"/>
                  <a:gd name="T14" fmla="*/ 2 w 455"/>
                  <a:gd name="T15" fmla="*/ 78 h 314"/>
                  <a:gd name="T16" fmla="*/ 3 w 455"/>
                  <a:gd name="T17" fmla="*/ 73 h 314"/>
                  <a:gd name="T18" fmla="*/ 5 w 455"/>
                  <a:gd name="T19" fmla="*/ 67 h 314"/>
                  <a:gd name="T20" fmla="*/ 9 w 455"/>
                  <a:gd name="T21" fmla="*/ 62 h 314"/>
                  <a:gd name="T22" fmla="*/ 10 w 455"/>
                  <a:gd name="T23" fmla="*/ 55 h 314"/>
                  <a:gd name="T24" fmla="*/ 13 w 455"/>
                  <a:gd name="T25" fmla="*/ 49 h 314"/>
                  <a:gd name="T26" fmla="*/ 16 w 455"/>
                  <a:gd name="T27" fmla="*/ 44 h 314"/>
                  <a:gd name="T28" fmla="*/ 19 w 455"/>
                  <a:gd name="T29" fmla="*/ 40 h 314"/>
                  <a:gd name="T30" fmla="*/ 23 w 455"/>
                  <a:gd name="T31" fmla="*/ 35 h 314"/>
                  <a:gd name="T32" fmla="*/ 26 w 455"/>
                  <a:gd name="T33" fmla="*/ 29 h 314"/>
                  <a:gd name="T34" fmla="*/ 30 w 455"/>
                  <a:gd name="T35" fmla="*/ 27 h 314"/>
                  <a:gd name="T36" fmla="*/ 33 w 455"/>
                  <a:gd name="T37" fmla="*/ 22 h 314"/>
                  <a:gd name="T38" fmla="*/ 38 w 455"/>
                  <a:gd name="T39" fmla="*/ 18 h 314"/>
                  <a:gd name="T40" fmla="*/ 44 w 455"/>
                  <a:gd name="T41" fmla="*/ 16 h 314"/>
                  <a:gd name="T42" fmla="*/ 47 w 455"/>
                  <a:gd name="T43" fmla="*/ 13 h 314"/>
                  <a:gd name="T44" fmla="*/ 53 w 455"/>
                  <a:gd name="T45" fmla="*/ 9 h 314"/>
                  <a:gd name="T46" fmla="*/ 59 w 455"/>
                  <a:gd name="T47" fmla="*/ 8 h 314"/>
                  <a:gd name="T48" fmla="*/ 62 w 455"/>
                  <a:gd name="T49" fmla="*/ 6 h 314"/>
                  <a:gd name="T50" fmla="*/ 67 w 455"/>
                  <a:gd name="T51" fmla="*/ 3 h 314"/>
                  <a:gd name="T52" fmla="*/ 72 w 455"/>
                  <a:gd name="T53" fmla="*/ 3 h 314"/>
                  <a:gd name="T54" fmla="*/ 79 w 455"/>
                  <a:gd name="T55" fmla="*/ 1 h 314"/>
                  <a:gd name="T56" fmla="*/ 85 w 455"/>
                  <a:gd name="T57" fmla="*/ 1 h 314"/>
                  <a:gd name="T58" fmla="*/ 88 w 455"/>
                  <a:gd name="T59" fmla="*/ 0 h 314"/>
                  <a:gd name="T60" fmla="*/ 454 w 455"/>
                  <a:gd name="T61"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55" h="314">
                    <a:moveTo>
                      <a:pt x="0" y="313"/>
                    </a:moveTo>
                    <a:lnTo>
                      <a:pt x="0" y="106"/>
                    </a:lnTo>
                    <a:lnTo>
                      <a:pt x="0" y="105"/>
                    </a:lnTo>
                    <a:lnTo>
                      <a:pt x="0" y="105"/>
                    </a:lnTo>
                    <a:lnTo>
                      <a:pt x="0" y="98"/>
                    </a:lnTo>
                    <a:lnTo>
                      <a:pt x="0" y="91"/>
                    </a:lnTo>
                    <a:lnTo>
                      <a:pt x="2" y="86"/>
                    </a:lnTo>
                    <a:lnTo>
                      <a:pt x="2" y="78"/>
                    </a:lnTo>
                    <a:lnTo>
                      <a:pt x="3" y="73"/>
                    </a:lnTo>
                    <a:lnTo>
                      <a:pt x="5" y="67"/>
                    </a:lnTo>
                    <a:lnTo>
                      <a:pt x="9" y="62"/>
                    </a:lnTo>
                    <a:lnTo>
                      <a:pt x="10" y="55"/>
                    </a:lnTo>
                    <a:lnTo>
                      <a:pt x="13" y="49"/>
                    </a:lnTo>
                    <a:lnTo>
                      <a:pt x="16" y="44"/>
                    </a:lnTo>
                    <a:lnTo>
                      <a:pt x="19" y="40"/>
                    </a:lnTo>
                    <a:lnTo>
                      <a:pt x="23" y="35"/>
                    </a:lnTo>
                    <a:lnTo>
                      <a:pt x="26" y="29"/>
                    </a:lnTo>
                    <a:lnTo>
                      <a:pt x="30" y="27"/>
                    </a:lnTo>
                    <a:lnTo>
                      <a:pt x="33" y="22"/>
                    </a:lnTo>
                    <a:lnTo>
                      <a:pt x="38" y="18"/>
                    </a:lnTo>
                    <a:lnTo>
                      <a:pt x="44" y="16"/>
                    </a:lnTo>
                    <a:lnTo>
                      <a:pt x="47" y="13"/>
                    </a:lnTo>
                    <a:lnTo>
                      <a:pt x="53" y="9"/>
                    </a:lnTo>
                    <a:lnTo>
                      <a:pt x="59" y="8"/>
                    </a:lnTo>
                    <a:lnTo>
                      <a:pt x="62" y="6"/>
                    </a:lnTo>
                    <a:lnTo>
                      <a:pt x="67" y="3"/>
                    </a:lnTo>
                    <a:lnTo>
                      <a:pt x="72" y="3"/>
                    </a:lnTo>
                    <a:lnTo>
                      <a:pt x="79" y="1"/>
                    </a:lnTo>
                    <a:lnTo>
                      <a:pt x="85" y="1"/>
                    </a:lnTo>
                    <a:lnTo>
                      <a:pt x="88" y="0"/>
                    </a:lnTo>
                    <a:lnTo>
                      <a:pt x="454" y="0"/>
                    </a:lnTo>
                  </a:path>
                </a:pathLst>
              </a:custGeom>
              <a:noFill/>
              <a:ln w="1905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27" name="Line 67"/>
            <p:cNvSpPr>
              <a:spLocks noChangeShapeType="1"/>
            </p:cNvSpPr>
            <p:nvPr/>
          </p:nvSpPr>
          <p:spPr bwMode="auto">
            <a:xfrm>
              <a:off x="3400425" y="4338639"/>
              <a:ext cx="592138" cy="15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8" name="Line 68"/>
            <p:cNvSpPr>
              <a:spLocks noChangeShapeType="1"/>
            </p:cNvSpPr>
            <p:nvPr/>
          </p:nvSpPr>
          <p:spPr bwMode="auto">
            <a:xfrm>
              <a:off x="4640263" y="4044950"/>
              <a:ext cx="106362" cy="15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9" name="Line 69"/>
            <p:cNvSpPr>
              <a:spLocks noChangeShapeType="1"/>
            </p:cNvSpPr>
            <p:nvPr/>
          </p:nvSpPr>
          <p:spPr bwMode="auto">
            <a:xfrm flipH="1">
              <a:off x="3830639" y="4044950"/>
              <a:ext cx="809625" cy="15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0" name="Line 70"/>
            <p:cNvSpPr>
              <a:spLocks noChangeShapeType="1"/>
            </p:cNvSpPr>
            <p:nvPr/>
          </p:nvSpPr>
          <p:spPr bwMode="auto">
            <a:xfrm flipV="1">
              <a:off x="3830639" y="3635376"/>
              <a:ext cx="1587" cy="4095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1" name="Line 71"/>
            <p:cNvSpPr>
              <a:spLocks noChangeShapeType="1"/>
            </p:cNvSpPr>
            <p:nvPr/>
          </p:nvSpPr>
          <p:spPr bwMode="auto">
            <a:xfrm>
              <a:off x="3830639" y="3635375"/>
              <a:ext cx="1239837" cy="15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2" name="Line 72"/>
            <p:cNvSpPr>
              <a:spLocks noChangeShapeType="1"/>
            </p:cNvSpPr>
            <p:nvPr/>
          </p:nvSpPr>
          <p:spPr bwMode="auto">
            <a:xfrm flipH="1">
              <a:off x="2538414" y="2292350"/>
              <a:ext cx="2586037" cy="15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3" name="Line 73"/>
            <p:cNvSpPr>
              <a:spLocks noChangeShapeType="1"/>
            </p:cNvSpPr>
            <p:nvPr/>
          </p:nvSpPr>
          <p:spPr bwMode="auto">
            <a:xfrm>
              <a:off x="2806700" y="2759075"/>
              <a:ext cx="1131888" cy="15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4" name="Line 74"/>
            <p:cNvSpPr>
              <a:spLocks noChangeShapeType="1"/>
            </p:cNvSpPr>
            <p:nvPr/>
          </p:nvSpPr>
          <p:spPr bwMode="auto">
            <a:xfrm flipV="1">
              <a:off x="2538413" y="2292350"/>
              <a:ext cx="0" cy="23383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5" name="Line 75"/>
            <p:cNvSpPr>
              <a:spLocks noChangeShapeType="1"/>
            </p:cNvSpPr>
            <p:nvPr/>
          </p:nvSpPr>
          <p:spPr bwMode="auto">
            <a:xfrm flipV="1">
              <a:off x="2806700" y="2759076"/>
              <a:ext cx="1588" cy="18716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6" name="Line 76"/>
            <p:cNvSpPr>
              <a:spLocks noChangeShapeType="1"/>
            </p:cNvSpPr>
            <p:nvPr/>
          </p:nvSpPr>
          <p:spPr bwMode="auto">
            <a:xfrm flipV="1">
              <a:off x="4478339" y="4454526"/>
              <a:ext cx="1587" cy="603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7" name="Freeform 77" descr="50%"/>
            <p:cNvSpPr>
              <a:spLocks/>
            </p:cNvSpPr>
            <p:nvPr/>
          </p:nvSpPr>
          <p:spPr bwMode="auto">
            <a:xfrm rot="5400000" flipH="1">
              <a:off x="6511132" y="2534444"/>
              <a:ext cx="625475" cy="376238"/>
            </a:xfrm>
            <a:custGeom>
              <a:avLst/>
              <a:gdLst>
                <a:gd name="T0" fmla="*/ 0 w 388"/>
                <a:gd name="T1" fmla="*/ 135 h 261"/>
                <a:gd name="T2" fmla="*/ 129 w 388"/>
                <a:gd name="T3" fmla="*/ 260 h 261"/>
                <a:gd name="T4" fmla="*/ 269 w 388"/>
                <a:gd name="T5" fmla="*/ 259 h 261"/>
                <a:gd name="T6" fmla="*/ 387 w 388"/>
                <a:gd name="T7" fmla="*/ 133 h 261"/>
                <a:gd name="T8" fmla="*/ 278 w 388"/>
                <a:gd name="T9" fmla="*/ 0 h 261"/>
                <a:gd name="T10" fmla="*/ 111 w 388"/>
                <a:gd name="T11" fmla="*/ 0 h 261"/>
                <a:gd name="T12" fmla="*/ 0 w 388"/>
                <a:gd name="T13" fmla="*/ 133 h 261"/>
                <a:gd name="T14" fmla="*/ 0 w 388"/>
                <a:gd name="T15" fmla="*/ 135 h 261"/>
                <a:gd name="T16" fmla="*/ 0 w 388"/>
                <a:gd name="T17" fmla="*/ 135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8" h="261">
                  <a:moveTo>
                    <a:pt x="0" y="135"/>
                  </a:moveTo>
                  <a:lnTo>
                    <a:pt x="129" y="260"/>
                  </a:lnTo>
                  <a:lnTo>
                    <a:pt x="269" y="259"/>
                  </a:lnTo>
                  <a:lnTo>
                    <a:pt x="387" y="133"/>
                  </a:lnTo>
                  <a:lnTo>
                    <a:pt x="278" y="0"/>
                  </a:lnTo>
                  <a:lnTo>
                    <a:pt x="111" y="0"/>
                  </a:lnTo>
                  <a:lnTo>
                    <a:pt x="0" y="133"/>
                  </a:lnTo>
                  <a:lnTo>
                    <a:pt x="0" y="135"/>
                  </a:lnTo>
                  <a:lnTo>
                    <a:pt x="0" y="135"/>
                  </a:lnTo>
                </a:path>
              </a:pathLst>
            </a:custGeom>
            <a:pattFill prst="pct50">
              <a:fgClr>
                <a:srgbClr val="FFC0E4"/>
              </a:fgClr>
              <a:bgClr>
                <a:srgbClr val="FFFFFF"/>
              </a:bgClr>
            </a:pattFill>
            <a:ln w="19050" cap="flat" cmpd="sng">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8" name="Freeform 78"/>
            <p:cNvSpPr>
              <a:spLocks/>
            </p:cNvSpPr>
            <p:nvPr/>
          </p:nvSpPr>
          <p:spPr bwMode="auto">
            <a:xfrm flipH="1">
              <a:off x="5557839" y="3343275"/>
              <a:ext cx="377825" cy="603250"/>
            </a:xfrm>
            <a:custGeom>
              <a:avLst/>
              <a:gdLst>
                <a:gd name="T0" fmla="*/ 121 w 254"/>
                <a:gd name="T1" fmla="*/ 0 h 384"/>
                <a:gd name="T2" fmla="*/ 253 w 254"/>
                <a:gd name="T3" fmla="*/ 117 h 384"/>
                <a:gd name="T4" fmla="*/ 253 w 254"/>
                <a:gd name="T5" fmla="*/ 271 h 384"/>
                <a:gd name="T6" fmla="*/ 125 w 254"/>
                <a:gd name="T7" fmla="*/ 383 h 384"/>
                <a:gd name="T8" fmla="*/ 0 w 254"/>
                <a:gd name="T9" fmla="*/ 269 h 384"/>
                <a:gd name="T10" fmla="*/ 1 w 254"/>
                <a:gd name="T11" fmla="*/ 115 h 384"/>
                <a:gd name="T12" fmla="*/ 125 w 254"/>
                <a:gd name="T13" fmla="*/ 0 h 384"/>
                <a:gd name="T14" fmla="*/ 121 w 254"/>
                <a:gd name="T15" fmla="*/ 0 h 384"/>
                <a:gd name="T16" fmla="*/ 121 w 254"/>
                <a:gd name="T17"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4" h="384">
                  <a:moveTo>
                    <a:pt x="121" y="0"/>
                  </a:moveTo>
                  <a:lnTo>
                    <a:pt x="253" y="117"/>
                  </a:lnTo>
                  <a:lnTo>
                    <a:pt x="253" y="271"/>
                  </a:lnTo>
                  <a:lnTo>
                    <a:pt x="125" y="383"/>
                  </a:lnTo>
                  <a:lnTo>
                    <a:pt x="0" y="269"/>
                  </a:lnTo>
                  <a:lnTo>
                    <a:pt x="1" y="115"/>
                  </a:lnTo>
                  <a:lnTo>
                    <a:pt x="125" y="0"/>
                  </a:lnTo>
                  <a:lnTo>
                    <a:pt x="121" y="0"/>
                  </a:lnTo>
                  <a:lnTo>
                    <a:pt x="121" y="0"/>
                  </a:lnTo>
                </a:path>
              </a:pathLst>
            </a:custGeom>
            <a:solidFill>
              <a:srgbClr val="FF9900"/>
            </a:solidFill>
            <a:ln w="19050" cap="flat"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9" name="Freeform 79"/>
            <p:cNvSpPr>
              <a:spLocks/>
            </p:cNvSpPr>
            <p:nvPr/>
          </p:nvSpPr>
          <p:spPr bwMode="auto">
            <a:xfrm flipH="1">
              <a:off x="6805614" y="2759075"/>
              <a:ext cx="53975" cy="52388"/>
            </a:xfrm>
            <a:custGeom>
              <a:avLst/>
              <a:gdLst>
                <a:gd name="T0" fmla="*/ 16 w 36"/>
                <a:gd name="T1" fmla="*/ 0 h 33"/>
                <a:gd name="T2" fmla="*/ 13 w 36"/>
                <a:gd name="T3" fmla="*/ 0 h 33"/>
                <a:gd name="T4" fmla="*/ 11 w 36"/>
                <a:gd name="T5" fmla="*/ 2 h 33"/>
                <a:gd name="T6" fmla="*/ 9 w 36"/>
                <a:gd name="T7" fmla="*/ 2 h 33"/>
                <a:gd name="T8" fmla="*/ 6 w 36"/>
                <a:gd name="T9" fmla="*/ 5 h 33"/>
                <a:gd name="T10" fmla="*/ 5 w 36"/>
                <a:gd name="T11" fmla="*/ 6 h 33"/>
                <a:gd name="T12" fmla="*/ 3 w 36"/>
                <a:gd name="T13" fmla="*/ 8 h 33"/>
                <a:gd name="T14" fmla="*/ 2 w 36"/>
                <a:gd name="T15" fmla="*/ 10 h 33"/>
                <a:gd name="T16" fmla="*/ 1 w 36"/>
                <a:gd name="T17" fmla="*/ 12 h 33"/>
                <a:gd name="T18" fmla="*/ 1 w 36"/>
                <a:gd name="T19" fmla="*/ 15 h 33"/>
                <a:gd name="T20" fmla="*/ 0 w 36"/>
                <a:gd name="T21" fmla="*/ 17 h 33"/>
                <a:gd name="T22" fmla="*/ 1 w 36"/>
                <a:gd name="T23" fmla="*/ 18 h 33"/>
                <a:gd name="T24" fmla="*/ 1 w 36"/>
                <a:gd name="T25" fmla="*/ 20 h 33"/>
                <a:gd name="T26" fmla="*/ 2 w 36"/>
                <a:gd name="T27" fmla="*/ 24 h 33"/>
                <a:gd name="T28" fmla="*/ 3 w 36"/>
                <a:gd name="T29" fmla="*/ 25 h 33"/>
                <a:gd name="T30" fmla="*/ 5 w 36"/>
                <a:gd name="T31" fmla="*/ 27 h 33"/>
                <a:gd name="T32" fmla="*/ 6 w 36"/>
                <a:gd name="T33" fmla="*/ 28 h 33"/>
                <a:gd name="T34" fmla="*/ 9 w 36"/>
                <a:gd name="T35" fmla="*/ 30 h 33"/>
                <a:gd name="T36" fmla="*/ 11 w 36"/>
                <a:gd name="T37" fmla="*/ 31 h 33"/>
                <a:gd name="T38" fmla="*/ 13 w 36"/>
                <a:gd name="T39" fmla="*/ 32 h 33"/>
                <a:gd name="T40" fmla="*/ 16 w 36"/>
                <a:gd name="T41" fmla="*/ 32 h 33"/>
                <a:gd name="T42" fmla="*/ 19 w 36"/>
                <a:gd name="T43" fmla="*/ 32 h 33"/>
                <a:gd name="T44" fmla="*/ 21 w 36"/>
                <a:gd name="T45" fmla="*/ 32 h 33"/>
                <a:gd name="T46" fmla="*/ 23 w 36"/>
                <a:gd name="T47" fmla="*/ 31 h 33"/>
                <a:gd name="T48" fmla="*/ 25 w 36"/>
                <a:gd name="T49" fmla="*/ 30 h 33"/>
                <a:gd name="T50" fmla="*/ 27 w 36"/>
                <a:gd name="T51" fmla="*/ 28 h 33"/>
                <a:gd name="T52" fmla="*/ 30 w 36"/>
                <a:gd name="T53" fmla="*/ 27 h 33"/>
                <a:gd name="T54" fmla="*/ 30 w 36"/>
                <a:gd name="T55" fmla="*/ 25 h 33"/>
                <a:gd name="T56" fmla="*/ 32 w 36"/>
                <a:gd name="T57" fmla="*/ 24 h 33"/>
                <a:gd name="T58" fmla="*/ 33 w 36"/>
                <a:gd name="T59" fmla="*/ 20 h 33"/>
                <a:gd name="T60" fmla="*/ 33 w 36"/>
                <a:gd name="T61" fmla="*/ 18 h 33"/>
                <a:gd name="T62" fmla="*/ 35 w 36"/>
                <a:gd name="T63" fmla="*/ 17 h 33"/>
                <a:gd name="T64" fmla="*/ 33 w 36"/>
                <a:gd name="T65" fmla="*/ 15 h 33"/>
                <a:gd name="T66" fmla="*/ 33 w 36"/>
                <a:gd name="T67" fmla="*/ 12 h 33"/>
                <a:gd name="T68" fmla="*/ 32 w 36"/>
                <a:gd name="T69" fmla="*/ 10 h 33"/>
                <a:gd name="T70" fmla="*/ 30 w 36"/>
                <a:gd name="T71" fmla="*/ 8 h 33"/>
                <a:gd name="T72" fmla="*/ 30 w 36"/>
                <a:gd name="T73" fmla="*/ 6 h 33"/>
                <a:gd name="T74" fmla="*/ 27 w 36"/>
                <a:gd name="T75" fmla="*/ 5 h 33"/>
                <a:gd name="T76" fmla="*/ 25 w 36"/>
                <a:gd name="T77" fmla="*/ 2 h 33"/>
                <a:gd name="T78" fmla="*/ 23 w 36"/>
                <a:gd name="T79" fmla="*/ 2 h 33"/>
                <a:gd name="T80" fmla="*/ 21 w 36"/>
                <a:gd name="T81" fmla="*/ 0 h 33"/>
                <a:gd name="T82" fmla="*/ 19 w 36"/>
                <a:gd name="T8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6" h="33">
                  <a:moveTo>
                    <a:pt x="17" y="0"/>
                  </a:moveTo>
                  <a:lnTo>
                    <a:pt x="16" y="0"/>
                  </a:lnTo>
                  <a:lnTo>
                    <a:pt x="15" y="0"/>
                  </a:lnTo>
                  <a:lnTo>
                    <a:pt x="13" y="0"/>
                  </a:lnTo>
                  <a:lnTo>
                    <a:pt x="12" y="2"/>
                  </a:lnTo>
                  <a:lnTo>
                    <a:pt x="11" y="2"/>
                  </a:lnTo>
                  <a:lnTo>
                    <a:pt x="10" y="2"/>
                  </a:lnTo>
                  <a:lnTo>
                    <a:pt x="9" y="2"/>
                  </a:lnTo>
                  <a:lnTo>
                    <a:pt x="9" y="2"/>
                  </a:lnTo>
                  <a:lnTo>
                    <a:pt x="6" y="5"/>
                  </a:lnTo>
                  <a:lnTo>
                    <a:pt x="6" y="5"/>
                  </a:lnTo>
                  <a:lnTo>
                    <a:pt x="5" y="6"/>
                  </a:lnTo>
                  <a:lnTo>
                    <a:pt x="4" y="8"/>
                  </a:lnTo>
                  <a:lnTo>
                    <a:pt x="3" y="8"/>
                  </a:lnTo>
                  <a:lnTo>
                    <a:pt x="3" y="9"/>
                  </a:lnTo>
                  <a:lnTo>
                    <a:pt x="2" y="10"/>
                  </a:lnTo>
                  <a:lnTo>
                    <a:pt x="2" y="10"/>
                  </a:lnTo>
                  <a:lnTo>
                    <a:pt x="1" y="12"/>
                  </a:lnTo>
                  <a:lnTo>
                    <a:pt x="1" y="14"/>
                  </a:lnTo>
                  <a:lnTo>
                    <a:pt x="1" y="15"/>
                  </a:lnTo>
                  <a:lnTo>
                    <a:pt x="0" y="16"/>
                  </a:lnTo>
                  <a:lnTo>
                    <a:pt x="0" y="17"/>
                  </a:lnTo>
                  <a:lnTo>
                    <a:pt x="0" y="18"/>
                  </a:lnTo>
                  <a:lnTo>
                    <a:pt x="1" y="18"/>
                  </a:lnTo>
                  <a:lnTo>
                    <a:pt x="1" y="20"/>
                  </a:lnTo>
                  <a:lnTo>
                    <a:pt x="1" y="20"/>
                  </a:lnTo>
                  <a:lnTo>
                    <a:pt x="2" y="22"/>
                  </a:lnTo>
                  <a:lnTo>
                    <a:pt x="2" y="24"/>
                  </a:lnTo>
                  <a:lnTo>
                    <a:pt x="3" y="25"/>
                  </a:lnTo>
                  <a:lnTo>
                    <a:pt x="3" y="25"/>
                  </a:lnTo>
                  <a:lnTo>
                    <a:pt x="4" y="27"/>
                  </a:lnTo>
                  <a:lnTo>
                    <a:pt x="5" y="27"/>
                  </a:lnTo>
                  <a:lnTo>
                    <a:pt x="6" y="28"/>
                  </a:lnTo>
                  <a:lnTo>
                    <a:pt x="6" y="28"/>
                  </a:lnTo>
                  <a:lnTo>
                    <a:pt x="9" y="29"/>
                  </a:lnTo>
                  <a:lnTo>
                    <a:pt x="9" y="30"/>
                  </a:lnTo>
                  <a:lnTo>
                    <a:pt x="10" y="31"/>
                  </a:lnTo>
                  <a:lnTo>
                    <a:pt x="11" y="31"/>
                  </a:lnTo>
                  <a:lnTo>
                    <a:pt x="12" y="32"/>
                  </a:lnTo>
                  <a:lnTo>
                    <a:pt x="13" y="32"/>
                  </a:lnTo>
                  <a:lnTo>
                    <a:pt x="15" y="32"/>
                  </a:lnTo>
                  <a:lnTo>
                    <a:pt x="16" y="32"/>
                  </a:lnTo>
                  <a:lnTo>
                    <a:pt x="17" y="32"/>
                  </a:lnTo>
                  <a:lnTo>
                    <a:pt x="19" y="32"/>
                  </a:lnTo>
                  <a:lnTo>
                    <a:pt x="19" y="32"/>
                  </a:lnTo>
                  <a:lnTo>
                    <a:pt x="21" y="32"/>
                  </a:lnTo>
                  <a:lnTo>
                    <a:pt x="22" y="32"/>
                  </a:lnTo>
                  <a:lnTo>
                    <a:pt x="23" y="31"/>
                  </a:lnTo>
                  <a:lnTo>
                    <a:pt x="25" y="31"/>
                  </a:lnTo>
                  <a:lnTo>
                    <a:pt x="25" y="30"/>
                  </a:lnTo>
                  <a:lnTo>
                    <a:pt x="27" y="29"/>
                  </a:lnTo>
                  <a:lnTo>
                    <a:pt x="27" y="28"/>
                  </a:lnTo>
                  <a:lnTo>
                    <a:pt x="28" y="28"/>
                  </a:lnTo>
                  <a:lnTo>
                    <a:pt x="30" y="27"/>
                  </a:lnTo>
                  <a:lnTo>
                    <a:pt x="30" y="27"/>
                  </a:lnTo>
                  <a:lnTo>
                    <a:pt x="30" y="25"/>
                  </a:lnTo>
                  <a:lnTo>
                    <a:pt x="31" y="25"/>
                  </a:lnTo>
                  <a:lnTo>
                    <a:pt x="32" y="24"/>
                  </a:lnTo>
                  <a:lnTo>
                    <a:pt x="33" y="22"/>
                  </a:lnTo>
                  <a:lnTo>
                    <a:pt x="33" y="20"/>
                  </a:lnTo>
                  <a:lnTo>
                    <a:pt x="33" y="20"/>
                  </a:lnTo>
                  <a:lnTo>
                    <a:pt x="33" y="18"/>
                  </a:lnTo>
                  <a:lnTo>
                    <a:pt x="35" y="18"/>
                  </a:lnTo>
                  <a:lnTo>
                    <a:pt x="35" y="17"/>
                  </a:lnTo>
                  <a:lnTo>
                    <a:pt x="35" y="16"/>
                  </a:lnTo>
                  <a:lnTo>
                    <a:pt x="33" y="15"/>
                  </a:lnTo>
                  <a:lnTo>
                    <a:pt x="33" y="14"/>
                  </a:lnTo>
                  <a:lnTo>
                    <a:pt x="33" y="12"/>
                  </a:lnTo>
                  <a:lnTo>
                    <a:pt x="33" y="10"/>
                  </a:lnTo>
                  <a:lnTo>
                    <a:pt x="32" y="10"/>
                  </a:lnTo>
                  <a:lnTo>
                    <a:pt x="31" y="9"/>
                  </a:lnTo>
                  <a:lnTo>
                    <a:pt x="30" y="8"/>
                  </a:lnTo>
                  <a:lnTo>
                    <a:pt x="30" y="8"/>
                  </a:lnTo>
                  <a:lnTo>
                    <a:pt x="30" y="6"/>
                  </a:lnTo>
                  <a:lnTo>
                    <a:pt x="28" y="5"/>
                  </a:lnTo>
                  <a:lnTo>
                    <a:pt x="27" y="5"/>
                  </a:lnTo>
                  <a:lnTo>
                    <a:pt x="27" y="2"/>
                  </a:lnTo>
                  <a:lnTo>
                    <a:pt x="25" y="2"/>
                  </a:lnTo>
                  <a:lnTo>
                    <a:pt x="25" y="2"/>
                  </a:lnTo>
                  <a:lnTo>
                    <a:pt x="23" y="2"/>
                  </a:lnTo>
                  <a:lnTo>
                    <a:pt x="22" y="2"/>
                  </a:lnTo>
                  <a:lnTo>
                    <a:pt x="21" y="0"/>
                  </a:lnTo>
                  <a:lnTo>
                    <a:pt x="19" y="0"/>
                  </a:lnTo>
                  <a:lnTo>
                    <a:pt x="19" y="0"/>
                  </a:lnTo>
                  <a:lnTo>
                    <a:pt x="17"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0" name="Text Box 80"/>
            <p:cNvSpPr txBox="1">
              <a:spLocks noChangeArrowheads="1"/>
            </p:cNvSpPr>
            <p:nvPr/>
          </p:nvSpPr>
          <p:spPr bwMode="auto">
            <a:xfrm flipH="1">
              <a:off x="6735764" y="2584451"/>
              <a:ext cx="168275" cy="16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647700" indent="-238125" defTabSz="409575">
                <a:defRPr>
                  <a:solidFill>
                    <a:schemeClr val="tx1"/>
                  </a:solidFill>
                  <a:latin typeface="Arial" panose="020B0604020202020204" pitchFamily="34" charset="0"/>
                  <a:ea typeface="宋体" panose="02010600030101010101" pitchFamily="2" charset="-122"/>
                </a:defRPr>
              </a:lvl2pPr>
              <a:lvl3pPr marL="1108075" indent="-2873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0" hangingPunct="0">
                <a:lnSpc>
                  <a:spcPct val="150000"/>
                </a:lnSpc>
                <a:buClr>
                  <a:srgbClr val="000000"/>
                </a:buClr>
                <a:buSzPct val="90000"/>
                <a:buFont typeface="Monotype Sorts" pitchFamily="2" charset="2"/>
                <a:buNone/>
              </a:pPr>
              <a:r>
                <a:rPr lang="en-US" altLang="zh-CN" sz="1000">
                  <a:solidFill>
                    <a:srgbClr val="FF0000"/>
                  </a:solidFill>
                  <a:latin typeface="微软雅黑" panose="020B0503020204020204" pitchFamily="34" charset="-122"/>
                  <a:ea typeface="微软雅黑" panose="020B0503020204020204" pitchFamily="34" charset="-122"/>
                </a:rPr>
                <a:t>R2</a:t>
              </a:r>
              <a:endParaRPr lang="en-US" altLang="zh-CN" sz="2200">
                <a:latin typeface="微软雅黑" panose="020B0503020204020204" pitchFamily="34" charset="-122"/>
                <a:ea typeface="微软雅黑" panose="020B0503020204020204" pitchFamily="34" charset="-122"/>
              </a:endParaRPr>
            </a:p>
          </p:txBody>
        </p:sp>
        <p:grpSp>
          <p:nvGrpSpPr>
            <p:cNvPr id="41" name="Group 81"/>
            <p:cNvGrpSpPr>
              <a:grpSpLocks/>
            </p:cNvGrpSpPr>
            <p:nvPr/>
          </p:nvGrpSpPr>
          <p:grpSpPr bwMode="auto">
            <a:xfrm flipH="1">
              <a:off x="5668964" y="3460750"/>
              <a:ext cx="103187" cy="236538"/>
              <a:chOff x="4944" y="3504"/>
              <a:chExt cx="92" cy="194"/>
            </a:xfrm>
          </p:grpSpPr>
          <p:sp>
            <p:nvSpPr>
              <p:cNvPr id="84" name="Freeform 82"/>
              <p:cNvSpPr>
                <a:spLocks/>
              </p:cNvSpPr>
              <p:nvPr/>
            </p:nvSpPr>
            <p:spPr bwMode="auto">
              <a:xfrm>
                <a:off x="4960" y="3655"/>
                <a:ext cx="43" cy="43"/>
              </a:xfrm>
              <a:custGeom>
                <a:avLst/>
                <a:gdLst>
                  <a:gd name="T0" fmla="*/ 14 w 33"/>
                  <a:gd name="T1" fmla="*/ 0 h 34"/>
                  <a:gd name="T2" fmla="*/ 13 w 33"/>
                  <a:gd name="T3" fmla="*/ 1 h 34"/>
                  <a:gd name="T4" fmla="*/ 10 w 33"/>
                  <a:gd name="T5" fmla="*/ 1 h 34"/>
                  <a:gd name="T6" fmla="*/ 6 w 33"/>
                  <a:gd name="T7" fmla="*/ 2 h 34"/>
                  <a:gd name="T8" fmla="*/ 5 w 33"/>
                  <a:gd name="T9" fmla="*/ 5 h 34"/>
                  <a:gd name="T10" fmla="*/ 3 w 33"/>
                  <a:gd name="T11" fmla="*/ 6 h 34"/>
                  <a:gd name="T12" fmla="*/ 2 w 33"/>
                  <a:gd name="T13" fmla="*/ 7 h 34"/>
                  <a:gd name="T14" fmla="*/ 0 w 33"/>
                  <a:gd name="T15" fmla="*/ 9 h 34"/>
                  <a:gd name="T16" fmla="*/ 0 w 33"/>
                  <a:gd name="T17" fmla="*/ 11 h 34"/>
                  <a:gd name="T18" fmla="*/ 0 w 33"/>
                  <a:gd name="T19" fmla="*/ 13 h 34"/>
                  <a:gd name="T20" fmla="*/ 0 w 33"/>
                  <a:gd name="T21" fmla="*/ 16 h 34"/>
                  <a:gd name="T22" fmla="*/ 0 w 33"/>
                  <a:gd name="T23" fmla="*/ 18 h 34"/>
                  <a:gd name="T24" fmla="*/ 0 w 33"/>
                  <a:gd name="T25" fmla="*/ 21 h 34"/>
                  <a:gd name="T26" fmla="*/ 0 w 33"/>
                  <a:gd name="T27" fmla="*/ 23 h 34"/>
                  <a:gd name="T28" fmla="*/ 2 w 33"/>
                  <a:gd name="T29" fmla="*/ 24 h 34"/>
                  <a:gd name="T30" fmla="*/ 3 w 33"/>
                  <a:gd name="T31" fmla="*/ 27 h 34"/>
                  <a:gd name="T32" fmla="*/ 5 w 33"/>
                  <a:gd name="T33" fmla="*/ 27 h 34"/>
                  <a:gd name="T34" fmla="*/ 6 w 33"/>
                  <a:gd name="T35" fmla="*/ 29 h 34"/>
                  <a:gd name="T36" fmla="*/ 10 w 33"/>
                  <a:gd name="T37" fmla="*/ 31 h 34"/>
                  <a:gd name="T38" fmla="*/ 13 w 33"/>
                  <a:gd name="T39" fmla="*/ 31 h 34"/>
                  <a:gd name="T40" fmla="*/ 14 w 33"/>
                  <a:gd name="T41" fmla="*/ 31 h 34"/>
                  <a:gd name="T42" fmla="*/ 18 w 33"/>
                  <a:gd name="T43" fmla="*/ 31 h 34"/>
                  <a:gd name="T44" fmla="*/ 20 w 33"/>
                  <a:gd name="T45" fmla="*/ 31 h 34"/>
                  <a:gd name="T46" fmla="*/ 22 w 33"/>
                  <a:gd name="T47" fmla="*/ 31 h 34"/>
                  <a:gd name="T48" fmla="*/ 24 w 33"/>
                  <a:gd name="T49" fmla="*/ 29 h 34"/>
                  <a:gd name="T50" fmla="*/ 26 w 33"/>
                  <a:gd name="T51" fmla="*/ 27 h 34"/>
                  <a:gd name="T52" fmla="*/ 28 w 33"/>
                  <a:gd name="T53" fmla="*/ 27 h 34"/>
                  <a:gd name="T54" fmla="*/ 30 w 33"/>
                  <a:gd name="T55" fmla="*/ 24 h 34"/>
                  <a:gd name="T56" fmla="*/ 31 w 33"/>
                  <a:gd name="T57" fmla="*/ 23 h 34"/>
                  <a:gd name="T58" fmla="*/ 32 w 33"/>
                  <a:gd name="T59" fmla="*/ 21 h 34"/>
                  <a:gd name="T60" fmla="*/ 32 w 33"/>
                  <a:gd name="T61" fmla="*/ 18 h 34"/>
                  <a:gd name="T62" fmla="*/ 32 w 33"/>
                  <a:gd name="T63" fmla="*/ 16 h 34"/>
                  <a:gd name="T64" fmla="*/ 32 w 33"/>
                  <a:gd name="T65" fmla="*/ 13 h 34"/>
                  <a:gd name="T66" fmla="*/ 32 w 33"/>
                  <a:gd name="T67" fmla="*/ 11 h 34"/>
                  <a:gd name="T68" fmla="*/ 31 w 33"/>
                  <a:gd name="T69" fmla="*/ 9 h 34"/>
                  <a:gd name="T70" fmla="*/ 30 w 33"/>
                  <a:gd name="T71" fmla="*/ 7 h 34"/>
                  <a:gd name="T72" fmla="*/ 28 w 33"/>
                  <a:gd name="T73" fmla="*/ 6 h 34"/>
                  <a:gd name="T74" fmla="*/ 26 w 33"/>
                  <a:gd name="T75" fmla="*/ 5 h 34"/>
                  <a:gd name="T76" fmla="*/ 24 w 33"/>
                  <a:gd name="T77" fmla="*/ 2 h 34"/>
                  <a:gd name="T78" fmla="*/ 22 w 33"/>
                  <a:gd name="T79" fmla="*/ 1 h 34"/>
                  <a:gd name="T80" fmla="*/ 20 w 33"/>
                  <a:gd name="T81" fmla="*/ 1 h 34"/>
                  <a:gd name="T82" fmla="*/ 18 w 33"/>
                  <a:gd name="T8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3" h="34">
                    <a:moveTo>
                      <a:pt x="16" y="0"/>
                    </a:moveTo>
                    <a:lnTo>
                      <a:pt x="14" y="0"/>
                    </a:lnTo>
                    <a:lnTo>
                      <a:pt x="13" y="1"/>
                    </a:lnTo>
                    <a:lnTo>
                      <a:pt x="13" y="1"/>
                    </a:lnTo>
                    <a:lnTo>
                      <a:pt x="11" y="1"/>
                    </a:lnTo>
                    <a:lnTo>
                      <a:pt x="10" y="1"/>
                    </a:lnTo>
                    <a:lnTo>
                      <a:pt x="8" y="1"/>
                    </a:lnTo>
                    <a:lnTo>
                      <a:pt x="6" y="2"/>
                    </a:lnTo>
                    <a:lnTo>
                      <a:pt x="6" y="2"/>
                    </a:lnTo>
                    <a:lnTo>
                      <a:pt x="5" y="5"/>
                    </a:lnTo>
                    <a:lnTo>
                      <a:pt x="4" y="5"/>
                    </a:lnTo>
                    <a:lnTo>
                      <a:pt x="3" y="6"/>
                    </a:lnTo>
                    <a:lnTo>
                      <a:pt x="3" y="6"/>
                    </a:lnTo>
                    <a:lnTo>
                      <a:pt x="2" y="7"/>
                    </a:lnTo>
                    <a:lnTo>
                      <a:pt x="0" y="8"/>
                    </a:lnTo>
                    <a:lnTo>
                      <a:pt x="0" y="9"/>
                    </a:lnTo>
                    <a:lnTo>
                      <a:pt x="0" y="10"/>
                    </a:lnTo>
                    <a:lnTo>
                      <a:pt x="0" y="11"/>
                    </a:lnTo>
                    <a:lnTo>
                      <a:pt x="0" y="13"/>
                    </a:lnTo>
                    <a:lnTo>
                      <a:pt x="0" y="13"/>
                    </a:lnTo>
                    <a:lnTo>
                      <a:pt x="0" y="15"/>
                    </a:lnTo>
                    <a:lnTo>
                      <a:pt x="0" y="16"/>
                    </a:lnTo>
                    <a:lnTo>
                      <a:pt x="0" y="17"/>
                    </a:lnTo>
                    <a:lnTo>
                      <a:pt x="0" y="18"/>
                    </a:lnTo>
                    <a:lnTo>
                      <a:pt x="0" y="18"/>
                    </a:lnTo>
                    <a:lnTo>
                      <a:pt x="0" y="21"/>
                    </a:lnTo>
                    <a:lnTo>
                      <a:pt x="0" y="21"/>
                    </a:lnTo>
                    <a:lnTo>
                      <a:pt x="0" y="23"/>
                    </a:lnTo>
                    <a:lnTo>
                      <a:pt x="0" y="23"/>
                    </a:lnTo>
                    <a:lnTo>
                      <a:pt x="2" y="24"/>
                    </a:lnTo>
                    <a:lnTo>
                      <a:pt x="3" y="26"/>
                    </a:lnTo>
                    <a:lnTo>
                      <a:pt x="3" y="27"/>
                    </a:lnTo>
                    <a:lnTo>
                      <a:pt x="4" y="27"/>
                    </a:lnTo>
                    <a:lnTo>
                      <a:pt x="5" y="27"/>
                    </a:lnTo>
                    <a:lnTo>
                      <a:pt x="6" y="29"/>
                    </a:lnTo>
                    <a:lnTo>
                      <a:pt x="6" y="29"/>
                    </a:lnTo>
                    <a:lnTo>
                      <a:pt x="8" y="29"/>
                    </a:lnTo>
                    <a:lnTo>
                      <a:pt x="10" y="31"/>
                    </a:lnTo>
                    <a:lnTo>
                      <a:pt x="11" y="31"/>
                    </a:lnTo>
                    <a:lnTo>
                      <a:pt x="13" y="31"/>
                    </a:lnTo>
                    <a:lnTo>
                      <a:pt x="13" y="31"/>
                    </a:lnTo>
                    <a:lnTo>
                      <a:pt x="14" y="31"/>
                    </a:lnTo>
                    <a:lnTo>
                      <a:pt x="16" y="33"/>
                    </a:lnTo>
                    <a:lnTo>
                      <a:pt x="18" y="31"/>
                    </a:lnTo>
                    <a:lnTo>
                      <a:pt x="19" y="31"/>
                    </a:lnTo>
                    <a:lnTo>
                      <a:pt x="20" y="31"/>
                    </a:lnTo>
                    <a:lnTo>
                      <a:pt x="21" y="31"/>
                    </a:lnTo>
                    <a:lnTo>
                      <a:pt x="22" y="31"/>
                    </a:lnTo>
                    <a:lnTo>
                      <a:pt x="23" y="29"/>
                    </a:lnTo>
                    <a:lnTo>
                      <a:pt x="24" y="29"/>
                    </a:lnTo>
                    <a:lnTo>
                      <a:pt x="26" y="29"/>
                    </a:lnTo>
                    <a:lnTo>
                      <a:pt x="26" y="27"/>
                    </a:lnTo>
                    <a:lnTo>
                      <a:pt x="26" y="27"/>
                    </a:lnTo>
                    <a:lnTo>
                      <a:pt x="28" y="27"/>
                    </a:lnTo>
                    <a:lnTo>
                      <a:pt x="29" y="26"/>
                    </a:lnTo>
                    <a:lnTo>
                      <a:pt x="30" y="24"/>
                    </a:lnTo>
                    <a:lnTo>
                      <a:pt x="30" y="23"/>
                    </a:lnTo>
                    <a:lnTo>
                      <a:pt x="31" y="23"/>
                    </a:lnTo>
                    <a:lnTo>
                      <a:pt x="31" y="21"/>
                    </a:lnTo>
                    <a:lnTo>
                      <a:pt x="32" y="21"/>
                    </a:lnTo>
                    <a:lnTo>
                      <a:pt x="32" y="18"/>
                    </a:lnTo>
                    <a:lnTo>
                      <a:pt x="32" y="18"/>
                    </a:lnTo>
                    <a:lnTo>
                      <a:pt x="32" y="17"/>
                    </a:lnTo>
                    <a:lnTo>
                      <a:pt x="32" y="16"/>
                    </a:lnTo>
                    <a:lnTo>
                      <a:pt x="32" y="15"/>
                    </a:lnTo>
                    <a:lnTo>
                      <a:pt x="32" y="13"/>
                    </a:lnTo>
                    <a:lnTo>
                      <a:pt x="32" y="13"/>
                    </a:lnTo>
                    <a:lnTo>
                      <a:pt x="32" y="11"/>
                    </a:lnTo>
                    <a:lnTo>
                      <a:pt x="31" y="10"/>
                    </a:lnTo>
                    <a:lnTo>
                      <a:pt x="31" y="9"/>
                    </a:lnTo>
                    <a:lnTo>
                      <a:pt x="30" y="8"/>
                    </a:lnTo>
                    <a:lnTo>
                      <a:pt x="30" y="7"/>
                    </a:lnTo>
                    <a:lnTo>
                      <a:pt x="29" y="6"/>
                    </a:lnTo>
                    <a:lnTo>
                      <a:pt x="28" y="6"/>
                    </a:lnTo>
                    <a:lnTo>
                      <a:pt x="26" y="5"/>
                    </a:lnTo>
                    <a:lnTo>
                      <a:pt x="26" y="5"/>
                    </a:lnTo>
                    <a:lnTo>
                      <a:pt x="26" y="2"/>
                    </a:lnTo>
                    <a:lnTo>
                      <a:pt x="24" y="2"/>
                    </a:lnTo>
                    <a:lnTo>
                      <a:pt x="23" y="1"/>
                    </a:lnTo>
                    <a:lnTo>
                      <a:pt x="22" y="1"/>
                    </a:lnTo>
                    <a:lnTo>
                      <a:pt x="21" y="1"/>
                    </a:lnTo>
                    <a:lnTo>
                      <a:pt x="20" y="1"/>
                    </a:lnTo>
                    <a:lnTo>
                      <a:pt x="19" y="1"/>
                    </a:lnTo>
                    <a:lnTo>
                      <a:pt x="18" y="0"/>
                    </a:lnTo>
                    <a:lnTo>
                      <a:pt x="16"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5" name="Text Box 83"/>
              <p:cNvSpPr txBox="1">
                <a:spLocks noChangeArrowheads="1"/>
              </p:cNvSpPr>
              <p:nvPr/>
            </p:nvSpPr>
            <p:spPr bwMode="auto">
              <a:xfrm>
                <a:off x="4944" y="3504"/>
                <a:ext cx="92"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647700" indent="-238125" defTabSz="409575">
                  <a:defRPr>
                    <a:solidFill>
                      <a:schemeClr val="tx1"/>
                    </a:solidFill>
                    <a:latin typeface="Arial" panose="020B0604020202020204" pitchFamily="34" charset="0"/>
                    <a:ea typeface="宋体" panose="02010600030101010101" pitchFamily="2" charset="-122"/>
                  </a:defRPr>
                </a:lvl2pPr>
                <a:lvl3pPr marL="1108075" indent="-2873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000">
                    <a:solidFill>
                      <a:srgbClr val="00FF00"/>
                    </a:solidFill>
                    <a:latin typeface="微软雅黑" panose="020B0503020204020204" pitchFamily="34" charset="-122"/>
                    <a:ea typeface="微软雅黑" panose="020B0503020204020204" pitchFamily="34" charset="-122"/>
                  </a:rPr>
                  <a:t>B</a:t>
                </a:r>
                <a:endParaRPr lang="en-US" altLang="zh-CN" sz="2200">
                  <a:solidFill>
                    <a:srgbClr val="00FF00"/>
                  </a:solidFill>
                  <a:latin typeface="微软雅黑" panose="020B0503020204020204" pitchFamily="34" charset="-122"/>
                  <a:ea typeface="微软雅黑" panose="020B0503020204020204" pitchFamily="34" charset="-122"/>
                </a:endParaRPr>
              </a:p>
            </p:txBody>
          </p:sp>
        </p:grpSp>
        <p:sp>
          <p:nvSpPr>
            <p:cNvPr id="42" name="Freeform 84"/>
            <p:cNvSpPr>
              <a:spLocks/>
            </p:cNvSpPr>
            <p:nvPr/>
          </p:nvSpPr>
          <p:spPr bwMode="auto">
            <a:xfrm flipH="1">
              <a:off x="5502275" y="2525713"/>
              <a:ext cx="1239838" cy="684212"/>
            </a:xfrm>
            <a:custGeom>
              <a:avLst/>
              <a:gdLst>
                <a:gd name="T0" fmla="*/ 117 w 118"/>
                <a:gd name="T1" fmla="*/ 0 h 215"/>
                <a:gd name="T2" fmla="*/ 117 w 118"/>
                <a:gd name="T3" fmla="*/ 214 h 215"/>
                <a:gd name="T4" fmla="*/ 0 w 118"/>
                <a:gd name="T5" fmla="*/ 214 h 215"/>
              </a:gdLst>
              <a:ahLst/>
              <a:cxnLst>
                <a:cxn ang="0">
                  <a:pos x="T0" y="T1"/>
                </a:cxn>
                <a:cxn ang="0">
                  <a:pos x="T2" y="T3"/>
                </a:cxn>
                <a:cxn ang="0">
                  <a:pos x="T4" y="T5"/>
                </a:cxn>
              </a:cxnLst>
              <a:rect l="0" t="0" r="r" b="b"/>
              <a:pathLst>
                <a:path w="118" h="215">
                  <a:moveTo>
                    <a:pt x="117" y="0"/>
                  </a:moveTo>
                  <a:lnTo>
                    <a:pt x="117" y="214"/>
                  </a:lnTo>
                  <a:lnTo>
                    <a:pt x="0" y="214"/>
                  </a:lnTo>
                </a:path>
              </a:pathLst>
            </a:custGeom>
            <a:noFill/>
            <a:ln w="254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3" name="Freeform 85"/>
            <p:cNvSpPr>
              <a:spLocks/>
            </p:cNvSpPr>
            <p:nvPr/>
          </p:nvSpPr>
          <p:spPr bwMode="auto">
            <a:xfrm flipH="1">
              <a:off x="6710363" y="3209926"/>
              <a:ext cx="677862" cy="1128713"/>
            </a:xfrm>
            <a:custGeom>
              <a:avLst/>
              <a:gdLst>
                <a:gd name="T0" fmla="*/ 455 w 456"/>
                <a:gd name="T1" fmla="*/ 0 h 628"/>
                <a:gd name="T2" fmla="*/ 0 w 456"/>
                <a:gd name="T3" fmla="*/ 0 h 628"/>
                <a:gd name="T4" fmla="*/ 0 w 456"/>
                <a:gd name="T5" fmla="*/ 627 h 628"/>
              </a:gdLst>
              <a:ahLst/>
              <a:cxnLst>
                <a:cxn ang="0">
                  <a:pos x="T0" y="T1"/>
                </a:cxn>
                <a:cxn ang="0">
                  <a:pos x="T2" y="T3"/>
                </a:cxn>
                <a:cxn ang="0">
                  <a:pos x="T4" y="T5"/>
                </a:cxn>
              </a:cxnLst>
              <a:rect l="0" t="0" r="r" b="b"/>
              <a:pathLst>
                <a:path w="456" h="628">
                  <a:moveTo>
                    <a:pt x="455" y="0"/>
                  </a:moveTo>
                  <a:lnTo>
                    <a:pt x="0" y="0"/>
                  </a:lnTo>
                  <a:lnTo>
                    <a:pt x="0" y="627"/>
                  </a:ln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4" name="Line 86"/>
            <p:cNvSpPr>
              <a:spLocks noChangeShapeType="1"/>
            </p:cNvSpPr>
            <p:nvPr/>
          </p:nvSpPr>
          <p:spPr bwMode="auto">
            <a:xfrm flipH="1">
              <a:off x="6796089" y="4338639"/>
              <a:ext cx="592137" cy="15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5" name="Line 87"/>
            <p:cNvSpPr>
              <a:spLocks noChangeShapeType="1"/>
            </p:cNvSpPr>
            <p:nvPr/>
          </p:nvSpPr>
          <p:spPr bwMode="auto">
            <a:xfrm flipH="1" flipV="1">
              <a:off x="6042025" y="4044950"/>
              <a:ext cx="0" cy="4699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6" name="Line 88"/>
            <p:cNvSpPr>
              <a:spLocks noChangeShapeType="1"/>
            </p:cNvSpPr>
            <p:nvPr/>
          </p:nvSpPr>
          <p:spPr bwMode="auto">
            <a:xfrm flipH="1">
              <a:off x="6042025" y="4044950"/>
              <a:ext cx="107950" cy="15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7" name="Line 89"/>
            <p:cNvSpPr>
              <a:spLocks noChangeShapeType="1"/>
            </p:cNvSpPr>
            <p:nvPr/>
          </p:nvSpPr>
          <p:spPr bwMode="auto">
            <a:xfrm>
              <a:off x="6149975" y="4044950"/>
              <a:ext cx="808038" cy="15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8" name="Line 90"/>
            <p:cNvSpPr>
              <a:spLocks noChangeShapeType="1"/>
            </p:cNvSpPr>
            <p:nvPr/>
          </p:nvSpPr>
          <p:spPr bwMode="auto">
            <a:xfrm flipH="1" flipV="1">
              <a:off x="6958014" y="3635376"/>
              <a:ext cx="1587" cy="4095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9" name="Line 91"/>
            <p:cNvSpPr>
              <a:spLocks noChangeShapeType="1"/>
            </p:cNvSpPr>
            <p:nvPr/>
          </p:nvSpPr>
          <p:spPr bwMode="auto">
            <a:xfrm flipH="1">
              <a:off x="5718175" y="3635375"/>
              <a:ext cx="1239838" cy="15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0" name="Line 92"/>
            <p:cNvSpPr>
              <a:spLocks noChangeShapeType="1"/>
            </p:cNvSpPr>
            <p:nvPr/>
          </p:nvSpPr>
          <p:spPr bwMode="auto">
            <a:xfrm>
              <a:off x="5664201" y="2292350"/>
              <a:ext cx="2587625" cy="15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1" name="Line 93"/>
            <p:cNvSpPr>
              <a:spLocks noChangeShapeType="1"/>
            </p:cNvSpPr>
            <p:nvPr/>
          </p:nvSpPr>
          <p:spPr bwMode="auto">
            <a:xfrm flipH="1">
              <a:off x="6851650" y="2759075"/>
              <a:ext cx="1131888" cy="15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2" name="Line 94"/>
            <p:cNvSpPr>
              <a:spLocks noChangeShapeType="1"/>
            </p:cNvSpPr>
            <p:nvPr/>
          </p:nvSpPr>
          <p:spPr bwMode="auto">
            <a:xfrm flipH="1" flipV="1">
              <a:off x="8251825" y="2292350"/>
              <a:ext cx="0" cy="22796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3" name="Line 95"/>
            <p:cNvSpPr>
              <a:spLocks noChangeShapeType="1"/>
            </p:cNvSpPr>
            <p:nvPr/>
          </p:nvSpPr>
          <p:spPr bwMode="auto">
            <a:xfrm flipH="1" flipV="1">
              <a:off x="7983538" y="2759076"/>
              <a:ext cx="0" cy="18129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4" name="Line 96"/>
            <p:cNvSpPr>
              <a:spLocks noChangeShapeType="1"/>
            </p:cNvSpPr>
            <p:nvPr/>
          </p:nvSpPr>
          <p:spPr bwMode="auto">
            <a:xfrm flipH="1" flipV="1">
              <a:off x="6311900" y="4454526"/>
              <a:ext cx="1588" cy="603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nvGrpSpPr>
            <p:cNvPr id="55" name="Group 97"/>
            <p:cNvGrpSpPr>
              <a:grpSpLocks/>
            </p:cNvGrpSpPr>
            <p:nvPr/>
          </p:nvGrpSpPr>
          <p:grpSpPr bwMode="auto">
            <a:xfrm>
              <a:off x="5988051" y="3051175"/>
              <a:ext cx="398463" cy="317500"/>
              <a:chOff x="3600" y="1440"/>
              <a:chExt cx="356" cy="260"/>
            </a:xfrm>
          </p:grpSpPr>
          <p:sp>
            <p:nvSpPr>
              <p:cNvPr id="77" name="AutoShape 98" descr="50%"/>
              <p:cNvSpPr>
                <a:spLocks noChangeArrowheads="1"/>
              </p:cNvSpPr>
              <p:nvPr/>
            </p:nvSpPr>
            <p:spPr bwMode="auto">
              <a:xfrm flipV="1">
                <a:off x="3600" y="1440"/>
                <a:ext cx="356" cy="260"/>
              </a:xfrm>
              <a:prstGeom prst="roundRect">
                <a:avLst>
                  <a:gd name="adj" fmla="val 0"/>
                </a:avLst>
              </a:prstGeom>
              <a:pattFill prst="pct50">
                <a:fgClr>
                  <a:srgbClr val="C0E1FF"/>
                </a:fgClr>
                <a:bgClr>
                  <a:srgbClr val="FFFFFF"/>
                </a:bgClr>
              </a:pattFill>
              <a:ln w="1905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8" name="Freeform 99"/>
              <p:cNvSpPr>
                <a:spLocks/>
              </p:cNvSpPr>
              <p:nvPr/>
            </p:nvSpPr>
            <p:spPr bwMode="auto">
              <a:xfrm>
                <a:off x="3669" y="1537"/>
                <a:ext cx="281" cy="88"/>
              </a:xfrm>
              <a:custGeom>
                <a:avLst/>
                <a:gdLst>
                  <a:gd name="T0" fmla="*/ 0 w 212"/>
                  <a:gd name="T1" fmla="*/ 68 h 69"/>
                  <a:gd name="T2" fmla="*/ 32 w 212"/>
                  <a:gd name="T3" fmla="*/ 0 h 69"/>
                  <a:gd name="T4" fmla="*/ 65 w 212"/>
                  <a:gd name="T5" fmla="*/ 68 h 69"/>
                  <a:gd name="T6" fmla="*/ 99 w 212"/>
                  <a:gd name="T7" fmla="*/ 3 h 69"/>
                  <a:gd name="T8" fmla="*/ 129 w 212"/>
                  <a:gd name="T9" fmla="*/ 68 h 69"/>
                  <a:gd name="T10" fmla="*/ 158 w 212"/>
                  <a:gd name="T11" fmla="*/ 1 h 69"/>
                  <a:gd name="T12" fmla="*/ 174 w 212"/>
                  <a:gd name="T13" fmla="*/ 38 h 69"/>
                  <a:gd name="T14" fmla="*/ 211 w 212"/>
                  <a:gd name="T15" fmla="*/ 38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2" h="69">
                    <a:moveTo>
                      <a:pt x="0" y="68"/>
                    </a:moveTo>
                    <a:lnTo>
                      <a:pt x="32" y="0"/>
                    </a:lnTo>
                    <a:lnTo>
                      <a:pt x="65" y="68"/>
                    </a:lnTo>
                    <a:lnTo>
                      <a:pt x="99" y="3"/>
                    </a:lnTo>
                    <a:lnTo>
                      <a:pt x="129" y="68"/>
                    </a:lnTo>
                    <a:lnTo>
                      <a:pt x="158" y="1"/>
                    </a:lnTo>
                    <a:lnTo>
                      <a:pt x="174" y="38"/>
                    </a:lnTo>
                    <a:lnTo>
                      <a:pt x="211" y="38"/>
                    </a:lnTo>
                  </a:path>
                </a:pathLst>
              </a:custGeom>
              <a:noFill/>
              <a:ln w="1905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9" name="Line 100"/>
              <p:cNvSpPr>
                <a:spLocks noChangeShapeType="1"/>
              </p:cNvSpPr>
              <p:nvPr/>
            </p:nvSpPr>
            <p:spPr bwMode="auto">
              <a:xfrm flipH="1" flipV="1">
                <a:off x="3652" y="1585"/>
                <a:ext cx="11" cy="39"/>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0" name="Line 101"/>
              <p:cNvSpPr>
                <a:spLocks noChangeShapeType="1"/>
              </p:cNvSpPr>
              <p:nvPr/>
            </p:nvSpPr>
            <p:spPr bwMode="auto">
              <a:xfrm flipH="1">
                <a:off x="3600" y="1585"/>
                <a:ext cx="48"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nvGrpSpPr>
              <p:cNvPr id="81" name="Group 102"/>
              <p:cNvGrpSpPr>
                <a:grpSpLocks/>
              </p:cNvGrpSpPr>
              <p:nvPr/>
            </p:nvGrpSpPr>
            <p:grpSpPr bwMode="auto">
              <a:xfrm>
                <a:off x="3677" y="1464"/>
                <a:ext cx="211" cy="211"/>
                <a:chOff x="4944" y="1716"/>
                <a:chExt cx="159" cy="164"/>
              </a:xfrm>
            </p:grpSpPr>
            <p:sp>
              <p:nvSpPr>
                <p:cNvPr id="82" name="Line 103"/>
                <p:cNvSpPr>
                  <a:spLocks noChangeShapeType="1"/>
                </p:cNvSpPr>
                <p:nvPr/>
              </p:nvSpPr>
              <p:spPr bwMode="auto">
                <a:xfrm flipV="1">
                  <a:off x="4944" y="1753"/>
                  <a:ext cx="125" cy="12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3" name="Freeform 104"/>
                <p:cNvSpPr>
                  <a:spLocks/>
                </p:cNvSpPr>
                <p:nvPr/>
              </p:nvSpPr>
              <p:spPr bwMode="auto">
                <a:xfrm>
                  <a:off x="5062" y="1716"/>
                  <a:ext cx="41" cy="44"/>
                </a:xfrm>
                <a:custGeom>
                  <a:avLst/>
                  <a:gdLst>
                    <a:gd name="T0" fmla="*/ 0 w 41"/>
                    <a:gd name="T1" fmla="*/ 29 h 44"/>
                    <a:gd name="T2" fmla="*/ 14 w 41"/>
                    <a:gd name="T3" fmla="*/ 43 h 44"/>
                    <a:gd name="T4" fmla="*/ 40 w 41"/>
                    <a:gd name="T5" fmla="*/ 0 h 44"/>
                    <a:gd name="T6" fmla="*/ 0 w 41"/>
                    <a:gd name="T7" fmla="*/ 29 h 44"/>
                    <a:gd name="T8" fmla="*/ 0 w 41"/>
                    <a:gd name="T9" fmla="*/ 29 h 44"/>
                  </a:gdLst>
                  <a:ahLst/>
                  <a:cxnLst>
                    <a:cxn ang="0">
                      <a:pos x="T0" y="T1"/>
                    </a:cxn>
                    <a:cxn ang="0">
                      <a:pos x="T2" y="T3"/>
                    </a:cxn>
                    <a:cxn ang="0">
                      <a:pos x="T4" y="T5"/>
                    </a:cxn>
                    <a:cxn ang="0">
                      <a:pos x="T6" y="T7"/>
                    </a:cxn>
                    <a:cxn ang="0">
                      <a:pos x="T8" y="T9"/>
                    </a:cxn>
                  </a:cxnLst>
                  <a:rect l="0" t="0" r="r" b="b"/>
                  <a:pathLst>
                    <a:path w="41" h="44">
                      <a:moveTo>
                        <a:pt x="0" y="29"/>
                      </a:moveTo>
                      <a:lnTo>
                        <a:pt x="14" y="43"/>
                      </a:lnTo>
                      <a:lnTo>
                        <a:pt x="40" y="0"/>
                      </a:lnTo>
                      <a:lnTo>
                        <a:pt x="0" y="29"/>
                      </a:lnTo>
                      <a:lnTo>
                        <a:pt x="0" y="29"/>
                      </a:lnTo>
                    </a:path>
                  </a:pathLst>
                </a:custGeom>
                <a:solidFill>
                  <a:srgbClr val="0000FF"/>
                </a:solidFill>
                <a:ln w="19050" cap="flat"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grpSp>
        <p:sp>
          <p:nvSpPr>
            <p:cNvPr id="56" name="Text Box 105"/>
            <p:cNvSpPr txBox="1">
              <a:spLocks noChangeArrowheads="1"/>
            </p:cNvSpPr>
            <p:nvPr/>
          </p:nvSpPr>
          <p:spPr bwMode="auto">
            <a:xfrm rot="-21600000">
              <a:off x="4154488" y="2876550"/>
              <a:ext cx="96996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647700" indent="-238125" defTabSz="409575">
                <a:defRPr>
                  <a:solidFill>
                    <a:schemeClr val="tx1"/>
                  </a:solidFill>
                  <a:latin typeface="Arial" panose="020B0604020202020204" pitchFamily="34" charset="0"/>
                  <a:ea typeface="宋体" panose="02010600030101010101" pitchFamily="2" charset="-122"/>
                </a:defRPr>
              </a:lvl2pPr>
              <a:lvl3pPr marL="1108075" indent="-2873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000000"/>
                </a:buClr>
                <a:buSzPct val="90000"/>
                <a:buFont typeface="Monotype Sorts" pitchFamily="2" charset="2"/>
                <a:buNone/>
              </a:pPr>
              <a:r>
                <a:rPr lang="zh-CN" altLang="en-US" sz="1000" dirty="0">
                  <a:solidFill>
                    <a:srgbClr val="0000FF"/>
                  </a:solidFill>
                  <a:latin typeface="微软雅黑" panose="020B0503020204020204" pitchFamily="34" charset="-122"/>
                  <a:ea typeface="微软雅黑" panose="020B0503020204020204" pitchFamily="34" charset="-122"/>
                </a:rPr>
                <a:t>衰减器</a:t>
              </a:r>
            </a:p>
            <a:p>
              <a:pPr eaLnBrk="0" hangingPunct="0">
                <a:lnSpc>
                  <a:spcPct val="150000"/>
                </a:lnSpc>
                <a:buClr>
                  <a:srgbClr val="000000"/>
                </a:buClr>
                <a:buSzPct val="90000"/>
                <a:buFont typeface="Monotype Sorts" pitchFamily="2" charset="2"/>
                <a:buNone/>
              </a:pPr>
              <a:endParaRPr lang="en-US" altLang="zh-CN" sz="2200" dirty="0">
                <a:latin typeface="微软雅黑" panose="020B0503020204020204" pitchFamily="34" charset="-122"/>
                <a:ea typeface="微软雅黑" panose="020B0503020204020204" pitchFamily="34" charset="-122"/>
              </a:endParaRPr>
            </a:p>
          </p:txBody>
        </p:sp>
        <p:sp>
          <p:nvSpPr>
            <p:cNvPr id="57" name="Text Box 106"/>
            <p:cNvSpPr txBox="1">
              <a:spLocks noChangeArrowheads="1"/>
            </p:cNvSpPr>
            <p:nvPr/>
          </p:nvSpPr>
          <p:spPr bwMode="auto">
            <a:xfrm rot="-21600000">
              <a:off x="5664201" y="2881314"/>
              <a:ext cx="969963"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647700" indent="-238125" defTabSz="409575">
                <a:defRPr>
                  <a:solidFill>
                    <a:schemeClr val="tx1"/>
                  </a:solidFill>
                  <a:latin typeface="Arial" panose="020B0604020202020204" pitchFamily="34" charset="0"/>
                  <a:ea typeface="宋体" panose="02010600030101010101" pitchFamily="2" charset="-122"/>
                </a:defRPr>
              </a:lvl2pPr>
              <a:lvl3pPr marL="1108075" indent="-2873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000000"/>
                </a:buClr>
                <a:buSzPct val="90000"/>
                <a:buFont typeface="Monotype Sorts" pitchFamily="2" charset="2"/>
                <a:buNone/>
              </a:pPr>
              <a:r>
                <a:rPr lang="zh-CN" altLang="en-US" sz="1000">
                  <a:solidFill>
                    <a:srgbClr val="0000FF"/>
                  </a:solidFill>
                  <a:latin typeface="微软雅黑" panose="020B0503020204020204" pitchFamily="34" charset="-122"/>
                  <a:ea typeface="微软雅黑" panose="020B0503020204020204" pitchFamily="34" charset="-122"/>
                </a:rPr>
                <a:t>衰减器</a:t>
              </a:r>
            </a:p>
            <a:p>
              <a:pPr eaLnBrk="0" hangingPunct="0">
                <a:lnSpc>
                  <a:spcPct val="150000"/>
                </a:lnSpc>
                <a:buClr>
                  <a:srgbClr val="000000"/>
                </a:buClr>
                <a:buSzPct val="90000"/>
                <a:buFont typeface="Monotype Sorts" pitchFamily="2" charset="2"/>
                <a:buNone/>
              </a:pPr>
              <a:endParaRPr lang="en-US" altLang="zh-CN" sz="2200">
                <a:latin typeface="微软雅黑" panose="020B0503020204020204" pitchFamily="34" charset="-122"/>
                <a:ea typeface="微软雅黑" panose="020B0503020204020204" pitchFamily="34" charset="-122"/>
              </a:endParaRPr>
            </a:p>
          </p:txBody>
        </p:sp>
        <p:sp>
          <p:nvSpPr>
            <p:cNvPr id="58" name="Text Box 107"/>
            <p:cNvSpPr txBox="1">
              <a:spLocks noChangeArrowheads="1"/>
            </p:cNvSpPr>
            <p:nvPr/>
          </p:nvSpPr>
          <p:spPr bwMode="auto">
            <a:xfrm flipH="1">
              <a:off x="5029200" y="3946526"/>
              <a:ext cx="75565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647700" indent="-238125" defTabSz="409575">
                <a:defRPr>
                  <a:solidFill>
                    <a:schemeClr val="tx1"/>
                  </a:solidFill>
                  <a:latin typeface="Arial" panose="020B0604020202020204" pitchFamily="34" charset="0"/>
                  <a:ea typeface="宋体" panose="02010600030101010101" pitchFamily="2" charset="-122"/>
                </a:defRPr>
              </a:lvl2pPr>
              <a:lvl3pPr marL="1108075" indent="-2873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000000"/>
                </a:buClr>
                <a:buSzPct val="90000"/>
                <a:buFont typeface="Monotype Sorts" pitchFamily="2" charset="2"/>
                <a:buNone/>
              </a:pPr>
              <a:r>
                <a:rPr lang="zh-CN" altLang="en-US" sz="1000">
                  <a:solidFill>
                    <a:srgbClr val="0000FF"/>
                  </a:solidFill>
                  <a:latin typeface="微软雅黑" panose="020B0503020204020204" pitchFamily="34" charset="-122"/>
                  <a:ea typeface="微软雅黑" panose="020B0503020204020204" pitchFamily="34" charset="-122"/>
                </a:rPr>
                <a:t>测量接收机</a:t>
              </a:r>
              <a:endParaRPr lang="zh-CN" altLang="en-US" sz="2200">
                <a:latin typeface="微软雅黑" panose="020B0503020204020204" pitchFamily="34" charset="-122"/>
                <a:ea typeface="微软雅黑" panose="020B0503020204020204" pitchFamily="34" charset="-122"/>
              </a:endParaRPr>
            </a:p>
          </p:txBody>
        </p:sp>
        <p:sp>
          <p:nvSpPr>
            <p:cNvPr id="59" name="Text Box 108"/>
            <p:cNvSpPr txBox="1">
              <a:spLocks noChangeArrowheads="1"/>
            </p:cNvSpPr>
            <p:nvPr/>
          </p:nvSpPr>
          <p:spPr bwMode="auto">
            <a:xfrm rot="-21600000">
              <a:off x="4208464" y="2495551"/>
              <a:ext cx="820737" cy="176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647700" indent="-238125" defTabSz="409575">
                <a:defRPr>
                  <a:solidFill>
                    <a:schemeClr val="tx1"/>
                  </a:solidFill>
                  <a:latin typeface="Arial" panose="020B0604020202020204" pitchFamily="34" charset="0"/>
                  <a:ea typeface="宋体" panose="02010600030101010101" pitchFamily="2" charset="-122"/>
                </a:defRPr>
              </a:lvl2pPr>
              <a:lvl3pPr marL="1108075" indent="-2873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zh-CN" altLang="en-US" sz="1000">
                  <a:solidFill>
                    <a:srgbClr val="0000FF"/>
                  </a:solidFill>
                  <a:latin typeface="微软雅黑" panose="020B0503020204020204" pitchFamily="34" charset="-122"/>
                  <a:ea typeface="微软雅黑" panose="020B0503020204020204" pitchFamily="34" charset="-122"/>
                </a:rPr>
                <a:t>参考接收机</a:t>
              </a:r>
              <a:endParaRPr lang="zh-CN" altLang="en-US" sz="2200">
                <a:latin typeface="微软雅黑" panose="020B0503020204020204" pitchFamily="34" charset="-122"/>
                <a:ea typeface="微软雅黑" panose="020B0503020204020204" pitchFamily="34" charset="-122"/>
              </a:endParaRPr>
            </a:p>
          </p:txBody>
        </p:sp>
        <p:sp>
          <p:nvSpPr>
            <p:cNvPr id="60" name="Text Box 109"/>
            <p:cNvSpPr txBox="1">
              <a:spLocks noChangeArrowheads="1"/>
            </p:cNvSpPr>
            <p:nvPr/>
          </p:nvSpPr>
          <p:spPr bwMode="auto">
            <a:xfrm flipH="1">
              <a:off x="5949950" y="2495550"/>
              <a:ext cx="706438" cy="17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647700" indent="-238125" defTabSz="409575">
                <a:defRPr>
                  <a:solidFill>
                    <a:schemeClr val="tx1"/>
                  </a:solidFill>
                  <a:latin typeface="Arial" panose="020B0604020202020204" pitchFamily="34" charset="0"/>
                  <a:ea typeface="宋体" panose="02010600030101010101" pitchFamily="2" charset="-122"/>
                </a:defRPr>
              </a:lvl2pPr>
              <a:lvl3pPr marL="1108075" indent="-2873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zh-CN" altLang="en-US" sz="1000">
                  <a:solidFill>
                    <a:srgbClr val="0000FF"/>
                  </a:solidFill>
                  <a:latin typeface="微软雅黑" panose="020B0503020204020204" pitchFamily="34" charset="-122"/>
                  <a:ea typeface="微软雅黑" panose="020B0503020204020204" pitchFamily="34" charset="-122"/>
                </a:rPr>
                <a:t>参考接收机</a:t>
              </a:r>
              <a:endParaRPr lang="zh-CN" altLang="en-US" sz="2200">
                <a:latin typeface="微软雅黑" panose="020B0503020204020204" pitchFamily="34" charset="-122"/>
                <a:ea typeface="微软雅黑" panose="020B0503020204020204" pitchFamily="34" charset="-122"/>
              </a:endParaRPr>
            </a:p>
          </p:txBody>
        </p:sp>
        <p:sp>
          <p:nvSpPr>
            <p:cNvPr id="61" name="Text Box 110"/>
            <p:cNvSpPr txBox="1">
              <a:spLocks noChangeArrowheads="1"/>
            </p:cNvSpPr>
            <p:nvPr/>
          </p:nvSpPr>
          <p:spPr bwMode="auto">
            <a:xfrm>
              <a:off x="4167189" y="5237163"/>
              <a:ext cx="1131887"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zh-CN" altLang="en-US" sz="1100">
                  <a:solidFill>
                    <a:srgbClr val="000000"/>
                  </a:solidFill>
                  <a:latin typeface="微软雅黑" panose="020B0503020204020204" pitchFamily="34" charset="-122"/>
                  <a:ea typeface="微软雅黑" panose="020B0503020204020204" pitchFamily="34" charset="-122"/>
                </a:rPr>
                <a:t>反射信号</a:t>
              </a:r>
            </a:p>
            <a:p>
              <a:pPr algn="ctr" eaLnBrk="0" hangingPunct="0">
                <a:lnSpc>
                  <a:spcPct val="150000"/>
                </a:lnSpc>
                <a:buClr>
                  <a:srgbClr val="104160"/>
                </a:buClr>
                <a:buSzPct val="90000"/>
                <a:buFont typeface="Monotype Sorts" pitchFamily="2" charset="2"/>
                <a:buNone/>
              </a:pPr>
              <a:r>
                <a:rPr lang="en-US" altLang="zh-CN" sz="1100" b="1">
                  <a:solidFill>
                    <a:srgbClr val="000000"/>
                  </a:solidFill>
                  <a:latin typeface="微软雅黑" panose="020B0503020204020204" pitchFamily="34" charset="-122"/>
                  <a:ea typeface="微软雅黑" panose="020B0503020204020204" pitchFamily="34" charset="-122"/>
                </a:rPr>
                <a:t>(A)</a:t>
              </a:r>
              <a:endParaRPr lang="en-US" altLang="zh-CN" sz="2200">
                <a:latin typeface="微软雅黑" panose="020B0503020204020204" pitchFamily="34" charset="-122"/>
                <a:ea typeface="微软雅黑" panose="020B0503020204020204" pitchFamily="34" charset="-122"/>
              </a:endParaRPr>
            </a:p>
          </p:txBody>
        </p:sp>
        <p:sp>
          <p:nvSpPr>
            <p:cNvPr id="62" name="Text Box 111"/>
            <p:cNvSpPr txBox="1">
              <a:spLocks noChangeArrowheads="1"/>
            </p:cNvSpPr>
            <p:nvPr/>
          </p:nvSpPr>
          <p:spPr bwMode="auto">
            <a:xfrm>
              <a:off x="5448300" y="5237163"/>
              <a:ext cx="134778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zh-CN" altLang="en-US" sz="1100">
                  <a:solidFill>
                    <a:srgbClr val="000000"/>
                  </a:solidFill>
                  <a:latin typeface="微软雅黑" panose="020B0503020204020204" pitchFamily="34" charset="-122"/>
                  <a:ea typeface="微软雅黑" panose="020B0503020204020204" pitchFamily="34" charset="-122"/>
                </a:rPr>
                <a:t>传输信号</a:t>
              </a:r>
            </a:p>
            <a:p>
              <a:pPr algn="ctr" eaLnBrk="0" hangingPunct="0">
                <a:lnSpc>
                  <a:spcPct val="150000"/>
                </a:lnSpc>
                <a:buClr>
                  <a:srgbClr val="104160"/>
                </a:buClr>
                <a:buSzPct val="90000"/>
                <a:buFont typeface="Monotype Sorts" pitchFamily="2" charset="2"/>
                <a:buNone/>
              </a:pPr>
              <a:r>
                <a:rPr lang="en-US" altLang="zh-CN" sz="1100" b="1">
                  <a:solidFill>
                    <a:srgbClr val="000000"/>
                  </a:solidFill>
                  <a:latin typeface="微软雅黑" panose="020B0503020204020204" pitchFamily="34" charset="-122"/>
                  <a:ea typeface="微软雅黑" panose="020B0503020204020204" pitchFamily="34" charset="-122"/>
                </a:rPr>
                <a:t>(B)</a:t>
              </a:r>
              <a:endParaRPr lang="en-US" altLang="zh-CN" sz="2200">
                <a:latin typeface="微软雅黑" panose="020B0503020204020204" pitchFamily="34" charset="-122"/>
                <a:ea typeface="微软雅黑" panose="020B0503020204020204" pitchFamily="34" charset="-122"/>
              </a:endParaRPr>
            </a:p>
          </p:txBody>
        </p:sp>
        <p:sp>
          <p:nvSpPr>
            <p:cNvPr id="63" name="Text Box 112"/>
            <p:cNvSpPr txBox="1">
              <a:spLocks noChangeArrowheads="1"/>
            </p:cNvSpPr>
            <p:nvPr/>
          </p:nvSpPr>
          <p:spPr bwMode="auto">
            <a:xfrm>
              <a:off x="3062288" y="5751514"/>
              <a:ext cx="876300"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zh-CN" altLang="en-US" sz="1400" b="1">
                  <a:solidFill>
                    <a:srgbClr val="4181C0"/>
                  </a:solidFill>
                  <a:latin typeface="微软雅黑" panose="020B0503020204020204" pitchFamily="34" charset="-122"/>
                  <a:ea typeface="微软雅黑" panose="020B0503020204020204" pitchFamily="34" charset="-122"/>
                </a:rPr>
                <a:t>输入信号</a:t>
              </a:r>
              <a:endParaRPr lang="zh-CN" altLang="en-US" sz="2200" b="1">
                <a:latin typeface="微软雅黑" panose="020B0503020204020204" pitchFamily="34" charset="-122"/>
                <a:ea typeface="微软雅黑" panose="020B0503020204020204" pitchFamily="34" charset="-122"/>
              </a:endParaRPr>
            </a:p>
          </p:txBody>
        </p:sp>
        <p:sp>
          <p:nvSpPr>
            <p:cNvPr id="64" name="Text Box 113"/>
            <p:cNvSpPr txBox="1">
              <a:spLocks noChangeArrowheads="1"/>
            </p:cNvSpPr>
            <p:nvPr/>
          </p:nvSpPr>
          <p:spPr bwMode="auto">
            <a:xfrm>
              <a:off x="6823075" y="5710239"/>
              <a:ext cx="1289050"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zh-CN" altLang="en-US" sz="1400" b="1">
                  <a:solidFill>
                    <a:srgbClr val="C20000"/>
                  </a:solidFill>
                  <a:latin typeface="微软雅黑" panose="020B0503020204020204" pitchFamily="34" charset="-122"/>
                  <a:ea typeface="微软雅黑" panose="020B0503020204020204" pitchFamily="34" charset="-122"/>
                </a:rPr>
                <a:t>输出信号</a:t>
              </a:r>
              <a:endParaRPr lang="zh-CN" altLang="en-US" sz="2200" b="1">
                <a:latin typeface="微软雅黑" panose="020B0503020204020204" pitchFamily="34" charset="-122"/>
                <a:ea typeface="微软雅黑" panose="020B0503020204020204" pitchFamily="34" charset="-122"/>
              </a:endParaRPr>
            </a:p>
          </p:txBody>
        </p:sp>
        <p:grpSp>
          <p:nvGrpSpPr>
            <p:cNvPr id="65" name="Group 114"/>
            <p:cNvGrpSpPr>
              <a:grpSpLocks/>
            </p:cNvGrpSpPr>
            <p:nvPr/>
          </p:nvGrpSpPr>
          <p:grpSpPr bwMode="auto">
            <a:xfrm>
              <a:off x="4860925" y="5748338"/>
              <a:ext cx="1073150" cy="266700"/>
              <a:chOff x="2710" y="3581"/>
              <a:chExt cx="750" cy="187"/>
            </a:xfrm>
          </p:grpSpPr>
          <p:sp>
            <p:nvSpPr>
              <p:cNvPr id="73" name="Freeform 115"/>
              <p:cNvSpPr>
                <a:spLocks/>
              </p:cNvSpPr>
              <p:nvPr/>
            </p:nvSpPr>
            <p:spPr bwMode="auto">
              <a:xfrm>
                <a:off x="2812" y="3581"/>
                <a:ext cx="544" cy="187"/>
              </a:xfrm>
              <a:custGeom>
                <a:avLst/>
                <a:gdLst>
                  <a:gd name="T0" fmla="*/ 374 w 375"/>
                  <a:gd name="T1" fmla="*/ 0 h 148"/>
                  <a:gd name="T2" fmla="*/ 374 w 375"/>
                  <a:gd name="T3" fmla="*/ 147 h 148"/>
                  <a:gd name="T4" fmla="*/ 0 w 375"/>
                  <a:gd name="T5" fmla="*/ 147 h 148"/>
                  <a:gd name="T6" fmla="*/ 0 w 375"/>
                  <a:gd name="T7" fmla="*/ 0 h 148"/>
                  <a:gd name="T8" fmla="*/ 374 w 375"/>
                  <a:gd name="T9" fmla="*/ 0 h 148"/>
                  <a:gd name="T10" fmla="*/ 374 w 375"/>
                  <a:gd name="T11" fmla="*/ 0 h 148"/>
                </a:gdLst>
                <a:ahLst/>
                <a:cxnLst>
                  <a:cxn ang="0">
                    <a:pos x="T0" y="T1"/>
                  </a:cxn>
                  <a:cxn ang="0">
                    <a:pos x="T2" y="T3"/>
                  </a:cxn>
                  <a:cxn ang="0">
                    <a:pos x="T4" y="T5"/>
                  </a:cxn>
                  <a:cxn ang="0">
                    <a:pos x="T6" y="T7"/>
                  </a:cxn>
                  <a:cxn ang="0">
                    <a:pos x="T8" y="T9"/>
                  </a:cxn>
                  <a:cxn ang="0">
                    <a:pos x="T10" y="T11"/>
                  </a:cxn>
                </a:cxnLst>
                <a:rect l="0" t="0" r="r" b="b"/>
                <a:pathLst>
                  <a:path w="375" h="148">
                    <a:moveTo>
                      <a:pt x="374" y="0"/>
                    </a:moveTo>
                    <a:lnTo>
                      <a:pt x="374" y="147"/>
                    </a:lnTo>
                    <a:lnTo>
                      <a:pt x="0" y="147"/>
                    </a:lnTo>
                    <a:lnTo>
                      <a:pt x="0" y="0"/>
                    </a:lnTo>
                    <a:lnTo>
                      <a:pt x="374" y="0"/>
                    </a:lnTo>
                    <a:lnTo>
                      <a:pt x="374" y="0"/>
                    </a:lnTo>
                  </a:path>
                </a:pathLst>
              </a:custGeom>
              <a:gradFill rotWithShape="0">
                <a:gsLst>
                  <a:gs pos="0">
                    <a:srgbClr val="80FF80"/>
                  </a:gs>
                  <a:gs pos="50000">
                    <a:srgbClr val="FFFFFF"/>
                  </a:gs>
                  <a:gs pos="100000">
                    <a:srgbClr val="80FF80"/>
                  </a:gs>
                </a:gsLst>
                <a:lin ang="5400000" scaled="1"/>
              </a:gra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4" name="Freeform 116"/>
              <p:cNvSpPr>
                <a:spLocks/>
              </p:cNvSpPr>
              <p:nvPr/>
            </p:nvSpPr>
            <p:spPr bwMode="auto">
              <a:xfrm>
                <a:off x="2710" y="3634"/>
                <a:ext cx="104" cy="91"/>
              </a:xfrm>
              <a:custGeom>
                <a:avLst/>
                <a:gdLst>
                  <a:gd name="T0" fmla="*/ 71 w 72"/>
                  <a:gd name="T1" fmla="*/ 0 h 72"/>
                  <a:gd name="T2" fmla="*/ 71 w 72"/>
                  <a:gd name="T3" fmla="*/ 71 h 72"/>
                  <a:gd name="T4" fmla="*/ 0 w 72"/>
                  <a:gd name="T5" fmla="*/ 71 h 72"/>
                  <a:gd name="T6" fmla="*/ 0 w 72"/>
                  <a:gd name="T7" fmla="*/ 0 h 72"/>
                  <a:gd name="T8" fmla="*/ 71 w 72"/>
                  <a:gd name="T9" fmla="*/ 0 h 72"/>
                  <a:gd name="T10" fmla="*/ 71 w 72"/>
                  <a:gd name="T11" fmla="*/ 0 h 72"/>
                </a:gdLst>
                <a:ahLst/>
                <a:cxnLst>
                  <a:cxn ang="0">
                    <a:pos x="T0" y="T1"/>
                  </a:cxn>
                  <a:cxn ang="0">
                    <a:pos x="T2" y="T3"/>
                  </a:cxn>
                  <a:cxn ang="0">
                    <a:pos x="T4" y="T5"/>
                  </a:cxn>
                  <a:cxn ang="0">
                    <a:pos x="T6" y="T7"/>
                  </a:cxn>
                  <a:cxn ang="0">
                    <a:pos x="T8" y="T9"/>
                  </a:cxn>
                  <a:cxn ang="0">
                    <a:pos x="T10" y="T11"/>
                  </a:cxn>
                </a:cxnLst>
                <a:rect l="0" t="0" r="r" b="b"/>
                <a:pathLst>
                  <a:path w="72" h="72">
                    <a:moveTo>
                      <a:pt x="71" y="0"/>
                    </a:moveTo>
                    <a:lnTo>
                      <a:pt x="71" y="71"/>
                    </a:lnTo>
                    <a:lnTo>
                      <a:pt x="0" y="71"/>
                    </a:lnTo>
                    <a:lnTo>
                      <a:pt x="0" y="0"/>
                    </a:lnTo>
                    <a:lnTo>
                      <a:pt x="71" y="0"/>
                    </a:lnTo>
                    <a:lnTo>
                      <a:pt x="71" y="0"/>
                    </a:lnTo>
                  </a:path>
                </a:pathLst>
              </a:custGeom>
              <a:solidFill>
                <a:srgbClr val="FFFFFF"/>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5" name="Freeform 117"/>
              <p:cNvSpPr>
                <a:spLocks/>
              </p:cNvSpPr>
              <p:nvPr/>
            </p:nvSpPr>
            <p:spPr bwMode="auto">
              <a:xfrm>
                <a:off x="3354" y="3635"/>
                <a:ext cx="106" cy="90"/>
              </a:xfrm>
              <a:custGeom>
                <a:avLst/>
                <a:gdLst>
                  <a:gd name="T0" fmla="*/ 71 w 72"/>
                  <a:gd name="T1" fmla="*/ 0 h 71"/>
                  <a:gd name="T2" fmla="*/ 71 w 72"/>
                  <a:gd name="T3" fmla="*/ 70 h 71"/>
                  <a:gd name="T4" fmla="*/ 0 w 72"/>
                  <a:gd name="T5" fmla="*/ 70 h 71"/>
                  <a:gd name="T6" fmla="*/ 0 w 72"/>
                  <a:gd name="T7" fmla="*/ 0 h 71"/>
                  <a:gd name="T8" fmla="*/ 71 w 72"/>
                  <a:gd name="T9" fmla="*/ 0 h 71"/>
                  <a:gd name="T10" fmla="*/ 71 w 72"/>
                  <a:gd name="T11" fmla="*/ 0 h 71"/>
                </a:gdLst>
                <a:ahLst/>
                <a:cxnLst>
                  <a:cxn ang="0">
                    <a:pos x="T0" y="T1"/>
                  </a:cxn>
                  <a:cxn ang="0">
                    <a:pos x="T2" y="T3"/>
                  </a:cxn>
                  <a:cxn ang="0">
                    <a:pos x="T4" y="T5"/>
                  </a:cxn>
                  <a:cxn ang="0">
                    <a:pos x="T6" y="T7"/>
                  </a:cxn>
                  <a:cxn ang="0">
                    <a:pos x="T8" y="T9"/>
                  </a:cxn>
                  <a:cxn ang="0">
                    <a:pos x="T10" y="T11"/>
                  </a:cxn>
                </a:cxnLst>
                <a:rect l="0" t="0" r="r" b="b"/>
                <a:pathLst>
                  <a:path w="72" h="71">
                    <a:moveTo>
                      <a:pt x="71" y="0"/>
                    </a:moveTo>
                    <a:lnTo>
                      <a:pt x="71" y="70"/>
                    </a:lnTo>
                    <a:lnTo>
                      <a:pt x="0" y="70"/>
                    </a:lnTo>
                    <a:lnTo>
                      <a:pt x="0" y="0"/>
                    </a:lnTo>
                    <a:lnTo>
                      <a:pt x="71" y="0"/>
                    </a:lnTo>
                    <a:lnTo>
                      <a:pt x="71" y="0"/>
                    </a:lnTo>
                  </a:path>
                </a:pathLst>
              </a:custGeom>
              <a:solidFill>
                <a:srgbClr val="FFFFFF"/>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6" name="Text Box 118"/>
              <p:cNvSpPr txBox="1">
                <a:spLocks noChangeArrowheads="1"/>
              </p:cNvSpPr>
              <p:nvPr/>
            </p:nvSpPr>
            <p:spPr bwMode="auto">
              <a:xfrm>
                <a:off x="2940" y="3599"/>
                <a:ext cx="311" cy="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1100" b="1">
                    <a:solidFill>
                      <a:srgbClr val="000000"/>
                    </a:solidFill>
                    <a:latin typeface="微软雅黑" panose="020B0503020204020204" pitchFamily="34" charset="-122"/>
                    <a:ea typeface="微软雅黑" panose="020B0503020204020204" pitchFamily="34" charset="-122"/>
                  </a:rPr>
                  <a:t>DUT</a:t>
                </a:r>
                <a:endParaRPr lang="en-US" altLang="zh-CN" sz="2200">
                  <a:latin typeface="微软雅黑" panose="020B0503020204020204" pitchFamily="34" charset="-122"/>
                  <a:ea typeface="微软雅黑" panose="020B0503020204020204" pitchFamily="34" charset="-122"/>
                </a:endParaRPr>
              </a:p>
            </p:txBody>
          </p:sp>
        </p:grpSp>
        <p:sp>
          <p:nvSpPr>
            <p:cNvPr id="66" name="Freeform 119"/>
            <p:cNvSpPr>
              <a:spLocks/>
            </p:cNvSpPr>
            <p:nvPr/>
          </p:nvSpPr>
          <p:spPr bwMode="auto">
            <a:xfrm>
              <a:off x="3870325" y="5386389"/>
              <a:ext cx="947738" cy="681037"/>
            </a:xfrm>
            <a:custGeom>
              <a:avLst/>
              <a:gdLst>
                <a:gd name="T0" fmla="*/ 104 w 697"/>
                <a:gd name="T1" fmla="*/ 186 h 455"/>
                <a:gd name="T2" fmla="*/ 104 w 697"/>
                <a:gd name="T3" fmla="*/ 118 h 455"/>
                <a:gd name="T4" fmla="*/ 124 w 697"/>
                <a:gd name="T5" fmla="*/ 118 h 455"/>
                <a:gd name="T6" fmla="*/ 61 w 697"/>
                <a:gd name="T7" fmla="*/ 0 h 455"/>
                <a:gd name="T8" fmla="*/ 0 w 697"/>
                <a:gd name="T9" fmla="*/ 117 h 455"/>
                <a:gd name="T10" fmla="*/ 19 w 697"/>
                <a:gd name="T11" fmla="*/ 117 h 455"/>
                <a:gd name="T12" fmla="*/ 19 w 697"/>
                <a:gd name="T13" fmla="*/ 243 h 455"/>
                <a:gd name="T14" fmla="*/ 23 w 697"/>
                <a:gd name="T15" fmla="*/ 259 h 455"/>
                <a:gd name="T16" fmla="*/ 27 w 697"/>
                <a:gd name="T17" fmla="*/ 274 h 455"/>
                <a:gd name="T18" fmla="*/ 31 w 697"/>
                <a:gd name="T19" fmla="*/ 291 h 455"/>
                <a:gd name="T20" fmla="*/ 38 w 697"/>
                <a:gd name="T21" fmla="*/ 306 h 455"/>
                <a:gd name="T22" fmla="*/ 45 w 697"/>
                <a:gd name="T23" fmla="*/ 323 h 455"/>
                <a:gd name="T24" fmla="*/ 56 w 697"/>
                <a:gd name="T25" fmla="*/ 339 h 455"/>
                <a:gd name="T26" fmla="*/ 68 w 697"/>
                <a:gd name="T27" fmla="*/ 355 h 455"/>
                <a:gd name="T28" fmla="*/ 85 w 697"/>
                <a:gd name="T29" fmla="*/ 369 h 455"/>
                <a:gd name="T30" fmla="*/ 103 w 697"/>
                <a:gd name="T31" fmla="*/ 384 h 455"/>
                <a:gd name="T32" fmla="*/ 125 w 697"/>
                <a:gd name="T33" fmla="*/ 397 h 455"/>
                <a:gd name="T34" fmla="*/ 151 w 697"/>
                <a:gd name="T35" fmla="*/ 409 h 455"/>
                <a:gd name="T36" fmla="*/ 182 w 697"/>
                <a:gd name="T37" fmla="*/ 419 h 455"/>
                <a:gd name="T38" fmla="*/ 217 w 697"/>
                <a:gd name="T39" fmla="*/ 427 h 455"/>
                <a:gd name="T40" fmla="*/ 257 w 697"/>
                <a:gd name="T41" fmla="*/ 432 h 455"/>
                <a:gd name="T42" fmla="*/ 303 w 697"/>
                <a:gd name="T43" fmla="*/ 435 h 455"/>
                <a:gd name="T44" fmla="*/ 357 w 697"/>
                <a:gd name="T45" fmla="*/ 435 h 455"/>
                <a:gd name="T46" fmla="*/ 577 w 697"/>
                <a:gd name="T47" fmla="*/ 434 h 455"/>
                <a:gd name="T48" fmla="*/ 577 w 697"/>
                <a:gd name="T49" fmla="*/ 454 h 455"/>
                <a:gd name="T50" fmla="*/ 696 w 697"/>
                <a:gd name="T51" fmla="*/ 334 h 455"/>
                <a:gd name="T52" fmla="*/ 579 w 697"/>
                <a:gd name="T53" fmla="*/ 227 h 455"/>
                <a:gd name="T54" fmla="*/ 579 w 697"/>
                <a:gd name="T55" fmla="*/ 246 h 455"/>
                <a:gd name="T56" fmla="*/ 439 w 697"/>
                <a:gd name="T57" fmla="*/ 246 h 455"/>
                <a:gd name="T58" fmla="*/ 388 w 697"/>
                <a:gd name="T59" fmla="*/ 247 h 455"/>
                <a:gd name="T60" fmla="*/ 343 w 697"/>
                <a:gd name="T61" fmla="*/ 247 h 455"/>
                <a:gd name="T62" fmla="*/ 303 w 697"/>
                <a:gd name="T63" fmla="*/ 247 h 455"/>
                <a:gd name="T64" fmla="*/ 267 w 697"/>
                <a:gd name="T65" fmla="*/ 247 h 455"/>
                <a:gd name="T66" fmla="*/ 235 w 697"/>
                <a:gd name="T67" fmla="*/ 247 h 455"/>
                <a:gd name="T68" fmla="*/ 209 w 697"/>
                <a:gd name="T69" fmla="*/ 246 h 455"/>
                <a:gd name="T70" fmla="*/ 184 w 697"/>
                <a:gd name="T71" fmla="*/ 245 h 455"/>
                <a:gd name="T72" fmla="*/ 166 w 697"/>
                <a:gd name="T73" fmla="*/ 242 h 455"/>
                <a:gd name="T74" fmla="*/ 148 w 697"/>
                <a:gd name="T75" fmla="*/ 239 h 455"/>
                <a:gd name="T76" fmla="*/ 135 w 697"/>
                <a:gd name="T77" fmla="*/ 235 h 455"/>
                <a:gd name="T78" fmla="*/ 124 w 697"/>
                <a:gd name="T79" fmla="*/ 229 h 455"/>
                <a:gd name="T80" fmla="*/ 116 w 697"/>
                <a:gd name="T81" fmla="*/ 222 h 455"/>
                <a:gd name="T82" fmla="*/ 109 w 697"/>
                <a:gd name="T83" fmla="*/ 215 h 455"/>
                <a:gd name="T84" fmla="*/ 106 w 697"/>
                <a:gd name="T85" fmla="*/ 205 h 455"/>
                <a:gd name="T86" fmla="*/ 103 w 697"/>
                <a:gd name="T87" fmla="*/ 193 h 455"/>
                <a:gd name="T88" fmla="*/ 103 w 697"/>
                <a:gd name="T89" fmla="*/ 178 h 455"/>
                <a:gd name="T90" fmla="*/ 104 w 697"/>
                <a:gd name="T91" fmla="*/ 186 h 455"/>
                <a:gd name="T92" fmla="*/ 104 w 697"/>
                <a:gd name="T93" fmla="*/ 186 h 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97" h="455">
                  <a:moveTo>
                    <a:pt x="104" y="186"/>
                  </a:moveTo>
                  <a:lnTo>
                    <a:pt x="104" y="118"/>
                  </a:lnTo>
                  <a:lnTo>
                    <a:pt x="124" y="118"/>
                  </a:lnTo>
                  <a:lnTo>
                    <a:pt x="61" y="0"/>
                  </a:lnTo>
                  <a:lnTo>
                    <a:pt x="0" y="117"/>
                  </a:lnTo>
                  <a:lnTo>
                    <a:pt x="19" y="117"/>
                  </a:lnTo>
                  <a:lnTo>
                    <a:pt x="19" y="243"/>
                  </a:lnTo>
                  <a:lnTo>
                    <a:pt x="23" y="259"/>
                  </a:lnTo>
                  <a:lnTo>
                    <a:pt x="27" y="274"/>
                  </a:lnTo>
                  <a:lnTo>
                    <a:pt x="31" y="291"/>
                  </a:lnTo>
                  <a:lnTo>
                    <a:pt x="38" y="306"/>
                  </a:lnTo>
                  <a:lnTo>
                    <a:pt x="45" y="323"/>
                  </a:lnTo>
                  <a:lnTo>
                    <a:pt x="56" y="339"/>
                  </a:lnTo>
                  <a:lnTo>
                    <a:pt x="68" y="355"/>
                  </a:lnTo>
                  <a:lnTo>
                    <a:pt x="85" y="369"/>
                  </a:lnTo>
                  <a:lnTo>
                    <a:pt x="103" y="384"/>
                  </a:lnTo>
                  <a:lnTo>
                    <a:pt x="125" y="397"/>
                  </a:lnTo>
                  <a:lnTo>
                    <a:pt x="151" y="409"/>
                  </a:lnTo>
                  <a:lnTo>
                    <a:pt x="182" y="419"/>
                  </a:lnTo>
                  <a:lnTo>
                    <a:pt x="217" y="427"/>
                  </a:lnTo>
                  <a:lnTo>
                    <a:pt x="257" y="432"/>
                  </a:lnTo>
                  <a:lnTo>
                    <a:pt x="303" y="435"/>
                  </a:lnTo>
                  <a:lnTo>
                    <a:pt x="357" y="435"/>
                  </a:lnTo>
                  <a:lnTo>
                    <a:pt x="577" y="434"/>
                  </a:lnTo>
                  <a:lnTo>
                    <a:pt x="577" y="454"/>
                  </a:lnTo>
                  <a:lnTo>
                    <a:pt x="696" y="334"/>
                  </a:lnTo>
                  <a:lnTo>
                    <a:pt x="579" y="227"/>
                  </a:lnTo>
                  <a:lnTo>
                    <a:pt x="579" y="246"/>
                  </a:lnTo>
                  <a:lnTo>
                    <a:pt x="439" y="246"/>
                  </a:lnTo>
                  <a:lnTo>
                    <a:pt x="388" y="247"/>
                  </a:lnTo>
                  <a:lnTo>
                    <a:pt x="343" y="247"/>
                  </a:lnTo>
                  <a:lnTo>
                    <a:pt x="303" y="247"/>
                  </a:lnTo>
                  <a:lnTo>
                    <a:pt x="267" y="247"/>
                  </a:lnTo>
                  <a:lnTo>
                    <a:pt x="235" y="247"/>
                  </a:lnTo>
                  <a:lnTo>
                    <a:pt x="209" y="246"/>
                  </a:lnTo>
                  <a:lnTo>
                    <a:pt x="184" y="245"/>
                  </a:lnTo>
                  <a:lnTo>
                    <a:pt x="166" y="242"/>
                  </a:lnTo>
                  <a:lnTo>
                    <a:pt x="148" y="239"/>
                  </a:lnTo>
                  <a:lnTo>
                    <a:pt x="135" y="235"/>
                  </a:lnTo>
                  <a:lnTo>
                    <a:pt x="124" y="229"/>
                  </a:lnTo>
                  <a:lnTo>
                    <a:pt x="116" y="222"/>
                  </a:lnTo>
                  <a:lnTo>
                    <a:pt x="109" y="215"/>
                  </a:lnTo>
                  <a:lnTo>
                    <a:pt x="106" y="205"/>
                  </a:lnTo>
                  <a:lnTo>
                    <a:pt x="103" y="193"/>
                  </a:lnTo>
                  <a:lnTo>
                    <a:pt x="103" y="178"/>
                  </a:lnTo>
                  <a:lnTo>
                    <a:pt x="104" y="186"/>
                  </a:lnTo>
                  <a:lnTo>
                    <a:pt x="104" y="186"/>
                  </a:lnTo>
                </a:path>
              </a:pathLst>
            </a:custGeom>
            <a:solidFill>
              <a:srgbClr val="0000FF">
                <a:alpha val="50000"/>
              </a:srgbClr>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7" name="Freeform 120"/>
            <p:cNvSpPr>
              <a:spLocks/>
            </p:cNvSpPr>
            <p:nvPr/>
          </p:nvSpPr>
          <p:spPr bwMode="auto">
            <a:xfrm>
              <a:off x="5983288" y="5386388"/>
              <a:ext cx="876300" cy="658812"/>
            </a:xfrm>
            <a:custGeom>
              <a:avLst/>
              <a:gdLst>
                <a:gd name="T0" fmla="*/ 566 w 670"/>
                <a:gd name="T1" fmla="*/ 186 h 455"/>
                <a:gd name="T2" fmla="*/ 566 w 670"/>
                <a:gd name="T3" fmla="*/ 119 h 455"/>
                <a:gd name="T4" fmla="*/ 546 w 670"/>
                <a:gd name="T5" fmla="*/ 119 h 455"/>
                <a:gd name="T6" fmla="*/ 609 w 670"/>
                <a:gd name="T7" fmla="*/ 0 h 455"/>
                <a:gd name="T8" fmla="*/ 669 w 670"/>
                <a:gd name="T9" fmla="*/ 118 h 455"/>
                <a:gd name="T10" fmla="*/ 651 w 670"/>
                <a:gd name="T11" fmla="*/ 118 h 455"/>
                <a:gd name="T12" fmla="*/ 650 w 670"/>
                <a:gd name="T13" fmla="*/ 243 h 455"/>
                <a:gd name="T14" fmla="*/ 645 w 670"/>
                <a:gd name="T15" fmla="*/ 259 h 455"/>
                <a:gd name="T16" fmla="*/ 641 w 670"/>
                <a:gd name="T17" fmla="*/ 274 h 455"/>
                <a:gd name="T18" fmla="*/ 636 w 670"/>
                <a:gd name="T19" fmla="*/ 291 h 455"/>
                <a:gd name="T20" fmla="*/ 629 w 670"/>
                <a:gd name="T21" fmla="*/ 306 h 455"/>
                <a:gd name="T22" fmla="*/ 621 w 670"/>
                <a:gd name="T23" fmla="*/ 324 h 455"/>
                <a:gd name="T24" fmla="*/ 611 w 670"/>
                <a:gd name="T25" fmla="*/ 340 h 455"/>
                <a:gd name="T26" fmla="*/ 599 w 670"/>
                <a:gd name="T27" fmla="*/ 355 h 455"/>
                <a:gd name="T28" fmla="*/ 584 w 670"/>
                <a:gd name="T29" fmla="*/ 370 h 455"/>
                <a:gd name="T30" fmla="*/ 565 w 670"/>
                <a:gd name="T31" fmla="*/ 384 h 455"/>
                <a:gd name="T32" fmla="*/ 543 w 670"/>
                <a:gd name="T33" fmla="*/ 398 h 455"/>
                <a:gd name="T34" fmla="*/ 516 w 670"/>
                <a:gd name="T35" fmla="*/ 410 h 455"/>
                <a:gd name="T36" fmla="*/ 486 w 670"/>
                <a:gd name="T37" fmla="*/ 419 h 455"/>
                <a:gd name="T38" fmla="*/ 451 w 670"/>
                <a:gd name="T39" fmla="*/ 428 h 455"/>
                <a:gd name="T40" fmla="*/ 411 w 670"/>
                <a:gd name="T41" fmla="*/ 433 h 455"/>
                <a:gd name="T42" fmla="*/ 364 w 670"/>
                <a:gd name="T43" fmla="*/ 436 h 455"/>
                <a:gd name="T44" fmla="*/ 313 w 670"/>
                <a:gd name="T45" fmla="*/ 436 h 455"/>
                <a:gd name="T46" fmla="*/ 119 w 670"/>
                <a:gd name="T47" fmla="*/ 434 h 455"/>
                <a:gd name="T48" fmla="*/ 119 w 670"/>
                <a:gd name="T49" fmla="*/ 454 h 455"/>
                <a:gd name="T50" fmla="*/ 0 w 670"/>
                <a:gd name="T51" fmla="*/ 335 h 455"/>
                <a:gd name="T52" fmla="*/ 117 w 670"/>
                <a:gd name="T53" fmla="*/ 227 h 455"/>
                <a:gd name="T54" fmla="*/ 117 w 670"/>
                <a:gd name="T55" fmla="*/ 246 h 455"/>
                <a:gd name="T56" fmla="*/ 230 w 670"/>
                <a:gd name="T57" fmla="*/ 246 h 455"/>
                <a:gd name="T58" fmla="*/ 279 w 670"/>
                <a:gd name="T59" fmla="*/ 246 h 455"/>
                <a:gd name="T60" fmla="*/ 324 w 670"/>
                <a:gd name="T61" fmla="*/ 246 h 455"/>
                <a:gd name="T62" fmla="*/ 364 w 670"/>
                <a:gd name="T63" fmla="*/ 246 h 455"/>
                <a:gd name="T64" fmla="*/ 401 w 670"/>
                <a:gd name="T65" fmla="*/ 246 h 455"/>
                <a:gd name="T66" fmla="*/ 431 w 670"/>
                <a:gd name="T67" fmla="*/ 246 h 455"/>
                <a:gd name="T68" fmla="*/ 459 w 670"/>
                <a:gd name="T69" fmla="*/ 245 h 455"/>
                <a:gd name="T70" fmla="*/ 482 w 670"/>
                <a:gd name="T71" fmla="*/ 243 h 455"/>
                <a:gd name="T72" fmla="*/ 503 w 670"/>
                <a:gd name="T73" fmla="*/ 240 h 455"/>
                <a:gd name="T74" fmla="*/ 519 w 670"/>
                <a:gd name="T75" fmla="*/ 238 h 455"/>
                <a:gd name="T76" fmla="*/ 533 w 670"/>
                <a:gd name="T77" fmla="*/ 234 h 455"/>
                <a:gd name="T78" fmla="*/ 543 w 670"/>
                <a:gd name="T79" fmla="*/ 229 h 455"/>
                <a:gd name="T80" fmla="*/ 552 w 670"/>
                <a:gd name="T81" fmla="*/ 222 h 455"/>
                <a:gd name="T82" fmla="*/ 558 w 670"/>
                <a:gd name="T83" fmla="*/ 214 h 455"/>
                <a:gd name="T84" fmla="*/ 563 w 670"/>
                <a:gd name="T85" fmla="*/ 204 h 455"/>
                <a:gd name="T86" fmla="*/ 565 w 670"/>
                <a:gd name="T87" fmla="*/ 193 h 455"/>
                <a:gd name="T88" fmla="*/ 567 w 670"/>
                <a:gd name="T89" fmla="*/ 179 h 455"/>
                <a:gd name="T90" fmla="*/ 566 w 670"/>
                <a:gd name="T91" fmla="*/ 186 h 455"/>
                <a:gd name="T92" fmla="*/ 566 w 670"/>
                <a:gd name="T93" fmla="*/ 186 h 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70" h="455">
                  <a:moveTo>
                    <a:pt x="566" y="186"/>
                  </a:moveTo>
                  <a:lnTo>
                    <a:pt x="566" y="119"/>
                  </a:lnTo>
                  <a:lnTo>
                    <a:pt x="546" y="119"/>
                  </a:lnTo>
                  <a:lnTo>
                    <a:pt x="609" y="0"/>
                  </a:lnTo>
                  <a:lnTo>
                    <a:pt x="669" y="118"/>
                  </a:lnTo>
                  <a:lnTo>
                    <a:pt x="651" y="118"/>
                  </a:lnTo>
                  <a:lnTo>
                    <a:pt x="650" y="243"/>
                  </a:lnTo>
                  <a:lnTo>
                    <a:pt x="645" y="259"/>
                  </a:lnTo>
                  <a:lnTo>
                    <a:pt x="641" y="274"/>
                  </a:lnTo>
                  <a:lnTo>
                    <a:pt x="636" y="291"/>
                  </a:lnTo>
                  <a:lnTo>
                    <a:pt x="629" y="306"/>
                  </a:lnTo>
                  <a:lnTo>
                    <a:pt x="621" y="324"/>
                  </a:lnTo>
                  <a:lnTo>
                    <a:pt x="611" y="340"/>
                  </a:lnTo>
                  <a:lnTo>
                    <a:pt x="599" y="355"/>
                  </a:lnTo>
                  <a:lnTo>
                    <a:pt x="584" y="370"/>
                  </a:lnTo>
                  <a:lnTo>
                    <a:pt x="565" y="384"/>
                  </a:lnTo>
                  <a:lnTo>
                    <a:pt x="543" y="398"/>
                  </a:lnTo>
                  <a:lnTo>
                    <a:pt x="516" y="410"/>
                  </a:lnTo>
                  <a:lnTo>
                    <a:pt x="486" y="419"/>
                  </a:lnTo>
                  <a:lnTo>
                    <a:pt x="451" y="428"/>
                  </a:lnTo>
                  <a:lnTo>
                    <a:pt x="411" y="433"/>
                  </a:lnTo>
                  <a:lnTo>
                    <a:pt x="364" y="436"/>
                  </a:lnTo>
                  <a:lnTo>
                    <a:pt x="313" y="436"/>
                  </a:lnTo>
                  <a:lnTo>
                    <a:pt x="119" y="434"/>
                  </a:lnTo>
                  <a:lnTo>
                    <a:pt x="119" y="454"/>
                  </a:lnTo>
                  <a:lnTo>
                    <a:pt x="0" y="335"/>
                  </a:lnTo>
                  <a:lnTo>
                    <a:pt x="117" y="227"/>
                  </a:lnTo>
                  <a:lnTo>
                    <a:pt x="117" y="246"/>
                  </a:lnTo>
                  <a:lnTo>
                    <a:pt x="230" y="246"/>
                  </a:lnTo>
                  <a:lnTo>
                    <a:pt x="279" y="246"/>
                  </a:lnTo>
                  <a:lnTo>
                    <a:pt x="324" y="246"/>
                  </a:lnTo>
                  <a:lnTo>
                    <a:pt x="364" y="246"/>
                  </a:lnTo>
                  <a:lnTo>
                    <a:pt x="401" y="246"/>
                  </a:lnTo>
                  <a:lnTo>
                    <a:pt x="431" y="246"/>
                  </a:lnTo>
                  <a:lnTo>
                    <a:pt x="459" y="245"/>
                  </a:lnTo>
                  <a:lnTo>
                    <a:pt x="482" y="243"/>
                  </a:lnTo>
                  <a:lnTo>
                    <a:pt x="503" y="240"/>
                  </a:lnTo>
                  <a:lnTo>
                    <a:pt x="519" y="238"/>
                  </a:lnTo>
                  <a:lnTo>
                    <a:pt x="533" y="234"/>
                  </a:lnTo>
                  <a:lnTo>
                    <a:pt x="543" y="229"/>
                  </a:lnTo>
                  <a:lnTo>
                    <a:pt x="552" y="222"/>
                  </a:lnTo>
                  <a:lnTo>
                    <a:pt x="558" y="214"/>
                  </a:lnTo>
                  <a:lnTo>
                    <a:pt x="563" y="204"/>
                  </a:lnTo>
                  <a:lnTo>
                    <a:pt x="565" y="193"/>
                  </a:lnTo>
                  <a:lnTo>
                    <a:pt x="567" y="179"/>
                  </a:lnTo>
                  <a:lnTo>
                    <a:pt x="566" y="186"/>
                  </a:lnTo>
                  <a:lnTo>
                    <a:pt x="566" y="186"/>
                  </a:lnTo>
                </a:path>
              </a:pathLst>
            </a:custGeom>
            <a:solidFill>
              <a:srgbClr val="FF6600">
                <a:alpha val="50000"/>
              </a:srgbClr>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8" name="Line 122"/>
            <p:cNvSpPr>
              <a:spLocks noChangeShapeType="1"/>
            </p:cNvSpPr>
            <p:nvPr/>
          </p:nvSpPr>
          <p:spPr bwMode="auto">
            <a:xfrm>
              <a:off x="4478339" y="4514850"/>
              <a:ext cx="268287" cy="0"/>
            </a:xfrm>
            <a:prstGeom prst="line">
              <a:avLst/>
            </a:prstGeom>
            <a:noFill/>
            <a:ln w="28575">
              <a:solidFill>
                <a:srgbClr val="00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9" name="Line 123"/>
            <p:cNvSpPr>
              <a:spLocks noChangeShapeType="1"/>
            </p:cNvSpPr>
            <p:nvPr/>
          </p:nvSpPr>
          <p:spPr bwMode="auto">
            <a:xfrm flipV="1">
              <a:off x="4746625" y="4046538"/>
              <a:ext cx="1588" cy="468312"/>
            </a:xfrm>
            <a:prstGeom prst="line">
              <a:avLst/>
            </a:prstGeom>
            <a:noFill/>
            <a:ln w="28575">
              <a:solidFill>
                <a:srgbClr val="00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0" name="Line 124"/>
            <p:cNvSpPr>
              <a:spLocks noChangeShapeType="1"/>
            </p:cNvSpPr>
            <p:nvPr/>
          </p:nvSpPr>
          <p:spPr bwMode="auto">
            <a:xfrm>
              <a:off x="2538414" y="4630738"/>
              <a:ext cx="268287" cy="0"/>
            </a:xfrm>
            <a:prstGeom prst="line">
              <a:avLst/>
            </a:prstGeom>
            <a:noFill/>
            <a:ln w="28575">
              <a:solidFill>
                <a:srgbClr val="00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1" name="Line 125"/>
            <p:cNvSpPr>
              <a:spLocks noChangeShapeType="1"/>
            </p:cNvSpPr>
            <p:nvPr/>
          </p:nvSpPr>
          <p:spPr bwMode="auto">
            <a:xfrm>
              <a:off x="7983539" y="4572000"/>
              <a:ext cx="268287" cy="0"/>
            </a:xfrm>
            <a:prstGeom prst="line">
              <a:avLst/>
            </a:prstGeom>
            <a:noFill/>
            <a:ln w="28575">
              <a:solidFill>
                <a:srgbClr val="00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2" name="Line 126"/>
            <p:cNvSpPr>
              <a:spLocks noChangeShapeType="1"/>
            </p:cNvSpPr>
            <p:nvPr/>
          </p:nvSpPr>
          <p:spPr bwMode="auto">
            <a:xfrm>
              <a:off x="6042026" y="4514850"/>
              <a:ext cx="271463" cy="0"/>
            </a:xfrm>
            <a:prstGeom prst="line">
              <a:avLst/>
            </a:prstGeom>
            <a:noFill/>
            <a:ln w="28575">
              <a:solidFill>
                <a:srgbClr val="00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127" name="Text Box 121"/>
          <p:cNvSpPr txBox="1">
            <a:spLocks noChangeArrowheads="1"/>
          </p:cNvSpPr>
          <p:nvPr/>
        </p:nvSpPr>
        <p:spPr bwMode="auto">
          <a:xfrm>
            <a:off x="8365084" y="1633781"/>
            <a:ext cx="2504122" cy="3640348"/>
          </a:xfrm>
          <a:prstGeom prst="rect">
            <a:avLst/>
          </a:prstGeom>
          <a:solidFill>
            <a:schemeClr val="bg1">
              <a:lumMod val="95000"/>
            </a:schemeClr>
          </a:solidFill>
          <a:ln/>
          <a:extLst/>
        </p:spPr>
        <p:style>
          <a:lnRef idx="1">
            <a:schemeClr val="accent3"/>
          </a:lnRef>
          <a:fillRef idx="2">
            <a:schemeClr val="accent3"/>
          </a:fillRef>
          <a:effectRef idx="1">
            <a:schemeClr val="accent3"/>
          </a:effectRef>
          <a:fontRef idx="minor">
            <a:schemeClr val="dk1"/>
          </a:fontRef>
        </p:style>
        <p:txBody>
          <a:bodyPr wrap="square">
            <a:noAutofit/>
          </a:bodyPr>
          <a:lstStyle/>
          <a:p>
            <a:pPr>
              <a:lnSpc>
                <a:spcPct val="150000"/>
              </a:lnSpc>
            </a:pPr>
            <a:r>
              <a:rPr lang="zh-CN" altLang="en-US" sz="2400" b="1" dirty="0">
                <a:solidFill>
                  <a:schemeClr val="tx1"/>
                </a:solidFill>
                <a:latin typeface="微软雅黑" panose="020B0503020204020204" pitchFamily="34" charset="-122"/>
                <a:ea typeface="微软雅黑" panose="020B0503020204020204" pitchFamily="34" charset="-122"/>
              </a:rPr>
              <a:t>网络分析仪组成</a:t>
            </a:r>
          </a:p>
          <a:p>
            <a:pPr>
              <a:lnSpc>
                <a:spcPct val="150000"/>
              </a:lnSpc>
            </a:pPr>
            <a:endParaRPr lang="zh-CN" altLang="en-US" b="1"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b="1" dirty="0">
                <a:solidFill>
                  <a:schemeClr val="tx1"/>
                </a:solidFill>
                <a:latin typeface="微软雅黑" panose="020B0503020204020204" pitchFamily="34" charset="-122"/>
                <a:ea typeface="微软雅黑" panose="020B0503020204020204" pitchFamily="34" charset="-122"/>
              </a:rPr>
              <a:t>•</a:t>
            </a:r>
            <a:r>
              <a:rPr lang="zh-CN" altLang="en-US" b="1" dirty="0">
                <a:solidFill>
                  <a:schemeClr val="tx1"/>
                </a:solidFill>
                <a:latin typeface="微软雅黑" panose="020B0503020204020204" pitchFamily="34" charset="-122"/>
                <a:ea typeface="微软雅黑" panose="020B0503020204020204" pitchFamily="34" charset="-122"/>
              </a:rPr>
              <a:t>信号源</a:t>
            </a:r>
          </a:p>
          <a:p>
            <a:pPr>
              <a:lnSpc>
                <a:spcPct val="150000"/>
              </a:lnSpc>
            </a:pPr>
            <a:r>
              <a:rPr lang="en-US" altLang="zh-CN" b="1" dirty="0">
                <a:solidFill>
                  <a:schemeClr val="tx1"/>
                </a:solidFill>
                <a:latin typeface="微软雅黑" panose="020B0503020204020204" pitchFamily="34" charset="-122"/>
                <a:ea typeface="微软雅黑" panose="020B0503020204020204" pitchFamily="34" charset="-122"/>
              </a:rPr>
              <a:t>•</a:t>
            </a:r>
            <a:r>
              <a:rPr lang="zh-CN" altLang="en-US" b="1" dirty="0">
                <a:solidFill>
                  <a:schemeClr val="tx1"/>
                </a:solidFill>
                <a:latin typeface="微软雅黑" panose="020B0503020204020204" pitchFamily="34" charset="-122"/>
                <a:ea typeface="微软雅黑" panose="020B0503020204020204" pitchFamily="34" charset="-122"/>
              </a:rPr>
              <a:t>信号分离装置</a:t>
            </a:r>
          </a:p>
          <a:p>
            <a:pPr>
              <a:lnSpc>
                <a:spcPct val="150000"/>
              </a:lnSpc>
            </a:pPr>
            <a:r>
              <a:rPr lang="en-US" altLang="zh-CN" b="1" dirty="0">
                <a:solidFill>
                  <a:schemeClr val="tx1"/>
                </a:solidFill>
                <a:latin typeface="微软雅黑" panose="020B0503020204020204" pitchFamily="34" charset="-122"/>
                <a:ea typeface="微软雅黑" panose="020B0503020204020204" pitchFamily="34" charset="-122"/>
              </a:rPr>
              <a:t>•</a:t>
            </a:r>
            <a:r>
              <a:rPr lang="zh-CN" altLang="en-US" b="1" dirty="0">
                <a:solidFill>
                  <a:schemeClr val="tx1"/>
                </a:solidFill>
                <a:latin typeface="微软雅黑" panose="020B0503020204020204" pitchFamily="34" charset="-122"/>
                <a:ea typeface="微软雅黑" panose="020B0503020204020204" pitchFamily="34" charset="-122"/>
              </a:rPr>
              <a:t>接收机</a:t>
            </a:r>
          </a:p>
          <a:p>
            <a:pPr>
              <a:lnSpc>
                <a:spcPct val="150000"/>
              </a:lnSpc>
            </a:pPr>
            <a:r>
              <a:rPr lang="en-US" altLang="zh-CN" b="1" dirty="0">
                <a:solidFill>
                  <a:schemeClr val="tx1"/>
                </a:solidFill>
                <a:latin typeface="微软雅黑" panose="020B0503020204020204" pitchFamily="34" charset="-122"/>
                <a:ea typeface="微软雅黑" panose="020B0503020204020204" pitchFamily="34" charset="-122"/>
              </a:rPr>
              <a:t>•</a:t>
            </a:r>
            <a:r>
              <a:rPr lang="zh-CN" altLang="en-US" b="1" dirty="0">
                <a:solidFill>
                  <a:schemeClr val="tx1"/>
                </a:solidFill>
                <a:latin typeface="微软雅黑" panose="020B0503020204020204" pitchFamily="34" charset="-122"/>
                <a:ea typeface="微软雅黑" panose="020B0503020204020204" pitchFamily="34" charset="-122"/>
              </a:rPr>
              <a:t>处理显示单元</a:t>
            </a:r>
          </a:p>
          <a:p>
            <a:pPr>
              <a:lnSpc>
                <a:spcPct val="150000"/>
              </a:lnSpc>
            </a:pPr>
            <a:endParaRPr lang="en-US" altLang="zh-CN" b="1"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83673571"/>
      </p:ext>
    </p:extLst>
  </p:cSld>
  <p:clrMapOvr>
    <a:masterClrMapping/>
  </p:clrMapOvr>
  <p:transition spd="slow">
    <p:push di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网络分析仪测试信号流程</a:t>
            </a:r>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06AD1E59-A072-4C85-9C1E-C78BF67A239A}" type="datetime3">
              <a:rPr lang="zh-CN" altLang="en-US" smtClean="0"/>
              <a:t>2019年5月6日星期一</a:t>
            </a:fld>
            <a:endParaRPr lang="zh-CN" altLang="en-US"/>
          </a:p>
        </p:txBody>
      </p:sp>
      <p:sp>
        <p:nvSpPr>
          <p:cNvPr id="5" name="页脚占位符 4"/>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6" name="灯片编号占位符 5"/>
          <p:cNvSpPr>
            <a:spLocks noGrp="1"/>
          </p:cNvSpPr>
          <p:nvPr>
            <p:ph type="sldNum" sz="quarter" idx="12"/>
          </p:nvPr>
        </p:nvSpPr>
        <p:spPr/>
        <p:txBody>
          <a:bodyPr/>
          <a:lstStyle/>
          <a:p>
            <a:fld id="{D5BA5A3D-E723-4639-877B-B187790AC552}" type="slidenum">
              <a:rPr lang="zh-CN" altLang="en-US" smtClean="0"/>
              <a:pPr/>
              <a:t>11</a:t>
            </a:fld>
            <a:endParaRPr lang="zh-CN" altLang="en-US"/>
          </a:p>
        </p:txBody>
      </p:sp>
      <p:sp>
        <p:nvSpPr>
          <p:cNvPr id="10" name="Rectangle 114"/>
          <p:cNvSpPr>
            <a:spLocks noChangeArrowheads="1"/>
          </p:cNvSpPr>
          <p:nvPr/>
        </p:nvSpPr>
        <p:spPr bwMode="auto">
          <a:xfrm>
            <a:off x="8111825" y="4040285"/>
            <a:ext cx="3791624" cy="945332"/>
          </a:xfrm>
          <a:prstGeom prst="rect">
            <a:avLst/>
          </a:prstGeom>
          <a:solidFill>
            <a:schemeClr val="bg1">
              <a:lumMod val="95000"/>
            </a:schemeClr>
          </a:solidFill>
          <a:ln>
            <a:solidFill>
              <a:schemeClr val="bg1">
                <a:lumMod val="85000"/>
              </a:schemeClr>
            </a:solidFill>
          </a:ln>
          <a:extLst/>
        </p:spPr>
        <p:style>
          <a:lnRef idx="1">
            <a:schemeClr val="accent4"/>
          </a:lnRef>
          <a:fillRef idx="2">
            <a:schemeClr val="accent4"/>
          </a:fillRef>
          <a:effectRef idx="1">
            <a:schemeClr val="accent4"/>
          </a:effectRef>
          <a:fontRef idx="minor">
            <a:schemeClr val="dk1"/>
          </a:fontRef>
        </p:style>
        <p:txBody>
          <a:bodyPr wrap="none" lIns="0" tIns="0" rIns="0" bIns="0"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 name="Text Box 115"/>
          <p:cNvSpPr txBox="1">
            <a:spLocks noChangeArrowheads="1"/>
          </p:cNvSpPr>
          <p:nvPr/>
        </p:nvSpPr>
        <p:spPr bwMode="auto">
          <a:xfrm>
            <a:off x="8505468" y="3946940"/>
            <a:ext cx="253119" cy="553998"/>
          </a:xfrm>
          <a:prstGeom prst="rect">
            <a:avLst/>
          </a:prstGeom>
          <a:no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0" hangingPunct="0">
              <a:lnSpc>
                <a:spcPct val="150000"/>
              </a:lnSpc>
            </a:pPr>
            <a:r>
              <a:rPr lang="en-US" altLang="zh-CN" sz="2400" dirty="0">
                <a:latin typeface="微软雅黑" panose="020B0503020204020204" pitchFamily="34" charset="-122"/>
                <a:ea typeface="微软雅黑" panose="020B0503020204020204" pitchFamily="34" charset="-122"/>
              </a:rPr>
              <a:t>A</a:t>
            </a:r>
          </a:p>
        </p:txBody>
      </p:sp>
      <p:sp>
        <p:nvSpPr>
          <p:cNvPr id="12" name="Text Box 116"/>
          <p:cNvSpPr txBox="1">
            <a:spLocks noChangeArrowheads="1"/>
          </p:cNvSpPr>
          <p:nvPr/>
        </p:nvSpPr>
        <p:spPr bwMode="auto">
          <a:xfrm>
            <a:off x="8525894" y="4346868"/>
            <a:ext cx="234370" cy="553998"/>
          </a:xfrm>
          <a:prstGeom prst="rect">
            <a:avLst/>
          </a:prstGeom>
          <a:solidFill>
            <a:schemeClr val="bg1">
              <a:lumMod val="95000"/>
            </a:schemeClr>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0" hangingPunct="0">
              <a:lnSpc>
                <a:spcPct val="150000"/>
              </a:lnSpc>
            </a:pPr>
            <a:r>
              <a:rPr lang="en-US" altLang="zh-CN" sz="2400" dirty="0">
                <a:latin typeface="微软雅黑" panose="020B0503020204020204" pitchFamily="34" charset="-122"/>
                <a:ea typeface="微软雅黑" panose="020B0503020204020204" pitchFamily="34" charset="-122"/>
              </a:rPr>
              <a:t>R</a:t>
            </a:r>
          </a:p>
        </p:txBody>
      </p:sp>
      <p:sp>
        <p:nvSpPr>
          <p:cNvPr id="13" name="Text Box 117"/>
          <p:cNvSpPr txBox="1">
            <a:spLocks noChangeArrowheads="1"/>
          </p:cNvSpPr>
          <p:nvPr/>
        </p:nvSpPr>
        <p:spPr bwMode="auto">
          <a:xfrm>
            <a:off x="8988731" y="4431619"/>
            <a:ext cx="3103046" cy="553998"/>
          </a:xfrm>
          <a:prstGeom prst="rect">
            <a:avLst/>
          </a:prstGeom>
          <a:no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0" hangingPunct="0">
              <a:lnSpc>
                <a:spcPct val="150000"/>
              </a:lnSpc>
            </a:pPr>
            <a:r>
              <a:rPr lang="en-US" altLang="zh-CN" sz="24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被测件输入端反射特性</a:t>
            </a:r>
          </a:p>
        </p:txBody>
      </p:sp>
      <p:sp>
        <p:nvSpPr>
          <p:cNvPr id="14" name="Line 118"/>
          <p:cNvSpPr>
            <a:spLocks noChangeShapeType="1"/>
          </p:cNvSpPr>
          <p:nvPr/>
        </p:nvSpPr>
        <p:spPr bwMode="auto">
          <a:xfrm>
            <a:off x="8327214" y="4444480"/>
            <a:ext cx="581185" cy="0"/>
          </a:xfrm>
          <a:prstGeom prst="line">
            <a:avLst/>
          </a:prstGeom>
          <a:solidFill>
            <a:schemeClr val="bg1">
              <a:lumMod val="95000"/>
            </a:schemeClr>
          </a:solidFill>
          <a:ln w="254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nvGrpSpPr>
          <p:cNvPr id="15" name="组合 14"/>
          <p:cNvGrpSpPr/>
          <p:nvPr/>
        </p:nvGrpSpPr>
        <p:grpSpPr>
          <a:xfrm>
            <a:off x="1023638" y="1508484"/>
            <a:ext cx="7442399" cy="4847866"/>
            <a:chOff x="2320131" y="765754"/>
            <a:chExt cx="7442399" cy="4847866"/>
          </a:xfrm>
        </p:grpSpPr>
        <p:sp>
          <p:nvSpPr>
            <p:cNvPr id="16" name="Rectangle 3"/>
            <p:cNvSpPr>
              <a:spLocks noChangeArrowheads="1"/>
            </p:cNvSpPr>
            <p:nvPr/>
          </p:nvSpPr>
          <p:spPr bwMode="auto">
            <a:xfrm>
              <a:off x="2320131" y="765754"/>
              <a:ext cx="6580187" cy="4525962"/>
            </a:xfrm>
            <a:prstGeom prst="rect">
              <a:avLst/>
            </a:prstGeom>
            <a:solidFill>
              <a:schemeClr val="bg1">
                <a:lumMod val="95000"/>
              </a:schemeClr>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eaLnBrk="0" hangingPunct="0">
                <a:lnSpc>
                  <a:spcPct val="150000"/>
                </a:lnSpc>
              </a:pPr>
              <a:endParaRPr lang="en-US" altLang="zh-CN" sz="2400">
                <a:latin typeface="微软雅黑" panose="020B0503020204020204" pitchFamily="34" charset="-122"/>
                <a:ea typeface="微软雅黑" panose="020B0503020204020204" pitchFamily="34" charset="-122"/>
              </a:endParaRPr>
            </a:p>
          </p:txBody>
        </p:sp>
        <p:grpSp>
          <p:nvGrpSpPr>
            <p:cNvPr id="17" name="Group 4"/>
            <p:cNvGrpSpPr>
              <a:grpSpLocks/>
            </p:cNvGrpSpPr>
            <p:nvPr/>
          </p:nvGrpSpPr>
          <p:grpSpPr bwMode="auto">
            <a:xfrm>
              <a:off x="2555876" y="855664"/>
              <a:ext cx="531813" cy="522287"/>
              <a:chOff x="1363" y="942"/>
              <a:chExt cx="273" cy="264"/>
            </a:xfrm>
          </p:grpSpPr>
          <p:sp>
            <p:nvSpPr>
              <p:cNvPr id="122" name="Freeform 5"/>
              <p:cNvSpPr>
                <a:spLocks/>
              </p:cNvSpPr>
              <p:nvPr/>
            </p:nvSpPr>
            <p:spPr bwMode="auto">
              <a:xfrm>
                <a:off x="1363" y="942"/>
                <a:ext cx="273" cy="264"/>
              </a:xfrm>
              <a:custGeom>
                <a:avLst/>
                <a:gdLst>
                  <a:gd name="T0" fmla="*/ 228 w 230"/>
                  <a:gd name="T1" fmla="*/ 106 h 230"/>
                  <a:gd name="T2" fmla="*/ 227 w 230"/>
                  <a:gd name="T3" fmla="*/ 89 h 230"/>
                  <a:gd name="T4" fmla="*/ 221 w 230"/>
                  <a:gd name="T5" fmla="*/ 72 h 230"/>
                  <a:gd name="T6" fmla="*/ 214 w 230"/>
                  <a:gd name="T7" fmla="*/ 57 h 230"/>
                  <a:gd name="T8" fmla="*/ 204 w 230"/>
                  <a:gd name="T9" fmla="*/ 43 h 230"/>
                  <a:gd name="T10" fmla="*/ 192 w 230"/>
                  <a:gd name="T11" fmla="*/ 30 h 230"/>
                  <a:gd name="T12" fmla="*/ 180 w 230"/>
                  <a:gd name="T13" fmla="*/ 19 h 230"/>
                  <a:gd name="T14" fmla="*/ 165 w 230"/>
                  <a:gd name="T15" fmla="*/ 12 h 230"/>
                  <a:gd name="T16" fmla="*/ 148 w 230"/>
                  <a:gd name="T17" fmla="*/ 5 h 230"/>
                  <a:gd name="T18" fmla="*/ 131 w 230"/>
                  <a:gd name="T19" fmla="*/ 1 h 230"/>
                  <a:gd name="T20" fmla="*/ 115 w 230"/>
                  <a:gd name="T21" fmla="*/ 0 h 230"/>
                  <a:gd name="T22" fmla="*/ 98 w 230"/>
                  <a:gd name="T23" fmla="*/ 1 h 230"/>
                  <a:gd name="T24" fmla="*/ 81 w 230"/>
                  <a:gd name="T25" fmla="*/ 5 h 230"/>
                  <a:gd name="T26" fmla="*/ 65 w 230"/>
                  <a:gd name="T27" fmla="*/ 12 h 230"/>
                  <a:gd name="T28" fmla="*/ 49 w 230"/>
                  <a:gd name="T29" fmla="*/ 19 h 230"/>
                  <a:gd name="T30" fmla="*/ 37 w 230"/>
                  <a:gd name="T31" fmla="*/ 30 h 230"/>
                  <a:gd name="T32" fmla="*/ 25 w 230"/>
                  <a:gd name="T33" fmla="*/ 43 h 230"/>
                  <a:gd name="T34" fmla="*/ 15 w 230"/>
                  <a:gd name="T35" fmla="*/ 57 h 230"/>
                  <a:gd name="T36" fmla="*/ 8 w 230"/>
                  <a:gd name="T37" fmla="*/ 72 h 230"/>
                  <a:gd name="T38" fmla="*/ 3 w 230"/>
                  <a:gd name="T39" fmla="*/ 89 h 230"/>
                  <a:gd name="T40" fmla="*/ 0 w 230"/>
                  <a:gd name="T41" fmla="*/ 106 h 230"/>
                  <a:gd name="T42" fmla="*/ 0 w 230"/>
                  <a:gd name="T43" fmla="*/ 123 h 230"/>
                  <a:gd name="T44" fmla="*/ 3 w 230"/>
                  <a:gd name="T45" fmla="*/ 140 h 230"/>
                  <a:gd name="T46" fmla="*/ 8 w 230"/>
                  <a:gd name="T47" fmla="*/ 156 h 230"/>
                  <a:gd name="T48" fmla="*/ 15 w 230"/>
                  <a:gd name="T49" fmla="*/ 171 h 230"/>
                  <a:gd name="T50" fmla="*/ 25 w 230"/>
                  <a:gd name="T51" fmla="*/ 185 h 230"/>
                  <a:gd name="T52" fmla="*/ 37 w 230"/>
                  <a:gd name="T53" fmla="*/ 199 h 230"/>
                  <a:gd name="T54" fmla="*/ 49 w 230"/>
                  <a:gd name="T55" fmla="*/ 209 h 230"/>
                  <a:gd name="T56" fmla="*/ 65 w 230"/>
                  <a:gd name="T57" fmla="*/ 218 h 230"/>
                  <a:gd name="T58" fmla="*/ 81 w 230"/>
                  <a:gd name="T59" fmla="*/ 224 h 230"/>
                  <a:gd name="T60" fmla="*/ 98 w 230"/>
                  <a:gd name="T61" fmla="*/ 228 h 230"/>
                  <a:gd name="T62" fmla="*/ 115 w 230"/>
                  <a:gd name="T63" fmla="*/ 229 h 230"/>
                  <a:gd name="T64" fmla="*/ 131 w 230"/>
                  <a:gd name="T65" fmla="*/ 228 h 230"/>
                  <a:gd name="T66" fmla="*/ 148 w 230"/>
                  <a:gd name="T67" fmla="*/ 224 h 230"/>
                  <a:gd name="T68" fmla="*/ 165 w 230"/>
                  <a:gd name="T69" fmla="*/ 218 h 230"/>
                  <a:gd name="T70" fmla="*/ 180 w 230"/>
                  <a:gd name="T71" fmla="*/ 209 h 230"/>
                  <a:gd name="T72" fmla="*/ 192 w 230"/>
                  <a:gd name="T73" fmla="*/ 199 h 230"/>
                  <a:gd name="T74" fmla="*/ 204 w 230"/>
                  <a:gd name="T75" fmla="*/ 185 h 230"/>
                  <a:gd name="T76" fmla="*/ 214 w 230"/>
                  <a:gd name="T77" fmla="*/ 171 h 230"/>
                  <a:gd name="T78" fmla="*/ 221 w 230"/>
                  <a:gd name="T79" fmla="*/ 156 h 230"/>
                  <a:gd name="T80" fmla="*/ 227 w 230"/>
                  <a:gd name="T81" fmla="*/ 140 h 230"/>
                  <a:gd name="T82" fmla="*/ 228 w 230"/>
                  <a:gd name="T83" fmla="*/ 123 h 230"/>
                  <a:gd name="T84" fmla="*/ 229 w 230"/>
                  <a:gd name="T85" fmla="*/ 115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0" h="230">
                    <a:moveTo>
                      <a:pt x="229" y="115"/>
                    </a:moveTo>
                    <a:lnTo>
                      <a:pt x="228" y="106"/>
                    </a:lnTo>
                    <a:lnTo>
                      <a:pt x="227" y="98"/>
                    </a:lnTo>
                    <a:lnTo>
                      <a:pt x="227" y="89"/>
                    </a:lnTo>
                    <a:lnTo>
                      <a:pt x="224" y="80"/>
                    </a:lnTo>
                    <a:lnTo>
                      <a:pt x="221" y="72"/>
                    </a:lnTo>
                    <a:lnTo>
                      <a:pt x="218" y="65"/>
                    </a:lnTo>
                    <a:lnTo>
                      <a:pt x="214" y="57"/>
                    </a:lnTo>
                    <a:lnTo>
                      <a:pt x="209" y="50"/>
                    </a:lnTo>
                    <a:lnTo>
                      <a:pt x="204" y="43"/>
                    </a:lnTo>
                    <a:lnTo>
                      <a:pt x="199" y="36"/>
                    </a:lnTo>
                    <a:lnTo>
                      <a:pt x="192" y="30"/>
                    </a:lnTo>
                    <a:lnTo>
                      <a:pt x="186" y="25"/>
                    </a:lnTo>
                    <a:lnTo>
                      <a:pt x="180" y="19"/>
                    </a:lnTo>
                    <a:lnTo>
                      <a:pt x="171" y="15"/>
                    </a:lnTo>
                    <a:lnTo>
                      <a:pt x="165" y="12"/>
                    </a:lnTo>
                    <a:lnTo>
                      <a:pt x="157" y="8"/>
                    </a:lnTo>
                    <a:lnTo>
                      <a:pt x="148" y="5"/>
                    </a:lnTo>
                    <a:lnTo>
                      <a:pt x="139" y="3"/>
                    </a:lnTo>
                    <a:lnTo>
                      <a:pt x="131" y="1"/>
                    </a:lnTo>
                    <a:lnTo>
                      <a:pt x="123" y="1"/>
                    </a:lnTo>
                    <a:lnTo>
                      <a:pt x="115" y="0"/>
                    </a:lnTo>
                    <a:lnTo>
                      <a:pt x="106" y="1"/>
                    </a:lnTo>
                    <a:lnTo>
                      <a:pt x="98" y="1"/>
                    </a:lnTo>
                    <a:lnTo>
                      <a:pt x="88" y="3"/>
                    </a:lnTo>
                    <a:lnTo>
                      <a:pt x="81" y="5"/>
                    </a:lnTo>
                    <a:lnTo>
                      <a:pt x="73" y="8"/>
                    </a:lnTo>
                    <a:lnTo>
                      <a:pt x="65" y="12"/>
                    </a:lnTo>
                    <a:lnTo>
                      <a:pt x="57" y="15"/>
                    </a:lnTo>
                    <a:lnTo>
                      <a:pt x="49" y="19"/>
                    </a:lnTo>
                    <a:lnTo>
                      <a:pt x="43" y="25"/>
                    </a:lnTo>
                    <a:lnTo>
                      <a:pt x="37" y="30"/>
                    </a:lnTo>
                    <a:lnTo>
                      <a:pt x="31" y="36"/>
                    </a:lnTo>
                    <a:lnTo>
                      <a:pt x="25" y="43"/>
                    </a:lnTo>
                    <a:lnTo>
                      <a:pt x="19" y="50"/>
                    </a:lnTo>
                    <a:lnTo>
                      <a:pt x="15" y="57"/>
                    </a:lnTo>
                    <a:lnTo>
                      <a:pt x="11" y="65"/>
                    </a:lnTo>
                    <a:lnTo>
                      <a:pt x="8" y="72"/>
                    </a:lnTo>
                    <a:lnTo>
                      <a:pt x="5" y="80"/>
                    </a:lnTo>
                    <a:lnTo>
                      <a:pt x="3" y="89"/>
                    </a:lnTo>
                    <a:lnTo>
                      <a:pt x="2" y="98"/>
                    </a:lnTo>
                    <a:lnTo>
                      <a:pt x="0" y="106"/>
                    </a:lnTo>
                    <a:lnTo>
                      <a:pt x="0" y="115"/>
                    </a:lnTo>
                    <a:lnTo>
                      <a:pt x="0" y="123"/>
                    </a:lnTo>
                    <a:lnTo>
                      <a:pt x="2" y="131"/>
                    </a:lnTo>
                    <a:lnTo>
                      <a:pt x="3" y="140"/>
                    </a:lnTo>
                    <a:lnTo>
                      <a:pt x="5" y="148"/>
                    </a:lnTo>
                    <a:lnTo>
                      <a:pt x="8" y="156"/>
                    </a:lnTo>
                    <a:lnTo>
                      <a:pt x="11" y="164"/>
                    </a:lnTo>
                    <a:lnTo>
                      <a:pt x="15" y="171"/>
                    </a:lnTo>
                    <a:lnTo>
                      <a:pt x="19" y="178"/>
                    </a:lnTo>
                    <a:lnTo>
                      <a:pt x="25" y="185"/>
                    </a:lnTo>
                    <a:lnTo>
                      <a:pt x="31" y="193"/>
                    </a:lnTo>
                    <a:lnTo>
                      <a:pt x="37" y="199"/>
                    </a:lnTo>
                    <a:lnTo>
                      <a:pt x="43" y="205"/>
                    </a:lnTo>
                    <a:lnTo>
                      <a:pt x="49" y="209"/>
                    </a:lnTo>
                    <a:lnTo>
                      <a:pt x="57" y="214"/>
                    </a:lnTo>
                    <a:lnTo>
                      <a:pt x="65" y="218"/>
                    </a:lnTo>
                    <a:lnTo>
                      <a:pt x="73" y="221"/>
                    </a:lnTo>
                    <a:lnTo>
                      <a:pt x="81" y="224"/>
                    </a:lnTo>
                    <a:lnTo>
                      <a:pt x="88" y="226"/>
                    </a:lnTo>
                    <a:lnTo>
                      <a:pt x="98" y="228"/>
                    </a:lnTo>
                    <a:lnTo>
                      <a:pt x="106" y="229"/>
                    </a:lnTo>
                    <a:lnTo>
                      <a:pt x="115" y="229"/>
                    </a:lnTo>
                    <a:lnTo>
                      <a:pt x="123" y="229"/>
                    </a:lnTo>
                    <a:lnTo>
                      <a:pt x="131" y="228"/>
                    </a:lnTo>
                    <a:lnTo>
                      <a:pt x="139" y="226"/>
                    </a:lnTo>
                    <a:lnTo>
                      <a:pt x="148" y="224"/>
                    </a:lnTo>
                    <a:lnTo>
                      <a:pt x="157" y="221"/>
                    </a:lnTo>
                    <a:lnTo>
                      <a:pt x="165" y="218"/>
                    </a:lnTo>
                    <a:lnTo>
                      <a:pt x="171" y="214"/>
                    </a:lnTo>
                    <a:lnTo>
                      <a:pt x="180" y="209"/>
                    </a:lnTo>
                    <a:lnTo>
                      <a:pt x="186" y="205"/>
                    </a:lnTo>
                    <a:lnTo>
                      <a:pt x="192" y="199"/>
                    </a:lnTo>
                    <a:lnTo>
                      <a:pt x="199" y="193"/>
                    </a:lnTo>
                    <a:lnTo>
                      <a:pt x="204" y="185"/>
                    </a:lnTo>
                    <a:lnTo>
                      <a:pt x="209" y="178"/>
                    </a:lnTo>
                    <a:lnTo>
                      <a:pt x="214" y="171"/>
                    </a:lnTo>
                    <a:lnTo>
                      <a:pt x="218" y="164"/>
                    </a:lnTo>
                    <a:lnTo>
                      <a:pt x="221" y="156"/>
                    </a:lnTo>
                    <a:lnTo>
                      <a:pt x="224" y="148"/>
                    </a:lnTo>
                    <a:lnTo>
                      <a:pt x="227" y="140"/>
                    </a:lnTo>
                    <a:lnTo>
                      <a:pt x="227" y="131"/>
                    </a:lnTo>
                    <a:lnTo>
                      <a:pt x="228" y="123"/>
                    </a:lnTo>
                    <a:lnTo>
                      <a:pt x="229" y="115"/>
                    </a:lnTo>
                    <a:lnTo>
                      <a:pt x="229" y="115"/>
                    </a:lnTo>
                  </a:path>
                </a:pathLst>
              </a:custGeom>
              <a:noFill/>
              <a:ln w="1841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3" name="Freeform 6"/>
              <p:cNvSpPr>
                <a:spLocks/>
              </p:cNvSpPr>
              <p:nvPr/>
            </p:nvSpPr>
            <p:spPr bwMode="auto">
              <a:xfrm>
                <a:off x="1433" y="1026"/>
                <a:ext cx="135" cy="106"/>
              </a:xfrm>
              <a:custGeom>
                <a:avLst/>
                <a:gdLst>
                  <a:gd name="T0" fmla="*/ 1 w 112"/>
                  <a:gd name="T1" fmla="*/ 42 h 91"/>
                  <a:gd name="T2" fmla="*/ 4 w 112"/>
                  <a:gd name="T3" fmla="*/ 36 h 91"/>
                  <a:gd name="T4" fmla="*/ 6 w 112"/>
                  <a:gd name="T5" fmla="*/ 31 h 91"/>
                  <a:gd name="T6" fmla="*/ 8 w 112"/>
                  <a:gd name="T7" fmla="*/ 26 h 91"/>
                  <a:gd name="T8" fmla="*/ 9 w 112"/>
                  <a:gd name="T9" fmla="*/ 21 h 91"/>
                  <a:gd name="T10" fmla="*/ 12 w 112"/>
                  <a:gd name="T11" fmla="*/ 16 h 91"/>
                  <a:gd name="T12" fmla="*/ 14 w 112"/>
                  <a:gd name="T13" fmla="*/ 13 h 91"/>
                  <a:gd name="T14" fmla="*/ 17 w 112"/>
                  <a:gd name="T15" fmla="*/ 9 h 91"/>
                  <a:gd name="T16" fmla="*/ 18 w 112"/>
                  <a:gd name="T17" fmla="*/ 6 h 91"/>
                  <a:gd name="T18" fmla="*/ 21 w 112"/>
                  <a:gd name="T19" fmla="*/ 4 h 91"/>
                  <a:gd name="T20" fmla="*/ 24 w 112"/>
                  <a:gd name="T21" fmla="*/ 2 h 91"/>
                  <a:gd name="T22" fmla="*/ 25 w 112"/>
                  <a:gd name="T23" fmla="*/ 1 h 91"/>
                  <a:gd name="T24" fmla="*/ 28 w 112"/>
                  <a:gd name="T25" fmla="*/ 0 h 91"/>
                  <a:gd name="T26" fmla="*/ 30 w 112"/>
                  <a:gd name="T27" fmla="*/ 1 h 91"/>
                  <a:gd name="T28" fmla="*/ 32 w 112"/>
                  <a:gd name="T29" fmla="*/ 2 h 91"/>
                  <a:gd name="T30" fmla="*/ 34 w 112"/>
                  <a:gd name="T31" fmla="*/ 4 h 91"/>
                  <a:gd name="T32" fmla="*/ 37 w 112"/>
                  <a:gd name="T33" fmla="*/ 6 h 91"/>
                  <a:gd name="T34" fmla="*/ 39 w 112"/>
                  <a:gd name="T35" fmla="*/ 9 h 91"/>
                  <a:gd name="T36" fmla="*/ 41 w 112"/>
                  <a:gd name="T37" fmla="*/ 13 h 91"/>
                  <a:gd name="T38" fmla="*/ 43 w 112"/>
                  <a:gd name="T39" fmla="*/ 16 h 91"/>
                  <a:gd name="T40" fmla="*/ 46 w 112"/>
                  <a:gd name="T41" fmla="*/ 20 h 91"/>
                  <a:gd name="T42" fmla="*/ 47 w 112"/>
                  <a:gd name="T43" fmla="*/ 26 h 91"/>
                  <a:gd name="T44" fmla="*/ 50 w 112"/>
                  <a:gd name="T45" fmla="*/ 31 h 91"/>
                  <a:gd name="T46" fmla="*/ 51 w 112"/>
                  <a:gd name="T47" fmla="*/ 36 h 91"/>
                  <a:gd name="T48" fmla="*/ 55 w 112"/>
                  <a:gd name="T49" fmla="*/ 42 h 91"/>
                  <a:gd name="T50" fmla="*/ 56 w 112"/>
                  <a:gd name="T51" fmla="*/ 44 h 91"/>
                  <a:gd name="T52" fmla="*/ 57 w 112"/>
                  <a:gd name="T53" fmla="*/ 50 h 91"/>
                  <a:gd name="T54" fmla="*/ 60 w 112"/>
                  <a:gd name="T55" fmla="*/ 56 h 91"/>
                  <a:gd name="T56" fmla="*/ 62 w 112"/>
                  <a:gd name="T57" fmla="*/ 61 h 91"/>
                  <a:gd name="T58" fmla="*/ 64 w 112"/>
                  <a:gd name="T59" fmla="*/ 66 h 91"/>
                  <a:gd name="T60" fmla="*/ 67 w 112"/>
                  <a:gd name="T61" fmla="*/ 72 h 91"/>
                  <a:gd name="T62" fmla="*/ 69 w 112"/>
                  <a:gd name="T63" fmla="*/ 75 h 91"/>
                  <a:gd name="T64" fmla="*/ 71 w 112"/>
                  <a:gd name="T65" fmla="*/ 79 h 91"/>
                  <a:gd name="T66" fmla="*/ 73 w 112"/>
                  <a:gd name="T67" fmla="*/ 82 h 91"/>
                  <a:gd name="T68" fmla="*/ 75 w 112"/>
                  <a:gd name="T69" fmla="*/ 85 h 91"/>
                  <a:gd name="T70" fmla="*/ 78 w 112"/>
                  <a:gd name="T71" fmla="*/ 87 h 91"/>
                  <a:gd name="T72" fmla="*/ 79 w 112"/>
                  <a:gd name="T73" fmla="*/ 89 h 91"/>
                  <a:gd name="T74" fmla="*/ 82 w 112"/>
                  <a:gd name="T75" fmla="*/ 90 h 91"/>
                  <a:gd name="T76" fmla="*/ 84 w 112"/>
                  <a:gd name="T77" fmla="*/ 90 h 91"/>
                  <a:gd name="T78" fmla="*/ 86 w 112"/>
                  <a:gd name="T79" fmla="*/ 89 h 91"/>
                  <a:gd name="T80" fmla="*/ 89 w 112"/>
                  <a:gd name="T81" fmla="*/ 87 h 91"/>
                  <a:gd name="T82" fmla="*/ 91 w 112"/>
                  <a:gd name="T83" fmla="*/ 85 h 91"/>
                  <a:gd name="T84" fmla="*/ 93 w 112"/>
                  <a:gd name="T85" fmla="*/ 82 h 91"/>
                  <a:gd name="T86" fmla="*/ 95 w 112"/>
                  <a:gd name="T87" fmla="*/ 79 h 91"/>
                  <a:gd name="T88" fmla="*/ 98 w 112"/>
                  <a:gd name="T89" fmla="*/ 75 h 91"/>
                  <a:gd name="T90" fmla="*/ 100 w 112"/>
                  <a:gd name="T91" fmla="*/ 72 h 91"/>
                  <a:gd name="T92" fmla="*/ 101 w 112"/>
                  <a:gd name="T93" fmla="*/ 66 h 91"/>
                  <a:gd name="T94" fmla="*/ 104 w 112"/>
                  <a:gd name="T95" fmla="*/ 62 h 91"/>
                  <a:gd name="T96" fmla="*/ 107 w 112"/>
                  <a:gd name="T97" fmla="*/ 56 h 91"/>
                  <a:gd name="T98" fmla="*/ 108 w 112"/>
                  <a:gd name="T99" fmla="*/ 50 h 91"/>
                  <a:gd name="T100" fmla="*/ 111 w 112"/>
                  <a:gd name="T101" fmla="*/ 44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2" h="91">
                    <a:moveTo>
                      <a:pt x="0" y="44"/>
                    </a:moveTo>
                    <a:lnTo>
                      <a:pt x="1" y="42"/>
                    </a:lnTo>
                    <a:lnTo>
                      <a:pt x="2" y="40"/>
                    </a:lnTo>
                    <a:lnTo>
                      <a:pt x="4" y="36"/>
                    </a:lnTo>
                    <a:lnTo>
                      <a:pt x="5" y="34"/>
                    </a:lnTo>
                    <a:lnTo>
                      <a:pt x="6" y="31"/>
                    </a:lnTo>
                    <a:lnTo>
                      <a:pt x="7" y="29"/>
                    </a:lnTo>
                    <a:lnTo>
                      <a:pt x="8" y="26"/>
                    </a:lnTo>
                    <a:lnTo>
                      <a:pt x="9" y="24"/>
                    </a:lnTo>
                    <a:lnTo>
                      <a:pt x="9" y="21"/>
                    </a:lnTo>
                    <a:lnTo>
                      <a:pt x="11" y="19"/>
                    </a:lnTo>
                    <a:lnTo>
                      <a:pt x="12" y="16"/>
                    </a:lnTo>
                    <a:lnTo>
                      <a:pt x="14" y="14"/>
                    </a:lnTo>
                    <a:lnTo>
                      <a:pt x="14" y="13"/>
                    </a:lnTo>
                    <a:lnTo>
                      <a:pt x="16" y="12"/>
                    </a:lnTo>
                    <a:lnTo>
                      <a:pt x="17" y="9"/>
                    </a:lnTo>
                    <a:lnTo>
                      <a:pt x="18" y="7"/>
                    </a:lnTo>
                    <a:lnTo>
                      <a:pt x="18" y="6"/>
                    </a:lnTo>
                    <a:lnTo>
                      <a:pt x="19" y="5"/>
                    </a:lnTo>
                    <a:lnTo>
                      <a:pt x="21" y="4"/>
                    </a:lnTo>
                    <a:lnTo>
                      <a:pt x="23" y="2"/>
                    </a:lnTo>
                    <a:lnTo>
                      <a:pt x="24" y="2"/>
                    </a:lnTo>
                    <a:lnTo>
                      <a:pt x="24" y="2"/>
                    </a:lnTo>
                    <a:lnTo>
                      <a:pt x="25" y="1"/>
                    </a:lnTo>
                    <a:lnTo>
                      <a:pt x="27" y="0"/>
                    </a:lnTo>
                    <a:lnTo>
                      <a:pt x="28" y="0"/>
                    </a:lnTo>
                    <a:lnTo>
                      <a:pt x="29" y="0"/>
                    </a:lnTo>
                    <a:lnTo>
                      <a:pt x="30" y="1"/>
                    </a:lnTo>
                    <a:lnTo>
                      <a:pt x="31" y="2"/>
                    </a:lnTo>
                    <a:lnTo>
                      <a:pt x="32" y="2"/>
                    </a:lnTo>
                    <a:lnTo>
                      <a:pt x="34" y="2"/>
                    </a:lnTo>
                    <a:lnTo>
                      <a:pt x="34" y="4"/>
                    </a:lnTo>
                    <a:lnTo>
                      <a:pt x="36" y="5"/>
                    </a:lnTo>
                    <a:lnTo>
                      <a:pt x="37" y="6"/>
                    </a:lnTo>
                    <a:lnTo>
                      <a:pt x="37" y="7"/>
                    </a:lnTo>
                    <a:lnTo>
                      <a:pt x="39" y="9"/>
                    </a:lnTo>
                    <a:lnTo>
                      <a:pt x="40" y="12"/>
                    </a:lnTo>
                    <a:lnTo>
                      <a:pt x="41" y="13"/>
                    </a:lnTo>
                    <a:lnTo>
                      <a:pt x="42" y="14"/>
                    </a:lnTo>
                    <a:lnTo>
                      <a:pt x="43" y="16"/>
                    </a:lnTo>
                    <a:lnTo>
                      <a:pt x="44" y="19"/>
                    </a:lnTo>
                    <a:lnTo>
                      <a:pt x="46" y="20"/>
                    </a:lnTo>
                    <a:lnTo>
                      <a:pt x="47" y="24"/>
                    </a:lnTo>
                    <a:lnTo>
                      <a:pt x="47" y="26"/>
                    </a:lnTo>
                    <a:lnTo>
                      <a:pt x="49" y="29"/>
                    </a:lnTo>
                    <a:lnTo>
                      <a:pt x="50" y="31"/>
                    </a:lnTo>
                    <a:lnTo>
                      <a:pt x="51" y="34"/>
                    </a:lnTo>
                    <a:lnTo>
                      <a:pt x="51" y="36"/>
                    </a:lnTo>
                    <a:lnTo>
                      <a:pt x="53" y="40"/>
                    </a:lnTo>
                    <a:lnTo>
                      <a:pt x="55" y="42"/>
                    </a:lnTo>
                    <a:lnTo>
                      <a:pt x="56" y="44"/>
                    </a:lnTo>
                    <a:lnTo>
                      <a:pt x="56" y="44"/>
                    </a:lnTo>
                    <a:lnTo>
                      <a:pt x="56" y="48"/>
                    </a:lnTo>
                    <a:lnTo>
                      <a:pt x="57" y="50"/>
                    </a:lnTo>
                    <a:lnTo>
                      <a:pt x="58" y="53"/>
                    </a:lnTo>
                    <a:lnTo>
                      <a:pt x="60" y="56"/>
                    </a:lnTo>
                    <a:lnTo>
                      <a:pt x="60" y="58"/>
                    </a:lnTo>
                    <a:lnTo>
                      <a:pt x="62" y="61"/>
                    </a:lnTo>
                    <a:lnTo>
                      <a:pt x="63" y="63"/>
                    </a:lnTo>
                    <a:lnTo>
                      <a:pt x="64" y="66"/>
                    </a:lnTo>
                    <a:lnTo>
                      <a:pt x="65" y="69"/>
                    </a:lnTo>
                    <a:lnTo>
                      <a:pt x="67" y="72"/>
                    </a:lnTo>
                    <a:lnTo>
                      <a:pt x="68" y="73"/>
                    </a:lnTo>
                    <a:lnTo>
                      <a:pt x="69" y="75"/>
                    </a:lnTo>
                    <a:lnTo>
                      <a:pt x="70" y="77"/>
                    </a:lnTo>
                    <a:lnTo>
                      <a:pt x="71" y="79"/>
                    </a:lnTo>
                    <a:lnTo>
                      <a:pt x="71" y="81"/>
                    </a:lnTo>
                    <a:lnTo>
                      <a:pt x="73" y="82"/>
                    </a:lnTo>
                    <a:lnTo>
                      <a:pt x="75" y="83"/>
                    </a:lnTo>
                    <a:lnTo>
                      <a:pt x="75" y="85"/>
                    </a:lnTo>
                    <a:lnTo>
                      <a:pt x="77" y="86"/>
                    </a:lnTo>
                    <a:lnTo>
                      <a:pt x="78" y="87"/>
                    </a:lnTo>
                    <a:lnTo>
                      <a:pt x="78" y="88"/>
                    </a:lnTo>
                    <a:lnTo>
                      <a:pt x="79" y="89"/>
                    </a:lnTo>
                    <a:lnTo>
                      <a:pt x="80" y="89"/>
                    </a:lnTo>
                    <a:lnTo>
                      <a:pt x="82" y="90"/>
                    </a:lnTo>
                    <a:lnTo>
                      <a:pt x="84" y="90"/>
                    </a:lnTo>
                    <a:lnTo>
                      <a:pt x="84" y="90"/>
                    </a:lnTo>
                    <a:lnTo>
                      <a:pt x="85" y="89"/>
                    </a:lnTo>
                    <a:lnTo>
                      <a:pt x="86" y="89"/>
                    </a:lnTo>
                    <a:lnTo>
                      <a:pt x="87" y="88"/>
                    </a:lnTo>
                    <a:lnTo>
                      <a:pt x="89" y="87"/>
                    </a:lnTo>
                    <a:lnTo>
                      <a:pt x="89" y="86"/>
                    </a:lnTo>
                    <a:lnTo>
                      <a:pt x="91" y="85"/>
                    </a:lnTo>
                    <a:lnTo>
                      <a:pt x="92" y="83"/>
                    </a:lnTo>
                    <a:lnTo>
                      <a:pt x="93" y="82"/>
                    </a:lnTo>
                    <a:lnTo>
                      <a:pt x="94" y="81"/>
                    </a:lnTo>
                    <a:lnTo>
                      <a:pt x="95" y="79"/>
                    </a:lnTo>
                    <a:lnTo>
                      <a:pt x="97" y="77"/>
                    </a:lnTo>
                    <a:lnTo>
                      <a:pt x="98" y="75"/>
                    </a:lnTo>
                    <a:lnTo>
                      <a:pt x="99" y="73"/>
                    </a:lnTo>
                    <a:lnTo>
                      <a:pt x="100" y="72"/>
                    </a:lnTo>
                    <a:lnTo>
                      <a:pt x="100" y="69"/>
                    </a:lnTo>
                    <a:lnTo>
                      <a:pt x="101" y="66"/>
                    </a:lnTo>
                    <a:lnTo>
                      <a:pt x="102" y="63"/>
                    </a:lnTo>
                    <a:lnTo>
                      <a:pt x="104" y="62"/>
                    </a:lnTo>
                    <a:lnTo>
                      <a:pt x="106" y="58"/>
                    </a:lnTo>
                    <a:lnTo>
                      <a:pt x="107" y="56"/>
                    </a:lnTo>
                    <a:lnTo>
                      <a:pt x="108" y="53"/>
                    </a:lnTo>
                    <a:lnTo>
                      <a:pt x="108" y="50"/>
                    </a:lnTo>
                    <a:lnTo>
                      <a:pt x="110" y="48"/>
                    </a:lnTo>
                    <a:lnTo>
                      <a:pt x="111" y="44"/>
                    </a:lnTo>
                  </a:path>
                </a:pathLst>
              </a:custGeom>
              <a:noFill/>
              <a:ln w="1841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grpSp>
          <p:nvGrpSpPr>
            <p:cNvPr id="18" name="Group 7"/>
            <p:cNvGrpSpPr>
              <a:grpSpLocks/>
            </p:cNvGrpSpPr>
            <p:nvPr/>
          </p:nvGrpSpPr>
          <p:grpSpPr bwMode="auto">
            <a:xfrm rot="5400000">
              <a:off x="4623594" y="4379119"/>
              <a:ext cx="636588" cy="984250"/>
              <a:chOff x="2025" y="3021"/>
              <a:chExt cx="451" cy="674"/>
            </a:xfrm>
          </p:grpSpPr>
          <p:sp>
            <p:nvSpPr>
              <p:cNvPr id="108" name="AutoShape 8"/>
              <p:cNvSpPr>
                <a:spLocks noChangeArrowheads="1"/>
              </p:cNvSpPr>
              <p:nvPr/>
            </p:nvSpPr>
            <p:spPr bwMode="auto">
              <a:xfrm flipH="1">
                <a:off x="2091" y="3070"/>
                <a:ext cx="385" cy="555"/>
              </a:xfrm>
              <a:prstGeom prst="roundRect">
                <a:avLst>
                  <a:gd name="adj" fmla="val 0"/>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9" name="Line 9"/>
              <p:cNvSpPr>
                <a:spLocks noChangeShapeType="1"/>
              </p:cNvSpPr>
              <p:nvPr/>
            </p:nvSpPr>
            <p:spPr bwMode="auto">
              <a:xfrm flipH="1" flipV="1">
                <a:off x="2391" y="3021"/>
                <a:ext cx="0" cy="67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nvGrpSpPr>
              <p:cNvPr id="110" name="Group 10"/>
              <p:cNvGrpSpPr>
                <a:grpSpLocks/>
              </p:cNvGrpSpPr>
              <p:nvPr/>
            </p:nvGrpSpPr>
            <p:grpSpPr bwMode="auto">
              <a:xfrm flipH="1" flipV="1">
                <a:off x="2225" y="3253"/>
                <a:ext cx="134" cy="179"/>
                <a:chOff x="3476" y="2630"/>
                <a:chExt cx="101" cy="141"/>
              </a:xfrm>
            </p:grpSpPr>
            <p:grpSp>
              <p:nvGrpSpPr>
                <p:cNvPr id="116" name="Group 11"/>
                <p:cNvGrpSpPr>
                  <a:grpSpLocks/>
                </p:cNvGrpSpPr>
                <p:nvPr/>
              </p:nvGrpSpPr>
              <p:grpSpPr bwMode="auto">
                <a:xfrm>
                  <a:off x="3476" y="2630"/>
                  <a:ext cx="96" cy="136"/>
                  <a:chOff x="3476" y="2630"/>
                  <a:chExt cx="96" cy="136"/>
                </a:xfrm>
              </p:grpSpPr>
              <p:sp>
                <p:nvSpPr>
                  <p:cNvPr id="120" name="Line 12"/>
                  <p:cNvSpPr>
                    <a:spLocks noChangeShapeType="1"/>
                  </p:cNvSpPr>
                  <p:nvPr/>
                </p:nvSpPr>
                <p:spPr bwMode="auto">
                  <a:xfrm flipV="1">
                    <a:off x="3476" y="2660"/>
                    <a:ext cx="75" cy="1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1" name="Freeform 13"/>
                  <p:cNvSpPr>
                    <a:spLocks/>
                  </p:cNvSpPr>
                  <p:nvPr/>
                </p:nvSpPr>
                <p:spPr bwMode="auto">
                  <a:xfrm>
                    <a:off x="3547" y="2630"/>
                    <a:ext cx="25" cy="36"/>
                  </a:xfrm>
                  <a:custGeom>
                    <a:avLst/>
                    <a:gdLst>
                      <a:gd name="T0" fmla="*/ 0 w 25"/>
                      <a:gd name="T1" fmla="*/ 23 h 36"/>
                      <a:gd name="T2" fmla="*/ 8 w 25"/>
                      <a:gd name="T3" fmla="*/ 35 h 36"/>
                      <a:gd name="T4" fmla="*/ 24 w 25"/>
                      <a:gd name="T5" fmla="*/ 0 h 36"/>
                      <a:gd name="T6" fmla="*/ 0 w 25"/>
                      <a:gd name="T7" fmla="*/ 23 h 36"/>
                      <a:gd name="T8" fmla="*/ 0 w 25"/>
                      <a:gd name="T9" fmla="*/ 23 h 36"/>
                    </a:gdLst>
                    <a:ahLst/>
                    <a:cxnLst>
                      <a:cxn ang="0">
                        <a:pos x="T0" y="T1"/>
                      </a:cxn>
                      <a:cxn ang="0">
                        <a:pos x="T2" y="T3"/>
                      </a:cxn>
                      <a:cxn ang="0">
                        <a:pos x="T4" y="T5"/>
                      </a:cxn>
                      <a:cxn ang="0">
                        <a:pos x="T6" y="T7"/>
                      </a:cxn>
                      <a:cxn ang="0">
                        <a:pos x="T8" y="T9"/>
                      </a:cxn>
                    </a:cxnLst>
                    <a:rect l="0" t="0" r="r" b="b"/>
                    <a:pathLst>
                      <a:path w="25" h="36">
                        <a:moveTo>
                          <a:pt x="0" y="23"/>
                        </a:moveTo>
                        <a:lnTo>
                          <a:pt x="8" y="35"/>
                        </a:lnTo>
                        <a:lnTo>
                          <a:pt x="24" y="0"/>
                        </a:lnTo>
                        <a:lnTo>
                          <a:pt x="0" y="23"/>
                        </a:lnTo>
                        <a:lnTo>
                          <a:pt x="0" y="23"/>
                        </a:lnTo>
                      </a:path>
                    </a:pathLst>
                  </a:custGeom>
                  <a:solidFill>
                    <a:srgbClr val="0000FF"/>
                  </a:solidFill>
                  <a:ln w="190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grpSp>
              <p:nvGrpSpPr>
                <p:cNvPr id="117" name="Group 14"/>
                <p:cNvGrpSpPr>
                  <a:grpSpLocks/>
                </p:cNvGrpSpPr>
                <p:nvPr/>
              </p:nvGrpSpPr>
              <p:grpSpPr bwMode="auto">
                <a:xfrm>
                  <a:off x="3482" y="2633"/>
                  <a:ext cx="95" cy="138"/>
                  <a:chOff x="3482" y="2633"/>
                  <a:chExt cx="95" cy="138"/>
                </a:xfrm>
              </p:grpSpPr>
              <p:sp>
                <p:nvSpPr>
                  <p:cNvPr id="118" name="Line 15"/>
                  <p:cNvSpPr>
                    <a:spLocks noChangeShapeType="1"/>
                  </p:cNvSpPr>
                  <p:nvPr/>
                </p:nvSpPr>
                <p:spPr bwMode="auto">
                  <a:xfrm>
                    <a:off x="3482" y="2633"/>
                    <a:ext cx="75" cy="1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9" name="Freeform 16"/>
                  <p:cNvSpPr>
                    <a:spLocks/>
                  </p:cNvSpPr>
                  <p:nvPr/>
                </p:nvSpPr>
                <p:spPr bwMode="auto">
                  <a:xfrm>
                    <a:off x="3553" y="2734"/>
                    <a:ext cx="24" cy="37"/>
                  </a:xfrm>
                  <a:custGeom>
                    <a:avLst/>
                    <a:gdLst>
                      <a:gd name="T0" fmla="*/ 0 w 24"/>
                      <a:gd name="T1" fmla="*/ 12 h 37"/>
                      <a:gd name="T2" fmla="*/ 8 w 24"/>
                      <a:gd name="T3" fmla="*/ 0 h 37"/>
                      <a:gd name="T4" fmla="*/ 23 w 24"/>
                      <a:gd name="T5" fmla="*/ 36 h 37"/>
                      <a:gd name="T6" fmla="*/ 0 w 24"/>
                      <a:gd name="T7" fmla="*/ 12 h 37"/>
                      <a:gd name="T8" fmla="*/ 0 w 24"/>
                      <a:gd name="T9" fmla="*/ 12 h 37"/>
                    </a:gdLst>
                    <a:ahLst/>
                    <a:cxnLst>
                      <a:cxn ang="0">
                        <a:pos x="T0" y="T1"/>
                      </a:cxn>
                      <a:cxn ang="0">
                        <a:pos x="T2" y="T3"/>
                      </a:cxn>
                      <a:cxn ang="0">
                        <a:pos x="T4" y="T5"/>
                      </a:cxn>
                      <a:cxn ang="0">
                        <a:pos x="T6" y="T7"/>
                      </a:cxn>
                      <a:cxn ang="0">
                        <a:pos x="T8" y="T9"/>
                      </a:cxn>
                    </a:cxnLst>
                    <a:rect l="0" t="0" r="r" b="b"/>
                    <a:pathLst>
                      <a:path w="24" h="37">
                        <a:moveTo>
                          <a:pt x="0" y="12"/>
                        </a:moveTo>
                        <a:lnTo>
                          <a:pt x="8" y="0"/>
                        </a:lnTo>
                        <a:lnTo>
                          <a:pt x="23" y="36"/>
                        </a:lnTo>
                        <a:lnTo>
                          <a:pt x="0" y="12"/>
                        </a:lnTo>
                        <a:lnTo>
                          <a:pt x="0" y="12"/>
                        </a:lnTo>
                      </a:path>
                    </a:pathLst>
                  </a:custGeom>
                  <a:solidFill>
                    <a:srgbClr val="0000FF"/>
                  </a:solidFill>
                  <a:ln w="190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grpSp>
          <p:grpSp>
            <p:nvGrpSpPr>
              <p:cNvPr id="111" name="Group 17"/>
              <p:cNvGrpSpPr>
                <a:grpSpLocks/>
              </p:cNvGrpSpPr>
              <p:nvPr/>
            </p:nvGrpSpPr>
            <p:grpSpPr bwMode="auto">
              <a:xfrm flipH="1" flipV="1">
                <a:off x="2122" y="3123"/>
                <a:ext cx="182" cy="47"/>
                <a:chOff x="3518" y="2837"/>
                <a:chExt cx="137" cy="36"/>
              </a:xfrm>
            </p:grpSpPr>
            <p:sp>
              <p:nvSpPr>
                <p:cNvPr id="113" name="Freeform 18"/>
                <p:cNvSpPr>
                  <a:spLocks/>
                </p:cNvSpPr>
                <p:nvPr/>
              </p:nvSpPr>
              <p:spPr bwMode="auto">
                <a:xfrm>
                  <a:off x="3545" y="2837"/>
                  <a:ext cx="110" cy="36"/>
                </a:xfrm>
                <a:custGeom>
                  <a:avLst/>
                  <a:gdLst>
                    <a:gd name="T0" fmla="*/ 0 w 110"/>
                    <a:gd name="T1" fmla="*/ 35 h 36"/>
                    <a:gd name="T2" fmla="*/ 16 w 110"/>
                    <a:gd name="T3" fmla="*/ 0 h 36"/>
                    <a:gd name="T4" fmla="*/ 31 w 110"/>
                    <a:gd name="T5" fmla="*/ 35 h 36"/>
                    <a:gd name="T6" fmla="*/ 51 w 110"/>
                    <a:gd name="T7" fmla="*/ 1 h 36"/>
                    <a:gd name="T8" fmla="*/ 62 w 110"/>
                    <a:gd name="T9" fmla="*/ 35 h 36"/>
                    <a:gd name="T10" fmla="*/ 81 w 110"/>
                    <a:gd name="T11" fmla="*/ 5 h 36"/>
                    <a:gd name="T12" fmla="*/ 90 w 110"/>
                    <a:gd name="T13" fmla="*/ 23 h 36"/>
                    <a:gd name="T14" fmla="*/ 109 w 110"/>
                    <a:gd name="T15" fmla="*/ 23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36">
                      <a:moveTo>
                        <a:pt x="0" y="35"/>
                      </a:moveTo>
                      <a:lnTo>
                        <a:pt x="16" y="0"/>
                      </a:lnTo>
                      <a:lnTo>
                        <a:pt x="31" y="35"/>
                      </a:lnTo>
                      <a:lnTo>
                        <a:pt x="51" y="1"/>
                      </a:lnTo>
                      <a:lnTo>
                        <a:pt x="62" y="35"/>
                      </a:lnTo>
                      <a:lnTo>
                        <a:pt x="81" y="5"/>
                      </a:lnTo>
                      <a:lnTo>
                        <a:pt x="90" y="23"/>
                      </a:lnTo>
                      <a:lnTo>
                        <a:pt x="109" y="23"/>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4" name="Line 19"/>
                <p:cNvSpPr>
                  <a:spLocks noChangeShapeType="1"/>
                </p:cNvSpPr>
                <p:nvPr/>
              </p:nvSpPr>
              <p:spPr bwMode="auto">
                <a:xfrm flipH="1" flipV="1">
                  <a:off x="3538" y="2856"/>
                  <a:ext cx="5" cy="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5" name="Line 20"/>
                <p:cNvSpPr>
                  <a:spLocks noChangeShapeType="1"/>
                </p:cNvSpPr>
                <p:nvPr/>
              </p:nvSpPr>
              <p:spPr bwMode="auto">
                <a:xfrm flipH="1">
                  <a:off x="3518" y="2856"/>
                  <a:ext cx="1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112" name="Freeform 21"/>
              <p:cNvSpPr>
                <a:spLocks/>
              </p:cNvSpPr>
              <p:nvPr/>
            </p:nvSpPr>
            <p:spPr bwMode="auto">
              <a:xfrm flipH="1" flipV="1">
                <a:off x="2025" y="3191"/>
                <a:ext cx="173" cy="332"/>
              </a:xfrm>
              <a:custGeom>
                <a:avLst/>
                <a:gdLst>
                  <a:gd name="T0" fmla="*/ 0 w 455"/>
                  <a:gd name="T1" fmla="*/ 313 h 314"/>
                  <a:gd name="T2" fmla="*/ 0 w 455"/>
                  <a:gd name="T3" fmla="*/ 106 h 314"/>
                  <a:gd name="T4" fmla="*/ 0 w 455"/>
                  <a:gd name="T5" fmla="*/ 105 h 314"/>
                  <a:gd name="T6" fmla="*/ 0 w 455"/>
                  <a:gd name="T7" fmla="*/ 105 h 314"/>
                  <a:gd name="T8" fmla="*/ 0 w 455"/>
                  <a:gd name="T9" fmla="*/ 98 h 314"/>
                  <a:gd name="T10" fmla="*/ 0 w 455"/>
                  <a:gd name="T11" fmla="*/ 91 h 314"/>
                  <a:gd name="T12" fmla="*/ 2 w 455"/>
                  <a:gd name="T13" fmla="*/ 86 h 314"/>
                  <a:gd name="T14" fmla="*/ 2 w 455"/>
                  <a:gd name="T15" fmla="*/ 78 h 314"/>
                  <a:gd name="T16" fmla="*/ 3 w 455"/>
                  <a:gd name="T17" fmla="*/ 73 h 314"/>
                  <a:gd name="T18" fmla="*/ 5 w 455"/>
                  <a:gd name="T19" fmla="*/ 67 h 314"/>
                  <a:gd name="T20" fmla="*/ 9 w 455"/>
                  <a:gd name="T21" fmla="*/ 62 h 314"/>
                  <a:gd name="T22" fmla="*/ 10 w 455"/>
                  <a:gd name="T23" fmla="*/ 55 h 314"/>
                  <a:gd name="T24" fmla="*/ 13 w 455"/>
                  <a:gd name="T25" fmla="*/ 49 h 314"/>
                  <a:gd name="T26" fmla="*/ 16 w 455"/>
                  <a:gd name="T27" fmla="*/ 44 h 314"/>
                  <a:gd name="T28" fmla="*/ 19 w 455"/>
                  <a:gd name="T29" fmla="*/ 40 h 314"/>
                  <a:gd name="T30" fmla="*/ 23 w 455"/>
                  <a:gd name="T31" fmla="*/ 35 h 314"/>
                  <a:gd name="T32" fmla="*/ 26 w 455"/>
                  <a:gd name="T33" fmla="*/ 29 h 314"/>
                  <a:gd name="T34" fmla="*/ 30 w 455"/>
                  <a:gd name="T35" fmla="*/ 27 h 314"/>
                  <a:gd name="T36" fmla="*/ 33 w 455"/>
                  <a:gd name="T37" fmla="*/ 22 h 314"/>
                  <a:gd name="T38" fmla="*/ 38 w 455"/>
                  <a:gd name="T39" fmla="*/ 18 h 314"/>
                  <a:gd name="T40" fmla="*/ 44 w 455"/>
                  <a:gd name="T41" fmla="*/ 16 h 314"/>
                  <a:gd name="T42" fmla="*/ 47 w 455"/>
                  <a:gd name="T43" fmla="*/ 13 h 314"/>
                  <a:gd name="T44" fmla="*/ 53 w 455"/>
                  <a:gd name="T45" fmla="*/ 9 h 314"/>
                  <a:gd name="T46" fmla="*/ 59 w 455"/>
                  <a:gd name="T47" fmla="*/ 8 h 314"/>
                  <a:gd name="T48" fmla="*/ 62 w 455"/>
                  <a:gd name="T49" fmla="*/ 6 h 314"/>
                  <a:gd name="T50" fmla="*/ 67 w 455"/>
                  <a:gd name="T51" fmla="*/ 3 h 314"/>
                  <a:gd name="T52" fmla="*/ 72 w 455"/>
                  <a:gd name="T53" fmla="*/ 3 h 314"/>
                  <a:gd name="T54" fmla="*/ 79 w 455"/>
                  <a:gd name="T55" fmla="*/ 1 h 314"/>
                  <a:gd name="T56" fmla="*/ 85 w 455"/>
                  <a:gd name="T57" fmla="*/ 1 h 314"/>
                  <a:gd name="T58" fmla="*/ 88 w 455"/>
                  <a:gd name="T59" fmla="*/ 0 h 314"/>
                  <a:gd name="T60" fmla="*/ 454 w 455"/>
                  <a:gd name="T61"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55" h="314">
                    <a:moveTo>
                      <a:pt x="0" y="313"/>
                    </a:moveTo>
                    <a:lnTo>
                      <a:pt x="0" y="106"/>
                    </a:lnTo>
                    <a:lnTo>
                      <a:pt x="0" y="105"/>
                    </a:lnTo>
                    <a:lnTo>
                      <a:pt x="0" y="105"/>
                    </a:lnTo>
                    <a:lnTo>
                      <a:pt x="0" y="98"/>
                    </a:lnTo>
                    <a:lnTo>
                      <a:pt x="0" y="91"/>
                    </a:lnTo>
                    <a:lnTo>
                      <a:pt x="2" y="86"/>
                    </a:lnTo>
                    <a:lnTo>
                      <a:pt x="2" y="78"/>
                    </a:lnTo>
                    <a:lnTo>
                      <a:pt x="3" y="73"/>
                    </a:lnTo>
                    <a:lnTo>
                      <a:pt x="5" y="67"/>
                    </a:lnTo>
                    <a:lnTo>
                      <a:pt x="9" y="62"/>
                    </a:lnTo>
                    <a:lnTo>
                      <a:pt x="10" y="55"/>
                    </a:lnTo>
                    <a:lnTo>
                      <a:pt x="13" y="49"/>
                    </a:lnTo>
                    <a:lnTo>
                      <a:pt x="16" y="44"/>
                    </a:lnTo>
                    <a:lnTo>
                      <a:pt x="19" y="40"/>
                    </a:lnTo>
                    <a:lnTo>
                      <a:pt x="23" y="35"/>
                    </a:lnTo>
                    <a:lnTo>
                      <a:pt x="26" y="29"/>
                    </a:lnTo>
                    <a:lnTo>
                      <a:pt x="30" y="27"/>
                    </a:lnTo>
                    <a:lnTo>
                      <a:pt x="33" y="22"/>
                    </a:lnTo>
                    <a:lnTo>
                      <a:pt x="38" y="18"/>
                    </a:lnTo>
                    <a:lnTo>
                      <a:pt x="44" y="16"/>
                    </a:lnTo>
                    <a:lnTo>
                      <a:pt x="47" y="13"/>
                    </a:lnTo>
                    <a:lnTo>
                      <a:pt x="53" y="9"/>
                    </a:lnTo>
                    <a:lnTo>
                      <a:pt x="59" y="8"/>
                    </a:lnTo>
                    <a:lnTo>
                      <a:pt x="62" y="6"/>
                    </a:lnTo>
                    <a:lnTo>
                      <a:pt x="67" y="3"/>
                    </a:lnTo>
                    <a:lnTo>
                      <a:pt x="72" y="3"/>
                    </a:lnTo>
                    <a:lnTo>
                      <a:pt x="79" y="1"/>
                    </a:lnTo>
                    <a:lnTo>
                      <a:pt x="85" y="1"/>
                    </a:lnTo>
                    <a:lnTo>
                      <a:pt x="88" y="0"/>
                    </a:lnTo>
                    <a:lnTo>
                      <a:pt x="454"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grpSp>
          <p:nvGrpSpPr>
            <p:cNvPr id="19" name="Group 22"/>
            <p:cNvGrpSpPr>
              <a:grpSpLocks/>
            </p:cNvGrpSpPr>
            <p:nvPr/>
          </p:nvGrpSpPr>
          <p:grpSpPr bwMode="auto">
            <a:xfrm rot="16200000" flipH="1">
              <a:off x="2461419" y="2016919"/>
              <a:ext cx="684212" cy="558800"/>
              <a:chOff x="276" y="3476"/>
              <a:chExt cx="1123" cy="905"/>
            </a:xfrm>
          </p:grpSpPr>
          <p:sp>
            <p:nvSpPr>
              <p:cNvPr id="105" name="Freeform 23"/>
              <p:cNvSpPr>
                <a:spLocks/>
              </p:cNvSpPr>
              <p:nvPr/>
            </p:nvSpPr>
            <p:spPr bwMode="auto">
              <a:xfrm>
                <a:off x="405" y="3476"/>
                <a:ext cx="899" cy="905"/>
              </a:xfrm>
              <a:custGeom>
                <a:avLst/>
                <a:gdLst>
                  <a:gd name="T0" fmla="*/ 0 w 899"/>
                  <a:gd name="T1" fmla="*/ 904 h 905"/>
                  <a:gd name="T2" fmla="*/ 606 w 899"/>
                  <a:gd name="T3" fmla="*/ 904 h 905"/>
                  <a:gd name="T4" fmla="*/ 898 w 899"/>
                  <a:gd name="T5" fmla="*/ 522 h 905"/>
                  <a:gd name="T6" fmla="*/ 898 w 899"/>
                  <a:gd name="T7" fmla="*/ 350 h 905"/>
                  <a:gd name="T8" fmla="*/ 607 w 899"/>
                  <a:gd name="T9" fmla="*/ 0 h 905"/>
                  <a:gd name="T10" fmla="*/ 0 w 899"/>
                  <a:gd name="T11" fmla="*/ 0 h 905"/>
                  <a:gd name="T12" fmla="*/ 0 w 899"/>
                  <a:gd name="T13" fmla="*/ 904 h 905"/>
                </a:gdLst>
                <a:ahLst/>
                <a:cxnLst>
                  <a:cxn ang="0">
                    <a:pos x="T0" y="T1"/>
                  </a:cxn>
                  <a:cxn ang="0">
                    <a:pos x="T2" y="T3"/>
                  </a:cxn>
                  <a:cxn ang="0">
                    <a:pos x="T4" y="T5"/>
                  </a:cxn>
                  <a:cxn ang="0">
                    <a:pos x="T6" y="T7"/>
                  </a:cxn>
                  <a:cxn ang="0">
                    <a:pos x="T8" y="T9"/>
                  </a:cxn>
                  <a:cxn ang="0">
                    <a:pos x="T10" y="T11"/>
                  </a:cxn>
                  <a:cxn ang="0">
                    <a:pos x="T12" y="T13"/>
                  </a:cxn>
                </a:cxnLst>
                <a:rect l="0" t="0" r="r" b="b"/>
                <a:pathLst>
                  <a:path w="899" h="905">
                    <a:moveTo>
                      <a:pt x="0" y="904"/>
                    </a:moveTo>
                    <a:lnTo>
                      <a:pt x="606" y="904"/>
                    </a:lnTo>
                    <a:lnTo>
                      <a:pt x="898" y="522"/>
                    </a:lnTo>
                    <a:lnTo>
                      <a:pt x="898" y="350"/>
                    </a:lnTo>
                    <a:lnTo>
                      <a:pt x="607" y="0"/>
                    </a:lnTo>
                    <a:lnTo>
                      <a:pt x="0" y="0"/>
                    </a:lnTo>
                    <a:lnTo>
                      <a:pt x="0" y="904"/>
                    </a:lnTo>
                  </a:path>
                </a:pathLst>
              </a:custGeom>
              <a:noFill/>
              <a:ln w="317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6" name="Freeform 24"/>
              <p:cNvSpPr>
                <a:spLocks/>
              </p:cNvSpPr>
              <p:nvPr/>
            </p:nvSpPr>
            <p:spPr bwMode="auto">
              <a:xfrm>
                <a:off x="727" y="3551"/>
                <a:ext cx="672" cy="789"/>
              </a:xfrm>
              <a:custGeom>
                <a:avLst/>
                <a:gdLst>
                  <a:gd name="T0" fmla="*/ 671 w 672"/>
                  <a:gd name="T1" fmla="*/ 788 h 789"/>
                  <a:gd name="T2" fmla="*/ 383 w 672"/>
                  <a:gd name="T3" fmla="*/ 788 h 789"/>
                  <a:gd name="T4" fmla="*/ 265 w 672"/>
                  <a:gd name="T5" fmla="*/ 677 h 789"/>
                  <a:gd name="T6" fmla="*/ 264 w 672"/>
                  <a:gd name="T7" fmla="*/ 679 h 789"/>
                  <a:gd name="T8" fmla="*/ 281 w 672"/>
                  <a:gd name="T9" fmla="*/ 620 h 789"/>
                  <a:gd name="T10" fmla="*/ 187 w 672"/>
                  <a:gd name="T11" fmla="*/ 671 h 789"/>
                  <a:gd name="T12" fmla="*/ 246 w 672"/>
                  <a:gd name="T13" fmla="*/ 560 h 789"/>
                  <a:gd name="T14" fmla="*/ 147 w 672"/>
                  <a:gd name="T15" fmla="*/ 621 h 789"/>
                  <a:gd name="T16" fmla="*/ 197 w 672"/>
                  <a:gd name="T17" fmla="*/ 517 h 789"/>
                  <a:gd name="T18" fmla="*/ 104 w 672"/>
                  <a:gd name="T19" fmla="*/ 579 h 789"/>
                  <a:gd name="T20" fmla="*/ 149 w 672"/>
                  <a:gd name="T21" fmla="*/ 474 h 789"/>
                  <a:gd name="T22" fmla="*/ 63 w 672"/>
                  <a:gd name="T23" fmla="*/ 527 h 789"/>
                  <a:gd name="T24" fmla="*/ 80 w 672"/>
                  <a:gd name="T25" fmla="*/ 453 h 789"/>
                  <a:gd name="T26" fmla="*/ 74 w 672"/>
                  <a:gd name="T27" fmla="*/ 453 h 789"/>
                  <a:gd name="T28" fmla="*/ 0 w 672"/>
                  <a:gd name="T29" fmla="*/ 379 h 789"/>
                  <a:gd name="T30" fmla="*/ 87 w 672"/>
                  <a:gd name="T31" fmla="*/ 277 h 789"/>
                  <a:gd name="T32" fmla="*/ 157 w 672"/>
                  <a:gd name="T33" fmla="*/ 298 h 789"/>
                  <a:gd name="T34" fmla="*/ 87 w 672"/>
                  <a:gd name="T35" fmla="*/ 213 h 789"/>
                  <a:gd name="T36" fmla="*/ 205 w 672"/>
                  <a:gd name="T37" fmla="*/ 262 h 789"/>
                  <a:gd name="T38" fmla="*/ 131 w 672"/>
                  <a:gd name="T39" fmla="*/ 166 h 789"/>
                  <a:gd name="T40" fmla="*/ 246 w 672"/>
                  <a:gd name="T41" fmla="*/ 213 h 789"/>
                  <a:gd name="T42" fmla="*/ 168 w 672"/>
                  <a:gd name="T43" fmla="*/ 114 h 789"/>
                  <a:gd name="T44" fmla="*/ 281 w 672"/>
                  <a:gd name="T45" fmla="*/ 161 h 789"/>
                  <a:gd name="T46" fmla="*/ 215 w 672"/>
                  <a:gd name="T47" fmla="*/ 67 h 789"/>
                  <a:gd name="T48" fmla="*/ 281 w 672"/>
                  <a:gd name="T49" fmla="*/ 89 h 789"/>
                  <a:gd name="T50" fmla="*/ 284 w 672"/>
                  <a:gd name="T51" fmla="*/ 85 h 789"/>
                  <a:gd name="T52" fmla="*/ 372 w 672"/>
                  <a:gd name="T53" fmla="*/ 0 h 789"/>
                  <a:gd name="T54" fmla="*/ 667 w 672"/>
                  <a:gd name="T55" fmla="*/ 0 h 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2" h="789">
                    <a:moveTo>
                      <a:pt x="671" y="788"/>
                    </a:moveTo>
                    <a:lnTo>
                      <a:pt x="383" y="788"/>
                    </a:lnTo>
                    <a:lnTo>
                      <a:pt x="265" y="677"/>
                    </a:lnTo>
                    <a:lnTo>
                      <a:pt x="264" y="679"/>
                    </a:lnTo>
                    <a:lnTo>
                      <a:pt x="281" y="620"/>
                    </a:lnTo>
                    <a:lnTo>
                      <a:pt x="187" y="671"/>
                    </a:lnTo>
                    <a:lnTo>
                      <a:pt x="246" y="560"/>
                    </a:lnTo>
                    <a:lnTo>
                      <a:pt x="147" y="621"/>
                    </a:lnTo>
                    <a:lnTo>
                      <a:pt x="197" y="517"/>
                    </a:lnTo>
                    <a:lnTo>
                      <a:pt x="104" y="579"/>
                    </a:lnTo>
                    <a:lnTo>
                      <a:pt x="149" y="474"/>
                    </a:lnTo>
                    <a:lnTo>
                      <a:pt x="63" y="527"/>
                    </a:lnTo>
                    <a:lnTo>
                      <a:pt x="80" y="453"/>
                    </a:lnTo>
                    <a:lnTo>
                      <a:pt x="74" y="453"/>
                    </a:lnTo>
                    <a:lnTo>
                      <a:pt x="0" y="379"/>
                    </a:lnTo>
                    <a:lnTo>
                      <a:pt x="87" y="277"/>
                    </a:lnTo>
                    <a:lnTo>
                      <a:pt x="157" y="298"/>
                    </a:lnTo>
                    <a:lnTo>
                      <a:pt x="87" y="213"/>
                    </a:lnTo>
                    <a:lnTo>
                      <a:pt x="205" y="262"/>
                    </a:lnTo>
                    <a:lnTo>
                      <a:pt x="131" y="166"/>
                    </a:lnTo>
                    <a:lnTo>
                      <a:pt x="246" y="213"/>
                    </a:lnTo>
                    <a:lnTo>
                      <a:pt x="168" y="114"/>
                    </a:lnTo>
                    <a:lnTo>
                      <a:pt x="281" y="161"/>
                    </a:lnTo>
                    <a:lnTo>
                      <a:pt x="215" y="67"/>
                    </a:lnTo>
                    <a:lnTo>
                      <a:pt x="281" y="89"/>
                    </a:lnTo>
                    <a:lnTo>
                      <a:pt x="284" y="85"/>
                    </a:lnTo>
                    <a:lnTo>
                      <a:pt x="372" y="0"/>
                    </a:lnTo>
                    <a:lnTo>
                      <a:pt x="667"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7" name="Line 25"/>
              <p:cNvSpPr>
                <a:spLocks noChangeShapeType="1"/>
              </p:cNvSpPr>
              <p:nvPr/>
            </p:nvSpPr>
            <p:spPr bwMode="auto">
              <a:xfrm flipH="1">
                <a:off x="276" y="3929"/>
                <a:ext cx="45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grpSp>
          <p:nvGrpSpPr>
            <p:cNvPr id="20" name="Group 26"/>
            <p:cNvGrpSpPr>
              <a:grpSpLocks/>
            </p:cNvGrpSpPr>
            <p:nvPr/>
          </p:nvGrpSpPr>
          <p:grpSpPr bwMode="auto">
            <a:xfrm>
              <a:off x="3679826" y="2693988"/>
              <a:ext cx="517525" cy="487362"/>
              <a:chOff x="2242" y="1037"/>
              <a:chExt cx="354" cy="345"/>
            </a:xfrm>
          </p:grpSpPr>
          <p:sp>
            <p:nvSpPr>
              <p:cNvPr id="102" name="Freeform 27"/>
              <p:cNvSpPr>
                <a:spLocks/>
              </p:cNvSpPr>
              <p:nvPr/>
            </p:nvSpPr>
            <p:spPr bwMode="auto">
              <a:xfrm>
                <a:off x="2242" y="1037"/>
                <a:ext cx="354" cy="345"/>
              </a:xfrm>
              <a:custGeom>
                <a:avLst/>
                <a:gdLst>
                  <a:gd name="T0" fmla="*/ 229 w 231"/>
                  <a:gd name="T1" fmla="*/ 106 h 230"/>
                  <a:gd name="T2" fmla="*/ 227 w 231"/>
                  <a:gd name="T3" fmla="*/ 89 h 230"/>
                  <a:gd name="T4" fmla="*/ 222 w 231"/>
                  <a:gd name="T5" fmla="*/ 72 h 230"/>
                  <a:gd name="T6" fmla="*/ 215 w 231"/>
                  <a:gd name="T7" fmla="*/ 57 h 230"/>
                  <a:gd name="T8" fmla="*/ 205 w 231"/>
                  <a:gd name="T9" fmla="*/ 42 h 230"/>
                  <a:gd name="T10" fmla="*/ 194 w 231"/>
                  <a:gd name="T11" fmla="*/ 30 h 230"/>
                  <a:gd name="T12" fmla="*/ 180 w 231"/>
                  <a:gd name="T13" fmla="*/ 19 h 230"/>
                  <a:gd name="T14" fmla="*/ 165 w 231"/>
                  <a:gd name="T15" fmla="*/ 11 h 230"/>
                  <a:gd name="T16" fmla="*/ 150 w 231"/>
                  <a:gd name="T17" fmla="*/ 4 h 230"/>
                  <a:gd name="T18" fmla="*/ 131 w 231"/>
                  <a:gd name="T19" fmla="*/ 1 h 230"/>
                  <a:gd name="T20" fmla="*/ 115 w 231"/>
                  <a:gd name="T21" fmla="*/ 0 h 230"/>
                  <a:gd name="T22" fmla="*/ 97 w 231"/>
                  <a:gd name="T23" fmla="*/ 1 h 230"/>
                  <a:gd name="T24" fmla="*/ 80 w 231"/>
                  <a:gd name="T25" fmla="*/ 4 h 230"/>
                  <a:gd name="T26" fmla="*/ 65 w 231"/>
                  <a:gd name="T27" fmla="*/ 11 h 230"/>
                  <a:gd name="T28" fmla="*/ 50 w 231"/>
                  <a:gd name="T29" fmla="*/ 19 h 230"/>
                  <a:gd name="T30" fmla="*/ 37 w 231"/>
                  <a:gd name="T31" fmla="*/ 30 h 230"/>
                  <a:gd name="T32" fmla="*/ 24 w 231"/>
                  <a:gd name="T33" fmla="*/ 42 h 230"/>
                  <a:gd name="T34" fmla="*/ 15 w 231"/>
                  <a:gd name="T35" fmla="*/ 57 h 230"/>
                  <a:gd name="T36" fmla="*/ 7 w 231"/>
                  <a:gd name="T37" fmla="*/ 72 h 230"/>
                  <a:gd name="T38" fmla="*/ 2 w 231"/>
                  <a:gd name="T39" fmla="*/ 89 h 230"/>
                  <a:gd name="T40" fmla="*/ 0 w 231"/>
                  <a:gd name="T41" fmla="*/ 106 h 230"/>
                  <a:gd name="T42" fmla="*/ 0 w 231"/>
                  <a:gd name="T43" fmla="*/ 122 h 230"/>
                  <a:gd name="T44" fmla="*/ 2 w 231"/>
                  <a:gd name="T45" fmla="*/ 140 h 230"/>
                  <a:gd name="T46" fmla="*/ 7 w 231"/>
                  <a:gd name="T47" fmla="*/ 156 h 230"/>
                  <a:gd name="T48" fmla="*/ 15 w 231"/>
                  <a:gd name="T49" fmla="*/ 171 h 230"/>
                  <a:gd name="T50" fmla="*/ 24 w 231"/>
                  <a:gd name="T51" fmla="*/ 186 h 230"/>
                  <a:gd name="T52" fmla="*/ 37 w 231"/>
                  <a:gd name="T53" fmla="*/ 198 h 230"/>
                  <a:gd name="T54" fmla="*/ 50 w 231"/>
                  <a:gd name="T55" fmla="*/ 210 h 230"/>
                  <a:gd name="T56" fmla="*/ 65 w 231"/>
                  <a:gd name="T57" fmla="*/ 218 h 230"/>
                  <a:gd name="T58" fmla="*/ 80 w 231"/>
                  <a:gd name="T59" fmla="*/ 224 h 230"/>
                  <a:gd name="T60" fmla="*/ 97 w 231"/>
                  <a:gd name="T61" fmla="*/ 227 h 230"/>
                  <a:gd name="T62" fmla="*/ 115 w 231"/>
                  <a:gd name="T63" fmla="*/ 229 h 230"/>
                  <a:gd name="T64" fmla="*/ 131 w 231"/>
                  <a:gd name="T65" fmla="*/ 227 h 230"/>
                  <a:gd name="T66" fmla="*/ 150 w 231"/>
                  <a:gd name="T67" fmla="*/ 224 h 230"/>
                  <a:gd name="T68" fmla="*/ 165 w 231"/>
                  <a:gd name="T69" fmla="*/ 218 h 230"/>
                  <a:gd name="T70" fmla="*/ 180 w 231"/>
                  <a:gd name="T71" fmla="*/ 210 h 230"/>
                  <a:gd name="T72" fmla="*/ 194 w 231"/>
                  <a:gd name="T73" fmla="*/ 198 h 230"/>
                  <a:gd name="T74" fmla="*/ 205 w 231"/>
                  <a:gd name="T75" fmla="*/ 186 h 230"/>
                  <a:gd name="T76" fmla="*/ 215 w 231"/>
                  <a:gd name="T77" fmla="*/ 171 h 230"/>
                  <a:gd name="T78" fmla="*/ 222 w 231"/>
                  <a:gd name="T79" fmla="*/ 156 h 230"/>
                  <a:gd name="T80" fmla="*/ 227 w 231"/>
                  <a:gd name="T81" fmla="*/ 140 h 230"/>
                  <a:gd name="T82" fmla="*/ 229 w 231"/>
                  <a:gd name="T83" fmla="*/ 122 h 230"/>
                  <a:gd name="T84" fmla="*/ 230 w 231"/>
                  <a:gd name="T85" fmla="*/ 114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1" h="230">
                    <a:moveTo>
                      <a:pt x="230" y="114"/>
                    </a:moveTo>
                    <a:lnTo>
                      <a:pt x="229" y="106"/>
                    </a:lnTo>
                    <a:lnTo>
                      <a:pt x="229" y="98"/>
                    </a:lnTo>
                    <a:lnTo>
                      <a:pt x="227" y="89"/>
                    </a:lnTo>
                    <a:lnTo>
                      <a:pt x="225" y="80"/>
                    </a:lnTo>
                    <a:lnTo>
                      <a:pt x="222" y="72"/>
                    </a:lnTo>
                    <a:lnTo>
                      <a:pt x="219" y="65"/>
                    </a:lnTo>
                    <a:lnTo>
                      <a:pt x="215" y="57"/>
                    </a:lnTo>
                    <a:lnTo>
                      <a:pt x="210" y="50"/>
                    </a:lnTo>
                    <a:lnTo>
                      <a:pt x="205" y="42"/>
                    </a:lnTo>
                    <a:lnTo>
                      <a:pt x="199" y="37"/>
                    </a:lnTo>
                    <a:lnTo>
                      <a:pt x="194" y="30"/>
                    </a:lnTo>
                    <a:lnTo>
                      <a:pt x="187" y="24"/>
                    </a:lnTo>
                    <a:lnTo>
                      <a:pt x="180" y="19"/>
                    </a:lnTo>
                    <a:lnTo>
                      <a:pt x="173" y="14"/>
                    </a:lnTo>
                    <a:lnTo>
                      <a:pt x="165" y="11"/>
                    </a:lnTo>
                    <a:lnTo>
                      <a:pt x="157" y="8"/>
                    </a:lnTo>
                    <a:lnTo>
                      <a:pt x="150" y="4"/>
                    </a:lnTo>
                    <a:lnTo>
                      <a:pt x="141" y="2"/>
                    </a:lnTo>
                    <a:lnTo>
                      <a:pt x="131" y="1"/>
                    </a:lnTo>
                    <a:lnTo>
                      <a:pt x="123" y="0"/>
                    </a:lnTo>
                    <a:lnTo>
                      <a:pt x="115" y="0"/>
                    </a:lnTo>
                    <a:lnTo>
                      <a:pt x="106" y="0"/>
                    </a:lnTo>
                    <a:lnTo>
                      <a:pt x="97" y="1"/>
                    </a:lnTo>
                    <a:lnTo>
                      <a:pt x="90" y="2"/>
                    </a:lnTo>
                    <a:lnTo>
                      <a:pt x="80" y="4"/>
                    </a:lnTo>
                    <a:lnTo>
                      <a:pt x="73" y="8"/>
                    </a:lnTo>
                    <a:lnTo>
                      <a:pt x="65" y="11"/>
                    </a:lnTo>
                    <a:lnTo>
                      <a:pt x="56" y="14"/>
                    </a:lnTo>
                    <a:lnTo>
                      <a:pt x="50" y="19"/>
                    </a:lnTo>
                    <a:lnTo>
                      <a:pt x="43" y="24"/>
                    </a:lnTo>
                    <a:lnTo>
                      <a:pt x="37" y="30"/>
                    </a:lnTo>
                    <a:lnTo>
                      <a:pt x="30" y="37"/>
                    </a:lnTo>
                    <a:lnTo>
                      <a:pt x="24" y="42"/>
                    </a:lnTo>
                    <a:lnTo>
                      <a:pt x="20" y="50"/>
                    </a:lnTo>
                    <a:lnTo>
                      <a:pt x="15" y="57"/>
                    </a:lnTo>
                    <a:lnTo>
                      <a:pt x="10" y="65"/>
                    </a:lnTo>
                    <a:lnTo>
                      <a:pt x="7" y="72"/>
                    </a:lnTo>
                    <a:lnTo>
                      <a:pt x="4" y="80"/>
                    </a:lnTo>
                    <a:lnTo>
                      <a:pt x="2" y="89"/>
                    </a:lnTo>
                    <a:lnTo>
                      <a:pt x="1" y="98"/>
                    </a:lnTo>
                    <a:lnTo>
                      <a:pt x="0" y="106"/>
                    </a:lnTo>
                    <a:lnTo>
                      <a:pt x="0" y="114"/>
                    </a:lnTo>
                    <a:lnTo>
                      <a:pt x="0" y="122"/>
                    </a:lnTo>
                    <a:lnTo>
                      <a:pt x="1" y="131"/>
                    </a:lnTo>
                    <a:lnTo>
                      <a:pt x="2" y="140"/>
                    </a:lnTo>
                    <a:lnTo>
                      <a:pt x="4" y="148"/>
                    </a:lnTo>
                    <a:lnTo>
                      <a:pt x="7" y="156"/>
                    </a:lnTo>
                    <a:lnTo>
                      <a:pt x="10" y="164"/>
                    </a:lnTo>
                    <a:lnTo>
                      <a:pt x="15" y="171"/>
                    </a:lnTo>
                    <a:lnTo>
                      <a:pt x="20" y="179"/>
                    </a:lnTo>
                    <a:lnTo>
                      <a:pt x="24" y="186"/>
                    </a:lnTo>
                    <a:lnTo>
                      <a:pt x="30" y="191"/>
                    </a:lnTo>
                    <a:lnTo>
                      <a:pt x="37" y="198"/>
                    </a:lnTo>
                    <a:lnTo>
                      <a:pt x="43" y="203"/>
                    </a:lnTo>
                    <a:lnTo>
                      <a:pt x="50" y="210"/>
                    </a:lnTo>
                    <a:lnTo>
                      <a:pt x="56" y="213"/>
                    </a:lnTo>
                    <a:lnTo>
                      <a:pt x="65" y="218"/>
                    </a:lnTo>
                    <a:lnTo>
                      <a:pt x="73" y="220"/>
                    </a:lnTo>
                    <a:lnTo>
                      <a:pt x="80" y="224"/>
                    </a:lnTo>
                    <a:lnTo>
                      <a:pt x="90" y="226"/>
                    </a:lnTo>
                    <a:lnTo>
                      <a:pt x="97" y="227"/>
                    </a:lnTo>
                    <a:lnTo>
                      <a:pt x="106" y="229"/>
                    </a:lnTo>
                    <a:lnTo>
                      <a:pt x="115" y="229"/>
                    </a:lnTo>
                    <a:lnTo>
                      <a:pt x="123" y="229"/>
                    </a:lnTo>
                    <a:lnTo>
                      <a:pt x="131" y="227"/>
                    </a:lnTo>
                    <a:lnTo>
                      <a:pt x="141" y="226"/>
                    </a:lnTo>
                    <a:lnTo>
                      <a:pt x="150" y="224"/>
                    </a:lnTo>
                    <a:lnTo>
                      <a:pt x="157" y="220"/>
                    </a:lnTo>
                    <a:lnTo>
                      <a:pt x="165" y="218"/>
                    </a:lnTo>
                    <a:lnTo>
                      <a:pt x="173" y="213"/>
                    </a:lnTo>
                    <a:lnTo>
                      <a:pt x="180" y="210"/>
                    </a:lnTo>
                    <a:lnTo>
                      <a:pt x="187" y="203"/>
                    </a:lnTo>
                    <a:lnTo>
                      <a:pt x="194" y="198"/>
                    </a:lnTo>
                    <a:lnTo>
                      <a:pt x="199" y="191"/>
                    </a:lnTo>
                    <a:lnTo>
                      <a:pt x="205" y="186"/>
                    </a:lnTo>
                    <a:lnTo>
                      <a:pt x="210" y="179"/>
                    </a:lnTo>
                    <a:lnTo>
                      <a:pt x="215" y="171"/>
                    </a:lnTo>
                    <a:lnTo>
                      <a:pt x="219" y="164"/>
                    </a:lnTo>
                    <a:lnTo>
                      <a:pt x="222" y="156"/>
                    </a:lnTo>
                    <a:lnTo>
                      <a:pt x="225" y="148"/>
                    </a:lnTo>
                    <a:lnTo>
                      <a:pt x="227" y="140"/>
                    </a:lnTo>
                    <a:lnTo>
                      <a:pt x="229" y="131"/>
                    </a:lnTo>
                    <a:lnTo>
                      <a:pt x="229" y="122"/>
                    </a:lnTo>
                    <a:lnTo>
                      <a:pt x="230" y="114"/>
                    </a:lnTo>
                    <a:lnTo>
                      <a:pt x="230" y="114"/>
                    </a:lnTo>
                  </a:path>
                </a:pathLst>
              </a:custGeom>
              <a:noFill/>
              <a:ln w="1841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3" name="Line 28"/>
              <p:cNvSpPr>
                <a:spLocks noChangeShapeType="1"/>
              </p:cNvSpPr>
              <p:nvPr/>
            </p:nvSpPr>
            <p:spPr bwMode="auto">
              <a:xfrm flipV="1">
                <a:off x="2286" y="1087"/>
                <a:ext cx="250" cy="243"/>
              </a:xfrm>
              <a:prstGeom prst="line">
                <a:avLst/>
              </a:prstGeom>
              <a:noFill/>
              <a:ln w="1841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4" name="Line 29"/>
              <p:cNvSpPr>
                <a:spLocks noChangeShapeType="1"/>
              </p:cNvSpPr>
              <p:nvPr/>
            </p:nvSpPr>
            <p:spPr bwMode="auto">
              <a:xfrm flipH="1" flipV="1">
                <a:off x="2286" y="1095"/>
                <a:ext cx="256" cy="235"/>
              </a:xfrm>
              <a:prstGeom prst="line">
                <a:avLst/>
              </a:prstGeom>
              <a:noFill/>
              <a:ln w="1841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grpSp>
          <p:nvGrpSpPr>
            <p:cNvPr id="21" name="Group 30"/>
            <p:cNvGrpSpPr>
              <a:grpSpLocks/>
            </p:cNvGrpSpPr>
            <p:nvPr/>
          </p:nvGrpSpPr>
          <p:grpSpPr bwMode="auto">
            <a:xfrm>
              <a:off x="7991476" y="2671763"/>
              <a:ext cx="517525" cy="487362"/>
              <a:chOff x="2242" y="1037"/>
              <a:chExt cx="354" cy="345"/>
            </a:xfrm>
          </p:grpSpPr>
          <p:sp>
            <p:nvSpPr>
              <p:cNvPr id="99" name="Freeform 31"/>
              <p:cNvSpPr>
                <a:spLocks/>
              </p:cNvSpPr>
              <p:nvPr/>
            </p:nvSpPr>
            <p:spPr bwMode="auto">
              <a:xfrm>
                <a:off x="2242" y="1037"/>
                <a:ext cx="354" cy="345"/>
              </a:xfrm>
              <a:custGeom>
                <a:avLst/>
                <a:gdLst>
                  <a:gd name="T0" fmla="*/ 229 w 231"/>
                  <a:gd name="T1" fmla="*/ 106 h 230"/>
                  <a:gd name="T2" fmla="*/ 227 w 231"/>
                  <a:gd name="T3" fmla="*/ 89 h 230"/>
                  <a:gd name="T4" fmla="*/ 222 w 231"/>
                  <a:gd name="T5" fmla="*/ 72 h 230"/>
                  <a:gd name="T6" fmla="*/ 215 w 231"/>
                  <a:gd name="T7" fmla="*/ 57 h 230"/>
                  <a:gd name="T8" fmla="*/ 205 w 231"/>
                  <a:gd name="T9" fmla="*/ 42 h 230"/>
                  <a:gd name="T10" fmla="*/ 194 w 231"/>
                  <a:gd name="T11" fmla="*/ 30 h 230"/>
                  <a:gd name="T12" fmla="*/ 180 w 231"/>
                  <a:gd name="T13" fmla="*/ 19 h 230"/>
                  <a:gd name="T14" fmla="*/ 165 w 231"/>
                  <a:gd name="T15" fmla="*/ 11 h 230"/>
                  <a:gd name="T16" fmla="*/ 150 w 231"/>
                  <a:gd name="T17" fmla="*/ 4 h 230"/>
                  <a:gd name="T18" fmla="*/ 131 w 231"/>
                  <a:gd name="T19" fmla="*/ 1 h 230"/>
                  <a:gd name="T20" fmla="*/ 115 w 231"/>
                  <a:gd name="T21" fmla="*/ 0 h 230"/>
                  <a:gd name="T22" fmla="*/ 97 w 231"/>
                  <a:gd name="T23" fmla="*/ 1 h 230"/>
                  <a:gd name="T24" fmla="*/ 80 w 231"/>
                  <a:gd name="T25" fmla="*/ 4 h 230"/>
                  <a:gd name="T26" fmla="*/ 65 w 231"/>
                  <a:gd name="T27" fmla="*/ 11 h 230"/>
                  <a:gd name="T28" fmla="*/ 50 w 231"/>
                  <a:gd name="T29" fmla="*/ 19 h 230"/>
                  <a:gd name="T30" fmla="*/ 37 w 231"/>
                  <a:gd name="T31" fmla="*/ 30 h 230"/>
                  <a:gd name="T32" fmla="*/ 24 w 231"/>
                  <a:gd name="T33" fmla="*/ 42 h 230"/>
                  <a:gd name="T34" fmla="*/ 15 w 231"/>
                  <a:gd name="T35" fmla="*/ 57 h 230"/>
                  <a:gd name="T36" fmla="*/ 7 w 231"/>
                  <a:gd name="T37" fmla="*/ 72 h 230"/>
                  <a:gd name="T38" fmla="*/ 2 w 231"/>
                  <a:gd name="T39" fmla="*/ 89 h 230"/>
                  <a:gd name="T40" fmla="*/ 0 w 231"/>
                  <a:gd name="T41" fmla="*/ 106 h 230"/>
                  <a:gd name="T42" fmla="*/ 0 w 231"/>
                  <a:gd name="T43" fmla="*/ 122 h 230"/>
                  <a:gd name="T44" fmla="*/ 2 w 231"/>
                  <a:gd name="T45" fmla="*/ 140 h 230"/>
                  <a:gd name="T46" fmla="*/ 7 w 231"/>
                  <a:gd name="T47" fmla="*/ 156 h 230"/>
                  <a:gd name="T48" fmla="*/ 15 w 231"/>
                  <a:gd name="T49" fmla="*/ 171 h 230"/>
                  <a:gd name="T50" fmla="*/ 24 w 231"/>
                  <a:gd name="T51" fmla="*/ 186 h 230"/>
                  <a:gd name="T52" fmla="*/ 37 w 231"/>
                  <a:gd name="T53" fmla="*/ 198 h 230"/>
                  <a:gd name="T54" fmla="*/ 50 w 231"/>
                  <a:gd name="T55" fmla="*/ 210 h 230"/>
                  <a:gd name="T56" fmla="*/ 65 w 231"/>
                  <a:gd name="T57" fmla="*/ 218 h 230"/>
                  <a:gd name="T58" fmla="*/ 80 w 231"/>
                  <a:gd name="T59" fmla="*/ 224 h 230"/>
                  <a:gd name="T60" fmla="*/ 97 w 231"/>
                  <a:gd name="T61" fmla="*/ 227 h 230"/>
                  <a:gd name="T62" fmla="*/ 115 w 231"/>
                  <a:gd name="T63" fmla="*/ 229 h 230"/>
                  <a:gd name="T64" fmla="*/ 131 w 231"/>
                  <a:gd name="T65" fmla="*/ 227 h 230"/>
                  <a:gd name="T66" fmla="*/ 150 w 231"/>
                  <a:gd name="T67" fmla="*/ 224 h 230"/>
                  <a:gd name="T68" fmla="*/ 165 w 231"/>
                  <a:gd name="T69" fmla="*/ 218 h 230"/>
                  <a:gd name="T70" fmla="*/ 180 w 231"/>
                  <a:gd name="T71" fmla="*/ 210 h 230"/>
                  <a:gd name="T72" fmla="*/ 194 w 231"/>
                  <a:gd name="T73" fmla="*/ 198 h 230"/>
                  <a:gd name="T74" fmla="*/ 205 w 231"/>
                  <a:gd name="T75" fmla="*/ 186 h 230"/>
                  <a:gd name="T76" fmla="*/ 215 w 231"/>
                  <a:gd name="T77" fmla="*/ 171 h 230"/>
                  <a:gd name="T78" fmla="*/ 222 w 231"/>
                  <a:gd name="T79" fmla="*/ 156 h 230"/>
                  <a:gd name="T80" fmla="*/ 227 w 231"/>
                  <a:gd name="T81" fmla="*/ 140 h 230"/>
                  <a:gd name="T82" fmla="*/ 229 w 231"/>
                  <a:gd name="T83" fmla="*/ 122 h 230"/>
                  <a:gd name="T84" fmla="*/ 230 w 231"/>
                  <a:gd name="T85" fmla="*/ 114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1" h="230">
                    <a:moveTo>
                      <a:pt x="230" y="114"/>
                    </a:moveTo>
                    <a:lnTo>
                      <a:pt x="229" y="106"/>
                    </a:lnTo>
                    <a:lnTo>
                      <a:pt x="229" y="98"/>
                    </a:lnTo>
                    <a:lnTo>
                      <a:pt x="227" y="89"/>
                    </a:lnTo>
                    <a:lnTo>
                      <a:pt x="225" y="80"/>
                    </a:lnTo>
                    <a:lnTo>
                      <a:pt x="222" y="72"/>
                    </a:lnTo>
                    <a:lnTo>
                      <a:pt x="219" y="65"/>
                    </a:lnTo>
                    <a:lnTo>
                      <a:pt x="215" y="57"/>
                    </a:lnTo>
                    <a:lnTo>
                      <a:pt x="210" y="50"/>
                    </a:lnTo>
                    <a:lnTo>
                      <a:pt x="205" y="42"/>
                    </a:lnTo>
                    <a:lnTo>
                      <a:pt x="199" y="37"/>
                    </a:lnTo>
                    <a:lnTo>
                      <a:pt x="194" y="30"/>
                    </a:lnTo>
                    <a:lnTo>
                      <a:pt x="187" y="24"/>
                    </a:lnTo>
                    <a:lnTo>
                      <a:pt x="180" y="19"/>
                    </a:lnTo>
                    <a:lnTo>
                      <a:pt x="173" y="14"/>
                    </a:lnTo>
                    <a:lnTo>
                      <a:pt x="165" y="11"/>
                    </a:lnTo>
                    <a:lnTo>
                      <a:pt x="157" y="8"/>
                    </a:lnTo>
                    <a:lnTo>
                      <a:pt x="150" y="4"/>
                    </a:lnTo>
                    <a:lnTo>
                      <a:pt x="141" y="2"/>
                    </a:lnTo>
                    <a:lnTo>
                      <a:pt x="131" y="1"/>
                    </a:lnTo>
                    <a:lnTo>
                      <a:pt x="123" y="0"/>
                    </a:lnTo>
                    <a:lnTo>
                      <a:pt x="115" y="0"/>
                    </a:lnTo>
                    <a:lnTo>
                      <a:pt x="106" y="0"/>
                    </a:lnTo>
                    <a:lnTo>
                      <a:pt x="97" y="1"/>
                    </a:lnTo>
                    <a:lnTo>
                      <a:pt x="90" y="2"/>
                    </a:lnTo>
                    <a:lnTo>
                      <a:pt x="80" y="4"/>
                    </a:lnTo>
                    <a:lnTo>
                      <a:pt x="73" y="8"/>
                    </a:lnTo>
                    <a:lnTo>
                      <a:pt x="65" y="11"/>
                    </a:lnTo>
                    <a:lnTo>
                      <a:pt x="56" y="14"/>
                    </a:lnTo>
                    <a:lnTo>
                      <a:pt x="50" y="19"/>
                    </a:lnTo>
                    <a:lnTo>
                      <a:pt x="43" y="24"/>
                    </a:lnTo>
                    <a:lnTo>
                      <a:pt x="37" y="30"/>
                    </a:lnTo>
                    <a:lnTo>
                      <a:pt x="30" y="37"/>
                    </a:lnTo>
                    <a:lnTo>
                      <a:pt x="24" y="42"/>
                    </a:lnTo>
                    <a:lnTo>
                      <a:pt x="20" y="50"/>
                    </a:lnTo>
                    <a:lnTo>
                      <a:pt x="15" y="57"/>
                    </a:lnTo>
                    <a:lnTo>
                      <a:pt x="10" y="65"/>
                    </a:lnTo>
                    <a:lnTo>
                      <a:pt x="7" y="72"/>
                    </a:lnTo>
                    <a:lnTo>
                      <a:pt x="4" y="80"/>
                    </a:lnTo>
                    <a:lnTo>
                      <a:pt x="2" y="89"/>
                    </a:lnTo>
                    <a:lnTo>
                      <a:pt x="1" y="98"/>
                    </a:lnTo>
                    <a:lnTo>
                      <a:pt x="0" y="106"/>
                    </a:lnTo>
                    <a:lnTo>
                      <a:pt x="0" y="114"/>
                    </a:lnTo>
                    <a:lnTo>
                      <a:pt x="0" y="122"/>
                    </a:lnTo>
                    <a:lnTo>
                      <a:pt x="1" y="131"/>
                    </a:lnTo>
                    <a:lnTo>
                      <a:pt x="2" y="140"/>
                    </a:lnTo>
                    <a:lnTo>
                      <a:pt x="4" y="148"/>
                    </a:lnTo>
                    <a:lnTo>
                      <a:pt x="7" y="156"/>
                    </a:lnTo>
                    <a:lnTo>
                      <a:pt x="10" y="164"/>
                    </a:lnTo>
                    <a:lnTo>
                      <a:pt x="15" y="171"/>
                    </a:lnTo>
                    <a:lnTo>
                      <a:pt x="20" y="179"/>
                    </a:lnTo>
                    <a:lnTo>
                      <a:pt x="24" y="186"/>
                    </a:lnTo>
                    <a:lnTo>
                      <a:pt x="30" y="191"/>
                    </a:lnTo>
                    <a:lnTo>
                      <a:pt x="37" y="198"/>
                    </a:lnTo>
                    <a:lnTo>
                      <a:pt x="43" y="203"/>
                    </a:lnTo>
                    <a:lnTo>
                      <a:pt x="50" y="210"/>
                    </a:lnTo>
                    <a:lnTo>
                      <a:pt x="56" y="213"/>
                    </a:lnTo>
                    <a:lnTo>
                      <a:pt x="65" y="218"/>
                    </a:lnTo>
                    <a:lnTo>
                      <a:pt x="73" y="220"/>
                    </a:lnTo>
                    <a:lnTo>
                      <a:pt x="80" y="224"/>
                    </a:lnTo>
                    <a:lnTo>
                      <a:pt x="90" y="226"/>
                    </a:lnTo>
                    <a:lnTo>
                      <a:pt x="97" y="227"/>
                    </a:lnTo>
                    <a:lnTo>
                      <a:pt x="106" y="229"/>
                    </a:lnTo>
                    <a:lnTo>
                      <a:pt x="115" y="229"/>
                    </a:lnTo>
                    <a:lnTo>
                      <a:pt x="123" y="229"/>
                    </a:lnTo>
                    <a:lnTo>
                      <a:pt x="131" y="227"/>
                    </a:lnTo>
                    <a:lnTo>
                      <a:pt x="141" y="226"/>
                    </a:lnTo>
                    <a:lnTo>
                      <a:pt x="150" y="224"/>
                    </a:lnTo>
                    <a:lnTo>
                      <a:pt x="157" y="220"/>
                    </a:lnTo>
                    <a:lnTo>
                      <a:pt x="165" y="218"/>
                    </a:lnTo>
                    <a:lnTo>
                      <a:pt x="173" y="213"/>
                    </a:lnTo>
                    <a:lnTo>
                      <a:pt x="180" y="210"/>
                    </a:lnTo>
                    <a:lnTo>
                      <a:pt x="187" y="203"/>
                    </a:lnTo>
                    <a:lnTo>
                      <a:pt x="194" y="198"/>
                    </a:lnTo>
                    <a:lnTo>
                      <a:pt x="199" y="191"/>
                    </a:lnTo>
                    <a:lnTo>
                      <a:pt x="205" y="186"/>
                    </a:lnTo>
                    <a:lnTo>
                      <a:pt x="210" y="179"/>
                    </a:lnTo>
                    <a:lnTo>
                      <a:pt x="215" y="171"/>
                    </a:lnTo>
                    <a:lnTo>
                      <a:pt x="219" y="164"/>
                    </a:lnTo>
                    <a:lnTo>
                      <a:pt x="222" y="156"/>
                    </a:lnTo>
                    <a:lnTo>
                      <a:pt x="225" y="148"/>
                    </a:lnTo>
                    <a:lnTo>
                      <a:pt x="227" y="140"/>
                    </a:lnTo>
                    <a:lnTo>
                      <a:pt x="229" y="131"/>
                    </a:lnTo>
                    <a:lnTo>
                      <a:pt x="229" y="122"/>
                    </a:lnTo>
                    <a:lnTo>
                      <a:pt x="230" y="114"/>
                    </a:lnTo>
                    <a:lnTo>
                      <a:pt x="230" y="114"/>
                    </a:lnTo>
                  </a:path>
                </a:pathLst>
              </a:custGeom>
              <a:noFill/>
              <a:ln w="1841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0" name="Line 32"/>
              <p:cNvSpPr>
                <a:spLocks noChangeShapeType="1"/>
              </p:cNvSpPr>
              <p:nvPr/>
            </p:nvSpPr>
            <p:spPr bwMode="auto">
              <a:xfrm flipV="1">
                <a:off x="2286" y="1087"/>
                <a:ext cx="250" cy="243"/>
              </a:xfrm>
              <a:prstGeom prst="line">
                <a:avLst/>
              </a:prstGeom>
              <a:noFill/>
              <a:ln w="1841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1" name="Line 33"/>
              <p:cNvSpPr>
                <a:spLocks noChangeShapeType="1"/>
              </p:cNvSpPr>
              <p:nvPr/>
            </p:nvSpPr>
            <p:spPr bwMode="auto">
              <a:xfrm flipH="1" flipV="1">
                <a:off x="2286" y="1095"/>
                <a:ext cx="256" cy="235"/>
              </a:xfrm>
              <a:prstGeom prst="line">
                <a:avLst/>
              </a:prstGeom>
              <a:noFill/>
              <a:ln w="1841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22" name="AutoShape 34"/>
            <p:cNvSpPr>
              <a:spLocks noChangeArrowheads="1"/>
            </p:cNvSpPr>
            <p:nvPr/>
          </p:nvSpPr>
          <p:spPr bwMode="auto">
            <a:xfrm rot="-5400000">
              <a:off x="7319170" y="4528345"/>
              <a:ext cx="542925" cy="811213"/>
            </a:xfrm>
            <a:prstGeom prst="roundRect">
              <a:avLst>
                <a:gd name="adj" fmla="val 0"/>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3" name="Line 35"/>
            <p:cNvSpPr>
              <a:spLocks noChangeShapeType="1"/>
            </p:cNvSpPr>
            <p:nvPr/>
          </p:nvSpPr>
          <p:spPr bwMode="auto">
            <a:xfrm rot="16200000" flipV="1">
              <a:off x="7598569" y="4648994"/>
              <a:ext cx="1588" cy="9842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nvGrpSpPr>
            <p:cNvPr id="24" name="Group 36"/>
            <p:cNvGrpSpPr>
              <a:grpSpLocks/>
            </p:cNvGrpSpPr>
            <p:nvPr/>
          </p:nvGrpSpPr>
          <p:grpSpPr bwMode="auto">
            <a:xfrm rot="16200000" flipV="1">
              <a:off x="7512051" y="4840289"/>
              <a:ext cx="188913" cy="261937"/>
              <a:chOff x="3476" y="2630"/>
              <a:chExt cx="101" cy="141"/>
            </a:xfrm>
          </p:grpSpPr>
          <p:grpSp>
            <p:nvGrpSpPr>
              <p:cNvPr id="93" name="Group 37"/>
              <p:cNvGrpSpPr>
                <a:grpSpLocks/>
              </p:cNvGrpSpPr>
              <p:nvPr/>
            </p:nvGrpSpPr>
            <p:grpSpPr bwMode="auto">
              <a:xfrm>
                <a:off x="3476" y="2630"/>
                <a:ext cx="96" cy="136"/>
                <a:chOff x="3476" y="2630"/>
                <a:chExt cx="96" cy="136"/>
              </a:xfrm>
            </p:grpSpPr>
            <p:sp>
              <p:nvSpPr>
                <p:cNvPr id="97" name="Line 38"/>
                <p:cNvSpPr>
                  <a:spLocks noChangeShapeType="1"/>
                </p:cNvSpPr>
                <p:nvPr/>
              </p:nvSpPr>
              <p:spPr bwMode="auto">
                <a:xfrm flipV="1">
                  <a:off x="3476" y="2660"/>
                  <a:ext cx="75" cy="1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8" name="Freeform 39"/>
                <p:cNvSpPr>
                  <a:spLocks/>
                </p:cNvSpPr>
                <p:nvPr/>
              </p:nvSpPr>
              <p:spPr bwMode="auto">
                <a:xfrm>
                  <a:off x="3547" y="2630"/>
                  <a:ext cx="25" cy="36"/>
                </a:xfrm>
                <a:custGeom>
                  <a:avLst/>
                  <a:gdLst>
                    <a:gd name="T0" fmla="*/ 0 w 25"/>
                    <a:gd name="T1" fmla="*/ 23 h 36"/>
                    <a:gd name="T2" fmla="*/ 8 w 25"/>
                    <a:gd name="T3" fmla="*/ 35 h 36"/>
                    <a:gd name="T4" fmla="*/ 24 w 25"/>
                    <a:gd name="T5" fmla="*/ 0 h 36"/>
                    <a:gd name="T6" fmla="*/ 0 w 25"/>
                    <a:gd name="T7" fmla="*/ 23 h 36"/>
                    <a:gd name="T8" fmla="*/ 0 w 25"/>
                    <a:gd name="T9" fmla="*/ 23 h 36"/>
                  </a:gdLst>
                  <a:ahLst/>
                  <a:cxnLst>
                    <a:cxn ang="0">
                      <a:pos x="T0" y="T1"/>
                    </a:cxn>
                    <a:cxn ang="0">
                      <a:pos x="T2" y="T3"/>
                    </a:cxn>
                    <a:cxn ang="0">
                      <a:pos x="T4" y="T5"/>
                    </a:cxn>
                    <a:cxn ang="0">
                      <a:pos x="T6" y="T7"/>
                    </a:cxn>
                    <a:cxn ang="0">
                      <a:pos x="T8" y="T9"/>
                    </a:cxn>
                  </a:cxnLst>
                  <a:rect l="0" t="0" r="r" b="b"/>
                  <a:pathLst>
                    <a:path w="25" h="36">
                      <a:moveTo>
                        <a:pt x="0" y="23"/>
                      </a:moveTo>
                      <a:lnTo>
                        <a:pt x="8" y="35"/>
                      </a:lnTo>
                      <a:lnTo>
                        <a:pt x="24" y="0"/>
                      </a:lnTo>
                      <a:lnTo>
                        <a:pt x="0" y="23"/>
                      </a:lnTo>
                      <a:lnTo>
                        <a:pt x="0" y="23"/>
                      </a:lnTo>
                    </a:path>
                  </a:pathLst>
                </a:custGeom>
                <a:solidFill>
                  <a:srgbClr val="0000FF"/>
                </a:solidFill>
                <a:ln w="190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grpSp>
            <p:nvGrpSpPr>
              <p:cNvPr id="94" name="Group 40"/>
              <p:cNvGrpSpPr>
                <a:grpSpLocks/>
              </p:cNvGrpSpPr>
              <p:nvPr/>
            </p:nvGrpSpPr>
            <p:grpSpPr bwMode="auto">
              <a:xfrm>
                <a:off x="3482" y="2633"/>
                <a:ext cx="95" cy="138"/>
                <a:chOff x="3482" y="2633"/>
                <a:chExt cx="95" cy="138"/>
              </a:xfrm>
            </p:grpSpPr>
            <p:sp>
              <p:nvSpPr>
                <p:cNvPr id="95" name="Line 41"/>
                <p:cNvSpPr>
                  <a:spLocks noChangeShapeType="1"/>
                </p:cNvSpPr>
                <p:nvPr/>
              </p:nvSpPr>
              <p:spPr bwMode="auto">
                <a:xfrm>
                  <a:off x="3482" y="2633"/>
                  <a:ext cx="75" cy="1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6" name="Freeform 42"/>
                <p:cNvSpPr>
                  <a:spLocks/>
                </p:cNvSpPr>
                <p:nvPr/>
              </p:nvSpPr>
              <p:spPr bwMode="auto">
                <a:xfrm>
                  <a:off x="3553" y="2734"/>
                  <a:ext cx="24" cy="37"/>
                </a:xfrm>
                <a:custGeom>
                  <a:avLst/>
                  <a:gdLst>
                    <a:gd name="T0" fmla="*/ 0 w 24"/>
                    <a:gd name="T1" fmla="*/ 12 h 37"/>
                    <a:gd name="T2" fmla="*/ 8 w 24"/>
                    <a:gd name="T3" fmla="*/ 0 h 37"/>
                    <a:gd name="T4" fmla="*/ 23 w 24"/>
                    <a:gd name="T5" fmla="*/ 36 h 37"/>
                    <a:gd name="T6" fmla="*/ 0 w 24"/>
                    <a:gd name="T7" fmla="*/ 12 h 37"/>
                    <a:gd name="T8" fmla="*/ 0 w 24"/>
                    <a:gd name="T9" fmla="*/ 12 h 37"/>
                  </a:gdLst>
                  <a:ahLst/>
                  <a:cxnLst>
                    <a:cxn ang="0">
                      <a:pos x="T0" y="T1"/>
                    </a:cxn>
                    <a:cxn ang="0">
                      <a:pos x="T2" y="T3"/>
                    </a:cxn>
                    <a:cxn ang="0">
                      <a:pos x="T4" y="T5"/>
                    </a:cxn>
                    <a:cxn ang="0">
                      <a:pos x="T6" y="T7"/>
                    </a:cxn>
                    <a:cxn ang="0">
                      <a:pos x="T8" y="T9"/>
                    </a:cxn>
                  </a:cxnLst>
                  <a:rect l="0" t="0" r="r" b="b"/>
                  <a:pathLst>
                    <a:path w="24" h="37">
                      <a:moveTo>
                        <a:pt x="0" y="12"/>
                      </a:moveTo>
                      <a:lnTo>
                        <a:pt x="8" y="0"/>
                      </a:lnTo>
                      <a:lnTo>
                        <a:pt x="23" y="36"/>
                      </a:lnTo>
                      <a:lnTo>
                        <a:pt x="0" y="12"/>
                      </a:lnTo>
                      <a:lnTo>
                        <a:pt x="0" y="12"/>
                      </a:lnTo>
                    </a:path>
                  </a:pathLst>
                </a:custGeom>
                <a:solidFill>
                  <a:srgbClr val="0000FF"/>
                </a:solidFill>
                <a:ln w="190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grpSp>
        <p:grpSp>
          <p:nvGrpSpPr>
            <p:cNvPr id="25" name="Group 43"/>
            <p:cNvGrpSpPr>
              <a:grpSpLocks/>
            </p:cNvGrpSpPr>
            <p:nvPr/>
          </p:nvGrpSpPr>
          <p:grpSpPr bwMode="auto">
            <a:xfrm rot="16200000" flipV="1">
              <a:off x="7177882" y="4804570"/>
              <a:ext cx="257175" cy="74612"/>
              <a:chOff x="3518" y="2837"/>
              <a:chExt cx="137" cy="36"/>
            </a:xfrm>
          </p:grpSpPr>
          <p:sp>
            <p:nvSpPr>
              <p:cNvPr id="90" name="Freeform 44"/>
              <p:cNvSpPr>
                <a:spLocks/>
              </p:cNvSpPr>
              <p:nvPr/>
            </p:nvSpPr>
            <p:spPr bwMode="auto">
              <a:xfrm>
                <a:off x="3545" y="2837"/>
                <a:ext cx="110" cy="36"/>
              </a:xfrm>
              <a:custGeom>
                <a:avLst/>
                <a:gdLst>
                  <a:gd name="T0" fmla="*/ 0 w 110"/>
                  <a:gd name="T1" fmla="*/ 35 h 36"/>
                  <a:gd name="T2" fmla="*/ 16 w 110"/>
                  <a:gd name="T3" fmla="*/ 0 h 36"/>
                  <a:gd name="T4" fmla="*/ 31 w 110"/>
                  <a:gd name="T5" fmla="*/ 35 h 36"/>
                  <a:gd name="T6" fmla="*/ 51 w 110"/>
                  <a:gd name="T7" fmla="*/ 1 h 36"/>
                  <a:gd name="T8" fmla="*/ 62 w 110"/>
                  <a:gd name="T9" fmla="*/ 35 h 36"/>
                  <a:gd name="T10" fmla="*/ 81 w 110"/>
                  <a:gd name="T11" fmla="*/ 5 h 36"/>
                  <a:gd name="T12" fmla="*/ 90 w 110"/>
                  <a:gd name="T13" fmla="*/ 23 h 36"/>
                  <a:gd name="T14" fmla="*/ 109 w 110"/>
                  <a:gd name="T15" fmla="*/ 23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36">
                    <a:moveTo>
                      <a:pt x="0" y="35"/>
                    </a:moveTo>
                    <a:lnTo>
                      <a:pt x="16" y="0"/>
                    </a:lnTo>
                    <a:lnTo>
                      <a:pt x="31" y="35"/>
                    </a:lnTo>
                    <a:lnTo>
                      <a:pt x="51" y="1"/>
                    </a:lnTo>
                    <a:lnTo>
                      <a:pt x="62" y="35"/>
                    </a:lnTo>
                    <a:lnTo>
                      <a:pt x="81" y="5"/>
                    </a:lnTo>
                    <a:lnTo>
                      <a:pt x="90" y="23"/>
                    </a:lnTo>
                    <a:lnTo>
                      <a:pt x="109" y="23"/>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1" name="Line 45"/>
              <p:cNvSpPr>
                <a:spLocks noChangeShapeType="1"/>
              </p:cNvSpPr>
              <p:nvPr/>
            </p:nvSpPr>
            <p:spPr bwMode="auto">
              <a:xfrm flipH="1" flipV="1">
                <a:off x="3538" y="2856"/>
                <a:ext cx="5" cy="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2" name="Line 46"/>
              <p:cNvSpPr>
                <a:spLocks noChangeShapeType="1"/>
              </p:cNvSpPr>
              <p:nvPr/>
            </p:nvSpPr>
            <p:spPr bwMode="auto">
              <a:xfrm flipH="1">
                <a:off x="3518" y="2856"/>
                <a:ext cx="1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26" name="Freeform 47"/>
            <p:cNvSpPr>
              <a:spLocks/>
            </p:cNvSpPr>
            <p:nvPr/>
          </p:nvSpPr>
          <p:spPr bwMode="auto">
            <a:xfrm rot="16200000" flipV="1">
              <a:off x="7497764" y="4437064"/>
              <a:ext cx="244475" cy="485775"/>
            </a:xfrm>
            <a:custGeom>
              <a:avLst/>
              <a:gdLst>
                <a:gd name="T0" fmla="*/ 0 w 455"/>
                <a:gd name="T1" fmla="*/ 313 h 314"/>
                <a:gd name="T2" fmla="*/ 0 w 455"/>
                <a:gd name="T3" fmla="*/ 106 h 314"/>
                <a:gd name="T4" fmla="*/ 0 w 455"/>
                <a:gd name="T5" fmla="*/ 105 h 314"/>
                <a:gd name="T6" fmla="*/ 0 w 455"/>
                <a:gd name="T7" fmla="*/ 105 h 314"/>
                <a:gd name="T8" fmla="*/ 0 w 455"/>
                <a:gd name="T9" fmla="*/ 98 h 314"/>
                <a:gd name="T10" fmla="*/ 0 w 455"/>
                <a:gd name="T11" fmla="*/ 91 h 314"/>
                <a:gd name="T12" fmla="*/ 2 w 455"/>
                <a:gd name="T13" fmla="*/ 86 h 314"/>
                <a:gd name="T14" fmla="*/ 2 w 455"/>
                <a:gd name="T15" fmla="*/ 78 h 314"/>
                <a:gd name="T16" fmla="*/ 3 w 455"/>
                <a:gd name="T17" fmla="*/ 73 h 314"/>
                <a:gd name="T18" fmla="*/ 5 w 455"/>
                <a:gd name="T19" fmla="*/ 67 h 314"/>
                <a:gd name="T20" fmla="*/ 9 w 455"/>
                <a:gd name="T21" fmla="*/ 62 h 314"/>
                <a:gd name="T22" fmla="*/ 10 w 455"/>
                <a:gd name="T23" fmla="*/ 55 h 314"/>
                <a:gd name="T24" fmla="*/ 13 w 455"/>
                <a:gd name="T25" fmla="*/ 49 h 314"/>
                <a:gd name="T26" fmla="*/ 16 w 455"/>
                <a:gd name="T27" fmla="*/ 44 h 314"/>
                <a:gd name="T28" fmla="*/ 19 w 455"/>
                <a:gd name="T29" fmla="*/ 40 h 314"/>
                <a:gd name="T30" fmla="*/ 23 w 455"/>
                <a:gd name="T31" fmla="*/ 35 h 314"/>
                <a:gd name="T32" fmla="*/ 26 w 455"/>
                <a:gd name="T33" fmla="*/ 29 h 314"/>
                <a:gd name="T34" fmla="*/ 30 w 455"/>
                <a:gd name="T35" fmla="*/ 27 h 314"/>
                <a:gd name="T36" fmla="*/ 33 w 455"/>
                <a:gd name="T37" fmla="*/ 22 h 314"/>
                <a:gd name="T38" fmla="*/ 38 w 455"/>
                <a:gd name="T39" fmla="*/ 18 h 314"/>
                <a:gd name="T40" fmla="*/ 44 w 455"/>
                <a:gd name="T41" fmla="*/ 16 h 314"/>
                <a:gd name="T42" fmla="*/ 47 w 455"/>
                <a:gd name="T43" fmla="*/ 13 h 314"/>
                <a:gd name="T44" fmla="*/ 53 w 455"/>
                <a:gd name="T45" fmla="*/ 9 h 314"/>
                <a:gd name="T46" fmla="*/ 59 w 455"/>
                <a:gd name="T47" fmla="*/ 8 h 314"/>
                <a:gd name="T48" fmla="*/ 62 w 455"/>
                <a:gd name="T49" fmla="*/ 6 h 314"/>
                <a:gd name="T50" fmla="*/ 67 w 455"/>
                <a:gd name="T51" fmla="*/ 3 h 314"/>
                <a:gd name="T52" fmla="*/ 72 w 455"/>
                <a:gd name="T53" fmla="*/ 3 h 314"/>
                <a:gd name="T54" fmla="*/ 79 w 455"/>
                <a:gd name="T55" fmla="*/ 1 h 314"/>
                <a:gd name="T56" fmla="*/ 85 w 455"/>
                <a:gd name="T57" fmla="*/ 1 h 314"/>
                <a:gd name="T58" fmla="*/ 88 w 455"/>
                <a:gd name="T59" fmla="*/ 0 h 314"/>
                <a:gd name="T60" fmla="*/ 454 w 455"/>
                <a:gd name="T61"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55" h="314">
                  <a:moveTo>
                    <a:pt x="0" y="313"/>
                  </a:moveTo>
                  <a:lnTo>
                    <a:pt x="0" y="106"/>
                  </a:lnTo>
                  <a:lnTo>
                    <a:pt x="0" y="105"/>
                  </a:lnTo>
                  <a:lnTo>
                    <a:pt x="0" y="105"/>
                  </a:lnTo>
                  <a:lnTo>
                    <a:pt x="0" y="98"/>
                  </a:lnTo>
                  <a:lnTo>
                    <a:pt x="0" y="91"/>
                  </a:lnTo>
                  <a:lnTo>
                    <a:pt x="2" y="86"/>
                  </a:lnTo>
                  <a:lnTo>
                    <a:pt x="2" y="78"/>
                  </a:lnTo>
                  <a:lnTo>
                    <a:pt x="3" y="73"/>
                  </a:lnTo>
                  <a:lnTo>
                    <a:pt x="5" y="67"/>
                  </a:lnTo>
                  <a:lnTo>
                    <a:pt x="9" y="62"/>
                  </a:lnTo>
                  <a:lnTo>
                    <a:pt x="10" y="55"/>
                  </a:lnTo>
                  <a:lnTo>
                    <a:pt x="13" y="49"/>
                  </a:lnTo>
                  <a:lnTo>
                    <a:pt x="16" y="44"/>
                  </a:lnTo>
                  <a:lnTo>
                    <a:pt x="19" y="40"/>
                  </a:lnTo>
                  <a:lnTo>
                    <a:pt x="23" y="35"/>
                  </a:lnTo>
                  <a:lnTo>
                    <a:pt x="26" y="29"/>
                  </a:lnTo>
                  <a:lnTo>
                    <a:pt x="30" y="27"/>
                  </a:lnTo>
                  <a:lnTo>
                    <a:pt x="33" y="22"/>
                  </a:lnTo>
                  <a:lnTo>
                    <a:pt x="38" y="18"/>
                  </a:lnTo>
                  <a:lnTo>
                    <a:pt x="44" y="16"/>
                  </a:lnTo>
                  <a:lnTo>
                    <a:pt x="47" y="13"/>
                  </a:lnTo>
                  <a:lnTo>
                    <a:pt x="53" y="9"/>
                  </a:lnTo>
                  <a:lnTo>
                    <a:pt x="59" y="8"/>
                  </a:lnTo>
                  <a:lnTo>
                    <a:pt x="62" y="6"/>
                  </a:lnTo>
                  <a:lnTo>
                    <a:pt x="67" y="3"/>
                  </a:lnTo>
                  <a:lnTo>
                    <a:pt x="72" y="3"/>
                  </a:lnTo>
                  <a:lnTo>
                    <a:pt x="79" y="1"/>
                  </a:lnTo>
                  <a:lnTo>
                    <a:pt x="85" y="1"/>
                  </a:lnTo>
                  <a:lnTo>
                    <a:pt x="88" y="0"/>
                  </a:lnTo>
                  <a:lnTo>
                    <a:pt x="454"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nvGrpSpPr>
            <p:cNvPr id="27" name="Group 48"/>
            <p:cNvGrpSpPr>
              <a:grpSpLocks/>
            </p:cNvGrpSpPr>
            <p:nvPr/>
          </p:nvGrpSpPr>
          <p:grpSpPr bwMode="auto">
            <a:xfrm>
              <a:off x="5561013" y="1597026"/>
              <a:ext cx="558800" cy="688975"/>
              <a:chOff x="1322" y="824"/>
              <a:chExt cx="382" cy="488"/>
            </a:xfrm>
          </p:grpSpPr>
          <p:sp>
            <p:nvSpPr>
              <p:cNvPr id="81" name="Freeform 49"/>
              <p:cNvSpPr>
                <a:spLocks/>
              </p:cNvSpPr>
              <p:nvPr/>
            </p:nvSpPr>
            <p:spPr bwMode="auto">
              <a:xfrm rot="16200000" flipH="1">
                <a:off x="1319" y="877"/>
                <a:ext cx="388" cy="382"/>
              </a:xfrm>
              <a:custGeom>
                <a:avLst/>
                <a:gdLst>
                  <a:gd name="T0" fmla="*/ 0 w 899"/>
                  <a:gd name="T1" fmla="*/ 904 h 905"/>
                  <a:gd name="T2" fmla="*/ 606 w 899"/>
                  <a:gd name="T3" fmla="*/ 904 h 905"/>
                  <a:gd name="T4" fmla="*/ 898 w 899"/>
                  <a:gd name="T5" fmla="*/ 522 h 905"/>
                  <a:gd name="T6" fmla="*/ 898 w 899"/>
                  <a:gd name="T7" fmla="*/ 350 h 905"/>
                  <a:gd name="T8" fmla="*/ 607 w 899"/>
                  <a:gd name="T9" fmla="*/ 0 h 905"/>
                  <a:gd name="T10" fmla="*/ 0 w 899"/>
                  <a:gd name="T11" fmla="*/ 0 h 905"/>
                  <a:gd name="T12" fmla="*/ 0 w 899"/>
                  <a:gd name="T13" fmla="*/ 904 h 905"/>
                </a:gdLst>
                <a:ahLst/>
                <a:cxnLst>
                  <a:cxn ang="0">
                    <a:pos x="T0" y="T1"/>
                  </a:cxn>
                  <a:cxn ang="0">
                    <a:pos x="T2" y="T3"/>
                  </a:cxn>
                  <a:cxn ang="0">
                    <a:pos x="T4" y="T5"/>
                  </a:cxn>
                  <a:cxn ang="0">
                    <a:pos x="T6" y="T7"/>
                  </a:cxn>
                  <a:cxn ang="0">
                    <a:pos x="T8" y="T9"/>
                  </a:cxn>
                  <a:cxn ang="0">
                    <a:pos x="T10" y="T11"/>
                  </a:cxn>
                  <a:cxn ang="0">
                    <a:pos x="T12" y="T13"/>
                  </a:cxn>
                </a:cxnLst>
                <a:rect l="0" t="0" r="r" b="b"/>
                <a:pathLst>
                  <a:path w="899" h="905">
                    <a:moveTo>
                      <a:pt x="0" y="904"/>
                    </a:moveTo>
                    <a:lnTo>
                      <a:pt x="606" y="904"/>
                    </a:lnTo>
                    <a:lnTo>
                      <a:pt x="898" y="522"/>
                    </a:lnTo>
                    <a:lnTo>
                      <a:pt x="898" y="350"/>
                    </a:lnTo>
                    <a:lnTo>
                      <a:pt x="607" y="0"/>
                    </a:lnTo>
                    <a:lnTo>
                      <a:pt x="0" y="0"/>
                    </a:lnTo>
                    <a:lnTo>
                      <a:pt x="0" y="904"/>
                    </a:lnTo>
                  </a:path>
                </a:pathLst>
              </a:custGeom>
              <a:noFill/>
              <a:ln w="317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2" name="Freeform 50"/>
              <p:cNvSpPr>
                <a:spLocks/>
              </p:cNvSpPr>
              <p:nvPr/>
            </p:nvSpPr>
            <p:spPr bwMode="auto">
              <a:xfrm rot="16200000" flipH="1">
                <a:off x="1368" y="999"/>
                <a:ext cx="293" cy="333"/>
              </a:xfrm>
              <a:custGeom>
                <a:avLst/>
                <a:gdLst>
                  <a:gd name="T0" fmla="*/ 671 w 672"/>
                  <a:gd name="T1" fmla="*/ 788 h 789"/>
                  <a:gd name="T2" fmla="*/ 383 w 672"/>
                  <a:gd name="T3" fmla="*/ 788 h 789"/>
                  <a:gd name="T4" fmla="*/ 265 w 672"/>
                  <a:gd name="T5" fmla="*/ 677 h 789"/>
                  <a:gd name="T6" fmla="*/ 264 w 672"/>
                  <a:gd name="T7" fmla="*/ 679 h 789"/>
                  <a:gd name="T8" fmla="*/ 281 w 672"/>
                  <a:gd name="T9" fmla="*/ 620 h 789"/>
                  <a:gd name="T10" fmla="*/ 187 w 672"/>
                  <a:gd name="T11" fmla="*/ 671 h 789"/>
                  <a:gd name="T12" fmla="*/ 246 w 672"/>
                  <a:gd name="T13" fmla="*/ 560 h 789"/>
                  <a:gd name="T14" fmla="*/ 147 w 672"/>
                  <a:gd name="T15" fmla="*/ 621 h 789"/>
                  <a:gd name="T16" fmla="*/ 197 w 672"/>
                  <a:gd name="T17" fmla="*/ 517 h 789"/>
                  <a:gd name="T18" fmla="*/ 104 w 672"/>
                  <a:gd name="T19" fmla="*/ 579 h 789"/>
                  <a:gd name="T20" fmla="*/ 149 w 672"/>
                  <a:gd name="T21" fmla="*/ 474 h 789"/>
                  <a:gd name="T22" fmla="*/ 63 w 672"/>
                  <a:gd name="T23" fmla="*/ 527 h 789"/>
                  <a:gd name="T24" fmla="*/ 80 w 672"/>
                  <a:gd name="T25" fmla="*/ 453 h 789"/>
                  <a:gd name="T26" fmla="*/ 74 w 672"/>
                  <a:gd name="T27" fmla="*/ 453 h 789"/>
                  <a:gd name="T28" fmla="*/ 0 w 672"/>
                  <a:gd name="T29" fmla="*/ 379 h 789"/>
                  <a:gd name="T30" fmla="*/ 87 w 672"/>
                  <a:gd name="T31" fmla="*/ 277 h 789"/>
                  <a:gd name="T32" fmla="*/ 157 w 672"/>
                  <a:gd name="T33" fmla="*/ 298 h 789"/>
                  <a:gd name="T34" fmla="*/ 87 w 672"/>
                  <a:gd name="T35" fmla="*/ 213 h 789"/>
                  <a:gd name="T36" fmla="*/ 205 w 672"/>
                  <a:gd name="T37" fmla="*/ 262 h 789"/>
                  <a:gd name="T38" fmla="*/ 131 w 672"/>
                  <a:gd name="T39" fmla="*/ 166 h 789"/>
                  <a:gd name="T40" fmla="*/ 246 w 672"/>
                  <a:gd name="T41" fmla="*/ 213 h 789"/>
                  <a:gd name="T42" fmla="*/ 168 w 672"/>
                  <a:gd name="T43" fmla="*/ 114 h 789"/>
                  <a:gd name="T44" fmla="*/ 281 w 672"/>
                  <a:gd name="T45" fmla="*/ 161 h 789"/>
                  <a:gd name="T46" fmla="*/ 215 w 672"/>
                  <a:gd name="T47" fmla="*/ 67 h 789"/>
                  <a:gd name="T48" fmla="*/ 281 w 672"/>
                  <a:gd name="T49" fmla="*/ 89 h 789"/>
                  <a:gd name="T50" fmla="*/ 284 w 672"/>
                  <a:gd name="T51" fmla="*/ 85 h 789"/>
                  <a:gd name="T52" fmla="*/ 372 w 672"/>
                  <a:gd name="T53" fmla="*/ 0 h 789"/>
                  <a:gd name="T54" fmla="*/ 667 w 672"/>
                  <a:gd name="T55" fmla="*/ 0 h 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2" h="789">
                    <a:moveTo>
                      <a:pt x="671" y="788"/>
                    </a:moveTo>
                    <a:lnTo>
                      <a:pt x="383" y="788"/>
                    </a:lnTo>
                    <a:lnTo>
                      <a:pt x="265" y="677"/>
                    </a:lnTo>
                    <a:lnTo>
                      <a:pt x="264" y="679"/>
                    </a:lnTo>
                    <a:lnTo>
                      <a:pt x="281" y="620"/>
                    </a:lnTo>
                    <a:lnTo>
                      <a:pt x="187" y="671"/>
                    </a:lnTo>
                    <a:lnTo>
                      <a:pt x="246" y="560"/>
                    </a:lnTo>
                    <a:lnTo>
                      <a:pt x="147" y="621"/>
                    </a:lnTo>
                    <a:lnTo>
                      <a:pt x="197" y="517"/>
                    </a:lnTo>
                    <a:lnTo>
                      <a:pt x="104" y="579"/>
                    </a:lnTo>
                    <a:lnTo>
                      <a:pt x="149" y="474"/>
                    </a:lnTo>
                    <a:lnTo>
                      <a:pt x="63" y="527"/>
                    </a:lnTo>
                    <a:lnTo>
                      <a:pt x="80" y="453"/>
                    </a:lnTo>
                    <a:lnTo>
                      <a:pt x="74" y="453"/>
                    </a:lnTo>
                    <a:lnTo>
                      <a:pt x="0" y="379"/>
                    </a:lnTo>
                    <a:lnTo>
                      <a:pt x="87" y="277"/>
                    </a:lnTo>
                    <a:lnTo>
                      <a:pt x="157" y="298"/>
                    </a:lnTo>
                    <a:lnTo>
                      <a:pt x="87" y="213"/>
                    </a:lnTo>
                    <a:lnTo>
                      <a:pt x="205" y="262"/>
                    </a:lnTo>
                    <a:lnTo>
                      <a:pt x="131" y="166"/>
                    </a:lnTo>
                    <a:lnTo>
                      <a:pt x="246" y="213"/>
                    </a:lnTo>
                    <a:lnTo>
                      <a:pt x="168" y="114"/>
                    </a:lnTo>
                    <a:lnTo>
                      <a:pt x="281" y="161"/>
                    </a:lnTo>
                    <a:lnTo>
                      <a:pt x="215" y="67"/>
                    </a:lnTo>
                    <a:lnTo>
                      <a:pt x="281" y="89"/>
                    </a:lnTo>
                    <a:lnTo>
                      <a:pt x="284" y="85"/>
                    </a:lnTo>
                    <a:lnTo>
                      <a:pt x="372" y="0"/>
                    </a:lnTo>
                    <a:lnTo>
                      <a:pt x="667"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3" name="Line 51"/>
              <p:cNvSpPr>
                <a:spLocks noChangeShapeType="1"/>
              </p:cNvSpPr>
              <p:nvPr/>
            </p:nvSpPr>
            <p:spPr bwMode="auto">
              <a:xfrm rot="-5400000">
                <a:off x="1410" y="921"/>
                <a:ext cx="194"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nvGrpSpPr>
              <p:cNvPr id="84" name="Group 52"/>
              <p:cNvGrpSpPr>
                <a:grpSpLocks/>
              </p:cNvGrpSpPr>
              <p:nvPr/>
            </p:nvGrpSpPr>
            <p:grpSpPr bwMode="auto">
              <a:xfrm rot="16200000" flipV="1">
                <a:off x="1431" y="1124"/>
                <a:ext cx="170" cy="47"/>
                <a:chOff x="3518" y="2837"/>
                <a:chExt cx="137" cy="36"/>
              </a:xfrm>
            </p:grpSpPr>
            <p:sp>
              <p:nvSpPr>
                <p:cNvPr id="87" name="Freeform 53"/>
                <p:cNvSpPr>
                  <a:spLocks/>
                </p:cNvSpPr>
                <p:nvPr/>
              </p:nvSpPr>
              <p:spPr bwMode="auto">
                <a:xfrm>
                  <a:off x="3545" y="2837"/>
                  <a:ext cx="110" cy="36"/>
                </a:xfrm>
                <a:custGeom>
                  <a:avLst/>
                  <a:gdLst>
                    <a:gd name="T0" fmla="*/ 0 w 110"/>
                    <a:gd name="T1" fmla="*/ 35 h 36"/>
                    <a:gd name="T2" fmla="*/ 16 w 110"/>
                    <a:gd name="T3" fmla="*/ 0 h 36"/>
                    <a:gd name="T4" fmla="*/ 31 w 110"/>
                    <a:gd name="T5" fmla="*/ 35 h 36"/>
                    <a:gd name="T6" fmla="*/ 51 w 110"/>
                    <a:gd name="T7" fmla="*/ 1 h 36"/>
                    <a:gd name="T8" fmla="*/ 62 w 110"/>
                    <a:gd name="T9" fmla="*/ 35 h 36"/>
                    <a:gd name="T10" fmla="*/ 81 w 110"/>
                    <a:gd name="T11" fmla="*/ 5 h 36"/>
                    <a:gd name="T12" fmla="*/ 90 w 110"/>
                    <a:gd name="T13" fmla="*/ 23 h 36"/>
                    <a:gd name="T14" fmla="*/ 109 w 110"/>
                    <a:gd name="T15" fmla="*/ 23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36">
                      <a:moveTo>
                        <a:pt x="0" y="35"/>
                      </a:moveTo>
                      <a:lnTo>
                        <a:pt x="16" y="0"/>
                      </a:lnTo>
                      <a:lnTo>
                        <a:pt x="31" y="35"/>
                      </a:lnTo>
                      <a:lnTo>
                        <a:pt x="51" y="1"/>
                      </a:lnTo>
                      <a:lnTo>
                        <a:pt x="62" y="35"/>
                      </a:lnTo>
                      <a:lnTo>
                        <a:pt x="81" y="5"/>
                      </a:lnTo>
                      <a:lnTo>
                        <a:pt x="90" y="23"/>
                      </a:lnTo>
                      <a:lnTo>
                        <a:pt x="109" y="23"/>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8" name="Line 54"/>
                <p:cNvSpPr>
                  <a:spLocks noChangeShapeType="1"/>
                </p:cNvSpPr>
                <p:nvPr/>
              </p:nvSpPr>
              <p:spPr bwMode="auto">
                <a:xfrm flipH="1" flipV="1">
                  <a:off x="3538" y="2856"/>
                  <a:ext cx="5" cy="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9" name="Line 55"/>
                <p:cNvSpPr>
                  <a:spLocks noChangeShapeType="1"/>
                </p:cNvSpPr>
                <p:nvPr/>
              </p:nvSpPr>
              <p:spPr bwMode="auto">
                <a:xfrm flipH="1">
                  <a:off x="3518" y="2856"/>
                  <a:ext cx="1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85" name="Line 56"/>
              <p:cNvSpPr>
                <a:spLocks noChangeShapeType="1"/>
              </p:cNvSpPr>
              <p:nvPr/>
            </p:nvSpPr>
            <p:spPr bwMode="auto">
              <a:xfrm>
                <a:off x="1506" y="1026"/>
                <a:ext cx="0" cy="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6" name="Line 57"/>
              <p:cNvSpPr>
                <a:spLocks noChangeShapeType="1"/>
              </p:cNvSpPr>
              <p:nvPr/>
            </p:nvSpPr>
            <p:spPr bwMode="auto">
              <a:xfrm flipH="1">
                <a:off x="1509" y="1230"/>
                <a:ext cx="3" cy="8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28" name="Line 58"/>
            <p:cNvSpPr>
              <a:spLocks noChangeShapeType="1"/>
            </p:cNvSpPr>
            <p:nvPr/>
          </p:nvSpPr>
          <p:spPr bwMode="auto">
            <a:xfrm flipH="1">
              <a:off x="5848351" y="2303464"/>
              <a:ext cx="9525" cy="3587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9" name="Line 59"/>
            <p:cNvSpPr>
              <a:spLocks noChangeShapeType="1"/>
            </p:cNvSpPr>
            <p:nvPr/>
          </p:nvSpPr>
          <p:spPr bwMode="auto">
            <a:xfrm flipH="1">
              <a:off x="3943351" y="2362200"/>
              <a:ext cx="1527175" cy="15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0" name="Line 60"/>
            <p:cNvSpPr>
              <a:spLocks noChangeShapeType="1"/>
            </p:cNvSpPr>
            <p:nvPr/>
          </p:nvSpPr>
          <p:spPr bwMode="auto">
            <a:xfrm>
              <a:off x="3954464" y="2360614"/>
              <a:ext cx="1587" cy="2873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1" name="Line 61"/>
            <p:cNvSpPr>
              <a:spLocks noChangeShapeType="1"/>
            </p:cNvSpPr>
            <p:nvPr/>
          </p:nvSpPr>
          <p:spPr bwMode="auto">
            <a:xfrm>
              <a:off x="6140451" y="2362200"/>
              <a:ext cx="1958975" cy="15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2" name="Line 62"/>
            <p:cNvSpPr>
              <a:spLocks noChangeShapeType="1"/>
            </p:cNvSpPr>
            <p:nvPr/>
          </p:nvSpPr>
          <p:spPr bwMode="auto">
            <a:xfrm>
              <a:off x="8280400" y="2347914"/>
              <a:ext cx="1588" cy="2889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3" name="Line 63"/>
            <p:cNvSpPr>
              <a:spLocks noChangeShapeType="1"/>
            </p:cNvSpPr>
            <p:nvPr/>
          </p:nvSpPr>
          <p:spPr bwMode="auto">
            <a:xfrm flipH="1">
              <a:off x="3092451" y="2954339"/>
              <a:ext cx="536575" cy="15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4" name="Line 64"/>
            <p:cNvSpPr>
              <a:spLocks noChangeShapeType="1"/>
            </p:cNvSpPr>
            <p:nvPr/>
          </p:nvSpPr>
          <p:spPr bwMode="auto">
            <a:xfrm>
              <a:off x="3103564" y="2695575"/>
              <a:ext cx="1587" cy="2301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5" name="Line 65"/>
            <p:cNvSpPr>
              <a:spLocks noChangeShapeType="1"/>
            </p:cNvSpPr>
            <p:nvPr/>
          </p:nvSpPr>
          <p:spPr bwMode="auto">
            <a:xfrm flipH="1">
              <a:off x="2565401" y="5067300"/>
              <a:ext cx="1865313" cy="15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6" name="Line 66"/>
            <p:cNvSpPr>
              <a:spLocks noChangeShapeType="1"/>
            </p:cNvSpPr>
            <p:nvPr/>
          </p:nvSpPr>
          <p:spPr bwMode="auto">
            <a:xfrm flipV="1">
              <a:off x="2576514" y="2684464"/>
              <a:ext cx="1587" cy="21732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7" name="Line 67"/>
            <p:cNvSpPr>
              <a:spLocks noChangeShapeType="1"/>
            </p:cNvSpPr>
            <p:nvPr/>
          </p:nvSpPr>
          <p:spPr bwMode="auto">
            <a:xfrm flipH="1" flipV="1">
              <a:off x="4705351" y="2954339"/>
              <a:ext cx="9525" cy="1463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8" name="Line 68"/>
            <p:cNvSpPr>
              <a:spLocks noChangeShapeType="1"/>
            </p:cNvSpPr>
            <p:nvPr/>
          </p:nvSpPr>
          <p:spPr bwMode="auto">
            <a:xfrm>
              <a:off x="4727576" y="2965450"/>
              <a:ext cx="784225" cy="15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9" name="Line 69"/>
            <p:cNvSpPr>
              <a:spLocks noChangeShapeType="1"/>
            </p:cNvSpPr>
            <p:nvPr/>
          </p:nvSpPr>
          <p:spPr bwMode="auto">
            <a:xfrm flipV="1">
              <a:off x="7899400" y="2976564"/>
              <a:ext cx="1588" cy="14049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0" name="Line 70"/>
            <p:cNvSpPr>
              <a:spLocks noChangeShapeType="1"/>
            </p:cNvSpPr>
            <p:nvPr/>
          </p:nvSpPr>
          <p:spPr bwMode="auto">
            <a:xfrm>
              <a:off x="7910513" y="2976564"/>
              <a:ext cx="82550" cy="15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1" name="Line 71"/>
            <p:cNvSpPr>
              <a:spLocks noChangeShapeType="1"/>
            </p:cNvSpPr>
            <p:nvPr/>
          </p:nvSpPr>
          <p:spPr bwMode="auto">
            <a:xfrm>
              <a:off x="5434013" y="5127625"/>
              <a:ext cx="1566862" cy="15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nvGrpSpPr>
            <p:cNvPr id="42" name="Group 72"/>
            <p:cNvGrpSpPr>
              <a:grpSpLocks/>
            </p:cNvGrpSpPr>
            <p:nvPr/>
          </p:nvGrpSpPr>
          <p:grpSpPr bwMode="auto">
            <a:xfrm>
              <a:off x="6000751" y="4811714"/>
              <a:ext cx="568325" cy="600075"/>
              <a:chOff x="2037" y="2074"/>
              <a:chExt cx="389" cy="425"/>
            </a:xfrm>
          </p:grpSpPr>
          <p:sp>
            <p:nvSpPr>
              <p:cNvPr id="79" name="AutoShape 73"/>
              <p:cNvSpPr>
                <a:spLocks noChangeArrowheads="1"/>
              </p:cNvSpPr>
              <p:nvPr/>
            </p:nvSpPr>
            <p:spPr bwMode="auto">
              <a:xfrm flipV="1">
                <a:off x="2037" y="2074"/>
                <a:ext cx="389" cy="425"/>
              </a:xfrm>
              <a:prstGeom prst="roundRect">
                <a:avLst>
                  <a:gd name="adj" fmla="val 0"/>
                </a:avLst>
              </a:prstGeom>
              <a:solidFill>
                <a:srgbClr val="C0C0C0"/>
              </a:solidFill>
              <a:ln w="1841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0" name="Freeform 74"/>
              <p:cNvSpPr>
                <a:spLocks/>
              </p:cNvSpPr>
              <p:nvPr/>
            </p:nvSpPr>
            <p:spPr bwMode="auto">
              <a:xfrm>
                <a:off x="2127" y="2118"/>
                <a:ext cx="200" cy="315"/>
              </a:xfrm>
              <a:custGeom>
                <a:avLst/>
                <a:gdLst>
                  <a:gd name="T0" fmla="*/ 177 w 178"/>
                  <a:gd name="T1" fmla="*/ 275 h 276"/>
                  <a:gd name="T2" fmla="*/ 168 w 178"/>
                  <a:gd name="T3" fmla="*/ 275 h 276"/>
                  <a:gd name="T4" fmla="*/ 159 w 178"/>
                  <a:gd name="T5" fmla="*/ 272 h 276"/>
                  <a:gd name="T6" fmla="*/ 143 w 178"/>
                  <a:gd name="T7" fmla="*/ 252 h 276"/>
                  <a:gd name="T8" fmla="*/ 142 w 178"/>
                  <a:gd name="T9" fmla="*/ 251 h 276"/>
                  <a:gd name="T10" fmla="*/ 128 w 178"/>
                  <a:gd name="T11" fmla="*/ 213 h 276"/>
                  <a:gd name="T12" fmla="*/ 119 w 178"/>
                  <a:gd name="T13" fmla="*/ 168 h 276"/>
                  <a:gd name="T14" fmla="*/ 119 w 178"/>
                  <a:gd name="T15" fmla="*/ 167 h 276"/>
                  <a:gd name="T16" fmla="*/ 99 w 178"/>
                  <a:gd name="T17" fmla="*/ 19 h 276"/>
                  <a:gd name="T18" fmla="*/ 99 w 178"/>
                  <a:gd name="T19" fmla="*/ 18 h 276"/>
                  <a:gd name="T20" fmla="*/ 90 w 178"/>
                  <a:gd name="T21" fmla="*/ 0 h 276"/>
                  <a:gd name="T22" fmla="*/ 87 w 178"/>
                  <a:gd name="T23" fmla="*/ 0 h 276"/>
                  <a:gd name="T24" fmla="*/ 78 w 178"/>
                  <a:gd name="T25" fmla="*/ 18 h 276"/>
                  <a:gd name="T26" fmla="*/ 78 w 178"/>
                  <a:gd name="T27" fmla="*/ 19 h 276"/>
                  <a:gd name="T28" fmla="*/ 58 w 178"/>
                  <a:gd name="T29" fmla="*/ 167 h 276"/>
                  <a:gd name="T30" fmla="*/ 58 w 178"/>
                  <a:gd name="T31" fmla="*/ 169 h 276"/>
                  <a:gd name="T32" fmla="*/ 34 w 178"/>
                  <a:gd name="T33" fmla="*/ 252 h 276"/>
                  <a:gd name="T34" fmla="*/ 34 w 178"/>
                  <a:gd name="T35" fmla="*/ 252 h 276"/>
                  <a:gd name="T36" fmla="*/ 18 w 178"/>
                  <a:gd name="T37" fmla="*/ 272 h 276"/>
                  <a:gd name="T38" fmla="*/ 9 w 178"/>
                  <a:gd name="T39" fmla="*/ 275 h 276"/>
                  <a:gd name="T40" fmla="*/ 0 w 178"/>
                  <a:gd name="T41" fmla="*/ 275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8" h="276">
                    <a:moveTo>
                      <a:pt x="177" y="275"/>
                    </a:moveTo>
                    <a:lnTo>
                      <a:pt x="168" y="275"/>
                    </a:lnTo>
                    <a:lnTo>
                      <a:pt x="159" y="272"/>
                    </a:lnTo>
                    <a:lnTo>
                      <a:pt x="143" y="252"/>
                    </a:lnTo>
                    <a:lnTo>
                      <a:pt x="142" y="251"/>
                    </a:lnTo>
                    <a:lnTo>
                      <a:pt x="128" y="213"/>
                    </a:lnTo>
                    <a:lnTo>
                      <a:pt x="119" y="168"/>
                    </a:lnTo>
                    <a:lnTo>
                      <a:pt x="119" y="167"/>
                    </a:lnTo>
                    <a:lnTo>
                      <a:pt x="99" y="19"/>
                    </a:lnTo>
                    <a:lnTo>
                      <a:pt x="99" y="18"/>
                    </a:lnTo>
                    <a:lnTo>
                      <a:pt x="90" y="0"/>
                    </a:lnTo>
                    <a:lnTo>
                      <a:pt x="87" y="0"/>
                    </a:lnTo>
                    <a:lnTo>
                      <a:pt x="78" y="18"/>
                    </a:lnTo>
                    <a:lnTo>
                      <a:pt x="78" y="19"/>
                    </a:lnTo>
                    <a:lnTo>
                      <a:pt x="58" y="167"/>
                    </a:lnTo>
                    <a:lnTo>
                      <a:pt x="58" y="169"/>
                    </a:lnTo>
                    <a:lnTo>
                      <a:pt x="34" y="252"/>
                    </a:lnTo>
                    <a:lnTo>
                      <a:pt x="34" y="252"/>
                    </a:lnTo>
                    <a:lnTo>
                      <a:pt x="18" y="272"/>
                    </a:lnTo>
                    <a:lnTo>
                      <a:pt x="9" y="275"/>
                    </a:lnTo>
                    <a:lnTo>
                      <a:pt x="0" y="275"/>
                    </a:lnTo>
                  </a:path>
                </a:pathLst>
              </a:custGeom>
              <a:noFill/>
              <a:ln w="1841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43" name="Text Box 75"/>
            <p:cNvSpPr txBox="1">
              <a:spLocks noChangeArrowheads="1"/>
            </p:cNvSpPr>
            <p:nvPr/>
          </p:nvSpPr>
          <p:spPr bwMode="auto">
            <a:xfrm>
              <a:off x="3939741" y="2240649"/>
              <a:ext cx="385042"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pPr>
              <a:r>
                <a:rPr lang="en-US" altLang="zh-CN" sz="2400">
                  <a:solidFill>
                    <a:schemeClr val="folHlink"/>
                  </a:solidFill>
                  <a:latin typeface="微软雅黑" panose="020B0503020204020204" pitchFamily="34" charset="-122"/>
                  <a:ea typeface="微软雅黑" panose="020B0503020204020204" pitchFamily="34" charset="-122"/>
                </a:rPr>
                <a:t>R</a:t>
              </a:r>
            </a:p>
          </p:txBody>
        </p:sp>
        <p:sp>
          <p:nvSpPr>
            <p:cNvPr id="44" name="Text Box 76"/>
            <p:cNvSpPr txBox="1">
              <a:spLocks noChangeArrowheads="1"/>
            </p:cNvSpPr>
            <p:nvPr/>
          </p:nvSpPr>
          <p:spPr bwMode="auto">
            <a:xfrm>
              <a:off x="6069296" y="2305736"/>
              <a:ext cx="401072"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pPr>
              <a:r>
                <a:rPr lang="en-US" altLang="zh-CN" sz="2400">
                  <a:solidFill>
                    <a:schemeClr val="folHlink"/>
                  </a:solidFill>
                  <a:latin typeface="微软雅黑" panose="020B0503020204020204" pitchFamily="34" charset="-122"/>
                  <a:ea typeface="微软雅黑" panose="020B0503020204020204" pitchFamily="34" charset="-122"/>
                </a:rPr>
                <a:t>A</a:t>
              </a:r>
            </a:p>
          </p:txBody>
        </p:sp>
        <p:sp>
          <p:nvSpPr>
            <p:cNvPr id="45" name="Text Box 77"/>
            <p:cNvSpPr txBox="1">
              <a:spLocks noChangeArrowheads="1"/>
            </p:cNvSpPr>
            <p:nvPr/>
          </p:nvSpPr>
          <p:spPr bwMode="auto">
            <a:xfrm>
              <a:off x="8452250" y="2305736"/>
              <a:ext cx="377026"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pPr>
              <a:r>
                <a:rPr lang="en-US" altLang="zh-CN" sz="2400">
                  <a:solidFill>
                    <a:schemeClr val="folHlink"/>
                  </a:solidFill>
                  <a:latin typeface="微软雅黑" panose="020B0503020204020204" pitchFamily="34" charset="-122"/>
                  <a:ea typeface="微软雅黑" panose="020B0503020204020204" pitchFamily="34" charset="-122"/>
                </a:rPr>
                <a:t>B</a:t>
              </a:r>
            </a:p>
          </p:txBody>
        </p:sp>
        <p:sp>
          <p:nvSpPr>
            <p:cNvPr id="46" name="Line 78"/>
            <p:cNvSpPr>
              <a:spLocks noChangeShapeType="1"/>
            </p:cNvSpPr>
            <p:nvPr/>
          </p:nvSpPr>
          <p:spPr bwMode="auto">
            <a:xfrm flipH="1" flipV="1">
              <a:off x="5848351" y="1408113"/>
              <a:ext cx="9525" cy="228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7" name="Line 79"/>
            <p:cNvSpPr>
              <a:spLocks noChangeShapeType="1"/>
            </p:cNvSpPr>
            <p:nvPr/>
          </p:nvSpPr>
          <p:spPr bwMode="auto">
            <a:xfrm flipV="1">
              <a:off x="2822575" y="1419225"/>
              <a:ext cx="1588" cy="52863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nvGrpSpPr>
            <p:cNvPr id="48" name="Group 80"/>
            <p:cNvGrpSpPr>
              <a:grpSpLocks/>
            </p:cNvGrpSpPr>
            <p:nvPr/>
          </p:nvGrpSpPr>
          <p:grpSpPr bwMode="auto">
            <a:xfrm>
              <a:off x="5543551" y="855664"/>
              <a:ext cx="531813" cy="522287"/>
              <a:chOff x="1363" y="942"/>
              <a:chExt cx="273" cy="264"/>
            </a:xfrm>
          </p:grpSpPr>
          <p:sp>
            <p:nvSpPr>
              <p:cNvPr id="77" name="Freeform 81"/>
              <p:cNvSpPr>
                <a:spLocks/>
              </p:cNvSpPr>
              <p:nvPr/>
            </p:nvSpPr>
            <p:spPr bwMode="auto">
              <a:xfrm>
                <a:off x="1363" y="942"/>
                <a:ext cx="273" cy="264"/>
              </a:xfrm>
              <a:custGeom>
                <a:avLst/>
                <a:gdLst>
                  <a:gd name="T0" fmla="*/ 228 w 230"/>
                  <a:gd name="T1" fmla="*/ 106 h 230"/>
                  <a:gd name="T2" fmla="*/ 227 w 230"/>
                  <a:gd name="T3" fmla="*/ 89 h 230"/>
                  <a:gd name="T4" fmla="*/ 221 w 230"/>
                  <a:gd name="T5" fmla="*/ 72 h 230"/>
                  <a:gd name="T6" fmla="*/ 214 w 230"/>
                  <a:gd name="T7" fmla="*/ 57 h 230"/>
                  <a:gd name="T8" fmla="*/ 204 w 230"/>
                  <a:gd name="T9" fmla="*/ 43 h 230"/>
                  <a:gd name="T10" fmla="*/ 192 w 230"/>
                  <a:gd name="T11" fmla="*/ 30 h 230"/>
                  <a:gd name="T12" fmla="*/ 180 w 230"/>
                  <a:gd name="T13" fmla="*/ 19 h 230"/>
                  <a:gd name="T14" fmla="*/ 165 w 230"/>
                  <a:gd name="T15" fmla="*/ 12 h 230"/>
                  <a:gd name="T16" fmla="*/ 148 w 230"/>
                  <a:gd name="T17" fmla="*/ 5 h 230"/>
                  <a:gd name="T18" fmla="*/ 131 w 230"/>
                  <a:gd name="T19" fmla="*/ 1 h 230"/>
                  <a:gd name="T20" fmla="*/ 115 w 230"/>
                  <a:gd name="T21" fmla="*/ 0 h 230"/>
                  <a:gd name="T22" fmla="*/ 98 w 230"/>
                  <a:gd name="T23" fmla="*/ 1 h 230"/>
                  <a:gd name="T24" fmla="*/ 81 w 230"/>
                  <a:gd name="T25" fmla="*/ 5 h 230"/>
                  <a:gd name="T26" fmla="*/ 65 w 230"/>
                  <a:gd name="T27" fmla="*/ 12 h 230"/>
                  <a:gd name="T28" fmla="*/ 49 w 230"/>
                  <a:gd name="T29" fmla="*/ 19 h 230"/>
                  <a:gd name="T30" fmla="*/ 37 w 230"/>
                  <a:gd name="T31" fmla="*/ 30 h 230"/>
                  <a:gd name="T32" fmla="*/ 25 w 230"/>
                  <a:gd name="T33" fmla="*/ 43 h 230"/>
                  <a:gd name="T34" fmla="*/ 15 w 230"/>
                  <a:gd name="T35" fmla="*/ 57 h 230"/>
                  <a:gd name="T36" fmla="*/ 8 w 230"/>
                  <a:gd name="T37" fmla="*/ 72 h 230"/>
                  <a:gd name="T38" fmla="*/ 3 w 230"/>
                  <a:gd name="T39" fmla="*/ 89 h 230"/>
                  <a:gd name="T40" fmla="*/ 0 w 230"/>
                  <a:gd name="T41" fmla="*/ 106 h 230"/>
                  <a:gd name="T42" fmla="*/ 0 w 230"/>
                  <a:gd name="T43" fmla="*/ 123 h 230"/>
                  <a:gd name="T44" fmla="*/ 3 w 230"/>
                  <a:gd name="T45" fmla="*/ 140 h 230"/>
                  <a:gd name="T46" fmla="*/ 8 w 230"/>
                  <a:gd name="T47" fmla="*/ 156 h 230"/>
                  <a:gd name="T48" fmla="*/ 15 w 230"/>
                  <a:gd name="T49" fmla="*/ 171 h 230"/>
                  <a:gd name="T50" fmla="*/ 25 w 230"/>
                  <a:gd name="T51" fmla="*/ 185 h 230"/>
                  <a:gd name="T52" fmla="*/ 37 w 230"/>
                  <a:gd name="T53" fmla="*/ 199 h 230"/>
                  <a:gd name="T54" fmla="*/ 49 w 230"/>
                  <a:gd name="T55" fmla="*/ 209 h 230"/>
                  <a:gd name="T56" fmla="*/ 65 w 230"/>
                  <a:gd name="T57" fmla="*/ 218 h 230"/>
                  <a:gd name="T58" fmla="*/ 81 w 230"/>
                  <a:gd name="T59" fmla="*/ 224 h 230"/>
                  <a:gd name="T60" fmla="*/ 98 w 230"/>
                  <a:gd name="T61" fmla="*/ 228 h 230"/>
                  <a:gd name="T62" fmla="*/ 115 w 230"/>
                  <a:gd name="T63" fmla="*/ 229 h 230"/>
                  <a:gd name="T64" fmla="*/ 131 w 230"/>
                  <a:gd name="T65" fmla="*/ 228 h 230"/>
                  <a:gd name="T66" fmla="*/ 148 w 230"/>
                  <a:gd name="T67" fmla="*/ 224 h 230"/>
                  <a:gd name="T68" fmla="*/ 165 w 230"/>
                  <a:gd name="T69" fmla="*/ 218 h 230"/>
                  <a:gd name="T70" fmla="*/ 180 w 230"/>
                  <a:gd name="T71" fmla="*/ 209 h 230"/>
                  <a:gd name="T72" fmla="*/ 192 w 230"/>
                  <a:gd name="T73" fmla="*/ 199 h 230"/>
                  <a:gd name="T74" fmla="*/ 204 w 230"/>
                  <a:gd name="T75" fmla="*/ 185 h 230"/>
                  <a:gd name="T76" fmla="*/ 214 w 230"/>
                  <a:gd name="T77" fmla="*/ 171 h 230"/>
                  <a:gd name="T78" fmla="*/ 221 w 230"/>
                  <a:gd name="T79" fmla="*/ 156 h 230"/>
                  <a:gd name="T80" fmla="*/ 227 w 230"/>
                  <a:gd name="T81" fmla="*/ 140 h 230"/>
                  <a:gd name="T82" fmla="*/ 228 w 230"/>
                  <a:gd name="T83" fmla="*/ 123 h 230"/>
                  <a:gd name="T84" fmla="*/ 229 w 230"/>
                  <a:gd name="T85" fmla="*/ 115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0" h="230">
                    <a:moveTo>
                      <a:pt x="229" y="115"/>
                    </a:moveTo>
                    <a:lnTo>
                      <a:pt x="228" y="106"/>
                    </a:lnTo>
                    <a:lnTo>
                      <a:pt x="227" y="98"/>
                    </a:lnTo>
                    <a:lnTo>
                      <a:pt x="227" y="89"/>
                    </a:lnTo>
                    <a:lnTo>
                      <a:pt x="224" y="80"/>
                    </a:lnTo>
                    <a:lnTo>
                      <a:pt x="221" y="72"/>
                    </a:lnTo>
                    <a:lnTo>
                      <a:pt x="218" y="65"/>
                    </a:lnTo>
                    <a:lnTo>
                      <a:pt x="214" y="57"/>
                    </a:lnTo>
                    <a:lnTo>
                      <a:pt x="209" y="50"/>
                    </a:lnTo>
                    <a:lnTo>
                      <a:pt x="204" y="43"/>
                    </a:lnTo>
                    <a:lnTo>
                      <a:pt x="199" y="36"/>
                    </a:lnTo>
                    <a:lnTo>
                      <a:pt x="192" y="30"/>
                    </a:lnTo>
                    <a:lnTo>
                      <a:pt x="186" y="25"/>
                    </a:lnTo>
                    <a:lnTo>
                      <a:pt x="180" y="19"/>
                    </a:lnTo>
                    <a:lnTo>
                      <a:pt x="171" y="15"/>
                    </a:lnTo>
                    <a:lnTo>
                      <a:pt x="165" y="12"/>
                    </a:lnTo>
                    <a:lnTo>
                      <a:pt x="157" y="8"/>
                    </a:lnTo>
                    <a:lnTo>
                      <a:pt x="148" y="5"/>
                    </a:lnTo>
                    <a:lnTo>
                      <a:pt x="139" y="3"/>
                    </a:lnTo>
                    <a:lnTo>
                      <a:pt x="131" y="1"/>
                    </a:lnTo>
                    <a:lnTo>
                      <a:pt x="123" y="1"/>
                    </a:lnTo>
                    <a:lnTo>
                      <a:pt x="115" y="0"/>
                    </a:lnTo>
                    <a:lnTo>
                      <a:pt x="106" y="1"/>
                    </a:lnTo>
                    <a:lnTo>
                      <a:pt x="98" y="1"/>
                    </a:lnTo>
                    <a:lnTo>
                      <a:pt x="88" y="3"/>
                    </a:lnTo>
                    <a:lnTo>
                      <a:pt x="81" y="5"/>
                    </a:lnTo>
                    <a:lnTo>
                      <a:pt x="73" y="8"/>
                    </a:lnTo>
                    <a:lnTo>
                      <a:pt x="65" y="12"/>
                    </a:lnTo>
                    <a:lnTo>
                      <a:pt x="57" y="15"/>
                    </a:lnTo>
                    <a:lnTo>
                      <a:pt x="49" y="19"/>
                    </a:lnTo>
                    <a:lnTo>
                      <a:pt x="43" y="25"/>
                    </a:lnTo>
                    <a:lnTo>
                      <a:pt x="37" y="30"/>
                    </a:lnTo>
                    <a:lnTo>
                      <a:pt x="31" y="36"/>
                    </a:lnTo>
                    <a:lnTo>
                      <a:pt x="25" y="43"/>
                    </a:lnTo>
                    <a:lnTo>
                      <a:pt x="19" y="50"/>
                    </a:lnTo>
                    <a:lnTo>
                      <a:pt x="15" y="57"/>
                    </a:lnTo>
                    <a:lnTo>
                      <a:pt x="11" y="65"/>
                    </a:lnTo>
                    <a:lnTo>
                      <a:pt x="8" y="72"/>
                    </a:lnTo>
                    <a:lnTo>
                      <a:pt x="5" y="80"/>
                    </a:lnTo>
                    <a:lnTo>
                      <a:pt x="3" y="89"/>
                    </a:lnTo>
                    <a:lnTo>
                      <a:pt x="2" y="98"/>
                    </a:lnTo>
                    <a:lnTo>
                      <a:pt x="0" y="106"/>
                    </a:lnTo>
                    <a:lnTo>
                      <a:pt x="0" y="115"/>
                    </a:lnTo>
                    <a:lnTo>
                      <a:pt x="0" y="123"/>
                    </a:lnTo>
                    <a:lnTo>
                      <a:pt x="2" y="131"/>
                    </a:lnTo>
                    <a:lnTo>
                      <a:pt x="3" y="140"/>
                    </a:lnTo>
                    <a:lnTo>
                      <a:pt x="5" y="148"/>
                    </a:lnTo>
                    <a:lnTo>
                      <a:pt x="8" y="156"/>
                    </a:lnTo>
                    <a:lnTo>
                      <a:pt x="11" y="164"/>
                    </a:lnTo>
                    <a:lnTo>
                      <a:pt x="15" y="171"/>
                    </a:lnTo>
                    <a:lnTo>
                      <a:pt x="19" y="178"/>
                    </a:lnTo>
                    <a:lnTo>
                      <a:pt x="25" y="185"/>
                    </a:lnTo>
                    <a:lnTo>
                      <a:pt x="31" y="193"/>
                    </a:lnTo>
                    <a:lnTo>
                      <a:pt x="37" y="199"/>
                    </a:lnTo>
                    <a:lnTo>
                      <a:pt x="43" y="205"/>
                    </a:lnTo>
                    <a:lnTo>
                      <a:pt x="49" y="209"/>
                    </a:lnTo>
                    <a:lnTo>
                      <a:pt x="57" y="214"/>
                    </a:lnTo>
                    <a:lnTo>
                      <a:pt x="65" y="218"/>
                    </a:lnTo>
                    <a:lnTo>
                      <a:pt x="73" y="221"/>
                    </a:lnTo>
                    <a:lnTo>
                      <a:pt x="81" y="224"/>
                    </a:lnTo>
                    <a:lnTo>
                      <a:pt x="88" y="226"/>
                    </a:lnTo>
                    <a:lnTo>
                      <a:pt x="98" y="228"/>
                    </a:lnTo>
                    <a:lnTo>
                      <a:pt x="106" y="229"/>
                    </a:lnTo>
                    <a:lnTo>
                      <a:pt x="115" y="229"/>
                    </a:lnTo>
                    <a:lnTo>
                      <a:pt x="123" y="229"/>
                    </a:lnTo>
                    <a:lnTo>
                      <a:pt x="131" y="228"/>
                    </a:lnTo>
                    <a:lnTo>
                      <a:pt x="139" y="226"/>
                    </a:lnTo>
                    <a:lnTo>
                      <a:pt x="148" y="224"/>
                    </a:lnTo>
                    <a:lnTo>
                      <a:pt x="157" y="221"/>
                    </a:lnTo>
                    <a:lnTo>
                      <a:pt x="165" y="218"/>
                    </a:lnTo>
                    <a:lnTo>
                      <a:pt x="171" y="214"/>
                    </a:lnTo>
                    <a:lnTo>
                      <a:pt x="180" y="209"/>
                    </a:lnTo>
                    <a:lnTo>
                      <a:pt x="186" y="205"/>
                    </a:lnTo>
                    <a:lnTo>
                      <a:pt x="192" y="199"/>
                    </a:lnTo>
                    <a:lnTo>
                      <a:pt x="199" y="193"/>
                    </a:lnTo>
                    <a:lnTo>
                      <a:pt x="204" y="185"/>
                    </a:lnTo>
                    <a:lnTo>
                      <a:pt x="209" y="178"/>
                    </a:lnTo>
                    <a:lnTo>
                      <a:pt x="214" y="171"/>
                    </a:lnTo>
                    <a:lnTo>
                      <a:pt x="218" y="164"/>
                    </a:lnTo>
                    <a:lnTo>
                      <a:pt x="221" y="156"/>
                    </a:lnTo>
                    <a:lnTo>
                      <a:pt x="224" y="148"/>
                    </a:lnTo>
                    <a:lnTo>
                      <a:pt x="227" y="140"/>
                    </a:lnTo>
                    <a:lnTo>
                      <a:pt x="227" y="131"/>
                    </a:lnTo>
                    <a:lnTo>
                      <a:pt x="228" y="123"/>
                    </a:lnTo>
                    <a:lnTo>
                      <a:pt x="229" y="115"/>
                    </a:lnTo>
                    <a:lnTo>
                      <a:pt x="229" y="115"/>
                    </a:lnTo>
                  </a:path>
                </a:pathLst>
              </a:custGeom>
              <a:noFill/>
              <a:ln w="1841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8" name="Freeform 82"/>
              <p:cNvSpPr>
                <a:spLocks/>
              </p:cNvSpPr>
              <p:nvPr/>
            </p:nvSpPr>
            <p:spPr bwMode="auto">
              <a:xfrm>
                <a:off x="1433" y="1026"/>
                <a:ext cx="135" cy="106"/>
              </a:xfrm>
              <a:custGeom>
                <a:avLst/>
                <a:gdLst>
                  <a:gd name="T0" fmla="*/ 1 w 112"/>
                  <a:gd name="T1" fmla="*/ 42 h 91"/>
                  <a:gd name="T2" fmla="*/ 4 w 112"/>
                  <a:gd name="T3" fmla="*/ 36 h 91"/>
                  <a:gd name="T4" fmla="*/ 6 w 112"/>
                  <a:gd name="T5" fmla="*/ 31 h 91"/>
                  <a:gd name="T6" fmla="*/ 8 w 112"/>
                  <a:gd name="T7" fmla="*/ 26 h 91"/>
                  <a:gd name="T8" fmla="*/ 9 w 112"/>
                  <a:gd name="T9" fmla="*/ 21 h 91"/>
                  <a:gd name="T10" fmla="*/ 12 w 112"/>
                  <a:gd name="T11" fmla="*/ 16 h 91"/>
                  <a:gd name="T12" fmla="*/ 14 w 112"/>
                  <a:gd name="T13" fmla="*/ 13 h 91"/>
                  <a:gd name="T14" fmla="*/ 17 w 112"/>
                  <a:gd name="T15" fmla="*/ 9 h 91"/>
                  <a:gd name="T16" fmla="*/ 18 w 112"/>
                  <a:gd name="T17" fmla="*/ 6 h 91"/>
                  <a:gd name="T18" fmla="*/ 21 w 112"/>
                  <a:gd name="T19" fmla="*/ 4 h 91"/>
                  <a:gd name="T20" fmla="*/ 24 w 112"/>
                  <a:gd name="T21" fmla="*/ 2 h 91"/>
                  <a:gd name="T22" fmla="*/ 25 w 112"/>
                  <a:gd name="T23" fmla="*/ 1 h 91"/>
                  <a:gd name="T24" fmla="*/ 28 w 112"/>
                  <a:gd name="T25" fmla="*/ 0 h 91"/>
                  <a:gd name="T26" fmla="*/ 30 w 112"/>
                  <a:gd name="T27" fmla="*/ 1 h 91"/>
                  <a:gd name="T28" fmla="*/ 32 w 112"/>
                  <a:gd name="T29" fmla="*/ 2 h 91"/>
                  <a:gd name="T30" fmla="*/ 34 w 112"/>
                  <a:gd name="T31" fmla="*/ 4 h 91"/>
                  <a:gd name="T32" fmla="*/ 37 w 112"/>
                  <a:gd name="T33" fmla="*/ 6 h 91"/>
                  <a:gd name="T34" fmla="*/ 39 w 112"/>
                  <a:gd name="T35" fmla="*/ 9 h 91"/>
                  <a:gd name="T36" fmla="*/ 41 w 112"/>
                  <a:gd name="T37" fmla="*/ 13 h 91"/>
                  <a:gd name="T38" fmla="*/ 43 w 112"/>
                  <a:gd name="T39" fmla="*/ 16 h 91"/>
                  <a:gd name="T40" fmla="*/ 46 w 112"/>
                  <a:gd name="T41" fmla="*/ 20 h 91"/>
                  <a:gd name="T42" fmla="*/ 47 w 112"/>
                  <a:gd name="T43" fmla="*/ 26 h 91"/>
                  <a:gd name="T44" fmla="*/ 50 w 112"/>
                  <a:gd name="T45" fmla="*/ 31 h 91"/>
                  <a:gd name="T46" fmla="*/ 51 w 112"/>
                  <a:gd name="T47" fmla="*/ 36 h 91"/>
                  <a:gd name="T48" fmla="*/ 55 w 112"/>
                  <a:gd name="T49" fmla="*/ 42 h 91"/>
                  <a:gd name="T50" fmla="*/ 56 w 112"/>
                  <a:gd name="T51" fmla="*/ 44 h 91"/>
                  <a:gd name="T52" fmla="*/ 57 w 112"/>
                  <a:gd name="T53" fmla="*/ 50 h 91"/>
                  <a:gd name="T54" fmla="*/ 60 w 112"/>
                  <a:gd name="T55" fmla="*/ 56 h 91"/>
                  <a:gd name="T56" fmla="*/ 62 w 112"/>
                  <a:gd name="T57" fmla="*/ 61 h 91"/>
                  <a:gd name="T58" fmla="*/ 64 w 112"/>
                  <a:gd name="T59" fmla="*/ 66 h 91"/>
                  <a:gd name="T60" fmla="*/ 67 w 112"/>
                  <a:gd name="T61" fmla="*/ 72 h 91"/>
                  <a:gd name="T62" fmla="*/ 69 w 112"/>
                  <a:gd name="T63" fmla="*/ 75 h 91"/>
                  <a:gd name="T64" fmla="*/ 71 w 112"/>
                  <a:gd name="T65" fmla="*/ 79 h 91"/>
                  <a:gd name="T66" fmla="*/ 73 w 112"/>
                  <a:gd name="T67" fmla="*/ 82 h 91"/>
                  <a:gd name="T68" fmla="*/ 75 w 112"/>
                  <a:gd name="T69" fmla="*/ 85 h 91"/>
                  <a:gd name="T70" fmla="*/ 78 w 112"/>
                  <a:gd name="T71" fmla="*/ 87 h 91"/>
                  <a:gd name="T72" fmla="*/ 79 w 112"/>
                  <a:gd name="T73" fmla="*/ 89 h 91"/>
                  <a:gd name="T74" fmla="*/ 82 w 112"/>
                  <a:gd name="T75" fmla="*/ 90 h 91"/>
                  <a:gd name="T76" fmla="*/ 84 w 112"/>
                  <a:gd name="T77" fmla="*/ 90 h 91"/>
                  <a:gd name="T78" fmla="*/ 86 w 112"/>
                  <a:gd name="T79" fmla="*/ 89 h 91"/>
                  <a:gd name="T80" fmla="*/ 89 w 112"/>
                  <a:gd name="T81" fmla="*/ 87 h 91"/>
                  <a:gd name="T82" fmla="*/ 91 w 112"/>
                  <a:gd name="T83" fmla="*/ 85 h 91"/>
                  <a:gd name="T84" fmla="*/ 93 w 112"/>
                  <a:gd name="T85" fmla="*/ 82 h 91"/>
                  <a:gd name="T86" fmla="*/ 95 w 112"/>
                  <a:gd name="T87" fmla="*/ 79 h 91"/>
                  <a:gd name="T88" fmla="*/ 98 w 112"/>
                  <a:gd name="T89" fmla="*/ 75 h 91"/>
                  <a:gd name="T90" fmla="*/ 100 w 112"/>
                  <a:gd name="T91" fmla="*/ 72 h 91"/>
                  <a:gd name="T92" fmla="*/ 101 w 112"/>
                  <a:gd name="T93" fmla="*/ 66 h 91"/>
                  <a:gd name="T94" fmla="*/ 104 w 112"/>
                  <a:gd name="T95" fmla="*/ 62 h 91"/>
                  <a:gd name="T96" fmla="*/ 107 w 112"/>
                  <a:gd name="T97" fmla="*/ 56 h 91"/>
                  <a:gd name="T98" fmla="*/ 108 w 112"/>
                  <a:gd name="T99" fmla="*/ 50 h 91"/>
                  <a:gd name="T100" fmla="*/ 111 w 112"/>
                  <a:gd name="T101" fmla="*/ 44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2" h="91">
                    <a:moveTo>
                      <a:pt x="0" y="44"/>
                    </a:moveTo>
                    <a:lnTo>
                      <a:pt x="1" y="42"/>
                    </a:lnTo>
                    <a:lnTo>
                      <a:pt x="2" y="40"/>
                    </a:lnTo>
                    <a:lnTo>
                      <a:pt x="4" y="36"/>
                    </a:lnTo>
                    <a:lnTo>
                      <a:pt x="5" y="34"/>
                    </a:lnTo>
                    <a:lnTo>
                      <a:pt x="6" y="31"/>
                    </a:lnTo>
                    <a:lnTo>
                      <a:pt x="7" y="29"/>
                    </a:lnTo>
                    <a:lnTo>
                      <a:pt x="8" y="26"/>
                    </a:lnTo>
                    <a:lnTo>
                      <a:pt x="9" y="24"/>
                    </a:lnTo>
                    <a:lnTo>
                      <a:pt x="9" y="21"/>
                    </a:lnTo>
                    <a:lnTo>
                      <a:pt x="11" y="19"/>
                    </a:lnTo>
                    <a:lnTo>
                      <a:pt x="12" y="16"/>
                    </a:lnTo>
                    <a:lnTo>
                      <a:pt x="14" y="14"/>
                    </a:lnTo>
                    <a:lnTo>
                      <a:pt x="14" y="13"/>
                    </a:lnTo>
                    <a:lnTo>
                      <a:pt x="16" y="12"/>
                    </a:lnTo>
                    <a:lnTo>
                      <a:pt x="17" y="9"/>
                    </a:lnTo>
                    <a:lnTo>
                      <a:pt x="18" y="7"/>
                    </a:lnTo>
                    <a:lnTo>
                      <a:pt x="18" y="6"/>
                    </a:lnTo>
                    <a:lnTo>
                      <a:pt x="19" y="5"/>
                    </a:lnTo>
                    <a:lnTo>
                      <a:pt x="21" y="4"/>
                    </a:lnTo>
                    <a:lnTo>
                      <a:pt x="23" y="2"/>
                    </a:lnTo>
                    <a:lnTo>
                      <a:pt x="24" y="2"/>
                    </a:lnTo>
                    <a:lnTo>
                      <a:pt x="24" y="2"/>
                    </a:lnTo>
                    <a:lnTo>
                      <a:pt x="25" y="1"/>
                    </a:lnTo>
                    <a:lnTo>
                      <a:pt x="27" y="0"/>
                    </a:lnTo>
                    <a:lnTo>
                      <a:pt x="28" y="0"/>
                    </a:lnTo>
                    <a:lnTo>
                      <a:pt x="29" y="0"/>
                    </a:lnTo>
                    <a:lnTo>
                      <a:pt x="30" y="1"/>
                    </a:lnTo>
                    <a:lnTo>
                      <a:pt x="31" y="2"/>
                    </a:lnTo>
                    <a:lnTo>
                      <a:pt x="32" y="2"/>
                    </a:lnTo>
                    <a:lnTo>
                      <a:pt x="34" y="2"/>
                    </a:lnTo>
                    <a:lnTo>
                      <a:pt x="34" y="4"/>
                    </a:lnTo>
                    <a:lnTo>
                      <a:pt x="36" y="5"/>
                    </a:lnTo>
                    <a:lnTo>
                      <a:pt x="37" y="6"/>
                    </a:lnTo>
                    <a:lnTo>
                      <a:pt x="37" y="7"/>
                    </a:lnTo>
                    <a:lnTo>
                      <a:pt x="39" y="9"/>
                    </a:lnTo>
                    <a:lnTo>
                      <a:pt x="40" y="12"/>
                    </a:lnTo>
                    <a:lnTo>
                      <a:pt x="41" y="13"/>
                    </a:lnTo>
                    <a:lnTo>
                      <a:pt x="42" y="14"/>
                    </a:lnTo>
                    <a:lnTo>
                      <a:pt x="43" y="16"/>
                    </a:lnTo>
                    <a:lnTo>
                      <a:pt x="44" y="19"/>
                    </a:lnTo>
                    <a:lnTo>
                      <a:pt x="46" y="20"/>
                    </a:lnTo>
                    <a:lnTo>
                      <a:pt x="47" y="24"/>
                    </a:lnTo>
                    <a:lnTo>
                      <a:pt x="47" y="26"/>
                    </a:lnTo>
                    <a:lnTo>
                      <a:pt x="49" y="29"/>
                    </a:lnTo>
                    <a:lnTo>
                      <a:pt x="50" y="31"/>
                    </a:lnTo>
                    <a:lnTo>
                      <a:pt x="51" y="34"/>
                    </a:lnTo>
                    <a:lnTo>
                      <a:pt x="51" y="36"/>
                    </a:lnTo>
                    <a:lnTo>
                      <a:pt x="53" y="40"/>
                    </a:lnTo>
                    <a:lnTo>
                      <a:pt x="55" y="42"/>
                    </a:lnTo>
                    <a:lnTo>
                      <a:pt x="56" y="44"/>
                    </a:lnTo>
                    <a:lnTo>
                      <a:pt x="56" y="44"/>
                    </a:lnTo>
                    <a:lnTo>
                      <a:pt x="56" y="48"/>
                    </a:lnTo>
                    <a:lnTo>
                      <a:pt x="57" y="50"/>
                    </a:lnTo>
                    <a:lnTo>
                      <a:pt x="58" y="53"/>
                    </a:lnTo>
                    <a:lnTo>
                      <a:pt x="60" y="56"/>
                    </a:lnTo>
                    <a:lnTo>
                      <a:pt x="60" y="58"/>
                    </a:lnTo>
                    <a:lnTo>
                      <a:pt x="62" y="61"/>
                    </a:lnTo>
                    <a:lnTo>
                      <a:pt x="63" y="63"/>
                    </a:lnTo>
                    <a:lnTo>
                      <a:pt x="64" y="66"/>
                    </a:lnTo>
                    <a:lnTo>
                      <a:pt x="65" y="69"/>
                    </a:lnTo>
                    <a:lnTo>
                      <a:pt x="67" y="72"/>
                    </a:lnTo>
                    <a:lnTo>
                      <a:pt x="68" y="73"/>
                    </a:lnTo>
                    <a:lnTo>
                      <a:pt x="69" y="75"/>
                    </a:lnTo>
                    <a:lnTo>
                      <a:pt x="70" y="77"/>
                    </a:lnTo>
                    <a:lnTo>
                      <a:pt x="71" y="79"/>
                    </a:lnTo>
                    <a:lnTo>
                      <a:pt x="71" y="81"/>
                    </a:lnTo>
                    <a:lnTo>
                      <a:pt x="73" y="82"/>
                    </a:lnTo>
                    <a:lnTo>
                      <a:pt x="75" y="83"/>
                    </a:lnTo>
                    <a:lnTo>
                      <a:pt x="75" y="85"/>
                    </a:lnTo>
                    <a:lnTo>
                      <a:pt x="77" y="86"/>
                    </a:lnTo>
                    <a:lnTo>
                      <a:pt x="78" y="87"/>
                    </a:lnTo>
                    <a:lnTo>
                      <a:pt x="78" y="88"/>
                    </a:lnTo>
                    <a:lnTo>
                      <a:pt x="79" y="89"/>
                    </a:lnTo>
                    <a:lnTo>
                      <a:pt x="80" y="89"/>
                    </a:lnTo>
                    <a:lnTo>
                      <a:pt x="82" y="90"/>
                    </a:lnTo>
                    <a:lnTo>
                      <a:pt x="84" y="90"/>
                    </a:lnTo>
                    <a:lnTo>
                      <a:pt x="84" y="90"/>
                    </a:lnTo>
                    <a:lnTo>
                      <a:pt x="85" y="89"/>
                    </a:lnTo>
                    <a:lnTo>
                      <a:pt x="86" y="89"/>
                    </a:lnTo>
                    <a:lnTo>
                      <a:pt x="87" y="88"/>
                    </a:lnTo>
                    <a:lnTo>
                      <a:pt x="89" y="87"/>
                    </a:lnTo>
                    <a:lnTo>
                      <a:pt x="89" y="86"/>
                    </a:lnTo>
                    <a:lnTo>
                      <a:pt x="91" y="85"/>
                    </a:lnTo>
                    <a:lnTo>
                      <a:pt x="92" y="83"/>
                    </a:lnTo>
                    <a:lnTo>
                      <a:pt x="93" y="82"/>
                    </a:lnTo>
                    <a:lnTo>
                      <a:pt x="94" y="81"/>
                    </a:lnTo>
                    <a:lnTo>
                      <a:pt x="95" y="79"/>
                    </a:lnTo>
                    <a:lnTo>
                      <a:pt x="97" y="77"/>
                    </a:lnTo>
                    <a:lnTo>
                      <a:pt x="98" y="75"/>
                    </a:lnTo>
                    <a:lnTo>
                      <a:pt x="99" y="73"/>
                    </a:lnTo>
                    <a:lnTo>
                      <a:pt x="100" y="72"/>
                    </a:lnTo>
                    <a:lnTo>
                      <a:pt x="100" y="69"/>
                    </a:lnTo>
                    <a:lnTo>
                      <a:pt x="101" y="66"/>
                    </a:lnTo>
                    <a:lnTo>
                      <a:pt x="102" y="63"/>
                    </a:lnTo>
                    <a:lnTo>
                      <a:pt x="104" y="62"/>
                    </a:lnTo>
                    <a:lnTo>
                      <a:pt x="106" y="58"/>
                    </a:lnTo>
                    <a:lnTo>
                      <a:pt x="107" y="56"/>
                    </a:lnTo>
                    <a:lnTo>
                      <a:pt x="108" y="53"/>
                    </a:lnTo>
                    <a:lnTo>
                      <a:pt x="108" y="50"/>
                    </a:lnTo>
                    <a:lnTo>
                      <a:pt x="110" y="48"/>
                    </a:lnTo>
                    <a:lnTo>
                      <a:pt x="111" y="44"/>
                    </a:lnTo>
                  </a:path>
                </a:pathLst>
              </a:custGeom>
              <a:noFill/>
              <a:ln w="1841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49" name="Line 83"/>
            <p:cNvSpPr>
              <a:spLocks noChangeShapeType="1"/>
            </p:cNvSpPr>
            <p:nvPr/>
          </p:nvSpPr>
          <p:spPr bwMode="auto">
            <a:xfrm>
              <a:off x="2397125" y="2662239"/>
              <a:ext cx="0" cy="2573337"/>
            </a:xfrm>
            <a:prstGeom prst="line">
              <a:avLst/>
            </a:prstGeom>
            <a:noFill/>
            <a:ln w="63500">
              <a:solidFill>
                <a:srgbClr val="FF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0" name="Arc 84"/>
            <p:cNvSpPr>
              <a:spLocks/>
            </p:cNvSpPr>
            <p:nvPr/>
          </p:nvSpPr>
          <p:spPr bwMode="auto">
            <a:xfrm flipH="1" flipV="1">
              <a:off x="2386014" y="5159376"/>
              <a:ext cx="238125" cy="276225"/>
            </a:xfrm>
            <a:custGeom>
              <a:avLst/>
              <a:gdLst>
                <a:gd name="G0" fmla="+- 0 0 0"/>
                <a:gd name="G1" fmla="+- 21362 0 0"/>
                <a:gd name="G2" fmla="+- 21600 0 0"/>
                <a:gd name="T0" fmla="*/ 3196 w 21600"/>
                <a:gd name="T1" fmla="*/ 0 h 21362"/>
                <a:gd name="T2" fmla="*/ 21600 w 21600"/>
                <a:gd name="T3" fmla="*/ 21362 h 21362"/>
                <a:gd name="T4" fmla="*/ 0 w 21600"/>
                <a:gd name="T5" fmla="*/ 21362 h 21362"/>
              </a:gdLst>
              <a:ahLst/>
              <a:cxnLst>
                <a:cxn ang="0">
                  <a:pos x="T0" y="T1"/>
                </a:cxn>
                <a:cxn ang="0">
                  <a:pos x="T2" y="T3"/>
                </a:cxn>
                <a:cxn ang="0">
                  <a:pos x="T4" y="T5"/>
                </a:cxn>
              </a:cxnLst>
              <a:rect l="0" t="0" r="r" b="b"/>
              <a:pathLst>
                <a:path w="21600" h="21362" fill="none" extrusionOk="0">
                  <a:moveTo>
                    <a:pt x="3196" y="-1"/>
                  </a:moveTo>
                  <a:cubicBezTo>
                    <a:pt x="13773" y="1582"/>
                    <a:pt x="21600" y="10666"/>
                    <a:pt x="21600" y="21362"/>
                  </a:cubicBezTo>
                </a:path>
                <a:path w="21600" h="21362" stroke="0" extrusionOk="0">
                  <a:moveTo>
                    <a:pt x="3196" y="-1"/>
                  </a:moveTo>
                  <a:cubicBezTo>
                    <a:pt x="13773" y="1582"/>
                    <a:pt x="21600" y="10666"/>
                    <a:pt x="21600" y="21362"/>
                  </a:cubicBezTo>
                  <a:lnTo>
                    <a:pt x="0" y="21362"/>
                  </a:lnTo>
                  <a:close/>
                </a:path>
              </a:pathLst>
            </a:custGeom>
            <a:noFill/>
            <a:ln w="63500">
              <a:solidFill>
                <a:srgbClr val="FF00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nvGrpSpPr>
            <p:cNvPr id="51" name="Group 85"/>
            <p:cNvGrpSpPr>
              <a:grpSpLocks/>
            </p:cNvGrpSpPr>
            <p:nvPr/>
          </p:nvGrpSpPr>
          <p:grpSpPr bwMode="auto">
            <a:xfrm>
              <a:off x="5580064" y="2693988"/>
              <a:ext cx="517525" cy="487362"/>
              <a:chOff x="2633" y="1848"/>
              <a:chExt cx="354" cy="345"/>
            </a:xfrm>
          </p:grpSpPr>
          <p:sp>
            <p:nvSpPr>
              <p:cNvPr id="74" name="Freeform 86"/>
              <p:cNvSpPr>
                <a:spLocks/>
              </p:cNvSpPr>
              <p:nvPr/>
            </p:nvSpPr>
            <p:spPr bwMode="auto">
              <a:xfrm>
                <a:off x="2633" y="1848"/>
                <a:ext cx="354" cy="345"/>
              </a:xfrm>
              <a:custGeom>
                <a:avLst/>
                <a:gdLst>
                  <a:gd name="T0" fmla="*/ 229 w 231"/>
                  <a:gd name="T1" fmla="*/ 106 h 230"/>
                  <a:gd name="T2" fmla="*/ 227 w 231"/>
                  <a:gd name="T3" fmla="*/ 89 h 230"/>
                  <a:gd name="T4" fmla="*/ 222 w 231"/>
                  <a:gd name="T5" fmla="*/ 72 h 230"/>
                  <a:gd name="T6" fmla="*/ 215 w 231"/>
                  <a:gd name="T7" fmla="*/ 57 h 230"/>
                  <a:gd name="T8" fmla="*/ 205 w 231"/>
                  <a:gd name="T9" fmla="*/ 42 h 230"/>
                  <a:gd name="T10" fmla="*/ 194 w 231"/>
                  <a:gd name="T11" fmla="*/ 30 h 230"/>
                  <a:gd name="T12" fmla="*/ 180 w 231"/>
                  <a:gd name="T13" fmla="*/ 19 h 230"/>
                  <a:gd name="T14" fmla="*/ 165 w 231"/>
                  <a:gd name="T15" fmla="*/ 11 h 230"/>
                  <a:gd name="T16" fmla="*/ 150 w 231"/>
                  <a:gd name="T17" fmla="*/ 4 h 230"/>
                  <a:gd name="T18" fmla="*/ 131 w 231"/>
                  <a:gd name="T19" fmla="*/ 1 h 230"/>
                  <a:gd name="T20" fmla="*/ 115 w 231"/>
                  <a:gd name="T21" fmla="*/ 0 h 230"/>
                  <a:gd name="T22" fmla="*/ 97 w 231"/>
                  <a:gd name="T23" fmla="*/ 1 h 230"/>
                  <a:gd name="T24" fmla="*/ 80 w 231"/>
                  <a:gd name="T25" fmla="*/ 4 h 230"/>
                  <a:gd name="T26" fmla="*/ 65 w 231"/>
                  <a:gd name="T27" fmla="*/ 11 h 230"/>
                  <a:gd name="T28" fmla="*/ 50 w 231"/>
                  <a:gd name="T29" fmla="*/ 19 h 230"/>
                  <a:gd name="T30" fmla="*/ 37 w 231"/>
                  <a:gd name="T31" fmla="*/ 30 h 230"/>
                  <a:gd name="T32" fmla="*/ 24 w 231"/>
                  <a:gd name="T33" fmla="*/ 42 h 230"/>
                  <a:gd name="T34" fmla="*/ 15 w 231"/>
                  <a:gd name="T35" fmla="*/ 57 h 230"/>
                  <a:gd name="T36" fmla="*/ 7 w 231"/>
                  <a:gd name="T37" fmla="*/ 72 h 230"/>
                  <a:gd name="T38" fmla="*/ 2 w 231"/>
                  <a:gd name="T39" fmla="*/ 89 h 230"/>
                  <a:gd name="T40" fmla="*/ 0 w 231"/>
                  <a:gd name="T41" fmla="*/ 106 h 230"/>
                  <a:gd name="T42" fmla="*/ 0 w 231"/>
                  <a:gd name="T43" fmla="*/ 122 h 230"/>
                  <a:gd name="T44" fmla="*/ 2 w 231"/>
                  <a:gd name="T45" fmla="*/ 140 h 230"/>
                  <a:gd name="T46" fmla="*/ 7 w 231"/>
                  <a:gd name="T47" fmla="*/ 156 h 230"/>
                  <a:gd name="T48" fmla="*/ 15 w 231"/>
                  <a:gd name="T49" fmla="*/ 171 h 230"/>
                  <a:gd name="T50" fmla="*/ 24 w 231"/>
                  <a:gd name="T51" fmla="*/ 186 h 230"/>
                  <a:gd name="T52" fmla="*/ 37 w 231"/>
                  <a:gd name="T53" fmla="*/ 198 h 230"/>
                  <a:gd name="T54" fmla="*/ 50 w 231"/>
                  <a:gd name="T55" fmla="*/ 210 h 230"/>
                  <a:gd name="T56" fmla="*/ 65 w 231"/>
                  <a:gd name="T57" fmla="*/ 218 h 230"/>
                  <a:gd name="T58" fmla="*/ 80 w 231"/>
                  <a:gd name="T59" fmla="*/ 224 h 230"/>
                  <a:gd name="T60" fmla="*/ 97 w 231"/>
                  <a:gd name="T61" fmla="*/ 227 h 230"/>
                  <a:gd name="T62" fmla="*/ 115 w 231"/>
                  <a:gd name="T63" fmla="*/ 229 h 230"/>
                  <a:gd name="T64" fmla="*/ 131 w 231"/>
                  <a:gd name="T65" fmla="*/ 227 h 230"/>
                  <a:gd name="T66" fmla="*/ 150 w 231"/>
                  <a:gd name="T67" fmla="*/ 224 h 230"/>
                  <a:gd name="T68" fmla="*/ 165 w 231"/>
                  <a:gd name="T69" fmla="*/ 218 h 230"/>
                  <a:gd name="T70" fmla="*/ 180 w 231"/>
                  <a:gd name="T71" fmla="*/ 210 h 230"/>
                  <a:gd name="T72" fmla="*/ 194 w 231"/>
                  <a:gd name="T73" fmla="*/ 198 h 230"/>
                  <a:gd name="T74" fmla="*/ 205 w 231"/>
                  <a:gd name="T75" fmla="*/ 186 h 230"/>
                  <a:gd name="T76" fmla="*/ 215 w 231"/>
                  <a:gd name="T77" fmla="*/ 171 h 230"/>
                  <a:gd name="T78" fmla="*/ 222 w 231"/>
                  <a:gd name="T79" fmla="*/ 156 h 230"/>
                  <a:gd name="T80" fmla="*/ 227 w 231"/>
                  <a:gd name="T81" fmla="*/ 140 h 230"/>
                  <a:gd name="T82" fmla="*/ 229 w 231"/>
                  <a:gd name="T83" fmla="*/ 122 h 230"/>
                  <a:gd name="T84" fmla="*/ 230 w 231"/>
                  <a:gd name="T85" fmla="*/ 114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1" h="230">
                    <a:moveTo>
                      <a:pt x="230" y="114"/>
                    </a:moveTo>
                    <a:lnTo>
                      <a:pt x="229" y="106"/>
                    </a:lnTo>
                    <a:lnTo>
                      <a:pt x="229" y="98"/>
                    </a:lnTo>
                    <a:lnTo>
                      <a:pt x="227" y="89"/>
                    </a:lnTo>
                    <a:lnTo>
                      <a:pt x="225" y="80"/>
                    </a:lnTo>
                    <a:lnTo>
                      <a:pt x="222" y="72"/>
                    </a:lnTo>
                    <a:lnTo>
                      <a:pt x="219" y="65"/>
                    </a:lnTo>
                    <a:lnTo>
                      <a:pt x="215" y="57"/>
                    </a:lnTo>
                    <a:lnTo>
                      <a:pt x="210" y="50"/>
                    </a:lnTo>
                    <a:lnTo>
                      <a:pt x="205" y="42"/>
                    </a:lnTo>
                    <a:lnTo>
                      <a:pt x="199" y="37"/>
                    </a:lnTo>
                    <a:lnTo>
                      <a:pt x="194" y="30"/>
                    </a:lnTo>
                    <a:lnTo>
                      <a:pt x="187" y="24"/>
                    </a:lnTo>
                    <a:lnTo>
                      <a:pt x="180" y="19"/>
                    </a:lnTo>
                    <a:lnTo>
                      <a:pt x="173" y="14"/>
                    </a:lnTo>
                    <a:lnTo>
                      <a:pt x="165" y="11"/>
                    </a:lnTo>
                    <a:lnTo>
                      <a:pt x="157" y="8"/>
                    </a:lnTo>
                    <a:lnTo>
                      <a:pt x="150" y="4"/>
                    </a:lnTo>
                    <a:lnTo>
                      <a:pt x="141" y="2"/>
                    </a:lnTo>
                    <a:lnTo>
                      <a:pt x="131" y="1"/>
                    </a:lnTo>
                    <a:lnTo>
                      <a:pt x="123" y="0"/>
                    </a:lnTo>
                    <a:lnTo>
                      <a:pt x="115" y="0"/>
                    </a:lnTo>
                    <a:lnTo>
                      <a:pt x="106" y="0"/>
                    </a:lnTo>
                    <a:lnTo>
                      <a:pt x="97" y="1"/>
                    </a:lnTo>
                    <a:lnTo>
                      <a:pt x="90" y="2"/>
                    </a:lnTo>
                    <a:lnTo>
                      <a:pt x="80" y="4"/>
                    </a:lnTo>
                    <a:lnTo>
                      <a:pt x="73" y="8"/>
                    </a:lnTo>
                    <a:lnTo>
                      <a:pt x="65" y="11"/>
                    </a:lnTo>
                    <a:lnTo>
                      <a:pt x="56" y="14"/>
                    </a:lnTo>
                    <a:lnTo>
                      <a:pt x="50" y="19"/>
                    </a:lnTo>
                    <a:lnTo>
                      <a:pt x="43" y="24"/>
                    </a:lnTo>
                    <a:lnTo>
                      <a:pt x="37" y="30"/>
                    </a:lnTo>
                    <a:lnTo>
                      <a:pt x="30" y="37"/>
                    </a:lnTo>
                    <a:lnTo>
                      <a:pt x="24" y="42"/>
                    </a:lnTo>
                    <a:lnTo>
                      <a:pt x="20" y="50"/>
                    </a:lnTo>
                    <a:lnTo>
                      <a:pt x="15" y="57"/>
                    </a:lnTo>
                    <a:lnTo>
                      <a:pt x="10" y="65"/>
                    </a:lnTo>
                    <a:lnTo>
                      <a:pt x="7" y="72"/>
                    </a:lnTo>
                    <a:lnTo>
                      <a:pt x="4" y="80"/>
                    </a:lnTo>
                    <a:lnTo>
                      <a:pt x="2" y="89"/>
                    </a:lnTo>
                    <a:lnTo>
                      <a:pt x="1" y="98"/>
                    </a:lnTo>
                    <a:lnTo>
                      <a:pt x="0" y="106"/>
                    </a:lnTo>
                    <a:lnTo>
                      <a:pt x="0" y="114"/>
                    </a:lnTo>
                    <a:lnTo>
                      <a:pt x="0" y="122"/>
                    </a:lnTo>
                    <a:lnTo>
                      <a:pt x="1" y="131"/>
                    </a:lnTo>
                    <a:lnTo>
                      <a:pt x="2" y="140"/>
                    </a:lnTo>
                    <a:lnTo>
                      <a:pt x="4" y="148"/>
                    </a:lnTo>
                    <a:lnTo>
                      <a:pt x="7" y="156"/>
                    </a:lnTo>
                    <a:lnTo>
                      <a:pt x="10" y="164"/>
                    </a:lnTo>
                    <a:lnTo>
                      <a:pt x="15" y="171"/>
                    </a:lnTo>
                    <a:lnTo>
                      <a:pt x="20" y="179"/>
                    </a:lnTo>
                    <a:lnTo>
                      <a:pt x="24" y="186"/>
                    </a:lnTo>
                    <a:lnTo>
                      <a:pt x="30" y="191"/>
                    </a:lnTo>
                    <a:lnTo>
                      <a:pt x="37" y="198"/>
                    </a:lnTo>
                    <a:lnTo>
                      <a:pt x="43" y="203"/>
                    </a:lnTo>
                    <a:lnTo>
                      <a:pt x="50" y="210"/>
                    </a:lnTo>
                    <a:lnTo>
                      <a:pt x="56" y="213"/>
                    </a:lnTo>
                    <a:lnTo>
                      <a:pt x="65" y="218"/>
                    </a:lnTo>
                    <a:lnTo>
                      <a:pt x="73" y="220"/>
                    </a:lnTo>
                    <a:lnTo>
                      <a:pt x="80" y="224"/>
                    </a:lnTo>
                    <a:lnTo>
                      <a:pt x="90" y="226"/>
                    </a:lnTo>
                    <a:lnTo>
                      <a:pt x="97" y="227"/>
                    </a:lnTo>
                    <a:lnTo>
                      <a:pt x="106" y="229"/>
                    </a:lnTo>
                    <a:lnTo>
                      <a:pt x="115" y="229"/>
                    </a:lnTo>
                    <a:lnTo>
                      <a:pt x="123" y="229"/>
                    </a:lnTo>
                    <a:lnTo>
                      <a:pt x="131" y="227"/>
                    </a:lnTo>
                    <a:lnTo>
                      <a:pt x="141" y="226"/>
                    </a:lnTo>
                    <a:lnTo>
                      <a:pt x="150" y="224"/>
                    </a:lnTo>
                    <a:lnTo>
                      <a:pt x="157" y="220"/>
                    </a:lnTo>
                    <a:lnTo>
                      <a:pt x="165" y="218"/>
                    </a:lnTo>
                    <a:lnTo>
                      <a:pt x="173" y="213"/>
                    </a:lnTo>
                    <a:lnTo>
                      <a:pt x="180" y="210"/>
                    </a:lnTo>
                    <a:lnTo>
                      <a:pt x="187" y="203"/>
                    </a:lnTo>
                    <a:lnTo>
                      <a:pt x="194" y="198"/>
                    </a:lnTo>
                    <a:lnTo>
                      <a:pt x="199" y="191"/>
                    </a:lnTo>
                    <a:lnTo>
                      <a:pt x="205" y="186"/>
                    </a:lnTo>
                    <a:lnTo>
                      <a:pt x="210" y="179"/>
                    </a:lnTo>
                    <a:lnTo>
                      <a:pt x="215" y="171"/>
                    </a:lnTo>
                    <a:lnTo>
                      <a:pt x="219" y="164"/>
                    </a:lnTo>
                    <a:lnTo>
                      <a:pt x="222" y="156"/>
                    </a:lnTo>
                    <a:lnTo>
                      <a:pt x="225" y="148"/>
                    </a:lnTo>
                    <a:lnTo>
                      <a:pt x="227" y="140"/>
                    </a:lnTo>
                    <a:lnTo>
                      <a:pt x="229" y="131"/>
                    </a:lnTo>
                    <a:lnTo>
                      <a:pt x="229" y="122"/>
                    </a:lnTo>
                    <a:lnTo>
                      <a:pt x="230" y="114"/>
                    </a:lnTo>
                    <a:lnTo>
                      <a:pt x="230" y="114"/>
                    </a:lnTo>
                  </a:path>
                </a:pathLst>
              </a:custGeom>
              <a:solidFill>
                <a:schemeClr val="bg1"/>
              </a:solidFill>
              <a:ln w="1841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5" name="Line 87"/>
              <p:cNvSpPr>
                <a:spLocks noChangeShapeType="1"/>
              </p:cNvSpPr>
              <p:nvPr/>
            </p:nvSpPr>
            <p:spPr bwMode="auto">
              <a:xfrm flipV="1">
                <a:off x="2677" y="1898"/>
                <a:ext cx="250" cy="243"/>
              </a:xfrm>
              <a:prstGeom prst="line">
                <a:avLst/>
              </a:prstGeom>
              <a:noFill/>
              <a:ln w="1841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6" name="Line 88"/>
              <p:cNvSpPr>
                <a:spLocks noChangeShapeType="1"/>
              </p:cNvSpPr>
              <p:nvPr/>
            </p:nvSpPr>
            <p:spPr bwMode="auto">
              <a:xfrm flipH="1" flipV="1">
                <a:off x="2677" y="1906"/>
                <a:ext cx="256" cy="235"/>
              </a:xfrm>
              <a:prstGeom prst="line">
                <a:avLst/>
              </a:prstGeom>
              <a:noFill/>
              <a:ln w="1841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52" name="Text Box 89"/>
            <p:cNvSpPr txBox="1">
              <a:spLocks noChangeArrowheads="1"/>
            </p:cNvSpPr>
            <p:nvPr/>
          </p:nvSpPr>
          <p:spPr bwMode="auto">
            <a:xfrm>
              <a:off x="3363159" y="884238"/>
              <a:ext cx="110799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234">
                  <a:solidFill>
                    <a:srgbClr val="FF0000"/>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pPr>
              <a:r>
                <a:rPr lang="zh-CN" altLang="en-US" sz="2400" b="1">
                  <a:latin typeface="微软雅黑" panose="020B0503020204020204" pitchFamily="34" charset="-122"/>
                  <a:ea typeface="微软雅黑" panose="020B0503020204020204" pitchFamily="34" charset="-122"/>
                </a:rPr>
                <a:t>输入源</a:t>
              </a:r>
            </a:p>
          </p:txBody>
        </p:sp>
        <p:sp>
          <p:nvSpPr>
            <p:cNvPr id="53" name="Text Box 90"/>
            <p:cNvSpPr txBox="1">
              <a:spLocks noChangeArrowheads="1"/>
            </p:cNvSpPr>
            <p:nvPr/>
          </p:nvSpPr>
          <p:spPr bwMode="auto">
            <a:xfrm>
              <a:off x="6370714" y="887414"/>
              <a:ext cx="99520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234">
                  <a:solidFill>
                    <a:srgbClr val="FF0000"/>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pPr>
              <a:r>
                <a:rPr lang="en-US" altLang="zh-CN" sz="2400" b="1">
                  <a:latin typeface="微软雅黑" panose="020B0503020204020204" pitchFamily="34" charset="-122"/>
                  <a:ea typeface="微软雅黑" panose="020B0503020204020204" pitchFamily="34" charset="-122"/>
                </a:rPr>
                <a:t>LO </a:t>
              </a:r>
              <a:r>
                <a:rPr lang="zh-CN" altLang="en-US" sz="2400" b="1">
                  <a:latin typeface="微软雅黑" panose="020B0503020204020204" pitchFamily="34" charset="-122"/>
                  <a:ea typeface="微软雅黑" panose="020B0503020204020204" pitchFamily="34" charset="-122"/>
                </a:rPr>
                <a:t>源</a:t>
              </a:r>
            </a:p>
          </p:txBody>
        </p:sp>
        <p:grpSp>
          <p:nvGrpSpPr>
            <p:cNvPr id="54" name="Group 91"/>
            <p:cNvGrpSpPr>
              <a:grpSpLocks/>
            </p:cNvGrpSpPr>
            <p:nvPr/>
          </p:nvGrpSpPr>
          <p:grpSpPr bwMode="auto">
            <a:xfrm rot="16200000" flipV="1">
              <a:off x="8070057" y="5069682"/>
              <a:ext cx="257175" cy="74612"/>
              <a:chOff x="3518" y="2837"/>
              <a:chExt cx="137" cy="36"/>
            </a:xfrm>
          </p:grpSpPr>
          <p:sp>
            <p:nvSpPr>
              <p:cNvPr id="71" name="Freeform 92"/>
              <p:cNvSpPr>
                <a:spLocks/>
              </p:cNvSpPr>
              <p:nvPr/>
            </p:nvSpPr>
            <p:spPr bwMode="auto">
              <a:xfrm>
                <a:off x="3545" y="2837"/>
                <a:ext cx="110" cy="36"/>
              </a:xfrm>
              <a:custGeom>
                <a:avLst/>
                <a:gdLst>
                  <a:gd name="T0" fmla="*/ 0 w 110"/>
                  <a:gd name="T1" fmla="*/ 35 h 36"/>
                  <a:gd name="T2" fmla="*/ 16 w 110"/>
                  <a:gd name="T3" fmla="*/ 0 h 36"/>
                  <a:gd name="T4" fmla="*/ 31 w 110"/>
                  <a:gd name="T5" fmla="*/ 35 h 36"/>
                  <a:gd name="T6" fmla="*/ 51 w 110"/>
                  <a:gd name="T7" fmla="*/ 1 h 36"/>
                  <a:gd name="T8" fmla="*/ 62 w 110"/>
                  <a:gd name="T9" fmla="*/ 35 h 36"/>
                  <a:gd name="T10" fmla="*/ 81 w 110"/>
                  <a:gd name="T11" fmla="*/ 5 h 36"/>
                  <a:gd name="T12" fmla="*/ 90 w 110"/>
                  <a:gd name="T13" fmla="*/ 23 h 36"/>
                  <a:gd name="T14" fmla="*/ 109 w 110"/>
                  <a:gd name="T15" fmla="*/ 23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36">
                    <a:moveTo>
                      <a:pt x="0" y="35"/>
                    </a:moveTo>
                    <a:lnTo>
                      <a:pt x="16" y="0"/>
                    </a:lnTo>
                    <a:lnTo>
                      <a:pt x="31" y="35"/>
                    </a:lnTo>
                    <a:lnTo>
                      <a:pt x="51" y="1"/>
                    </a:lnTo>
                    <a:lnTo>
                      <a:pt x="62" y="35"/>
                    </a:lnTo>
                    <a:lnTo>
                      <a:pt x="81" y="5"/>
                    </a:lnTo>
                    <a:lnTo>
                      <a:pt x="90" y="23"/>
                    </a:lnTo>
                    <a:lnTo>
                      <a:pt x="109" y="23"/>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2" name="Line 93"/>
              <p:cNvSpPr>
                <a:spLocks noChangeShapeType="1"/>
              </p:cNvSpPr>
              <p:nvPr/>
            </p:nvSpPr>
            <p:spPr bwMode="auto">
              <a:xfrm flipH="1" flipV="1">
                <a:off x="3538" y="2856"/>
                <a:ext cx="5" cy="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3" name="Line 94"/>
              <p:cNvSpPr>
                <a:spLocks noChangeShapeType="1"/>
              </p:cNvSpPr>
              <p:nvPr/>
            </p:nvSpPr>
            <p:spPr bwMode="auto">
              <a:xfrm flipH="1">
                <a:off x="3518" y="2856"/>
                <a:ext cx="1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55" name="Text Box 95"/>
            <p:cNvSpPr txBox="1">
              <a:spLocks noChangeArrowheads="1"/>
            </p:cNvSpPr>
            <p:nvPr/>
          </p:nvSpPr>
          <p:spPr bwMode="auto">
            <a:xfrm>
              <a:off x="3025346" y="4967289"/>
              <a:ext cx="54854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234">
                  <a:solidFill>
                    <a:srgbClr val="FF0000"/>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pPr>
              <a:r>
                <a:rPr lang="en-US" altLang="zh-CN" sz="2400">
                  <a:solidFill>
                    <a:srgbClr val="FF0000"/>
                  </a:solidFill>
                  <a:latin typeface="微软雅黑" panose="020B0503020204020204" pitchFamily="34" charset="-122"/>
                  <a:ea typeface="微软雅黑" panose="020B0503020204020204" pitchFamily="34" charset="-122"/>
                </a:rPr>
                <a:t>RF</a:t>
              </a:r>
            </a:p>
          </p:txBody>
        </p:sp>
        <p:sp>
          <p:nvSpPr>
            <p:cNvPr id="56" name="Text Box 96"/>
            <p:cNvSpPr txBox="1">
              <a:spLocks noChangeArrowheads="1"/>
            </p:cNvSpPr>
            <p:nvPr/>
          </p:nvSpPr>
          <p:spPr bwMode="auto">
            <a:xfrm>
              <a:off x="6339128" y="2763839"/>
              <a:ext cx="1401282"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234">
                  <a:solidFill>
                    <a:srgbClr val="FF0000"/>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pPr>
              <a:r>
                <a:rPr lang="en-US" altLang="zh-CN" sz="1700">
                  <a:solidFill>
                    <a:srgbClr val="3366FF"/>
                  </a:solidFill>
                  <a:latin typeface="微软雅黑" panose="020B0503020204020204" pitchFamily="34" charset="-122"/>
                  <a:ea typeface="微软雅黑" panose="020B0503020204020204" pitchFamily="34" charset="-122"/>
                </a:rPr>
                <a:t>N*LO +/- IF</a:t>
              </a:r>
            </a:p>
          </p:txBody>
        </p:sp>
        <p:sp>
          <p:nvSpPr>
            <p:cNvPr id="57" name="Text Box 97"/>
            <p:cNvSpPr txBox="1">
              <a:spLocks noChangeArrowheads="1"/>
            </p:cNvSpPr>
            <p:nvPr/>
          </p:nvSpPr>
          <p:spPr bwMode="auto">
            <a:xfrm>
              <a:off x="5665134" y="4371331"/>
              <a:ext cx="59503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pPr>
              <a:r>
                <a:rPr lang="zh-CN" altLang="en-US" sz="1600" b="1">
                  <a:solidFill>
                    <a:srgbClr val="FF0000"/>
                  </a:solidFill>
                  <a:latin typeface="微软雅黑" panose="020B0503020204020204" pitchFamily="34" charset="-122"/>
                  <a:ea typeface="微软雅黑" panose="020B0503020204020204" pitchFamily="34" charset="-122"/>
                </a:rPr>
                <a:t>反射</a:t>
              </a:r>
            </a:p>
          </p:txBody>
        </p:sp>
        <p:sp>
          <p:nvSpPr>
            <p:cNvPr id="58" name="Line 98"/>
            <p:cNvSpPr>
              <a:spLocks noChangeShapeType="1"/>
            </p:cNvSpPr>
            <p:nvPr/>
          </p:nvSpPr>
          <p:spPr bwMode="auto">
            <a:xfrm flipV="1">
              <a:off x="7737475" y="3495676"/>
              <a:ext cx="1588" cy="1031875"/>
            </a:xfrm>
            <a:prstGeom prst="line">
              <a:avLst/>
            </a:prstGeom>
            <a:noFill/>
            <a:ln w="57150">
              <a:solidFill>
                <a:srgbClr val="333399"/>
              </a:solidFill>
              <a:prstDash val="sysDot"/>
              <a:round/>
              <a:headEnd type="none" w="sm"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9" name="Line 99"/>
            <p:cNvSpPr>
              <a:spLocks noChangeShapeType="1"/>
            </p:cNvSpPr>
            <p:nvPr/>
          </p:nvSpPr>
          <p:spPr bwMode="auto">
            <a:xfrm flipH="1" flipV="1">
              <a:off x="6970714" y="4546601"/>
              <a:ext cx="708025" cy="4763"/>
            </a:xfrm>
            <a:prstGeom prst="line">
              <a:avLst/>
            </a:prstGeom>
            <a:noFill/>
            <a:ln w="76200">
              <a:solidFill>
                <a:srgbClr val="333399"/>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0" name="Text Box 100"/>
            <p:cNvSpPr txBox="1">
              <a:spLocks noChangeArrowheads="1"/>
            </p:cNvSpPr>
            <p:nvPr/>
          </p:nvSpPr>
          <p:spPr bwMode="auto">
            <a:xfrm>
              <a:off x="8091489" y="4287838"/>
              <a:ext cx="5129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0" hangingPunct="0">
                <a:lnSpc>
                  <a:spcPct val="150000"/>
                </a:lnSpc>
              </a:pPr>
              <a:r>
                <a:rPr lang="zh-CN" altLang="en-US" sz="2000" b="1">
                  <a:latin typeface="微软雅黑" panose="020B0503020204020204" pitchFamily="34" charset="-122"/>
                  <a:ea typeface="微软雅黑" panose="020B0503020204020204" pitchFamily="34" charset="-122"/>
                </a:rPr>
                <a:t>传输</a:t>
              </a:r>
            </a:p>
          </p:txBody>
        </p:sp>
        <p:sp>
          <p:nvSpPr>
            <p:cNvPr id="61" name="Line 101"/>
            <p:cNvSpPr>
              <a:spLocks noChangeShapeType="1"/>
            </p:cNvSpPr>
            <p:nvPr/>
          </p:nvSpPr>
          <p:spPr bwMode="auto">
            <a:xfrm>
              <a:off x="3133725" y="2425700"/>
              <a:ext cx="660400" cy="1588"/>
            </a:xfrm>
            <a:prstGeom prst="line">
              <a:avLst/>
            </a:prstGeom>
            <a:noFill/>
            <a:ln w="38100">
              <a:solidFill>
                <a:srgbClr val="993300"/>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2" name="Text Box 102"/>
            <p:cNvSpPr txBox="1">
              <a:spLocks noChangeArrowheads="1"/>
            </p:cNvSpPr>
            <p:nvPr/>
          </p:nvSpPr>
          <p:spPr bwMode="auto">
            <a:xfrm>
              <a:off x="4268789" y="2489200"/>
              <a:ext cx="1384995"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0" hangingPunct="0">
                <a:lnSpc>
                  <a:spcPct val="150000"/>
                </a:lnSpc>
              </a:pPr>
              <a:r>
                <a:rPr lang="zh-CN" altLang="en-US" b="1">
                  <a:latin typeface="微软雅黑" panose="020B0503020204020204" pitchFamily="34" charset="-122"/>
                  <a:ea typeface="微软雅黑" panose="020B0503020204020204" pitchFamily="34" charset="-122"/>
                </a:rPr>
                <a:t>输入参考信号</a:t>
              </a:r>
            </a:p>
          </p:txBody>
        </p:sp>
        <p:sp>
          <p:nvSpPr>
            <p:cNvPr id="63" name="Line 103"/>
            <p:cNvSpPr>
              <a:spLocks noChangeShapeType="1"/>
            </p:cNvSpPr>
            <p:nvPr/>
          </p:nvSpPr>
          <p:spPr bwMode="auto">
            <a:xfrm>
              <a:off x="2644775" y="1443039"/>
              <a:ext cx="1588" cy="454025"/>
            </a:xfrm>
            <a:prstGeom prst="line">
              <a:avLst/>
            </a:prstGeom>
            <a:noFill/>
            <a:ln w="101600">
              <a:solidFill>
                <a:srgbClr val="339966"/>
              </a:solidFill>
              <a:prstDash val="dash"/>
              <a:round/>
              <a:headEnd type="none" w="sm" len="sm"/>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4" name="Text Box 104"/>
            <p:cNvSpPr txBox="1">
              <a:spLocks noChangeArrowheads="1"/>
            </p:cNvSpPr>
            <p:nvPr/>
          </p:nvSpPr>
          <p:spPr bwMode="auto">
            <a:xfrm>
              <a:off x="3652529" y="5021727"/>
              <a:ext cx="92333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0" hangingPunct="0">
                <a:lnSpc>
                  <a:spcPct val="150000"/>
                </a:lnSpc>
              </a:pPr>
              <a:r>
                <a:rPr lang="zh-CN" altLang="en-US" b="1" dirty="0">
                  <a:latin typeface="微软雅黑" panose="020B0503020204020204" pitchFamily="34" charset="-122"/>
                  <a:ea typeface="微软雅黑" panose="020B0503020204020204" pitchFamily="34" charset="-122"/>
                </a:rPr>
                <a:t>输入信号</a:t>
              </a:r>
            </a:p>
          </p:txBody>
        </p:sp>
        <p:sp>
          <p:nvSpPr>
            <p:cNvPr id="65" name="Text Box 105"/>
            <p:cNvSpPr txBox="1">
              <a:spLocks noChangeArrowheads="1"/>
            </p:cNvSpPr>
            <p:nvPr/>
          </p:nvSpPr>
          <p:spPr bwMode="auto">
            <a:xfrm>
              <a:off x="8839200" y="2524125"/>
              <a:ext cx="92333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0" hangingPunct="0">
                <a:lnSpc>
                  <a:spcPct val="150000"/>
                </a:lnSpc>
              </a:pPr>
              <a:r>
                <a:rPr lang="zh-CN" altLang="en-US" b="1">
                  <a:latin typeface="微软雅黑" panose="020B0503020204020204" pitchFamily="34" charset="-122"/>
                  <a:ea typeface="微软雅黑" panose="020B0503020204020204" pitchFamily="34" charset="-122"/>
                </a:rPr>
                <a:t>输出信号</a:t>
              </a:r>
            </a:p>
          </p:txBody>
        </p:sp>
        <p:sp>
          <p:nvSpPr>
            <p:cNvPr id="66" name="Freeform 111"/>
            <p:cNvSpPr>
              <a:spLocks/>
            </p:cNvSpPr>
            <p:nvPr/>
          </p:nvSpPr>
          <p:spPr bwMode="auto">
            <a:xfrm>
              <a:off x="4110039" y="3436939"/>
              <a:ext cx="1697037" cy="2003425"/>
            </a:xfrm>
            <a:custGeom>
              <a:avLst/>
              <a:gdLst>
                <a:gd name="T0" fmla="*/ 995 w 1222"/>
                <a:gd name="T1" fmla="*/ 1486 h 1489"/>
                <a:gd name="T2" fmla="*/ 1034 w 1222"/>
                <a:gd name="T3" fmla="*/ 1477 h 1489"/>
                <a:gd name="T4" fmla="*/ 1074 w 1222"/>
                <a:gd name="T5" fmla="*/ 1453 h 1489"/>
                <a:gd name="T6" fmla="*/ 1111 w 1222"/>
                <a:gd name="T7" fmla="*/ 1416 h 1489"/>
                <a:gd name="T8" fmla="*/ 1146 w 1222"/>
                <a:gd name="T9" fmla="*/ 1370 h 1489"/>
                <a:gd name="T10" fmla="*/ 1175 w 1222"/>
                <a:gd name="T11" fmla="*/ 1318 h 1489"/>
                <a:gd name="T12" fmla="*/ 1199 w 1222"/>
                <a:gd name="T13" fmla="*/ 1261 h 1489"/>
                <a:gd name="T14" fmla="*/ 1214 w 1222"/>
                <a:gd name="T15" fmla="*/ 1202 h 1489"/>
                <a:gd name="T16" fmla="*/ 1221 w 1222"/>
                <a:gd name="T17" fmla="*/ 1142 h 1489"/>
                <a:gd name="T18" fmla="*/ 1214 w 1222"/>
                <a:gd name="T19" fmla="*/ 1085 h 1489"/>
                <a:gd name="T20" fmla="*/ 1200 w 1222"/>
                <a:gd name="T21" fmla="*/ 1025 h 1489"/>
                <a:gd name="T22" fmla="*/ 1176 w 1222"/>
                <a:gd name="T23" fmla="*/ 968 h 1489"/>
                <a:gd name="T24" fmla="*/ 1147 w 1222"/>
                <a:gd name="T25" fmla="*/ 914 h 1489"/>
                <a:gd name="T26" fmla="*/ 1112 w 1222"/>
                <a:gd name="T27" fmla="*/ 869 h 1489"/>
                <a:gd name="T28" fmla="*/ 1074 w 1222"/>
                <a:gd name="T29" fmla="*/ 832 h 1489"/>
                <a:gd name="T30" fmla="*/ 1034 w 1222"/>
                <a:gd name="T31" fmla="*/ 808 h 1489"/>
                <a:gd name="T32" fmla="*/ 995 w 1222"/>
                <a:gd name="T33" fmla="*/ 798 h 1489"/>
                <a:gd name="T34" fmla="*/ 468 w 1222"/>
                <a:gd name="T35" fmla="*/ 796 h 1489"/>
                <a:gd name="T36" fmla="*/ 433 w 1222"/>
                <a:gd name="T37" fmla="*/ 793 h 1489"/>
                <a:gd name="T38" fmla="*/ 404 w 1222"/>
                <a:gd name="T39" fmla="*/ 784 h 1489"/>
                <a:gd name="T40" fmla="*/ 379 w 1222"/>
                <a:gd name="T41" fmla="*/ 766 h 1489"/>
                <a:gd name="T42" fmla="*/ 359 w 1222"/>
                <a:gd name="T43" fmla="*/ 740 h 1489"/>
                <a:gd name="T44" fmla="*/ 344 w 1222"/>
                <a:gd name="T45" fmla="*/ 708 h 1489"/>
                <a:gd name="T46" fmla="*/ 334 w 1222"/>
                <a:gd name="T47" fmla="*/ 666 h 1489"/>
                <a:gd name="T48" fmla="*/ 328 w 1222"/>
                <a:gd name="T49" fmla="*/ 615 h 1489"/>
                <a:gd name="T50" fmla="*/ 326 w 1222"/>
                <a:gd name="T51" fmla="*/ 555 h 1489"/>
                <a:gd name="T52" fmla="*/ 326 w 1222"/>
                <a:gd name="T53" fmla="*/ 532 h 1489"/>
                <a:gd name="T54" fmla="*/ 326 w 1222"/>
                <a:gd name="T55" fmla="*/ 470 h 1489"/>
                <a:gd name="T56" fmla="*/ 326 w 1222"/>
                <a:gd name="T57" fmla="*/ 384 h 1489"/>
                <a:gd name="T58" fmla="*/ 327 w 1222"/>
                <a:gd name="T59" fmla="*/ 282 h 1489"/>
                <a:gd name="T60" fmla="*/ 327 w 1222"/>
                <a:gd name="T61" fmla="*/ 181 h 1489"/>
                <a:gd name="T62" fmla="*/ 327 w 1222"/>
                <a:gd name="T63" fmla="*/ 92 h 1489"/>
                <a:gd name="T64" fmla="*/ 327 w 1222"/>
                <a:gd name="T65" fmla="*/ 28 h 1489"/>
                <a:gd name="T66" fmla="*/ 328 w 1222"/>
                <a:gd name="T67" fmla="*/ 0 h 1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22" h="1489">
                  <a:moveTo>
                    <a:pt x="0" y="1488"/>
                  </a:moveTo>
                  <a:lnTo>
                    <a:pt x="995" y="1486"/>
                  </a:lnTo>
                  <a:lnTo>
                    <a:pt x="1014" y="1484"/>
                  </a:lnTo>
                  <a:lnTo>
                    <a:pt x="1034" y="1477"/>
                  </a:lnTo>
                  <a:lnTo>
                    <a:pt x="1054" y="1467"/>
                  </a:lnTo>
                  <a:lnTo>
                    <a:pt x="1074" y="1453"/>
                  </a:lnTo>
                  <a:lnTo>
                    <a:pt x="1092" y="1436"/>
                  </a:lnTo>
                  <a:lnTo>
                    <a:pt x="1111" y="1416"/>
                  </a:lnTo>
                  <a:lnTo>
                    <a:pt x="1129" y="1395"/>
                  </a:lnTo>
                  <a:lnTo>
                    <a:pt x="1146" y="1370"/>
                  </a:lnTo>
                  <a:lnTo>
                    <a:pt x="1161" y="1345"/>
                  </a:lnTo>
                  <a:lnTo>
                    <a:pt x="1175" y="1318"/>
                  </a:lnTo>
                  <a:lnTo>
                    <a:pt x="1188" y="1290"/>
                  </a:lnTo>
                  <a:lnTo>
                    <a:pt x="1199" y="1261"/>
                  </a:lnTo>
                  <a:lnTo>
                    <a:pt x="1208" y="1231"/>
                  </a:lnTo>
                  <a:lnTo>
                    <a:pt x="1214" y="1202"/>
                  </a:lnTo>
                  <a:lnTo>
                    <a:pt x="1219" y="1173"/>
                  </a:lnTo>
                  <a:lnTo>
                    <a:pt x="1221" y="1142"/>
                  </a:lnTo>
                  <a:lnTo>
                    <a:pt x="1219" y="1115"/>
                  </a:lnTo>
                  <a:lnTo>
                    <a:pt x="1214" y="1085"/>
                  </a:lnTo>
                  <a:lnTo>
                    <a:pt x="1208" y="1056"/>
                  </a:lnTo>
                  <a:lnTo>
                    <a:pt x="1200" y="1025"/>
                  </a:lnTo>
                  <a:lnTo>
                    <a:pt x="1188" y="997"/>
                  </a:lnTo>
                  <a:lnTo>
                    <a:pt x="1176" y="968"/>
                  </a:lnTo>
                  <a:lnTo>
                    <a:pt x="1162" y="941"/>
                  </a:lnTo>
                  <a:lnTo>
                    <a:pt x="1147" y="914"/>
                  </a:lnTo>
                  <a:lnTo>
                    <a:pt x="1129" y="891"/>
                  </a:lnTo>
                  <a:lnTo>
                    <a:pt x="1112" y="869"/>
                  </a:lnTo>
                  <a:lnTo>
                    <a:pt x="1092" y="849"/>
                  </a:lnTo>
                  <a:lnTo>
                    <a:pt x="1074" y="832"/>
                  </a:lnTo>
                  <a:lnTo>
                    <a:pt x="1054" y="819"/>
                  </a:lnTo>
                  <a:lnTo>
                    <a:pt x="1034" y="808"/>
                  </a:lnTo>
                  <a:lnTo>
                    <a:pt x="1014" y="802"/>
                  </a:lnTo>
                  <a:lnTo>
                    <a:pt x="995" y="798"/>
                  </a:lnTo>
                  <a:lnTo>
                    <a:pt x="763" y="798"/>
                  </a:lnTo>
                  <a:lnTo>
                    <a:pt x="468" y="796"/>
                  </a:lnTo>
                  <a:lnTo>
                    <a:pt x="449" y="796"/>
                  </a:lnTo>
                  <a:lnTo>
                    <a:pt x="433" y="793"/>
                  </a:lnTo>
                  <a:lnTo>
                    <a:pt x="417" y="790"/>
                  </a:lnTo>
                  <a:lnTo>
                    <a:pt x="404" y="784"/>
                  </a:lnTo>
                  <a:lnTo>
                    <a:pt x="390" y="777"/>
                  </a:lnTo>
                  <a:lnTo>
                    <a:pt x="379" y="766"/>
                  </a:lnTo>
                  <a:lnTo>
                    <a:pt x="368" y="755"/>
                  </a:lnTo>
                  <a:lnTo>
                    <a:pt x="359" y="740"/>
                  </a:lnTo>
                  <a:lnTo>
                    <a:pt x="351" y="726"/>
                  </a:lnTo>
                  <a:lnTo>
                    <a:pt x="344" y="708"/>
                  </a:lnTo>
                  <a:lnTo>
                    <a:pt x="338" y="689"/>
                  </a:lnTo>
                  <a:lnTo>
                    <a:pt x="334" y="666"/>
                  </a:lnTo>
                  <a:lnTo>
                    <a:pt x="330" y="642"/>
                  </a:lnTo>
                  <a:lnTo>
                    <a:pt x="328" y="615"/>
                  </a:lnTo>
                  <a:lnTo>
                    <a:pt x="326" y="587"/>
                  </a:lnTo>
                  <a:lnTo>
                    <a:pt x="326" y="555"/>
                  </a:lnTo>
                  <a:lnTo>
                    <a:pt x="326" y="549"/>
                  </a:lnTo>
                  <a:lnTo>
                    <a:pt x="326" y="532"/>
                  </a:lnTo>
                  <a:lnTo>
                    <a:pt x="326" y="505"/>
                  </a:lnTo>
                  <a:lnTo>
                    <a:pt x="326" y="470"/>
                  </a:lnTo>
                  <a:lnTo>
                    <a:pt x="326" y="430"/>
                  </a:lnTo>
                  <a:lnTo>
                    <a:pt x="326" y="384"/>
                  </a:lnTo>
                  <a:lnTo>
                    <a:pt x="326" y="334"/>
                  </a:lnTo>
                  <a:lnTo>
                    <a:pt x="327" y="282"/>
                  </a:lnTo>
                  <a:lnTo>
                    <a:pt x="327" y="231"/>
                  </a:lnTo>
                  <a:lnTo>
                    <a:pt x="327" y="181"/>
                  </a:lnTo>
                  <a:lnTo>
                    <a:pt x="327" y="135"/>
                  </a:lnTo>
                  <a:lnTo>
                    <a:pt x="327" y="92"/>
                  </a:lnTo>
                  <a:lnTo>
                    <a:pt x="327" y="57"/>
                  </a:lnTo>
                  <a:lnTo>
                    <a:pt x="327" y="28"/>
                  </a:lnTo>
                  <a:lnTo>
                    <a:pt x="327" y="10"/>
                  </a:lnTo>
                  <a:lnTo>
                    <a:pt x="328" y="0"/>
                  </a:lnTo>
                </a:path>
              </a:pathLst>
            </a:custGeom>
            <a:noFill/>
            <a:ln w="31234" cap="flat">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7" name="Arc 112"/>
            <p:cNvSpPr>
              <a:spLocks/>
            </p:cNvSpPr>
            <p:nvPr/>
          </p:nvSpPr>
          <p:spPr bwMode="auto">
            <a:xfrm flipH="1">
              <a:off x="4568826" y="3181351"/>
              <a:ext cx="258763" cy="3143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1234">
              <a:solidFill>
                <a:srgbClr val="FF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8" name="Line 113"/>
            <p:cNvSpPr>
              <a:spLocks noChangeShapeType="1"/>
            </p:cNvSpPr>
            <p:nvPr/>
          </p:nvSpPr>
          <p:spPr bwMode="auto">
            <a:xfrm>
              <a:off x="4851400" y="3181350"/>
              <a:ext cx="717550" cy="0"/>
            </a:xfrm>
            <a:prstGeom prst="line">
              <a:avLst/>
            </a:prstGeom>
            <a:noFill/>
            <a:ln w="31242">
              <a:solidFill>
                <a:srgbClr val="FF0000"/>
              </a:solidFill>
              <a:prstDash val="dash"/>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9" name="Line 119"/>
            <p:cNvSpPr>
              <a:spLocks noChangeShapeType="1"/>
            </p:cNvSpPr>
            <p:nvPr/>
          </p:nvSpPr>
          <p:spPr bwMode="auto">
            <a:xfrm flipH="1">
              <a:off x="2593976" y="5438775"/>
              <a:ext cx="2582863" cy="1588"/>
            </a:xfrm>
            <a:prstGeom prst="line">
              <a:avLst/>
            </a:prstGeom>
            <a:noFill/>
            <a:ln w="63500">
              <a:solidFill>
                <a:srgbClr val="FF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0" name="Line 120"/>
            <p:cNvSpPr>
              <a:spLocks noChangeShapeType="1"/>
            </p:cNvSpPr>
            <p:nvPr/>
          </p:nvSpPr>
          <p:spPr bwMode="auto">
            <a:xfrm>
              <a:off x="5280025" y="5440364"/>
              <a:ext cx="660400" cy="1587"/>
            </a:xfrm>
            <a:prstGeom prst="line">
              <a:avLst/>
            </a:prstGeom>
            <a:noFill/>
            <a:ln w="63500">
              <a:solidFill>
                <a:srgbClr val="FF00FF"/>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125" name="Rectangle 114"/>
          <p:cNvSpPr>
            <a:spLocks noChangeArrowheads="1"/>
          </p:cNvSpPr>
          <p:nvPr/>
        </p:nvSpPr>
        <p:spPr bwMode="auto">
          <a:xfrm>
            <a:off x="8111826" y="5062764"/>
            <a:ext cx="3791623" cy="945332"/>
          </a:xfrm>
          <a:prstGeom prst="rect">
            <a:avLst/>
          </a:prstGeom>
          <a:solidFill>
            <a:schemeClr val="bg1">
              <a:lumMod val="95000"/>
            </a:schemeClr>
          </a:solidFill>
          <a:ln>
            <a:solidFill>
              <a:schemeClr val="bg1">
                <a:lumMod val="85000"/>
              </a:schemeClr>
            </a:solidFill>
          </a:ln>
          <a:extLst/>
        </p:spPr>
        <p:style>
          <a:lnRef idx="1">
            <a:schemeClr val="accent4"/>
          </a:lnRef>
          <a:fillRef idx="2">
            <a:schemeClr val="accent4"/>
          </a:fillRef>
          <a:effectRef idx="1">
            <a:schemeClr val="accent4"/>
          </a:effectRef>
          <a:fontRef idx="minor">
            <a:schemeClr val="dk1"/>
          </a:fontRef>
        </p:style>
        <p:txBody>
          <a:bodyPr wrap="none" lIns="0" tIns="0" rIns="0" bIns="0" anchor="ctr"/>
          <a:lstStyle/>
          <a:p>
            <a:pPr>
              <a:lnSpc>
                <a:spcPct val="150000"/>
              </a:lnSpc>
            </a:pPr>
            <a:endParaRPr lang="zh-CN" altLang="en-US" dirty="0">
              <a:latin typeface="微软雅黑" panose="020B0503020204020204" pitchFamily="34" charset="-122"/>
              <a:ea typeface="微软雅黑" panose="020B0503020204020204" pitchFamily="34" charset="-122"/>
            </a:endParaRPr>
          </a:p>
        </p:txBody>
      </p:sp>
      <p:sp>
        <p:nvSpPr>
          <p:cNvPr id="126" name="Text Box 115"/>
          <p:cNvSpPr txBox="1">
            <a:spLocks noChangeArrowheads="1"/>
          </p:cNvSpPr>
          <p:nvPr/>
        </p:nvSpPr>
        <p:spPr bwMode="auto">
          <a:xfrm>
            <a:off x="8505469" y="4957696"/>
            <a:ext cx="224994" cy="488724"/>
          </a:xfrm>
          <a:prstGeom prst="rect">
            <a:avLst/>
          </a:prstGeom>
          <a:no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0" hangingPunct="0">
              <a:lnSpc>
                <a:spcPct val="150000"/>
              </a:lnSpc>
            </a:pPr>
            <a:r>
              <a:rPr lang="en-US" altLang="zh-CN" sz="2400" dirty="0" smtClean="0">
                <a:latin typeface="微软雅黑" panose="020B0503020204020204" pitchFamily="34" charset="-122"/>
                <a:ea typeface="微软雅黑" panose="020B0503020204020204" pitchFamily="34" charset="-122"/>
              </a:rPr>
              <a:t>B</a:t>
            </a:r>
            <a:endParaRPr lang="en-US" altLang="zh-CN" sz="2400" dirty="0">
              <a:latin typeface="微软雅黑" panose="020B0503020204020204" pitchFamily="34" charset="-122"/>
              <a:ea typeface="微软雅黑" panose="020B0503020204020204" pitchFamily="34" charset="-122"/>
            </a:endParaRPr>
          </a:p>
        </p:txBody>
      </p:sp>
      <p:sp>
        <p:nvSpPr>
          <p:cNvPr id="127" name="Text Box 116"/>
          <p:cNvSpPr txBox="1">
            <a:spLocks noChangeArrowheads="1"/>
          </p:cNvSpPr>
          <p:nvPr/>
        </p:nvSpPr>
        <p:spPr bwMode="auto">
          <a:xfrm>
            <a:off x="8525895" y="5369347"/>
            <a:ext cx="234370" cy="553998"/>
          </a:xfrm>
          <a:prstGeom prst="rect">
            <a:avLst/>
          </a:prstGeom>
          <a:solidFill>
            <a:schemeClr val="bg1">
              <a:lumMod val="95000"/>
            </a:schemeClr>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0" hangingPunct="0">
              <a:lnSpc>
                <a:spcPct val="150000"/>
              </a:lnSpc>
            </a:pPr>
            <a:r>
              <a:rPr lang="en-US" altLang="zh-CN" sz="2400">
                <a:latin typeface="微软雅黑" panose="020B0503020204020204" pitchFamily="34" charset="-122"/>
                <a:ea typeface="微软雅黑" panose="020B0503020204020204" pitchFamily="34" charset="-122"/>
              </a:rPr>
              <a:t>R</a:t>
            </a:r>
          </a:p>
        </p:txBody>
      </p:sp>
      <p:sp>
        <p:nvSpPr>
          <p:cNvPr id="128" name="Text Box 117"/>
          <p:cNvSpPr txBox="1">
            <a:spLocks noChangeArrowheads="1"/>
          </p:cNvSpPr>
          <p:nvPr/>
        </p:nvSpPr>
        <p:spPr bwMode="auto">
          <a:xfrm>
            <a:off x="8988242" y="5229647"/>
            <a:ext cx="2786177" cy="407291"/>
          </a:xfrm>
          <a:prstGeom prst="rect">
            <a:avLst/>
          </a:prstGeom>
          <a:solidFill>
            <a:schemeClr val="bg1">
              <a:lumMod val="95000"/>
            </a:schemeClr>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0" hangingPunct="0">
              <a:lnSpc>
                <a:spcPct val="150000"/>
              </a:lnSpc>
            </a:pPr>
            <a:r>
              <a:rPr lang="en-US" altLang="zh-CN" sz="2000" b="1" dirty="0" smtClean="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被</a:t>
            </a:r>
            <a:r>
              <a:rPr lang="zh-CN" altLang="en-US" sz="2000" b="1" dirty="0">
                <a:latin typeface="微软雅黑" panose="020B0503020204020204" pitchFamily="34" charset="-122"/>
                <a:ea typeface="微软雅黑" panose="020B0503020204020204" pitchFamily="34" charset="-122"/>
              </a:rPr>
              <a:t>测件正向传输特性</a:t>
            </a:r>
            <a:endParaRPr lang="zh-CN" altLang="en-US" b="1" dirty="0">
              <a:latin typeface="微软雅黑" panose="020B0503020204020204" pitchFamily="34" charset="-122"/>
              <a:ea typeface="微软雅黑" panose="020B0503020204020204" pitchFamily="34" charset="-122"/>
            </a:endParaRPr>
          </a:p>
        </p:txBody>
      </p:sp>
      <p:sp>
        <p:nvSpPr>
          <p:cNvPr id="129" name="Line 118"/>
          <p:cNvSpPr>
            <a:spLocks noChangeShapeType="1"/>
          </p:cNvSpPr>
          <p:nvPr/>
        </p:nvSpPr>
        <p:spPr bwMode="auto">
          <a:xfrm>
            <a:off x="8327215" y="5466959"/>
            <a:ext cx="581185" cy="0"/>
          </a:xfrm>
          <a:prstGeom prst="line">
            <a:avLst/>
          </a:prstGeom>
          <a:solidFill>
            <a:schemeClr val="bg1">
              <a:lumMod val="95000"/>
            </a:schemeClr>
          </a:solidFill>
          <a:ln w="254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87678579"/>
      </p:ext>
    </p:extLst>
  </p:cSld>
  <p:clrMapOvr>
    <a:masterClrMapping/>
  </p:clrMapOvr>
  <p:transition spd="slow">
    <p:push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矢量网络分析仪的信号源</a:t>
            </a:r>
            <a:endParaRPr lang="zh-CN" altLang="en-US" dirty="0"/>
          </a:p>
        </p:txBody>
      </p:sp>
      <p:sp>
        <p:nvSpPr>
          <p:cNvPr id="4" name="内容占位符 3"/>
          <p:cNvSpPr>
            <a:spLocks noGrp="1"/>
          </p:cNvSpPr>
          <p:nvPr>
            <p:ph idx="1"/>
          </p:nvPr>
        </p:nvSpPr>
        <p:spPr/>
        <p:txBody>
          <a:bodyPr/>
          <a:lstStyle/>
          <a:p>
            <a:endParaRPr lang="zh-CN" altLang="en-US"/>
          </a:p>
        </p:txBody>
      </p:sp>
      <p:sp>
        <p:nvSpPr>
          <p:cNvPr id="3" name="日期占位符 2"/>
          <p:cNvSpPr>
            <a:spLocks noGrp="1"/>
          </p:cNvSpPr>
          <p:nvPr>
            <p:ph type="dt" sz="half" idx="10"/>
          </p:nvPr>
        </p:nvSpPr>
        <p:spPr/>
        <p:txBody>
          <a:bodyPr/>
          <a:lstStyle/>
          <a:p>
            <a:fld id="{C8C3FD71-4798-439A-8A22-F0555AE50400}" type="datetime3">
              <a:rPr lang="zh-CN" altLang="en-US" smtClean="0"/>
              <a:t>2019年5月6日星期一</a:t>
            </a:fld>
            <a:endParaRPr lang="zh-CN" altLang="en-US"/>
          </a:p>
        </p:txBody>
      </p:sp>
      <p:sp>
        <p:nvSpPr>
          <p:cNvPr id="46" name="页脚占位符 45"/>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47" name="灯片编号占位符 46"/>
          <p:cNvSpPr>
            <a:spLocks noGrp="1"/>
          </p:cNvSpPr>
          <p:nvPr>
            <p:ph type="sldNum" sz="quarter" idx="12"/>
          </p:nvPr>
        </p:nvSpPr>
        <p:spPr/>
        <p:txBody>
          <a:bodyPr/>
          <a:lstStyle/>
          <a:p>
            <a:fld id="{D5BA5A3D-E723-4639-877B-B187790AC552}" type="slidenum">
              <a:rPr lang="zh-CN" altLang="en-US" smtClean="0"/>
              <a:pPr/>
              <a:t>12</a:t>
            </a:fld>
            <a:endParaRPr lang="zh-CN" altLang="en-US"/>
          </a:p>
        </p:txBody>
      </p:sp>
      <p:sp>
        <p:nvSpPr>
          <p:cNvPr id="5" name="Text Box 39"/>
          <p:cNvSpPr txBox="1">
            <a:spLocks noChangeArrowheads="1"/>
          </p:cNvSpPr>
          <p:nvPr/>
        </p:nvSpPr>
        <p:spPr bwMode="auto">
          <a:xfrm>
            <a:off x="1131069" y="3579889"/>
            <a:ext cx="4659312" cy="1477328"/>
          </a:xfrm>
          <a:prstGeom prst="rect">
            <a:avLst/>
          </a:prstGeom>
          <a:ln>
            <a:solidFill>
              <a:schemeClr val="bg1">
                <a:lumMod val="85000"/>
              </a:schemeClr>
            </a:solidFill>
          </a:ln>
          <a:extLst/>
        </p:spPr>
        <p:style>
          <a:lnRef idx="2">
            <a:schemeClr val="accent2"/>
          </a:lnRef>
          <a:fillRef idx="1">
            <a:schemeClr val="lt1"/>
          </a:fillRef>
          <a:effectRef idx="0">
            <a:schemeClr val="accent2"/>
          </a:effectRef>
          <a:fontRef idx="minor">
            <a:schemeClr val="dk1"/>
          </a:fontRef>
        </p:style>
        <p:txBody>
          <a:bodyPr wrap="square" lIns="0" tIns="0" rIns="0" bIns="0">
            <a:spAutoFit/>
          </a:bodyPr>
          <a:lstStyle/>
          <a:p>
            <a:pPr eaLnBrk="0" hangingPunct="0">
              <a:lnSpc>
                <a:spcPct val="150000"/>
              </a:lnSpc>
            </a:pPr>
            <a:r>
              <a:rPr lang="zh-CN" altLang="en-US" sz="2400" b="1" dirty="0" smtClean="0">
                <a:solidFill>
                  <a:schemeClr val="tx1"/>
                </a:solidFill>
                <a:latin typeface="微软雅黑" panose="020B0503020204020204" pitchFamily="34" charset="-122"/>
                <a:ea typeface="微软雅黑" panose="020B0503020204020204" pitchFamily="34" charset="-122"/>
              </a:rPr>
              <a:t>频率</a:t>
            </a:r>
            <a:r>
              <a:rPr lang="zh-CN" altLang="en-US" sz="2400" b="1" dirty="0">
                <a:solidFill>
                  <a:schemeClr val="tx1"/>
                </a:solidFill>
                <a:latin typeface="微软雅黑" panose="020B0503020204020204" pitchFamily="34" charset="-122"/>
                <a:ea typeface="微软雅黑" panose="020B0503020204020204" pitchFamily="34" charset="-122"/>
              </a:rPr>
              <a:t>合成</a:t>
            </a:r>
            <a:r>
              <a:rPr lang="zh-CN" altLang="en-US" sz="2400" b="1" dirty="0" smtClean="0">
                <a:solidFill>
                  <a:schemeClr val="tx1"/>
                </a:solidFill>
                <a:latin typeface="微软雅黑" panose="020B0503020204020204" pitchFamily="34" charset="-122"/>
                <a:ea typeface="微软雅黑" panose="020B0503020204020204" pitchFamily="34" charset="-122"/>
              </a:rPr>
              <a:t>源</a:t>
            </a:r>
            <a:endParaRPr lang="en-US" altLang="zh-CN" sz="2400" b="1" dirty="0" smtClean="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eaLnBrk="0" hangingPunct="0">
              <a:lnSpc>
                <a:spcPct val="150000"/>
              </a:lnSpc>
            </a:pPr>
            <a:r>
              <a:rPr lang="zh-CN" altLang="en-US" sz="2000" dirty="0" smtClean="0">
                <a:solidFill>
                  <a:srgbClr val="004098"/>
                </a:solidFill>
                <a:latin typeface="微软雅黑" panose="020B0503020204020204" pitchFamily="34" charset="-122"/>
                <a:ea typeface="微软雅黑" panose="020B0503020204020204" pitchFamily="34" charset="-122"/>
              </a:rPr>
              <a:t>源</a:t>
            </a:r>
            <a:r>
              <a:rPr lang="zh-CN" altLang="en-US" sz="2000" dirty="0">
                <a:solidFill>
                  <a:srgbClr val="004098"/>
                </a:solidFill>
                <a:latin typeface="微软雅黑" panose="020B0503020204020204" pitchFamily="34" charset="-122"/>
                <a:ea typeface="微软雅黑" panose="020B0503020204020204" pitchFamily="34" charset="-122"/>
              </a:rPr>
              <a:t>功率控制</a:t>
            </a:r>
            <a:r>
              <a:rPr lang="zh-CN" altLang="en-US" sz="2000" dirty="0" smtClean="0">
                <a:solidFill>
                  <a:srgbClr val="004098"/>
                </a:solidFill>
                <a:latin typeface="微软雅黑" panose="020B0503020204020204" pitchFamily="34" charset="-122"/>
                <a:ea typeface="微软雅黑" panose="020B0503020204020204" pitchFamily="34" charset="-122"/>
              </a:rPr>
              <a:t>部分</a:t>
            </a:r>
            <a:r>
              <a:rPr lang="en-US" altLang="zh-CN" sz="2000" dirty="0" smtClean="0">
                <a:solidFill>
                  <a:srgbClr val="004098"/>
                </a:solidFill>
                <a:latin typeface="微软雅黑" panose="020B0503020204020204" pitchFamily="34" charset="-122"/>
                <a:ea typeface="微软雅黑" panose="020B0503020204020204" pitchFamily="34" charset="-122"/>
              </a:rPr>
              <a:t>=ALC</a:t>
            </a:r>
            <a:r>
              <a:rPr lang="en-US" altLang="zh-CN" sz="2000" dirty="0">
                <a:solidFill>
                  <a:srgbClr val="004098"/>
                </a:solidFill>
                <a:latin typeface="微软雅黑" panose="020B0503020204020204" pitchFamily="34" charset="-122"/>
                <a:ea typeface="微软雅黑" panose="020B0503020204020204" pitchFamily="34" charset="-122"/>
              </a:rPr>
              <a:t>: </a:t>
            </a:r>
            <a:r>
              <a:rPr lang="zh-CN" altLang="en-US" sz="2000" dirty="0">
                <a:solidFill>
                  <a:srgbClr val="004098"/>
                </a:solidFill>
                <a:latin typeface="微软雅黑" panose="020B0503020204020204" pitchFamily="34" charset="-122"/>
                <a:ea typeface="微软雅黑" panose="020B0503020204020204" pitchFamily="34" charset="-122"/>
              </a:rPr>
              <a:t>小范围功率调整</a:t>
            </a:r>
            <a:r>
              <a:rPr lang="en-US" altLang="zh-CN" sz="2000" dirty="0">
                <a:solidFill>
                  <a:srgbClr val="004098"/>
                </a:solidFill>
                <a:latin typeface="微软雅黑" panose="020B0503020204020204" pitchFamily="34" charset="-122"/>
                <a:ea typeface="微软雅黑" panose="020B0503020204020204" pitchFamily="34" charset="-122"/>
              </a:rPr>
              <a:t>,</a:t>
            </a:r>
            <a:r>
              <a:rPr lang="zh-CN" altLang="en-US" sz="2000" dirty="0">
                <a:solidFill>
                  <a:srgbClr val="004098"/>
                </a:solidFill>
                <a:latin typeface="微软雅黑" panose="020B0503020204020204" pitchFamily="34" charset="-122"/>
                <a:ea typeface="微软雅黑" panose="020B0503020204020204" pitchFamily="34" charset="-122"/>
              </a:rPr>
              <a:t>功率</a:t>
            </a:r>
            <a:r>
              <a:rPr lang="zh-CN" altLang="en-US" sz="2000" dirty="0" smtClean="0">
                <a:solidFill>
                  <a:srgbClr val="004098"/>
                </a:solidFill>
                <a:latin typeface="微软雅黑" panose="020B0503020204020204" pitchFamily="34" charset="-122"/>
                <a:ea typeface="微软雅黑" panose="020B0503020204020204" pitchFamily="34" charset="-122"/>
              </a:rPr>
              <a:t>扫描   </a:t>
            </a:r>
            <a:r>
              <a:rPr lang="en-US" altLang="zh-CN" sz="2000" dirty="0" smtClean="0">
                <a:solidFill>
                  <a:srgbClr val="004098"/>
                </a:solidFill>
                <a:latin typeface="微软雅黑" panose="020B0503020204020204" pitchFamily="34" charset="-122"/>
                <a:ea typeface="微软雅黑" panose="020B0503020204020204" pitchFamily="34" charset="-122"/>
              </a:rPr>
              <a:t>+</a:t>
            </a:r>
            <a:r>
              <a:rPr lang="zh-CN" altLang="en-US" sz="2000" dirty="0" smtClean="0">
                <a:solidFill>
                  <a:srgbClr val="004098"/>
                </a:solidFill>
                <a:latin typeface="微软雅黑" panose="020B0503020204020204" pitchFamily="34" charset="-122"/>
                <a:ea typeface="微软雅黑" panose="020B0503020204020204" pitchFamily="34" charset="-122"/>
              </a:rPr>
              <a:t>衰减器</a:t>
            </a:r>
            <a:r>
              <a:rPr lang="en-US" altLang="zh-CN" sz="2000" dirty="0">
                <a:solidFill>
                  <a:srgbClr val="004098"/>
                </a:solidFill>
                <a:latin typeface="微软雅黑" panose="020B0503020204020204" pitchFamily="34" charset="-122"/>
                <a:ea typeface="微软雅黑" panose="020B0503020204020204" pitchFamily="34" charset="-122"/>
              </a:rPr>
              <a:t>: </a:t>
            </a:r>
            <a:r>
              <a:rPr lang="zh-CN" altLang="en-US" sz="2000" dirty="0">
                <a:solidFill>
                  <a:srgbClr val="004098"/>
                </a:solidFill>
                <a:latin typeface="微软雅黑" panose="020B0503020204020204" pitchFamily="34" charset="-122"/>
                <a:ea typeface="微软雅黑" panose="020B0503020204020204" pitchFamily="34" charset="-122"/>
              </a:rPr>
              <a:t>大范围功率调整</a:t>
            </a:r>
          </a:p>
        </p:txBody>
      </p:sp>
      <p:sp>
        <p:nvSpPr>
          <p:cNvPr id="6" name="Text Box 7"/>
          <p:cNvSpPr txBox="1">
            <a:spLocks noChangeArrowheads="1"/>
          </p:cNvSpPr>
          <p:nvPr/>
        </p:nvSpPr>
        <p:spPr bwMode="auto">
          <a:xfrm>
            <a:off x="1131069" y="5252962"/>
            <a:ext cx="4659312" cy="1015663"/>
          </a:xfrm>
          <a:prstGeom prst="rect">
            <a:avLst/>
          </a:prstGeom>
          <a:ln>
            <a:solidFill>
              <a:schemeClr val="bg1">
                <a:lumMod val="85000"/>
              </a:schemeClr>
            </a:solidFill>
          </a:ln>
          <a:extLst/>
        </p:spPr>
        <p:style>
          <a:lnRef idx="2">
            <a:schemeClr val="accent2"/>
          </a:lnRef>
          <a:fillRef idx="1">
            <a:schemeClr val="lt1"/>
          </a:fillRef>
          <a:effectRef idx="0">
            <a:schemeClr val="accent2"/>
          </a:effectRef>
          <a:fontRef idx="minor">
            <a:schemeClr val="dk1"/>
          </a:fontRef>
        </p:style>
        <p:txBody>
          <a:bodyPr wrap="square" lIns="0" tIns="0" rIns="0" bIns="0">
            <a:spAutoFit/>
          </a:bodyPr>
          <a:lstStyle/>
          <a:p>
            <a:pPr eaLnBrk="0" hangingPunct="0">
              <a:lnSpc>
                <a:spcPct val="150000"/>
              </a:lnSpc>
            </a:pPr>
            <a:r>
              <a:rPr lang="zh-CN" altLang="en-US" sz="2400" b="1" dirty="0">
                <a:latin typeface="微软雅黑" panose="020B0503020204020204" pitchFamily="34" charset="-122"/>
                <a:ea typeface="微软雅黑" panose="020B0503020204020204" pitchFamily="34" charset="-122"/>
              </a:rPr>
              <a:t>端口稳定点频输出</a:t>
            </a:r>
            <a:r>
              <a:rPr lang="en-US" altLang="zh-CN" sz="2400" b="1" dirty="0">
                <a:latin typeface="微软雅黑" panose="020B0503020204020204" pitchFamily="34" charset="-122"/>
                <a:ea typeface="微软雅黑" panose="020B0503020204020204" pitchFamily="34" charset="-122"/>
              </a:rPr>
              <a:t>:</a:t>
            </a:r>
          </a:p>
          <a:p>
            <a:pPr eaLnBrk="0" hangingPunct="0">
              <a:lnSpc>
                <a:spcPct val="150000"/>
              </a:lnSpc>
            </a:pPr>
            <a:r>
              <a:rPr lang="en-US" altLang="zh-CN" sz="2000" dirty="0">
                <a:solidFill>
                  <a:srgbClr val="004098"/>
                </a:solidFill>
                <a:latin typeface="微软雅黑" panose="020B0503020204020204" pitchFamily="34" charset="-122"/>
                <a:ea typeface="微软雅黑" panose="020B0503020204020204" pitchFamily="34" charset="-122"/>
              </a:rPr>
              <a:t>span=0Hz, max sweep time</a:t>
            </a:r>
          </a:p>
        </p:txBody>
      </p:sp>
      <p:pic>
        <p:nvPicPr>
          <p:cNvPr id="7" name="Picture 41" descr="E5071-DS204-1-D"/>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6596"/>
          <a:stretch/>
        </p:blipFill>
        <p:spPr bwMode="auto">
          <a:xfrm>
            <a:off x="8837616" y="1515803"/>
            <a:ext cx="2046287" cy="1245546"/>
          </a:xfrm>
          <a:prstGeom prst="rect">
            <a:avLst/>
          </a:prstGeom>
          <a:noFill/>
          <a:extLst>
            <a:ext uri="{909E8E84-426E-40DD-AFC4-6F175D3DCCD1}">
              <a14:hiddenFill xmlns:a14="http://schemas.microsoft.com/office/drawing/2010/main">
                <a:solidFill>
                  <a:srgbClr val="FFFFFF"/>
                </a:solidFill>
              </a14:hiddenFill>
            </a:ext>
          </a:extLst>
        </p:spPr>
      </p:pic>
      <p:sp>
        <p:nvSpPr>
          <p:cNvPr id="9" name="Oval 5"/>
          <p:cNvSpPr>
            <a:spLocks noChangeArrowheads="1"/>
          </p:cNvSpPr>
          <p:nvPr/>
        </p:nvSpPr>
        <p:spPr bwMode="auto">
          <a:xfrm>
            <a:off x="7213604" y="1501195"/>
            <a:ext cx="1201737" cy="1165225"/>
          </a:xfrm>
          <a:prstGeom prst="ellipse">
            <a:avLst/>
          </a:prstGeom>
          <a:solidFill>
            <a:schemeClr val="bg1"/>
          </a:solidFill>
          <a:ln>
            <a:solidFill>
              <a:schemeClr val="bg1">
                <a:lumMod val="75000"/>
              </a:schemeClr>
            </a:solidFill>
            <a:headEnd/>
            <a:tailEnd/>
          </a:ln>
          <a:effectLst/>
        </p:spPr>
        <p:style>
          <a:lnRef idx="0">
            <a:schemeClr val="accent1"/>
          </a:lnRef>
          <a:fillRef idx="3">
            <a:schemeClr val="accent1"/>
          </a:fillRef>
          <a:effectRef idx="3">
            <a:schemeClr val="accent1"/>
          </a:effectRef>
          <a:fontRef idx="minor">
            <a:schemeClr val="lt1"/>
          </a:fontRef>
        </p:style>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 name="Freeform 6"/>
          <p:cNvSpPr>
            <a:spLocks/>
          </p:cNvSpPr>
          <p:nvPr/>
        </p:nvSpPr>
        <p:spPr bwMode="auto">
          <a:xfrm>
            <a:off x="7532691" y="1840920"/>
            <a:ext cx="550863" cy="460375"/>
          </a:xfrm>
          <a:custGeom>
            <a:avLst/>
            <a:gdLst>
              <a:gd name="T0" fmla="*/ 3 w 382"/>
              <a:gd name="T1" fmla="*/ 153 h 329"/>
              <a:gd name="T2" fmla="*/ 11 w 382"/>
              <a:gd name="T3" fmla="*/ 134 h 329"/>
              <a:gd name="T4" fmla="*/ 20 w 382"/>
              <a:gd name="T5" fmla="*/ 113 h 329"/>
              <a:gd name="T6" fmla="*/ 27 w 382"/>
              <a:gd name="T7" fmla="*/ 95 h 329"/>
              <a:gd name="T8" fmla="*/ 35 w 382"/>
              <a:gd name="T9" fmla="*/ 76 h 329"/>
              <a:gd name="T10" fmla="*/ 41 w 382"/>
              <a:gd name="T11" fmla="*/ 59 h 329"/>
              <a:gd name="T12" fmla="*/ 48 w 382"/>
              <a:gd name="T13" fmla="*/ 46 h 329"/>
              <a:gd name="T14" fmla="*/ 55 w 382"/>
              <a:gd name="T15" fmla="*/ 30 h 329"/>
              <a:gd name="T16" fmla="*/ 65 w 382"/>
              <a:gd name="T17" fmla="*/ 20 h 329"/>
              <a:gd name="T18" fmla="*/ 71 w 382"/>
              <a:gd name="T19" fmla="*/ 11 h 329"/>
              <a:gd name="T20" fmla="*/ 79 w 382"/>
              <a:gd name="T21" fmla="*/ 5 h 329"/>
              <a:gd name="T22" fmla="*/ 88 w 382"/>
              <a:gd name="T23" fmla="*/ 1 h 329"/>
              <a:gd name="T24" fmla="*/ 95 w 382"/>
              <a:gd name="T25" fmla="*/ 0 h 329"/>
              <a:gd name="T26" fmla="*/ 103 w 382"/>
              <a:gd name="T27" fmla="*/ 1 h 329"/>
              <a:gd name="T28" fmla="*/ 111 w 382"/>
              <a:gd name="T29" fmla="*/ 5 h 329"/>
              <a:gd name="T30" fmla="*/ 117 w 382"/>
              <a:gd name="T31" fmla="*/ 11 h 329"/>
              <a:gd name="T32" fmla="*/ 126 w 382"/>
              <a:gd name="T33" fmla="*/ 20 h 329"/>
              <a:gd name="T34" fmla="*/ 135 w 382"/>
              <a:gd name="T35" fmla="*/ 30 h 329"/>
              <a:gd name="T36" fmla="*/ 143 w 382"/>
              <a:gd name="T37" fmla="*/ 48 h 329"/>
              <a:gd name="T38" fmla="*/ 149 w 382"/>
              <a:gd name="T39" fmla="*/ 59 h 329"/>
              <a:gd name="T40" fmla="*/ 157 w 382"/>
              <a:gd name="T41" fmla="*/ 74 h 329"/>
              <a:gd name="T42" fmla="*/ 163 w 382"/>
              <a:gd name="T43" fmla="*/ 95 h 329"/>
              <a:gd name="T44" fmla="*/ 171 w 382"/>
              <a:gd name="T45" fmla="*/ 113 h 329"/>
              <a:gd name="T46" fmla="*/ 180 w 382"/>
              <a:gd name="T47" fmla="*/ 134 h 329"/>
              <a:gd name="T48" fmla="*/ 185 w 382"/>
              <a:gd name="T49" fmla="*/ 153 h 329"/>
              <a:gd name="T50" fmla="*/ 190 w 382"/>
              <a:gd name="T51" fmla="*/ 166 h 329"/>
              <a:gd name="T52" fmla="*/ 199 w 382"/>
              <a:gd name="T53" fmla="*/ 185 h 329"/>
              <a:gd name="T54" fmla="*/ 204 w 382"/>
              <a:gd name="T55" fmla="*/ 204 h 329"/>
              <a:gd name="T56" fmla="*/ 212 w 382"/>
              <a:gd name="T57" fmla="*/ 225 h 329"/>
              <a:gd name="T58" fmla="*/ 221 w 382"/>
              <a:gd name="T59" fmla="*/ 244 h 329"/>
              <a:gd name="T60" fmla="*/ 229 w 382"/>
              <a:gd name="T61" fmla="*/ 261 h 329"/>
              <a:gd name="T62" fmla="*/ 236 w 382"/>
              <a:gd name="T63" fmla="*/ 278 h 329"/>
              <a:gd name="T64" fmla="*/ 243 w 382"/>
              <a:gd name="T65" fmla="*/ 291 h 329"/>
              <a:gd name="T66" fmla="*/ 249 w 382"/>
              <a:gd name="T67" fmla="*/ 304 h 329"/>
              <a:gd name="T68" fmla="*/ 259 w 382"/>
              <a:gd name="T69" fmla="*/ 314 h 329"/>
              <a:gd name="T70" fmla="*/ 265 w 382"/>
              <a:gd name="T71" fmla="*/ 321 h 329"/>
              <a:gd name="T72" fmla="*/ 274 w 382"/>
              <a:gd name="T73" fmla="*/ 326 h 329"/>
              <a:gd name="T74" fmla="*/ 281 w 382"/>
              <a:gd name="T75" fmla="*/ 328 h 329"/>
              <a:gd name="T76" fmla="*/ 289 w 382"/>
              <a:gd name="T77" fmla="*/ 328 h 329"/>
              <a:gd name="T78" fmla="*/ 295 w 382"/>
              <a:gd name="T79" fmla="*/ 326 h 329"/>
              <a:gd name="T80" fmla="*/ 305 w 382"/>
              <a:gd name="T81" fmla="*/ 321 h 329"/>
              <a:gd name="T82" fmla="*/ 312 w 382"/>
              <a:gd name="T83" fmla="*/ 314 h 329"/>
              <a:gd name="T84" fmla="*/ 320 w 382"/>
              <a:gd name="T85" fmla="*/ 304 h 329"/>
              <a:gd name="T86" fmla="*/ 327 w 382"/>
              <a:gd name="T87" fmla="*/ 291 h 329"/>
              <a:gd name="T88" fmla="*/ 335 w 382"/>
              <a:gd name="T89" fmla="*/ 278 h 329"/>
              <a:gd name="T90" fmla="*/ 342 w 382"/>
              <a:gd name="T91" fmla="*/ 261 h 329"/>
              <a:gd name="T92" fmla="*/ 350 w 382"/>
              <a:gd name="T93" fmla="*/ 244 h 329"/>
              <a:gd name="T94" fmla="*/ 359 w 382"/>
              <a:gd name="T95" fmla="*/ 226 h 329"/>
              <a:gd name="T96" fmla="*/ 364 w 382"/>
              <a:gd name="T97" fmla="*/ 206 h 329"/>
              <a:gd name="T98" fmla="*/ 373 w 382"/>
              <a:gd name="T99" fmla="*/ 185 h 329"/>
              <a:gd name="T100" fmla="*/ 381 w 382"/>
              <a:gd name="T101" fmla="*/ 166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82" h="329">
                <a:moveTo>
                  <a:pt x="0" y="166"/>
                </a:moveTo>
                <a:lnTo>
                  <a:pt x="3" y="153"/>
                </a:lnTo>
                <a:lnTo>
                  <a:pt x="7" y="145"/>
                </a:lnTo>
                <a:lnTo>
                  <a:pt x="11" y="134"/>
                </a:lnTo>
                <a:lnTo>
                  <a:pt x="15" y="123"/>
                </a:lnTo>
                <a:lnTo>
                  <a:pt x="20" y="113"/>
                </a:lnTo>
                <a:lnTo>
                  <a:pt x="23" y="104"/>
                </a:lnTo>
                <a:lnTo>
                  <a:pt x="27" y="95"/>
                </a:lnTo>
                <a:lnTo>
                  <a:pt x="30" y="84"/>
                </a:lnTo>
                <a:lnTo>
                  <a:pt x="35" y="76"/>
                </a:lnTo>
                <a:lnTo>
                  <a:pt x="38" y="68"/>
                </a:lnTo>
                <a:lnTo>
                  <a:pt x="41" y="59"/>
                </a:lnTo>
                <a:lnTo>
                  <a:pt x="47" y="52"/>
                </a:lnTo>
                <a:lnTo>
                  <a:pt x="48" y="46"/>
                </a:lnTo>
                <a:lnTo>
                  <a:pt x="53" y="37"/>
                </a:lnTo>
                <a:lnTo>
                  <a:pt x="55" y="30"/>
                </a:lnTo>
                <a:lnTo>
                  <a:pt x="61" y="25"/>
                </a:lnTo>
                <a:lnTo>
                  <a:pt x="65" y="20"/>
                </a:lnTo>
                <a:lnTo>
                  <a:pt x="69" y="15"/>
                </a:lnTo>
                <a:lnTo>
                  <a:pt x="71" y="11"/>
                </a:lnTo>
                <a:lnTo>
                  <a:pt x="75" y="7"/>
                </a:lnTo>
                <a:lnTo>
                  <a:pt x="79" y="5"/>
                </a:lnTo>
                <a:lnTo>
                  <a:pt x="85" y="2"/>
                </a:lnTo>
                <a:lnTo>
                  <a:pt x="88" y="1"/>
                </a:lnTo>
                <a:lnTo>
                  <a:pt x="91" y="1"/>
                </a:lnTo>
                <a:lnTo>
                  <a:pt x="95" y="0"/>
                </a:lnTo>
                <a:lnTo>
                  <a:pt x="99" y="1"/>
                </a:lnTo>
                <a:lnTo>
                  <a:pt x="103" y="1"/>
                </a:lnTo>
                <a:lnTo>
                  <a:pt x="106" y="2"/>
                </a:lnTo>
                <a:lnTo>
                  <a:pt x="111" y="5"/>
                </a:lnTo>
                <a:lnTo>
                  <a:pt x="114" y="7"/>
                </a:lnTo>
                <a:lnTo>
                  <a:pt x="117" y="11"/>
                </a:lnTo>
                <a:lnTo>
                  <a:pt x="121" y="15"/>
                </a:lnTo>
                <a:lnTo>
                  <a:pt x="126" y="20"/>
                </a:lnTo>
                <a:lnTo>
                  <a:pt x="129" y="25"/>
                </a:lnTo>
                <a:lnTo>
                  <a:pt x="135" y="30"/>
                </a:lnTo>
                <a:lnTo>
                  <a:pt x="136" y="37"/>
                </a:lnTo>
                <a:lnTo>
                  <a:pt x="143" y="48"/>
                </a:lnTo>
                <a:lnTo>
                  <a:pt x="145" y="52"/>
                </a:lnTo>
                <a:lnTo>
                  <a:pt x="149" y="59"/>
                </a:lnTo>
                <a:lnTo>
                  <a:pt x="151" y="68"/>
                </a:lnTo>
                <a:lnTo>
                  <a:pt x="157" y="74"/>
                </a:lnTo>
                <a:lnTo>
                  <a:pt x="159" y="84"/>
                </a:lnTo>
                <a:lnTo>
                  <a:pt x="163" y="95"/>
                </a:lnTo>
                <a:lnTo>
                  <a:pt x="167" y="103"/>
                </a:lnTo>
                <a:lnTo>
                  <a:pt x="171" y="113"/>
                </a:lnTo>
                <a:lnTo>
                  <a:pt x="176" y="123"/>
                </a:lnTo>
                <a:lnTo>
                  <a:pt x="180" y="134"/>
                </a:lnTo>
                <a:lnTo>
                  <a:pt x="181" y="145"/>
                </a:lnTo>
                <a:lnTo>
                  <a:pt x="185" y="153"/>
                </a:lnTo>
                <a:lnTo>
                  <a:pt x="190" y="166"/>
                </a:lnTo>
                <a:lnTo>
                  <a:pt x="190" y="166"/>
                </a:lnTo>
                <a:lnTo>
                  <a:pt x="195" y="175"/>
                </a:lnTo>
                <a:lnTo>
                  <a:pt x="199" y="185"/>
                </a:lnTo>
                <a:lnTo>
                  <a:pt x="201" y="194"/>
                </a:lnTo>
                <a:lnTo>
                  <a:pt x="204" y="204"/>
                </a:lnTo>
                <a:lnTo>
                  <a:pt x="209" y="214"/>
                </a:lnTo>
                <a:lnTo>
                  <a:pt x="212" y="225"/>
                </a:lnTo>
                <a:lnTo>
                  <a:pt x="215" y="234"/>
                </a:lnTo>
                <a:lnTo>
                  <a:pt x="221" y="244"/>
                </a:lnTo>
                <a:lnTo>
                  <a:pt x="225" y="252"/>
                </a:lnTo>
                <a:lnTo>
                  <a:pt x="229" y="261"/>
                </a:lnTo>
                <a:lnTo>
                  <a:pt x="231" y="270"/>
                </a:lnTo>
                <a:lnTo>
                  <a:pt x="236" y="278"/>
                </a:lnTo>
                <a:lnTo>
                  <a:pt x="240" y="284"/>
                </a:lnTo>
                <a:lnTo>
                  <a:pt x="243" y="291"/>
                </a:lnTo>
                <a:lnTo>
                  <a:pt x="247" y="298"/>
                </a:lnTo>
                <a:lnTo>
                  <a:pt x="249" y="304"/>
                </a:lnTo>
                <a:lnTo>
                  <a:pt x="254" y="309"/>
                </a:lnTo>
                <a:lnTo>
                  <a:pt x="259" y="314"/>
                </a:lnTo>
                <a:lnTo>
                  <a:pt x="262" y="319"/>
                </a:lnTo>
                <a:lnTo>
                  <a:pt x="265" y="321"/>
                </a:lnTo>
                <a:lnTo>
                  <a:pt x="270" y="324"/>
                </a:lnTo>
                <a:lnTo>
                  <a:pt x="274" y="326"/>
                </a:lnTo>
                <a:lnTo>
                  <a:pt x="277" y="327"/>
                </a:lnTo>
                <a:lnTo>
                  <a:pt x="281" y="328"/>
                </a:lnTo>
                <a:lnTo>
                  <a:pt x="285" y="328"/>
                </a:lnTo>
                <a:lnTo>
                  <a:pt x="289" y="328"/>
                </a:lnTo>
                <a:lnTo>
                  <a:pt x="292" y="327"/>
                </a:lnTo>
                <a:lnTo>
                  <a:pt x="295" y="326"/>
                </a:lnTo>
                <a:lnTo>
                  <a:pt x="301" y="324"/>
                </a:lnTo>
                <a:lnTo>
                  <a:pt x="305" y="321"/>
                </a:lnTo>
                <a:lnTo>
                  <a:pt x="309" y="319"/>
                </a:lnTo>
                <a:lnTo>
                  <a:pt x="312" y="314"/>
                </a:lnTo>
                <a:lnTo>
                  <a:pt x="316" y="309"/>
                </a:lnTo>
                <a:lnTo>
                  <a:pt x="320" y="304"/>
                </a:lnTo>
                <a:lnTo>
                  <a:pt x="324" y="298"/>
                </a:lnTo>
                <a:lnTo>
                  <a:pt x="327" y="291"/>
                </a:lnTo>
                <a:lnTo>
                  <a:pt x="331" y="284"/>
                </a:lnTo>
                <a:lnTo>
                  <a:pt x="335" y="278"/>
                </a:lnTo>
                <a:lnTo>
                  <a:pt x="338" y="270"/>
                </a:lnTo>
                <a:lnTo>
                  <a:pt x="342" y="261"/>
                </a:lnTo>
                <a:lnTo>
                  <a:pt x="345" y="254"/>
                </a:lnTo>
                <a:lnTo>
                  <a:pt x="350" y="244"/>
                </a:lnTo>
                <a:lnTo>
                  <a:pt x="353" y="234"/>
                </a:lnTo>
                <a:lnTo>
                  <a:pt x="359" y="226"/>
                </a:lnTo>
                <a:lnTo>
                  <a:pt x="360" y="214"/>
                </a:lnTo>
                <a:lnTo>
                  <a:pt x="364" y="206"/>
                </a:lnTo>
                <a:lnTo>
                  <a:pt x="369" y="194"/>
                </a:lnTo>
                <a:lnTo>
                  <a:pt x="373" y="185"/>
                </a:lnTo>
                <a:lnTo>
                  <a:pt x="377" y="175"/>
                </a:lnTo>
                <a:lnTo>
                  <a:pt x="381" y="166"/>
                </a:lnTo>
              </a:path>
            </a:pathLst>
          </a:custGeom>
          <a:noFill/>
          <a:ln w="31750" cap="flat" cmpd="sng">
            <a:solidFill>
              <a:schemeClr val="bg1">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nvGrpSpPr>
          <p:cNvPr id="11" name="组合 10"/>
          <p:cNvGrpSpPr/>
          <p:nvPr/>
        </p:nvGrpSpPr>
        <p:grpSpPr>
          <a:xfrm>
            <a:off x="7288216" y="2919053"/>
            <a:ext cx="3595687" cy="3292476"/>
            <a:chOff x="6751639" y="2687638"/>
            <a:chExt cx="3595687" cy="3292476"/>
          </a:xfrm>
        </p:grpSpPr>
        <p:grpSp>
          <p:nvGrpSpPr>
            <p:cNvPr id="12" name="Group 8"/>
            <p:cNvGrpSpPr>
              <a:grpSpLocks/>
            </p:cNvGrpSpPr>
            <p:nvPr/>
          </p:nvGrpSpPr>
          <p:grpSpPr bwMode="auto">
            <a:xfrm>
              <a:off x="6751639" y="3195639"/>
              <a:ext cx="3595687" cy="2784475"/>
              <a:chOff x="3362" y="2125"/>
              <a:chExt cx="2265" cy="1754"/>
            </a:xfrm>
          </p:grpSpPr>
          <p:sp>
            <p:nvSpPr>
              <p:cNvPr id="14" name="Rectangle 9"/>
              <p:cNvSpPr>
                <a:spLocks noChangeArrowheads="1"/>
              </p:cNvSpPr>
              <p:nvPr/>
            </p:nvSpPr>
            <p:spPr bwMode="auto">
              <a:xfrm>
                <a:off x="3362" y="2125"/>
                <a:ext cx="2265" cy="1754"/>
              </a:xfrm>
              <a:prstGeom prst="rect">
                <a:avLst/>
              </a:prstGeom>
              <a:solidFill>
                <a:schemeClr val="bg1">
                  <a:lumMod val="95000"/>
                </a:schemeClr>
              </a:solidFill>
              <a:ln w="254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15" name="Line 10"/>
              <p:cNvSpPr>
                <a:spLocks noChangeShapeType="1"/>
              </p:cNvSpPr>
              <p:nvPr/>
            </p:nvSpPr>
            <p:spPr bwMode="auto">
              <a:xfrm flipV="1">
                <a:off x="4158" y="2389"/>
                <a:ext cx="31" cy="232"/>
              </a:xfrm>
              <a:prstGeom prst="line">
                <a:avLst/>
              </a:prstGeom>
              <a:noFill/>
              <a:ln w="18732">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16" name="Freeform 11"/>
              <p:cNvSpPr>
                <a:spLocks/>
              </p:cNvSpPr>
              <p:nvPr/>
            </p:nvSpPr>
            <p:spPr bwMode="auto">
              <a:xfrm>
                <a:off x="4133" y="2416"/>
                <a:ext cx="73" cy="187"/>
              </a:xfrm>
              <a:custGeom>
                <a:avLst/>
                <a:gdLst>
                  <a:gd name="T0" fmla="*/ 0 w 99"/>
                  <a:gd name="T1" fmla="*/ 295 h 296"/>
                  <a:gd name="T2" fmla="*/ 98 w 99"/>
                  <a:gd name="T3" fmla="*/ 246 h 296"/>
                  <a:gd name="T4" fmla="*/ 0 w 99"/>
                  <a:gd name="T5" fmla="*/ 197 h 296"/>
                  <a:gd name="T6" fmla="*/ 98 w 99"/>
                  <a:gd name="T7" fmla="*/ 147 h 296"/>
                  <a:gd name="T8" fmla="*/ 0 w 99"/>
                  <a:gd name="T9" fmla="*/ 99 h 296"/>
                  <a:gd name="T10" fmla="*/ 98 w 99"/>
                  <a:gd name="T11" fmla="*/ 49 h 296"/>
                  <a:gd name="T12" fmla="*/ 0 w 99"/>
                  <a:gd name="T13" fmla="*/ 0 h 296"/>
                </a:gdLst>
                <a:ahLst/>
                <a:cxnLst>
                  <a:cxn ang="0">
                    <a:pos x="T0" y="T1"/>
                  </a:cxn>
                  <a:cxn ang="0">
                    <a:pos x="T2" y="T3"/>
                  </a:cxn>
                  <a:cxn ang="0">
                    <a:pos x="T4" y="T5"/>
                  </a:cxn>
                  <a:cxn ang="0">
                    <a:pos x="T6" y="T7"/>
                  </a:cxn>
                  <a:cxn ang="0">
                    <a:pos x="T8" y="T9"/>
                  </a:cxn>
                  <a:cxn ang="0">
                    <a:pos x="T10" y="T11"/>
                  </a:cxn>
                  <a:cxn ang="0">
                    <a:pos x="T12" y="T13"/>
                  </a:cxn>
                </a:cxnLst>
                <a:rect l="0" t="0" r="r" b="b"/>
                <a:pathLst>
                  <a:path w="99" h="296">
                    <a:moveTo>
                      <a:pt x="0" y="295"/>
                    </a:moveTo>
                    <a:lnTo>
                      <a:pt x="98" y="246"/>
                    </a:lnTo>
                    <a:lnTo>
                      <a:pt x="0" y="197"/>
                    </a:lnTo>
                    <a:lnTo>
                      <a:pt x="98" y="147"/>
                    </a:lnTo>
                    <a:lnTo>
                      <a:pt x="0" y="99"/>
                    </a:lnTo>
                    <a:lnTo>
                      <a:pt x="98" y="49"/>
                    </a:lnTo>
                    <a:lnTo>
                      <a:pt x="0" y="0"/>
                    </a:lnTo>
                  </a:path>
                </a:pathLst>
              </a:custGeom>
              <a:noFill/>
              <a:ln w="18732"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17" name="AutoShape 12"/>
              <p:cNvSpPr>
                <a:spLocks noChangeArrowheads="1"/>
              </p:cNvSpPr>
              <p:nvPr/>
            </p:nvSpPr>
            <p:spPr bwMode="auto">
              <a:xfrm flipV="1">
                <a:off x="4082" y="2338"/>
                <a:ext cx="177" cy="308"/>
              </a:xfrm>
              <a:prstGeom prst="roundRect">
                <a:avLst>
                  <a:gd name="adj" fmla="val 0"/>
                </a:avLst>
              </a:prstGeom>
              <a:noFill/>
              <a:ln w="18732">
                <a:solidFill>
                  <a:srgbClr val="4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18" name="Freeform 13"/>
              <p:cNvSpPr>
                <a:spLocks/>
              </p:cNvSpPr>
              <p:nvPr/>
            </p:nvSpPr>
            <p:spPr bwMode="auto">
              <a:xfrm>
                <a:off x="4530" y="2339"/>
                <a:ext cx="354" cy="307"/>
              </a:xfrm>
              <a:custGeom>
                <a:avLst/>
                <a:gdLst>
                  <a:gd name="T0" fmla="*/ 0 w 490"/>
                  <a:gd name="T1" fmla="*/ 0 h 490"/>
                  <a:gd name="T2" fmla="*/ 0 w 490"/>
                  <a:gd name="T3" fmla="*/ 489 h 490"/>
                  <a:gd name="T4" fmla="*/ 489 w 490"/>
                  <a:gd name="T5" fmla="*/ 245 h 490"/>
                  <a:gd name="T6" fmla="*/ 0 w 490"/>
                  <a:gd name="T7" fmla="*/ 0 h 490"/>
                  <a:gd name="T8" fmla="*/ 0 w 490"/>
                  <a:gd name="T9" fmla="*/ 0 h 490"/>
                </a:gdLst>
                <a:ahLst/>
                <a:cxnLst>
                  <a:cxn ang="0">
                    <a:pos x="T0" y="T1"/>
                  </a:cxn>
                  <a:cxn ang="0">
                    <a:pos x="T2" y="T3"/>
                  </a:cxn>
                  <a:cxn ang="0">
                    <a:pos x="T4" y="T5"/>
                  </a:cxn>
                  <a:cxn ang="0">
                    <a:pos x="T6" y="T7"/>
                  </a:cxn>
                  <a:cxn ang="0">
                    <a:pos x="T8" y="T9"/>
                  </a:cxn>
                </a:cxnLst>
                <a:rect l="0" t="0" r="r" b="b"/>
                <a:pathLst>
                  <a:path w="490" h="490">
                    <a:moveTo>
                      <a:pt x="0" y="0"/>
                    </a:moveTo>
                    <a:lnTo>
                      <a:pt x="0" y="489"/>
                    </a:lnTo>
                    <a:lnTo>
                      <a:pt x="489" y="245"/>
                    </a:lnTo>
                    <a:lnTo>
                      <a:pt x="0" y="0"/>
                    </a:lnTo>
                    <a:lnTo>
                      <a:pt x="0" y="0"/>
                    </a:lnTo>
                  </a:path>
                </a:pathLst>
              </a:custGeom>
              <a:noFill/>
              <a:ln w="18732" cap="flat" cmpd="sng">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19" name="Line 14"/>
              <p:cNvSpPr>
                <a:spLocks noChangeShapeType="1"/>
              </p:cNvSpPr>
              <p:nvPr/>
            </p:nvSpPr>
            <p:spPr bwMode="auto">
              <a:xfrm flipV="1">
                <a:off x="5130" y="2389"/>
                <a:ext cx="31" cy="232"/>
              </a:xfrm>
              <a:prstGeom prst="line">
                <a:avLst/>
              </a:prstGeom>
              <a:noFill/>
              <a:ln w="18732">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20" name="Freeform 15"/>
              <p:cNvSpPr>
                <a:spLocks/>
              </p:cNvSpPr>
              <p:nvPr/>
            </p:nvSpPr>
            <p:spPr bwMode="auto">
              <a:xfrm>
                <a:off x="5106" y="2416"/>
                <a:ext cx="72" cy="187"/>
              </a:xfrm>
              <a:custGeom>
                <a:avLst/>
                <a:gdLst>
                  <a:gd name="T0" fmla="*/ 0 w 100"/>
                  <a:gd name="T1" fmla="*/ 295 h 296"/>
                  <a:gd name="T2" fmla="*/ 99 w 100"/>
                  <a:gd name="T3" fmla="*/ 246 h 296"/>
                  <a:gd name="T4" fmla="*/ 0 w 100"/>
                  <a:gd name="T5" fmla="*/ 197 h 296"/>
                  <a:gd name="T6" fmla="*/ 99 w 100"/>
                  <a:gd name="T7" fmla="*/ 147 h 296"/>
                  <a:gd name="T8" fmla="*/ 0 w 100"/>
                  <a:gd name="T9" fmla="*/ 99 h 296"/>
                  <a:gd name="T10" fmla="*/ 99 w 100"/>
                  <a:gd name="T11" fmla="*/ 49 h 296"/>
                  <a:gd name="T12" fmla="*/ 0 w 100"/>
                  <a:gd name="T13" fmla="*/ 0 h 296"/>
                </a:gdLst>
                <a:ahLst/>
                <a:cxnLst>
                  <a:cxn ang="0">
                    <a:pos x="T0" y="T1"/>
                  </a:cxn>
                  <a:cxn ang="0">
                    <a:pos x="T2" y="T3"/>
                  </a:cxn>
                  <a:cxn ang="0">
                    <a:pos x="T4" y="T5"/>
                  </a:cxn>
                  <a:cxn ang="0">
                    <a:pos x="T6" y="T7"/>
                  </a:cxn>
                  <a:cxn ang="0">
                    <a:pos x="T8" y="T9"/>
                  </a:cxn>
                  <a:cxn ang="0">
                    <a:pos x="T10" y="T11"/>
                  </a:cxn>
                  <a:cxn ang="0">
                    <a:pos x="T12" y="T13"/>
                  </a:cxn>
                </a:cxnLst>
                <a:rect l="0" t="0" r="r" b="b"/>
                <a:pathLst>
                  <a:path w="100" h="296">
                    <a:moveTo>
                      <a:pt x="0" y="295"/>
                    </a:moveTo>
                    <a:lnTo>
                      <a:pt x="99" y="246"/>
                    </a:lnTo>
                    <a:lnTo>
                      <a:pt x="0" y="197"/>
                    </a:lnTo>
                    <a:lnTo>
                      <a:pt x="99" y="147"/>
                    </a:lnTo>
                    <a:lnTo>
                      <a:pt x="0" y="99"/>
                    </a:lnTo>
                    <a:lnTo>
                      <a:pt x="99" y="49"/>
                    </a:lnTo>
                    <a:lnTo>
                      <a:pt x="0" y="0"/>
                    </a:lnTo>
                  </a:path>
                </a:pathLst>
              </a:custGeom>
              <a:noFill/>
              <a:ln w="18732"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21" name="AutoShape 16"/>
              <p:cNvSpPr>
                <a:spLocks noChangeArrowheads="1"/>
              </p:cNvSpPr>
              <p:nvPr/>
            </p:nvSpPr>
            <p:spPr bwMode="auto">
              <a:xfrm flipV="1">
                <a:off x="5055" y="2338"/>
                <a:ext cx="176" cy="308"/>
              </a:xfrm>
              <a:prstGeom prst="roundRect">
                <a:avLst>
                  <a:gd name="adj" fmla="val 0"/>
                </a:avLst>
              </a:prstGeom>
              <a:noFill/>
              <a:ln w="18732">
                <a:solidFill>
                  <a:srgbClr val="4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22" name="Line 17"/>
              <p:cNvSpPr>
                <a:spLocks noChangeShapeType="1"/>
              </p:cNvSpPr>
              <p:nvPr/>
            </p:nvSpPr>
            <p:spPr bwMode="auto">
              <a:xfrm>
                <a:off x="3820" y="2494"/>
                <a:ext cx="264" cy="0"/>
              </a:xfrm>
              <a:prstGeom prst="line">
                <a:avLst/>
              </a:prstGeom>
              <a:noFill/>
              <a:ln w="18732">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23" name="Line 18"/>
              <p:cNvSpPr>
                <a:spLocks noChangeShapeType="1"/>
              </p:cNvSpPr>
              <p:nvPr/>
            </p:nvSpPr>
            <p:spPr bwMode="auto">
              <a:xfrm>
                <a:off x="4262" y="2494"/>
                <a:ext cx="265" cy="0"/>
              </a:xfrm>
              <a:prstGeom prst="line">
                <a:avLst/>
              </a:prstGeom>
              <a:noFill/>
              <a:ln w="18732">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24" name="Line 19"/>
              <p:cNvSpPr>
                <a:spLocks noChangeShapeType="1"/>
              </p:cNvSpPr>
              <p:nvPr/>
            </p:nvSpPr>
            <p:spPr bwMode="auto">
              <a:xfrm>
                <a:off x="4880" y="2494"/>
                <a:ext cx="178" cy="0"/>
              </a:xfrm>
              <a:prstGeom prst="line">
                <a:avLst/>
              </a:prstGeom>
              <a:noFill/>
              <a:ln w="18732">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25" name="Line 20"/>
              <p:cNvSpPr>
                <a:spLocks noChangeShapeType="1"/>
              </p:cNvSpPr>
              <p:nvPr/>
            </p:nvSpPr>
            <p:spPr bwMode="auto">
              <a:xfrm>
                <a:off x="5234" y="2494"/>
                <a:ext cx="265" cy="0"/>
              </a:xfrm>
              <a:prstGeom prst="line">
                <a:avLst/>
              </a:prstGeom>
              <a:noFill/>
              <a:ln w="18732">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26" name="Freeform 21"/>
              <p:cNvSpPr>
                <a:spLocks/>
              </p:cNvSpPr>
              <p:nvPr/>
            </p:nvSpPr>
            <p:spPr bwMode="auto">
              <a:xfrm>
                <a:off x="4947" y="3109"/>
                <a:ext cx="72" cy="239"/>
              </a:xfrm>
              <a:custGeom>
                <a:avLst/>
                <a:gdLst>
                  <a:gd name="T0" fmla="*/ 0 w 100"/>
                  <a:gd name="T1" fmla="*/ 380 h 381"/>
                  <a:gd name="T2" fmla="*/ 99 w 100"/>
                  <a:gd name="T3" fmla="*/ 317 h 381"/>
                  <a:gd name="T4" fmla="*/ 0 w 100"/>
                  <a:gd name="T5" fmla="*/ 253 h 381"/>
                  <a:gd name="T6" fmla="*/ 99 w 100"/>
                  <a:gd name="T7" fmla="*/ 189 h 381"/>
                  <a:gd name="T8" fmla="*/ 0 w 100"/>
                  <a:gd name="T9" fmla="*/ 126 h 381"/>
                  <a:gd name="T10" fmla="*/ 99 w 100"/>
                  <a:gd name="T11" fmla="*/ 62 h 381"/>
                  <a:gd name="T12" fmla="*/ 0 w 100"/>
                  <a:gd name="T13" fmla="*/ 0 h 381"/>
                </a:gdLst>
                <a:ahLst/>
                <a:cxnLst>
                  <a:cxn ang="0">
                    <a:pos x="T0" y="T1"/>
                  </a:cxn>
                  <a:cxn ang="0">
                    <a:pos x="T2" y="T3"/>
                  </a:cxn>
                  <a:cxn ang="0">
                    <a:pos x="T4" y="T5"/>
                  </a:cxn>
                  <a:cxn ang="0">
                    <a:pos x="T6" y="T7"/>
                  </a:cxn>
                  <a:cxn ang="0">
                    <a:pos x="T8" y="T9"/>
                  </a:cxn>
                  <a:cxn ang="0">
                    <a:pos x="T10" y="T11"/>
                  </a:cxn>
                  <a:cxn ang="0">
                    <a:pos x="T12" y="T13"/>
                  </a:cxn>
                </a:cxnLst>
                <a:rect l="0" t="0" r="r" b="b"/>
                <a:pathLst>
                  <a:path w="100" h="381">
                    <a:moveTo>
                      <a:pt x="0" y="380"/>
                    </a:moveTo>
                    <a:lnTo>
                      <a:pt x="99" y="317"/>
                    </a:lnTo>
                    <a:lnTo>
                      <a:pt x="0" y="253"/>
                    </a:lnTo>
                    <a:lnTo>
                      <a:pt x="99" y="189"/>
                    </a:lnTo>
                    <a:lnTo>
                      <a:pt x="0" y="126"/>
                    </a:lnTo>
                    <a:lnTo>
                      <a:pt x="99" y="62"/>
                    </a:lnTo>
                    <a:lnTo>
                      <a:pt x="0" y="0"/>
                    </a:lnTo>
                  </a:path>
                </a:pathLst>
              </a:custGeom>
              <a:noFill/>
              <a:ln w="18732"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27" name="Line 22"/>
              <p:cNvSpPr>
                <a:spLocks noChangeShapeType="1"/>
              </p:cNvSpPr>
              <p:nvPr/>
            </p:nvSpPr>
            <p:spPr bwMode="auto">
              <a:xfrm>
                <a:off x="4969" y="2494"/>
                <a:ext cx="0" cy="231"/>
              </a:xfrm>
              <a:prstGeom prst="line">
                <a:avLst/>
              </a:prstGeom>
              <a:noFill/>
              <a:ln w="31234">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28" name="Freeform 23"/>
              <p:cNvSpPr>
                <a:spLocks/>
              </p:cNvSpPr>
              <p:nvPr/>
            </p:nvSpPr>
            <p:spPr bwMode="auto">
              <a:xfrm>
                <a:off x="4937" y="2727"/>
                <a:ext cx="72" cy="225"/>
              </a:xfrm>
              <a:custGeom>
                <a:avLst/>
                <a:gdLst>
                  <a:gd name="T0" fmla="*/ 0 w 99"/>
                  <a:gd name="T1" fmla="*/ 358 h 359"/>
                  <a:gd name="T2" fmla="*/ 98 w 99"/>
                  <a:gd name="T3" fmla="*/ 298 h 359"/>
                  <a:gd name="T4" fmla="*/ 0 w 99"/>
                  <a:gd name="T5" fmla="*/ 238 h 359"/>
                  <a:gd name="T6" fmla="*/ 98 w 99"/>
                  <a:gd name="T7" fmla="*/ 179 h 359"/>
                  <a:gd name="T8" fmla="*/ 0 w 99"/>
                  <a:gd name="T9" fmla="*/ 119 h 359"/>
                  <a:gd name="T10" fmla="*/ 98 w 99"/>
                  <a:gd name="T11" fmla="*/ 60 h 359"/>
                  <a:gd name="T12" fmla="*/ 0 w 99"/>
                  <a:gd name="T13" fmla="*/ 0 h 359"/>
                </a:gdLst>
                <a:ahLst/>
                <a:cxnLst>
                  <a:cxn ang="0">
                    <a:pos x="T0" y="T1"/>
                  </a:cxn>
                  <a:cxn ang="0">
                    <a:pos x="T2" y="T3"/>
                  </a:cxn>
                  <a:cxn ang="0">
                    <a:pos x="T4" y="T5"/>
                  </a:cxn>
                  <a:cxn ang="0">
                    <a:pos x="T6" y="T7"/>
                  </a:cxn>
                  <a:cxn ang="0">
                    <a:pos x="T8" y="T9"/>
                  </a:cxn>
                  <a:cxn ang="0">
                    <a:pos x="T10" y="T11"/>
                  </a:cxn>
                  <a:cxn ang="0">
                    <a:pos x="T12" y="T13"/>
                  </a:cxn>
                </a:cxnLst>
                <a:rect l="0" t="0" r="r" b="b"/>
                <a:pathLst>
                  <a:path w="99" h="359">
                    <a:moveTo>
                      <a:pt x="0" y="358"/>
                    </a:moveTo>
                    <a:lnTo>
                      <a:pt x="98" y="298"/>
                    </a:lnTo>
                    <a:lnTo>
                      <a:pt x="0" y="238"/>
                    </a:lnTo>
                    <a:lnTo>
                      <a:pt x="98" y="179"/>
                    </a:lnTo>
                    <a:lnTo>
                      <a:pt x="0" y="119"/>
                    </a:lnTo>
                    <a:lnTo>
                      <a:pt x="98" y="60"/>
                    </a:lnTo>
                    <a:lnTo>
                      <a:pt x="0" y="0"/>
                    </a:lnTo>
                  </a:path>
                </a:pathLst>
              </a:custGeom>
              <a:noFill/>
              <a:ln w="18732"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29" name="Line 24"/>
              <p:cNvSpPr>
                <a:spLocks noChangeShapeType="1"/>
              </p:cNvSpPr>
              <p:nvPr/>
            </p:nvSpPr>
            <p:spPr bwMode="auto">
              <a:xfrm>
                <a:off x="4969" y="2955"/>
                <a:ext cx="0" cy="153"/>
              </a:xfrm>
              <a:prstGeom prst="line">
                <a:avLst/>
              </a:prstGeom>
              <a:noFill/>
              <a:ln w="31234">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30" name="Line 25"/>
              <p:cNvSpPr>
                <a:spLocks noChangeShapeType="1"/>
              </p:cNvSpPr>
              <p:nvPr/>
            </p:nvSpPr>
            <p:spPr bwMode="auto">
              <a:xfrm>
                <a:off x="4703" y="3031"/>
                <a:ext cx="266" cy="0"/>
              </a:xfrm>
              <a:prstGeom prst="line">
                <a:avLst/>
              </a:prstGeom>
              <a:noFill/>
              <a:ln w="31234">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31" name="Line 26"/>
              <p:cNvSpPr>
                <a:spLocks noChangeShapeType="1"/>
              </p:cNvSpPr>
              <p:nvPr/>
            </p:nvSpPr>
            <p:spPr bwMode="auto">
              <a:xfrm>
                <a:off x="4703" y="2955"/>
                <a:ext cx="0" cy="153"/>
              </a:xfrm>
              <a:prstGeom prst="line">
                <a:avLst/>
              </a:prstGeom>
              <a:noFill/>
              <a:ln w="31234">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32" name="Line 27"/>
              <p:cNvSpPr>
                <a:spLocks noChangeShapeType="1"/>
              </p:cNvSpPr>
              <p:nvPr/>
            </p:nvSpPr>
            <p:spPr bwMode="auto">
              <a:xfrm>
                <a:off x="4350" y="3031"/>
                <a:ext cx="353" cy="0"/>
              </a:xfrm>
              <a:prstGeom prst="line">
                <a:avLst/>
              </a:prstGeom>
              <a:noFill/>
              <a:ln w="31234">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33" name="AutoShape 28"/>
              <p:cNvSpPr>
                <a:spLocks noChangeArrowheads="1"/>
              </p:cNvSpPr>
              <p:nvPr/>
            </p:nvSpPr>
            <p:spPr bwMode="auto">
              <a:xfrm flipV="1">
                <a:off x="4011" y="2878"/>
                <a:ext cx="354" cy="307"/>
              </a:xfrm>
              <a:prstGeom prst="roundRect">
                <a:avLst>
                  <a:gd name="adj" fmla="val 0"/>
                </a:avLst>
              </a:prstGeom>
              <a:noFill/>
              <a:ln w="18732">
                <a:solidFill>
                  <a:srgbClr val="4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34" name="Line 29"/>
              <p:cNvSpPr>
                <a:spLocks noChangeShapeType="1"/>
              </p:cNvSpPr>
              <p:nvPr/>
            </p:nvSpPr>
            <p:spPr bwMode="auto">
              <a:xfrm flipV="1">
                <a:off x="4172" y="2648"/>
                <a:ext cx="0" cy="230"/>
              </a:xfrm>
              <a:prstGeom prst="line">
                <a:avLst/>
              </a:prstGeom>
              <a:noFill/>
              <a:ln w="31234">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35" name="Text Box 30"/>
              <p:cNvSpPr txBox="1">
                <a:spLocks noChangeArrowheads="1"/>
              </p:cNvSpPr>
              <p:nvPr/>
            </p:nvSpPr>
            <p:spPr bwMode="auto">
              <a:xfrm>
                <a:off x="4062" y="2161"/>
                <a:ext cx="408" cy="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22275">
                  <a:defRPr>
                    <a:solidFill>
                      <a:schemeClr val="tx1"/>
                    </a:solidFill>
                    <a:latin typeface="Arial" panose="020B0604020202020204" pitchFamily="34" charset="0"/>
                    <a:ea typeface="宋体" panose="02010600030101010101" pitchFamily="2" charset="-122"/>
                  </a:defRPr>
                </a:lvl1pPr>
                <a:lvl2pPr marL="936625" indent="-506413" defTabSz="422275">
                  <a:defRPr>
                    <a:solidFill>
                      <a:schemeClr val="tx1"/>
                    </a:solidFill>
                    <a:latin typeface="Arial" panose="020B0604020202020204" pitchFamily="34" charset="0"/>
                    <a:ea typeface="宋体" panose="02010600030101010101" pitchFamily="2" charset="-122"/>
                  </a:defRPr>
                </a:lvl2pPr>
                <a:lvl3pPr marL="1589088" indent="-544513" defTabSz="422275">
                  <a:defRPr>
                    <a:solidFill>
                      <a:schemeClr val="tx1"/>
                    </a:solidFill>
                    <a:latin typeface="Arial" panose="020B0604020202020204" pitchFamily="34" charset="0"/>
                    <a:ea typeface="宋体" panose="02010600030101010101" pitchFamily="2" charset="-122"/>
                  </a:defRPr>
                </a:lvl3pPr>
                <a:lvl4pPr marL="1697038" defTabSz="422275">
                  <a:defRPr>
                    <a:solidFill>
                      <a:schemeClr val="tx1"/>
                    </a:solidFill>
                    <a:latin typeface="Arial" panose="020B0604020202020204" pitchFamily="34" charset="0"/>
                    <a:ea typeface="宋体" panose="02010600030101010101" pitchFamily="2" charset="-122"/>
                  </a:defRPr>
                </a:lvl4pPr>
                <a:lvl5pPr marL="1803400" defTabSz="422275">
                  <a:defRPr>
                    <a:solidFill>
                      <a:schemeClr val="tx1"/>
                    </a:solidFill>
                    <a:latin typeface="Arial" panose="020B0604020202020204" pitchFamily="34" charset="0"/>
                    <a:ea typeface="宋体" panose="02010600030101010101" pitchFamily="2" charset="-122"/>
                  </a:defRPr>
                </a:lvl5pPr>
                <a:lvl6pPr marL="22606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7178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1750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322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200" b="1" dirty="0">
                    <a:latin typeface="微软雅黑" panose="020B0503020204020204" pitchFamily="34" charset="-122"/>
                    <a:ea typeface="微软雅黑" panose="020B0503020204020204" pitchFamily="34" charset="-122"/>
                  </a:rPr>
                  <a:t>ALC</a:t>
                </a:r>
              </a:p>
            </p:txBody>
          </p:sp>
          <p:sp>
            <p:nvSpPr>
              <p:cNvPr id="36" name="Text Box 31"/>
              <p:cNvSpPr txBox="1">
                <a:spLocks noChangeArrowheads="1"/>
              </p:cNvSpPr>
              <p:nvPr/>
            </p:nvSpPr>
            <p:spPr bwMode="auto">
              <a:xfrm>
                <a:off x="4053" y="2919"/>
                <a:ext cx="417"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22275">
                  <a:defRPr>
                    <a:solidFill>
                      <a:schemeClr val="tx1"/>
                    </a:solidFill>
                    <a:latin typeface="Arial" panose="020B0604020202020204" pitchFamily="34" charset="0"/>
                    <a:ea typeface="宋体" panose="02010600030101010101" pitchFamily="2" charset="-122"/>
                  </a:defRPr>
                </a:lvl1pPr>
                <a:lvl2pPr marL="936625" indent="-506413" defTabSz="422275">
                  <a:defRPr>
                    <a:solidFill>
                      <a:schemeClr val="tx1"/>
                    </a:solidFill>
                    <a:latin typeface="Arial" panose="020B0604020202020204" pitchFamily="34" charset="0"/>
                    <a:ea typeface="宋体" panose="02010600030101010101" pitchFamily="2" charset="-122"/>
                  </a:defRPr>
                </a:lvl2pPr>
                <a:lvl3pPr marL="1589088" indent="-544513" defTabSz="422275">
                  <a:defRPr>
                    <a:solidFill>
                      <a:schemeClr val="tx1"/>
                    </a:solidFill>
                    <a:latin typeface="Arial" panose="020B0604020202020204" pitchFamily="34" charset="0"/>
                    <a:ea typeface="宋体" panose="02010600030101010101" pitchFamily="2" charset="-122"/>
                  </a:defRPr>
                </a:lvl3pPr>
                <a:lvl4pPr marL="1697038" defTabSz="422275">
                  <a:defRPr>
                    <a:solidFill>
                      <a:schemeClr val="tx1"/>
                    </a:solidFill>
                    <a:latin typeface="Arial" panose="020B0604020202020204" pitchFamily="34" charset="0"/>
                    <a:ea typeface="宋体" panose="02010600030101010101" pitchFamily="2" charset="-122"/>
                  </a:defRPr>
                </a:lvl4pPr>
                <a:lvl5pPr marL="1803400" defTabSz="422275">
                  <a:defRPr>
                    <a:solidFill>
                      <a:schemeClr val="tx1"/>
                    </a:solidFill>
                    <a:latin typeface="Arial" panose="020B0604020202020204" pitchFamily="34" charset="0"/>
                    <a:ea typeface="宋体" panose="02010600030101010101" pitchFamily="2" charset="-122"/>
                  </a:defRPr>
                </a:lvl5pPr>
                <a:lvl6pPr marL="22606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7178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1750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322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200" b="1" dirty="0">
                    <a:latin typeface="微软雅黑" panose="020B0503020204020204" pitchFamily="34" charset="-122"/>
                    <a:ea typeface="微软雅黑" panose="020B0503020204020204" pitchFamily="34" charset="-122"/>
                  </a:rPr>
                  <a:t>ALC</a:t>
                </a:r>
              </a:p>
              <a:p>
                <a:pPr eaLnBrk="0" hangingPunct="0">
                  <a:lnSpc>
                    <a:spcPct val="150000"/>
                  </a:lnSpc>
                  <a:buClr>
                    <a:srgbClr val="000000"/>
                  </a:buClr>
                  <a:buSzPct val="90000"/>
                  <a:buFont typeface="Monotype Sorts" pitchFamily="2" charset="2"/>
                  <a:buNone/>
                </a:pPr>
                <a:r>
                  <a:rPr lang="en-US" altLang="zh-CN" sz="1200" b="1" dirty="0">
                    <a:latin typeface="微软雅黑" panose="020B0503020204020204" pitchFamily="34" charset="-122"/>
                    <a:ea typeface="微软雅黑" panose="020B0503020204020204" pitchFamily="34" charset="-122"/>
                  </a:rPr>
                  <a:t>Driver</a:t>
                </a:r>
              </a:p>
            </p:txBody>
          </p:sp>
          <p:sp>
            <p:nvSpPr>
              <p:cNvPr id="37" name="Text Box 32"/>
              <p:cNvSpPr txBox="1">
                <a:spLocks noChangeArrowheads="1"/>
              </p:cNvSpPr>
              <p:nvPr/>
            </p:nvSpPr>
            <p:spPr bwMode="auto">
              <a:xfrm>
                <a:off x="3945" y="3324"/>
                <a:ext cx="613" cy="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22275">
                  <a:defRPr>
                    <a:solidFill>
                      <a:schemeClr val="tx1"/>
                    </a:solidFill>
                    <a:latin typeface="Arial" panose="020B0604020202020204" pitchFamily="34" charset="0"/>
                    <a:ea typeface="宋体" panose="02010600030101010101" pitchFamily="2" charset="-122"/>
                  </a:defRPr>
                </a:lvl1pPr>
                <a:lvl2pPr marL="936625" indent="-506413" defTabSz="422275">
                  <a:defRPr>
                    <a:solidFill>
                      <a:schemeClr val="tx1"/>
                    </a:solidFill>
                    <a:latin typeface="Arial" panose="020B0604020202020204" pitchFamily="34" charset="0"/>
                    <a:ea typeface="宋体" panose="02010600030101010101" pitchFamily="2" charset="-122"/>
                  </a:defRPr>
                </a:lvl2pPr>
                <a:lvl3pPr marL="1589088" indent="-544513" defTabSz="422275">
                  <a:defRPr>
                    <a:solidFill>
                      <a:schemeClr val="tx1"/>
                    </a:solidFill>
                    <a:latin typeface="Arial" panose="020B0604020202020204" pitchFamily="34" charset="0"/>
                    <a:ea typeface="宋体" panose="02010600030101010101" pitchFamily="2" charset="-122"/>
                  </a:defRPr>
                </a:lvl3pPr>
                <a:lvl4pPr marL="1697038" defTabSz="422275">
                  <a:defRPr>
                    <a:solidFill>
                      <a:schemeClr val="tx1"/>
                    </a:solidFill>
                    <a:latin typeface="Arial" panose="020B0604020202020204" pitchFamily="34" charset="0"/>
                    <a:ea typeface="宋体" panose="02010600030101010101" pitchFamily="2" charset="-122"/>
                  </a:defRPr>
                </a:lvl4pPr>
                <a:lvl5pPr marL="1803400" defTabSz="422275">
                  <a:defRPr>
                    <a:solidFill>
                      <a:schemeClr val="tx1"/>
                    </a:solidFill>
                    <a:latin typeface="Arial" panose="020B0604020202020204" pitchFamily="34" charset="0"/>
                    <a:ea typeface="宋体" panose="02010600030101010101" pitchFamily="2" charset="-122"/>
                  </a:defRPr>
                </a:lvl5pPr>
                <a:lvl6pPr marL="22606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7178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1750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322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400" b="1">
                    <a:latin typeface="微软雅黑" panose="020B0503020204020204" pitchFamily="34" charset="-122"/>
                    <a:ea typeface="微软雅黑" panose="020B0503020204020204" pitchFamily="34" charset="-122"/>
                  </a:rPr>
                  <a:t>ALC </a:t>
                </a:r>
                <a:r>
                  <a:rPr lang="zh-CN" altLang="en-US" sz="1400" b="1">
                    <a:latin typeface="微软雅黑" panose="020B0503020204020204" pitchFamily="34" charset="-122"/>
                    <a:ea typeface="微软雅黑" panose="020B0503020204020204" pitchFamily="34" charset="-122"/>
                  </a:rPr>
                  <a:t>检测</a:t>
                </a:r>
                <a:endParaRPr lang="zh-CN" altLang="en-US" sz="2300" b="1">
                  <a:latin typeface="微软雅黑" panose="020B0503020204020204" pitchFamily="34" charset="-122"/>
                  <a:ea typeface="微软雅黑" panose="020B0503020204020204" pitchFamily="34" charset="-122"/>
                </a:endParaRPr>
              </a:p>
            </p:txBody>
          </p:sp>
          <p:sp>
            <p:nvSpPr>
              <p:cNvPr id="38" name="Freeform 33"/>
              <p:cNvSpPr>
                <a:spLocks/>
              </p:cNvSpPr>
              <p:nvPr/>
            </p:nvSpPr>
            <p:spPr bwMode="auto">
              <a:xfrm>
                <a:off x="4880" y="3338"/>
                <a:ext cx="178" cy="154"/>
              </a:xfrm>
              <a:custGeom>
                <a:avLst/>
                <a:gdLst>
                  <a:gd name="T0" fmla="*/ 122 w 245"/>
                  <a:gd name="T1" fmla="*/ 0 h 245"/>
                  <a:gd name="T2" fmla="*/ 122 w 245"/>
                  <a:gd name="T3" fmla="*/ 122 h 245"/>
                  <a:gd name="T4" fmla="*/ 0 w 245"/>
                  <a:gd name="T5" fmla="*/ 122 h 245"/>
                  <a:gd name="T6" fmla="*/ 122 w 245"/>
                  <a:gd name="T7" fmla="*/ 244 h 245"/>
                  <a:gd name="T8" fmla="*/ 244 w 245"/>
                  <a:gd name="T9" fmla="*/ 122 h 245"/>
                  <a:gd name="T10" fmla="*/ 122 w 245"/>
                  <a:gd name="T11" fmla="*/ 122 h 245"/>
                </a:gdLst>
                <a:ahLst/>
                <a:cxnLst>
                  <a:cxn ang="0">
                    <a:pos x="T0" y="T1"/>
                  </a:cxn>
                  <a:cxn ang="0">
                    <a:pos x="T2" y="T3"/>
                  </a:cxn>
                  <a:cxn ang="0">
                    <a:pos x="T4" y="T5"/>
                  </a:cxn>
                  <a:cxn ang="0">
                    <a:pos x="T6" y="T7"/>
                  </a:cxn>
                  <a:cxn ang="0">
                    <a:pos x="T8" y="T9"/>
                  </a:cxn>
                  <a:cxn ang="0">
                    <a:pos x="T10" y="T11"/>
                  </a:cxn>
                </a:cxnLst>
                <a:rect l="0" t="0" r="r" b="b"/>
                <a:pathLst>
                  <a:path w="245" h="245">
                    <a:moveTo>
                      <a:pt x="122" y="0"/>
                    </a:moveTo>
                    <a:lnTo>
                      <a:pt x="122" y="122"/>
                    </a:lnTo>
                    <a:lnTo>
                      <a:pt x="0" y="122"/>
                    </a:lnTo>
                    <a:lnTo>
                      <a:pt x="122" y="244"/>
                    </a:lnTo>
                    <a:lnTo>
                      <a:pt x="244" y="122"/>
                    </a:lnTo>
                    <a:lnTo>
                      <a:pt x="122" y="122"/>
                    </a:lnTo>
                  </a:path>
                </a:pathLst>
              </a:custGeom>
              <a:noFill/>
              <a:ln w="31234"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39" name="Text Box 34"/>
              <p:cNvSpPr txBox="1">
                <a:spLocks noChangeArrowheads="1"/>
              </p:cNvSpPr>
              <p:nvPr/>
            </p:nvSpPr>
            <p:spPr bwMode="auto">
              <a:xfrm>
                <a:off x="5130" y="2688"/>
                <a:ext cx="497"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22275">
                  <a:defRPr>
                    <a:solidFill>
                      <a:schemeClr val="tx1"/>
                    </a:solidFill>
                    <a:latin typeface="Arial" panose="020B0604020202020204" pitchFamily="34" charset="0"/>
                    <a:ea typeface="宋体" panose="02010600030101010101" pitchFamily="2" charset="-122"/>
                  </a:defRPr>
                </a:lvl1pPr>
                <a:lvl2pPr marL="936625" indent="-506413" defTabSz="422275">
                  <a:defRPr>
                    <a:solidFill>
                      <a:schemeClr val="tx1"/>
                    </a:solidFill>
                    <a:latin typeface="Arial" panose="020B0604020202020204" pitchFamily="34" charset="0"/>
                    <a:ea typeface="宋体" panose="02010600030101010101" pitchFamily="2" charset="-122"/>
                  </a:defRPr>
                </a:lvl2pPr>
                <a:lvl3pPr marL="1589088" indent="-544513" defTabSz="422275">
                  <a:defRPr>
                    <a:solidFill>
                      <a:schemeClr val="tx1"/>
                    </a:solidFill>
                    <a:latin typeface="Arial" panose="020B0604020202020204" pitchFamily="34" charset="0"/>
                    <a:ea typeface="宋体" panose="02010600030101010101" pitchFamily="2" charset="-122"/>
                  </a:defRPr>
                </a:lvl3pPr>
                <a:lvl4pPr marL="1697038" defTabSz="422275">
                  <a:defRPr>
                    <a:solidFill>
                      <a:schemeClr val="tx1"/>
                    </a:solidFill>
                    <a:latin typeface="Arial" panose="020B0604020202020204" pitchFamily="34" charset="0"/>
                    <a:ea typeface="宋体" panose="02010600030101010101" pitchFamily="2" charset="-122"/>
                  </a:defRPr>
                </a:lvl4pPr>
                <a:lvl5pPr marL="1803400" defTabSz="422275">
                  <a:defRPr>
                    <a:solidFill>
                      <a:schemeClr val="tx1"/>
                    </a:solidFill>
                    <a:latin typeface="Arial" panose="020B0604020202020204" pitchFamily="34" charset="0"/>
                    <a:ea typeface="宋体" panose="02010600030101010101" pitchFamily="2" charset="-122"/>
                  </a:defRPr>
                </a:lvl5pPr>
                <a:lvl6pPr marL="22606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7178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1750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322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zh-CN" altLang="en-US" sz="1400" b="1" dirty="0">
                    <a:latin typeface="微软雅黑" panose="020B0503020204020204" pitchFamily="34" charset="-122"/>
                    <a:ea typeface="微软雅黑" panose="020B0503020204020204" pitchFamily="34" charset="-122"/>
                  </a:rPr>
                  <a:t>衰减器</a:t>
                </a:r>
                <a:endParaRPr lang="zh-CN" altLang="en-US" sz="2300" b="1" dirty="0">
                  <a:latin typeface="微软雅黑" panose="020B0503020204020204" pitchFamily="34" charset="-122"/>
                  <a:ea typeface="微软雅黑" panose="020B0503020204020204" pitchFamily="34" charset="-122"/>
                </a:endParaRPr>
              </a:p>
            </p:txBody>
          </p:sp>
          <p:sp>
            <p:nvSpPr>
              <p:cNvPr id="40" name="Line 35"/>
              <p:cNvSpPr>
                <a:spLocks noChangeShapeType="1"/>
              </p:cNvSpPr>
              <p:nvPr/>
            </p:nvSpPr>
            <p:spPr bwMode="auto">
              <a:xfrm flipV="1">
                <a:off x="4426" y="3070"/>
                <a:ext cx="88" cy="230"/>
              </a:xfrm>
              <a:prstGeom prst="line">
                <a:avLst/>
              </a:prstGeom>
              <a:noFill/>
              <a:ln w="31234">
                <a:solidFill>
                  <a:srgbClr val="808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41" name="Text Box 36"/>
              <p:cNvSpPr txBox="1">
                <a:spLocks noChangeArrowheads="1"/>
              </p:cNvSpPr>
              <p:nvPr/>
            </p:nvSpPr>
            <p:spPr bwMode="auto">
              <a:xfrm>
                <a:off x="3618" y="2528"/>
                <a:ext cx="232" cy="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22275">
                  <a:defRPr>
                    <a:solidFill>
                      <a:schemeClr val="tx1"/>
                    </a:solidFill>
                    <a:latin typeface="Arial" panose="020B0604020202020204" pitchFamily="34" charset="0"/>
                    <a:ea typeface="宋体" panose="02010600030101010101" pitchFamily="2" charset="-122"/>
                  </a:defRPr>
                </a:lvl1pPr>
                <a:lvl2pPr marL="936625" indent="-506413" defTabSz="422275">
                  <a:defRPr>
                    <a:solidFill>
                      <a:schemeClr val="tx1"/>
                    </a:solidFill>
                    <a:latin typeface="Arial" panose="020B0604020202020204" pitchFamily="34" charset="0"/>
                    <a:ea typeface="宋体" panose="02010600030101010101" pitchFamily="2" charset="-122"/>
                  </a:defRPr>
                </a:lvl2pPr>
                <a:lvl3pPr marL="1589088" indent="-544513" defTabSz="422275">
                  <a:defRPr>
                    <a:solidFill>
                      <a:schemeClr val="tx1"/>
                    </a:solidFill>
                    <a:latin typeface="Arial" panose="020B0604020202020204" pitchFamily="34" charset="0"/>
                    <a:ea typeface="宋体" panose="02010600030101010101" pitchFamily="2" charset="-122"/>
                  </a:defRPr>
                </a:lvl3pPr>
                <a:lvl4pPr marL="1697038" defTabSz="422275">
                  <a:defRPr>
                    <a:solidFill>
                      <a:schemeClr val="tx1"/>
                    </a:solidFill>
                    <a:latin typeface="Arial" panose="020B0604020202020204" pitchFamily="34" charset="0"/>
                    <a:ea typeface="宋体" panose="02010600030101010101" pitchFamily="2" charset="-122"/>
                  </a:defRPr>
                </a:lvl4pPr>
                <a:lvl5pPr marL="1803400" defTabSz="422275">
                  <a:defRPr>
                    <a:solidFill>
                      <a:schemeClr val="tx1"/>
                    </a:solidFill>
                    <a:latin typeface="Arial" panose="020B0604020202020204" pitchFamily="34" charset="0"/>
                    <a:ea typeface="宋体" panose="02010600030101010101" pitchFamily="2" charset="-122"/>
                  </a:defRPr>
                </a:lvl5pPr>
                <a:lvl6pPr marL="22606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7178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1750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322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zh-CN" altLang="en-US" sz="1400" b="1">
                    <a:solidFill>
                      <a:srgbClr val="C20000"/>
                    </a:solidFill>
                    <a:latin typeface="微软雅黑" panose="020B0503020204020204" pitchFamily="34" charset="-122"/>
                    <a:ea typeface="微软雅黑" panose="020B0503020204020204" pitchFamily="34" charset="-122"/>
                  </a:rPr>
                  <a:t>源</a:t>
                </a:r>
                <a:endParaRPr lang="zh-CN" altLang="en-US" sz="2300" b="1">
                  <a:latin typeface="微软雅黑" panose="020B0503020204020204" pitchFamily="34" charset="-122"/>
                  <a:ea typeface="微软雅黑" panose="020B0503020204020204" pitchFamily="34" charset="-122"/>
                </a:endParaRPr>
              </a:p>
            </p:txBody>
          </p:sp>
          <p:sp>
            <p:nvSpPr>
              <p:cNvPr id="42" name="Text Box 37"/>
              <p:cNvSpPr txBox="1">
                <a:spLocks noChangeArrowheads="1"/>
              </p:cNvSpPr>
              <p:nvPr/>
            </p:nvSpPr>
            <p:spPr bwMode="auto">
              <a:xfrm>
                <a:off x="3680" y="3492"/>
                <a:ext cx="1700"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22275">
                  <a:defRPr>
                    <a:solidFill>
                      <a:schemeClr val="tx1"/>
                    </a:solidFill>
                    <a:latin typeface="Arial" panose="020B0604020202020204" pitchFamily="34" charset="0"/>
                    <a:ea typeface="宋体" panose="02010600030101010101" pitchFamily="2" charset="-122"/>
                  </a:defRPr>
                </a:lvl1pPr>
                <a:lvl2pPr marL="936625" indent="-506413" defTabSz="422275">
                  <a:defRPr>
                    <a:solidFill>
                      <a:schemeClr val="tx1"/>
                    </a:solidFill>
                    <a:latin typeface="Arial" panose="020B0604020202020204" pitchFamily="34" charset="0"/>
                    <a:ea typeface="宋体" panose="02010600030101010101" pitchFamily="2" charset="-122"/>
                  </a:defRPr>
                </a:lvl2pPr>
                <a:lvl3pPr marL="1589088" indent="-544513" defTabSz="422275">
                  <a:defRPr>
                    <a:solidFill>
                      <a:schemeClr val="tx1"/>
                    </a:solidFill>
                    <a:latin typeface="Arial" panose="020B0604020202020204" pitchFamily="34" charset="0"/>
                    <a:ea typeface="宋体" panose="02010600030101010101" pitchFamily="2" charset="-122"/>
                  </a:defRPr>
                </a:lvl3pPr>
                <a:lvl4pPr marL="1697038" defTabSz="422275">
                  <a:defRPr>
                    <a:solidFill>
                      <a:schemeClr val="tx1"/>
                    </a:solidFill>
                    <a:latin typeface="Arial" panose="020B0604020202020204" pitchFamily="34" charset="0"/>
                    <a:ea typeface="宋体" panose="02010600030101010101" pitchFamily="2" charset="-122"/>
                  </a:defRPr>
                </a:lvl4pPr>
                <a:lvl5pPr marL="1803400" defTabSz="422275">
                  <a:defRPr>
                    <a:solidFill>
                      <a:schemeClr val="tx1"/>
                    </a:solidFill>
                    <a:latin typeface="Arial" panose="020B0604020202020204" pitchFamily="34" charset="0"/>
                    <a:ea typeface="宋体" panose="02010600030101010101" pitchFamily="2" charset="-122"/>
                  </a:defRPr>
                </a:lvl5pPr>
                <a:lvl6pPr marL="22606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7178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1750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32200" defTabSz="4222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400" b="1">
                    <a:solidFill>
                      <a:srgbClr val="C20000"/>
                    </a:solidFill>
                    <a:latin typeface="微软雅黑" panose="020B0503020204020204" pitchFamily="34" charset="-122"/>
                    <a:ea typeface="微软雅黑" panose="020B0503020204020204" pitchFamily="34" charset="-122"/>
                  </a:rPr>
                  <a:t>ALC = </a:t>
                </a:r>
                <a:r>
                  <a:rPr lang="zh-CN" altLang="en-US" sz="1400" b="1">
                    <a:solidFill>
                      <a:srgbClr val="C20000"/>
                    </a:solidFill>
                    <a:latin typeface="微软雅黑" panose="020B0503020204020204" pitchFamily="34" charset="-122"/>
                    <a:ea typeface="微软雅黑" panose="020B0503020204020204" pitchFamily="34" charset="-122"/>
                  </a:rPr>
                  <a:t>自动电平控制 </a:t>
                </a:r>
              </a:p>
              <a:p>
                <a:pPr eaLnBrk="0" hangingPunct="0">
                  <a:lnSpc>
                    <a:spcPct val="150000"/>
                  </a:lnSpc>
                  <a:buClr>
                    <a:srgbClr val="000000"/>
                  </a:buClr>
                  <a:buSzPct val="90000"/>
                  <a:buFont typeface="Monotype Sorts" pitchFamily="2" charset="2"/>
                  <a:buNone/>
                </a:pPr>
                <a:r>
                  <a:rPr lang="en-US" altLang="zh-CN" sz="1400" b="1">
                    <a:solidFill>
                      <a:srgbClr val="C20000"/>
                    </a:solidFill>
                    <a:latin typeface="微软雅黑" panose="020B0503020204020204" pitchFamily="34" charset="-122"/>
                    <a:ea typeface="微软雅黑" panose="020B0503020204020204" pitchFamily="34" charset="-122"/>
                  </a:rPr>
                  <a:t>(automatic level control)</a:t>
                </a:r>
                <a:endParaRPr lang="en-US" altLang="zh-CN" sz="2300" b="1">
                  <a:latin typeface="微软雅黑" panose="020B0503020204020204" pitchFamily="34" charset="-122"/>
                  <a:ea typeface="微软雅黑" panose="020B0503020204020204" pitchFamily="34" charset="-122"/>
                </a:endParaRPr>
              </a:p>
            </p:txBody>
          </p:sp>
        </p:grpSp>
        <p:sp>
          <p:nvSpPr>
            <p:cNvPr id="13" name="Text Box 38"/>
            <p:cNvSpPr txBox="1">
              <a:spLocks noChangeArrowheads="1"/>
            </p:cNvSpPr>
            <p:nvPr/>
          </p:nvSpPr>
          <p:spPr bwMode="auto">
            <a:xfrm>
              <a:off x="7834313" y="2687638"/>
              <a:ext cx="153888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0" hangingPunct="0">
                <a:lnSpc>
                  <a:spcPct val="150000"/>
                </a:lnSpc>
              </a:pPr>
              <a:r>
                <a:rPr lang="zh-CN" altLang="en-US" sz="2400" b="1" dirty="0">
                  <a:latin typeface="微软雅黑" panose="020B0503020204020204" pitchFamily="34" charset="-122"/>
                  <a:ea typeface="微软雅黑" panose="020B0503020204020204" pitchFamily="34" charset="-122"/>
                </a:rPr>
                <a:t>源功率控制</a:t>
              </a:r>
            </a:p>
          </p:txBody>
        </p:sp>
      </p:grpSp>
      <p:sp>
        <p:nvSpPr>
          <p:cNvPr id="43" name="Text Box 40"/>
          <p:cNvSpPr txBox="1">
            <a:spLocks noChangeArrowheads="1"/>
          </p:cNvSpPr>
          <p:nvPr/>
        </p:nvSpPr>
        <p:spPr bwMode="auto">
          <a:xfrm>
            <a:off x="5907099" y="3579890"/>
            <a:ext cx="1025518" cy="1477328"/>
          </a:xfrm>
          <a:prstGeom prst="rect">
            <a:avLst/>
          </a:prstGeom>
          <a:ln>
            <a:solidFill>
              <a:schemeClr val="bg1">
                <a:lumMod val="85000"/>
              </a:schemeClr>
            </a:solidFill>
          </a:ln>
          <a:extLst/>
        </p:spPr>
        <p:style>
          <a:lnRef idx="2">
            <a:schemeClr val="accent2"/>
          </a:lnRef>
          <a:fillRef idx="1">
            <a:schemeClr val="lt1"/>
          </a:fillRef>
          <a:effectRef idx="0">
            <a:schemeClr val="accent2"/>
          </a:effectRef>
          <a:fontRef idx="minor">
            <a:schemeClr val="dk1"/>
          </a:fontRef>
        </p:style>
        <p:txBody>
          <a:bodyPr wrap="square" lIns="0" tIns="0" rIns="0" bIns="0">
            <a:noAutofit/>
          </a:bodyPr>
          <a:lstStyle/>
          <a:p>
            <a:pPr eaLnBrk="0" hangingPunct="0">
              <a:lnSpc>
                <a:spcPct val="150000"/>
              </a:lnSpc>
            </a:pPr>
            <a:r>
              <a:rPr lang="en-US" altLang="zh-CN" sz="1300" b="1" dirty="0">
                <a:solidFill>
                  <a:srgbClr val="004098"/>
                </a:solidFill>
                <a:latin typeface="微软雅黑" panose="020B0503020204020204" pitchFamily="34" charset="-122"/>
                <a:ea typeface="微软雅黑" panose="020B0503020204020204" pitchFamily="34" charset="-122"/>
              </a:rPr>
              <a:t>Range1</a:t>
            </a:r>
          </a:p>
          <a:p>
            <a:pPr eaLnBrk="0" hangingPunct="0">
              <a:lnSpc>
                <a:spcPct val="150000"/>
              </a:lnSpc>
            </a:pPr>
            <a:r>
              <a:rPr lang="en-US" altLang="zh-CN" sz="1300" b="1" dirty="0">
                <a:solidFill>
                  <a:srgbClr val="004098"/>
                </a:solidFill>
                <a:latin typeface="微软雅黑" panose="020B0503020204020204" pitchFamily="34" charset="-122"/>
                <a:ea typeface="微软雅黑" panose="020B0503020204020204" pitchFamily="34" charset="-122"/>
              </a:rPr>
              <a:t>Range2</a:t>
            </a:r>
          </a:p>
          <a:p>
            <a:pPr eaLnBrk="0" hangingPunct="0">
              <a:lnSpc>
                <a:spcPct val="150000"/>
              </a:lnSpc>
            </a:pPr>
            <a:r>
              <a:rPr lang="en-US" altLang="zh-CN" sz="1300" b="1" dirty="0">
                <a:solidFill>
                  <a:srgbClr val="004098"/>
                </a:solidFill>
                <a:latin typeface="微软雅黑" panose="020B0503020204020204" pitchFamily="34" charset="-122"/>
                <a:ea typeface="微软雅黑" panose="020B0503020204020204" pitchFamily="34" charset="-122"/>
              </a:rPr>
              <a:t>Range3</a:t>
            </a:r>
          </a:p>
          <a:p>
            <a:pPr eaLnBrk="0" hangingPunct="0">
              <a:lnSpc>
                <a:spcPct val="150000"/>
              </a:lnSpc>
            </a:pPr>
            <a:r>
              <a:rPr lang="en-US" altLang="zh-CN" sz="1300" b="1" dirty="0">
                <a:solidFill>
                  <a:srgbClr val="004098"/>
                </a:solidFill>
                <a:latin typeface="微软雅黑" panose="020B0503020204020204" pitchFamily="34" charset="-122"/>
                <a:ea typeface="微软雅黑" panose="020B0503020204020204" pitchFamily="34" charset="-122"/>
              </a:rPr>
              <a:t>….</a:t>
            </a:r>
          </a:p>
        </p:txBody>
      </p:sp>
      <p:sp>
        <p:nvSpPr>
          <p:cNvPr id="44" name="Text Box 39"/>
          <p:cNvSpPr txBox="1">
            <a:spLocks noChangeArrowheads="1"/>
          </p:cNvSpPr>
          <p:nvPr/>
        </p:nvSpPr>
        <p:spPr bwMode="auto">
          <a:xfrm>
            <a:off x="1131069" y="1445152"/>
            <a:ext cx="4659312" cy="1938992"/>
          </a:xfrm>
          <a:prstGeom prst="rect">
            <a:avLst/>
          </a:prstGeom>
          <a:ln>
            <a:solidFill>
              <a:schemeClr val="bg1">
                <a:lumMod val="85000"/>
              </a:schemeClr>
            </a:solidFill>
          </a:ln>
          <a:extLst/>
        </p:spPr>
        <p:style>
          <a:lnRef idx="2">
            <a:schemeClr val="accent2"/>
          </a:lnRef>
          <a:fillRef idx="1">
            <a:schemeClr val="lt1"/>
          </a:fillRef>
          <a:effectRef idx="0">
            <a:schemeClr val="accent2"/>
          </a:effectRef>
          <a:fontRef idx="minor">
            <a:schemeClr val="dk1"/>
          </a:fontRef>
        </p:style>
        <p:txBody>
          <a:bodyPr wrap="square" lIns="0" tIns="0" rIns="0" bIns="0">
            <a:spAutoFit/>
          </a:bodyPr>
          <a:lstStyle/>
          <a:p>
            <a:pPr eaLnBrk="0" hangingPunct="0">
              <a:lnSpc>
                <a:spcPct val="150000"/>
              </a:lnSpc>
            </a:pPr>
            <a:r>
              <a:rPr lang="zh-CN" altLang="en-US" sz="2400" b="1" dirty="0" smtClean="0">
                <a:solidFill>
                  <a:schemeClr val="tx1"/>
                </a:solidFill>
                <a:latin typeface="微软雅黑" panose="020B0503020204020204" pitchFamily="34" charset="-122"/>
                <a:ea typeface="微软雅黑" panose="020B0503020204020204" pitchFamily="34" charset="-122"/>
              </a:rPr>
              <a:t>信号源</a:t>
            </a:r>
            <a:endParaRPr lang="en-US" altLang="zh-CN" sz="2400" b="1" dirty="0" smtClean="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eaLnBrk="0" hangingPunct="0">
              <a:lnSpc>
                <a:spcPct val="150000"/>
              </a:lnSpc>
              <a:buClr>
                <a:srgbClr val="000000"/>
              </a:buClr>
              <a:buSzPct val="46000"/>
              <a:buFont typeface="Monotype Sorts" pitchFamily="2" charset="2"/>
              <a:buChar char="l"/>
            </a:pPr>
            <a:r>
              <a:rPr lang="zh-CN" altLang="en-US" sz="2000" dirty="0">
                <a:solidFill>
                  <a:srgbClr val="004098"/>
                </a:solidFill>
                <a:latin typeface="微软雅黑" panose="020B0503020204020204" pitchFamily="34" charset="-122"/>
                <a:ea typeface="微软雅黑" panose="020B0503020204020204" pitchFamily="34" charset="-122"/>
              </a:rPr>
              <a:t>提供被测件激励信号</a:t>
            </a:r>
          </a:p>
          <a:p>
            <a:pPr eaLnBrk="0" hangingPunct="0">
              <a:lnSpc>
                <a:spcPct val="150000"/>
              </a:lnSpc>
              <a:buClr>
                <a:srgbClr val="000000"/>
              </a:buClr>
              <a:buSzPct val="46000"/>
              <a:buFont typeface="Monotype Sorts" pitchFamily="2" charset="2"/>
              <a:buChar char="l"/>
            </a:pPr>
            <a:r>
              <a:rPr lang="zh-CN" altLang="en-US" sz="2000" dirty="0">
                <a:solidFill>
                  <a:srgbClr val="004098"/>
                </a:solidFill>
                <a:latin typeface="微软雅黑" panose="020B0503020204020204" pitchFamily="34" charset="-122"/>
                <a:ea typeface="微软雅黑" panose="020B0503020204020204" pitchFamily="34" charset="-122"/>
              </a:rPr>
              <a:t>具备频率和功率扫描功能</a:t>
            </a:r>
          </a:p>
          <a:p>
            <a:pPr eaLnBrk="0" hangingPunct="0">
              <a:lnSpc>
                <a:spcPct val="150000"/>
              </a:lnSpc>
              <a:buClr>
                <a:srgbClr val="000000"/>
              </a:buClr>
              <a:buSzPct val="46000"/>
              <a:buFont typeface="Monotype Sorts" pitchFamily="2" charset="2"/>
              <a:buChar char="l"/>
            </a:pPr>
            <a:r>
              <a:rPr lang="zh-CN" altLang="en-US" sz="2000" dirty="0">
                <a:solidFill>
                  <a:srgbClr val="004098"/>
                </a:solidFill>
                <a:latin typeface="微软雅黑" panose="020B0503020204020204" pitchFamily="34" charset="-122"/>
                <a:ea typeface="微软雅黑" panose="020B0503020204020204" pitchFamily="34" charset="-122"/>
              </a:rPr>
              <a:t>合成源实现</a:t>
            </a:r>
          </a:p>
        </p:txBody>
      </p:sp>
    </p:spTree>
    <p:extLst>
      <p:ext uri="{BB962C8B-B14F-4D97-AF65-F5344CB8AC3E}">
        <p14:creationId xmlns:p14="http://schemas.microsoft.com/office/powerpoint/2010/main" val="2349764081"/>
      </p:ext>
    </p:extLst>
  </p:cSld>
  <p:clrMapOvr>
    <a:masterClrMapping/>
  </p:clrMapOvr>
  <p:transition spd="slow">
    <p:push dir="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信号分离装置</a:t>
            </a:r>
          </a:p>
        </p:txBody>
      </p:sp>
      <p:sp>
        <p:nvSpPr>
          <p:cNvPr id="196" name="内容占位符 195"/>
          <p:cNvSpPr>
            <a:spLocks noGrp="1"/>
          </p:cNvSpPr>
          <p:nvPr>
            <p:ph idx="1"/>
          </p:nvPr>
        </p:nvSpPr>
        <p:spPr/>
        <p:txBody>
          <a:bodyPr/>
          <a:lstStyle/>
          <a:p>
            <a:endParaRPr lang="zh-CN" altLang="en-US"/>
          </a:p>
        </p:txBody>
      </p:sp>
      <p:sp>
        <p:nvSpPr>
          <p:cNvPr id="197" name="日期占位符 196"/>
          <p:cNvSpPr>
            <a:spLocks noGrp="1"/>
          </p:cNvSpPr>
          <p:nvPr>
            <p:ph type="dt" sz="half" idx="10"/>
          </p:nvPr>
        </p:nvSpPr>
        <p:spPr/>
        <p:txBody>
          <a:bodyPr/>
          <a:lstStyle/>
          <a:p>
            <a:fld id="{583A126A-4428-42D7-8970-66684C14A02B}" type="datetime3">
              <a:rPr lang="zh-CN" altLang="en-US" smtClean="0"/>
              <a:t>2019年5月6日星期一</a:t>
            </a:fld>
            <a:endParaRPr lang="zh-CN" altLang="en-US"/>
          </a:p>
        </p:txBody>
      </p:sp>
      <p:sp>
        <p:nvSpPr>
          <p:cNvPr id="198" name="页脚占位符 197"/>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199" name="灯片编号占位符 198"/>
          <p:cNvSpPr>
            <a:spLocks noGrp="1"/>
          </p:cNvSpPr>
          <p:nvPr>
            <p:ph type="sldNum" sz="quarter" idx="12"/>
          </p:nvPr>
        </p:nvSpPr>
        <p:spPr/>
        <p:txBody>
          <a:bodyPr/>
          <a:lstStyle/>
          <a:p>
            <a:fld id="{D5BA5A3D-E723-4639-877B-B187790AC552}" type="slidenum">
              <a:rPr lang="zh-CN" altLang="en-US" smtClean="0"/>
              <a:pPr/>
              <a:t>13</a:t>
            </a:fld>
            <a:endParaRPr lang="zh-CN" altLang="en-US"/>
          </a:p>
        </p:txBody>
      </p:sp>
      <p:grpSp>
        <p:nvGrpSpPr>
          <p:cNvPr id="3" name="组合 2"/>
          <p:cNvGrpSpPr/>
          <p:nvPr/>
        </p:nvGrpSpPr>
        <p:grpSpPr>
          <a:xfrm>
            <a:off x="1024128" y="1645987"/>
            <a:ext cx="3380791" cy="5053158"/>
            <a:chOff x="1858964" y="841376"/>
            <a:chExt cx="3571874" cy="5338763"/>
          </a:xfrm>
        </p:grpSpPr>
        <p:grpSp>
          <p:nvGrpSpPr>
            <p:cNvPr id="4" name="Group 4"/>
            <p:cNvGrpSpPr>
              <a:grpSpLocks/>
            </p:cNvGrpSpPr>
            <p:nvPr/>
          </p:nvGrpSpPr>
          <p:grpSpPr bwMode="auto">
            <a:xfrm>
              <a:off x="1960564" y="841376"/>
              <a:ext cx="3108325" cy="1928813"/>
              <a:chOff x="558" y="1529"/>
              <a:chExt cx="2153" cy="1377"/>
            </a:xfrm>
          </p:grpSpPr>
          <p:sp>
            <p:nvSpPr>
              <p:cNvPr id="84" name="Text Box 5"/>
              <p:cNvSpPr txBox="1">
                <a:spLocks noChangeArrowheads="1"/>
              </p:cNvSpPr>
              <p:nvPr/>
            </p:nvSpPr>
            <p:spPr bwMode="auto">
              <a:xfrm>
                <a:off x="2386" y="1529"/>
                <a:ext cx="325"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1200">
                    <a:solidFill>
                      <a:srgbClr val="000000"/>
                    </a:solidFill>
                  </a:rPr>
                  <a:t>6 dB</a:t>
                </a:r>
                <a:endParaRPr lang="en-US" altLang="zh-CN" sz="2200">
                  <a:latin typeface="Times New Roman" panose="02020603050405020304" pitchFamily="18" charset="0"/>
                </a:endParaRPr>
              </a:p>
            </p:txBody>
          </p:sp>
          <p:sp>
            <p:nvSpPr>
              <p:cNvPr id="85" name="Text Box 6"/>
              <p:cNvSpPr txBox="1">
                <a:spLocks noChangeArrowheads="1"/>
              </p:cNvSpPr>
              <p:nvPr/>
            </p:nvSpPr>
            <p:spPr bwMode="auto">
              <a:xfrm>
                <a:off x="1635" y="1721"/>
                <a:ext cx="351"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1200">
                    <a:solidFill>
                      <a:srgbClr val="000000"/>
                    </a:solidFill>
                  </a:rPr>
                  <a:t>50 </a:t>
                </a:r>
                <a:r>
                  <a:rPr lang="en-US" altLang="zh-CN" sz="1200">
                    <a:solidFill>
                      <a:srgbClr val="000000"/>
                    </a:solidFill>
                    <a:latin typeface="Symbol" panose="05050102010706020507" pitchFamily="18" charset="2"/>
                  </a:rPr>
                  <a:t>W</a:t>
                </a:r>
                <a:endParaRPr lang="en-US" altLang="zh-CN" sz="2200">
                  <a:latin typeface="Times New Roman" panose="02020603050405020304" pitchFamily="18" charset="0"/>
                </a:endParaRPr>
              </a:p>
            </p:txBody>
          </p:sp>
          <p:sp>
            <p:nvSpPr>
              <p:cNvPr id="86" name="Freeform 7"/>
              <p:cNvSpPr>
                <a:spLocks/>
              </p:cNvSpPr>
              <p:nvPr/>
            </p:nvSpPr>
            <p:spPr bwMode="auto">
              <a:xfrm>
                <a:off x="1580" y="1665"/>
                <a:ext cx="700" cy="771"/>
              </a:xfrm>
              <a:custGeom>
                <a:avLst/>
                <a:gdLst>
                  <a:gd name="T0" fmla="*/ 0 w 700"/>
                  <a:gd name="T1" fmla="*/ 770 h 771"/>
                  <a:gd name="T2" fmla="*/ 472 w 700"/>
                  <a:gd name="T3" fmla="*/ 770 h 771"/>
                  <a:gd name="T4" fmla="*/ 699 w 700"/>
                  <a:gd name="T5" fmla="*/ 445 h 771"/>
                  <a:gd name="T6" fmla="*/ 699 w 700"/>
                  <a:gd name="T7" fmla="*/ 297 h 771"/>
                  <a:gd name="T8" fmla="*/ 473 w 700"/>
                  <a:gd name="T9" fmla="*/ 0 h 771"/>
                  <a:gd name="T10" fmla="*/ 0 w 700"/>
                  <a:gd name="T11" fmla="*/ 0 h 771"/>
                  <a:gd name="T12" fmla="*/ 0 w 700"/>
                  <a:gd name="T13" fmla="*/ 770 h 771"/>
                </a:gdLst>
                <a:ahLst/>
                <a:cxnLst>
                  <a:cxn ang="0">
                    <a:pos x="T0" y="T1"/>
                  </a:cxn>
                  <a:cxn ang="0">
                    <a:pos x="T2" y="T3"/>
                  </a:cxn>
                  <a:cxn ang="0">
                    <a:pos x="T4" y="T5"/>
                  </a:cxn>
                  <a:cxn ang="0">
                    <a:pos x="T6" y="T7"/>
                  </a:cxn>
                  <a:cxn ang="0">
                    <a:pos x="T8" y="T9"/>
                  </a:cxn>
                  <a:cxn ang="0">
                    <a:pos x="T10" y="T11"/>
                  </a:cxn>
                  <a:cxn ang="0">
                    <a:pos x="T12" y="T13"/>
                  </a:cxn>
                </a:cxnLst>
                <a:rect l="0" t="0" r="r" b="b"/>
                <a:pathLst>
                  <a:path w="700" h="771">
                    <a:moveTo>
                      <a:pt x="0" y="770"/>
                    </a:moveTo>
                    <a:lnTo>
                      <a:pt x="472" y="770"/>
                    </a:lnTo>
                    <a:lnTo>
                      <a:pt x="699" y="445"/>
                    </a:lnTo>
                    <a:lnTo>
                      <a:pt x="699" y="297"/>
                    </a:lnTo>
                    <a:lnTo>
                      <a:pt x="473" y="0"/>
                    </a:lnTo>
                    <a:lnTo>
                      <a:pt x="0" y="0"/>
                    </a:lnTo>
                    <a:lnTo>
                      <a:pt x="0" y="770"/>
                    </a:lnTo>
                  </a:path>
                </a:pathLst>
              </a:custGeom>
              <a:noFill/>
              <a:ln w="317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87" name="Freeform 8"/>
              <p:cNvSpPr>
                <a:spLocks/>
              </p:cNvSpPr>
              <p:nvPr/>
            </p:nvSpPr>
            <p:spPr bwMode="auto">
              <a:xfrm>
                <a:off x="1832" y="1729"/>
                <a:ext cx="523" cy="672"/>
              </a:xfrm>
              <a:custGeom>
                <a:avLst/>
                <a:gdLst>
                  <a:gd name="T0" fmla="*/ 522 w 523"/>
                  <a:gd name="T1" fmla="*/ 671 h 672"/>
                  <a:gd name="T2" fmla="*/ 297 w 523"/>
                  <a:gd name="T3" fmla="*/ 671 h 672"/>
                  <a:gd name="T4" fmla="*/ 206 w 523"/>
                  <a:gd name="T5" fmla="*/ 577 h 672"/>
                  <a:gd name="T6" fmla="*/ 204 w 523"/>
                  <a:gd name="T7" fmla="*/ 578 h 672"/>
                  <a:gd name="T8" fmla="*/ 218 w 523"/>
                  <a:gd name="T9" fmla="*/ 527 h 672"/>
                  <a:gd name="T10" fmla="*/ 145 w 523"/>
                  <a:gd name="T11" fmla="*/ 572 h 672"/>
                  <a:gd name="T12" fmla="*/ 191 w 523"/>
                  <a:gd name="T13" fmla="*/ 476 h 672"/>
                  <a:gd name="T14" fmla="*/ 114 w 523"/>
                  <a:gd name="T15" fmla="*/ 529 h 672"/>
                  <a:gd name="T16" fmla="*/ 153 w 523"/>
                  <a:gd name="T17" fmla="*/ 440 h 672"/>
                  <a:gd name="T18" fmla="*/ 80 w 523"/>
                  <a:gd name="T19" fmla="*/ 493 h 672"/>
                  <a:gd name="T20" fmla="*/ 115 w 523"/>
                  <a:gd name="T21" fmla="*/ 404 h 672"/>
                  <a:gd name="T22" fmla="*/ 48 w 523"/>
                  <a:gd name="T23" fmla="*/ 449 h 672"/>
                  <a:gd name="T24" fmla="*/ 61 w 523"/>
                  <a:gd name="T25" fmla="*/ 385 h 672"/>
                  <a:gd name="T26" fmla="*/ 57 w 523"/>
                  <a:gd name="T27" fmla="*/ 385 h 672"/>
                  <a:gd name="T28" fmla="*/ 0 w 523"/>
                  <a:gd name="T29" fmla="*/ 323 h 672"/>
                  <a:gd name="T30" fmla="*/ 67 w 523"/>
                  <a:gd name="T31" fmla="*/ 235 h 672"/>
                  <a:gd name="T32" fmla="*/ 122 w 523"/>
                  <a:gd name="T33" fmla="*/ 253 h 672"/>
                  <a:gd name="T34" fmla="*/ 67 w 523"/>
                  <a:gd name="T35" fmla="*/ 181 h 672"/>
                  <a:gd name="T36" fmla="*/ 159 w 523"/>
                  <a:gd name="T37" fmla="*/ 223 h 672"/>
                  <a:gd name="T38" fmla="*/ 102 w 523"/>
                  <a:gd name="T39" fmla="*/ 141 h 672"/>
                  <a:gd name="T40" fmla="*/ 191 w 523"/>
                  <a:gd name="T41" fmla="*/ 181 h 672"/>
                  <a:gd name="T42" fmla="*/ 130 w 523"/>
                  <a:gd name="T43" fmla="*/ 97 h 672"/>
                  <a:gd name="T44" fmla="*/ 218 w 523"/>
                  <a:gd name="T45" fmla="*/ 137 h 672"/>
                  <a:gd name="T46" fmla="*/ 166 w 523"/>
                  <a:gd name="T47" fmla="*/ 57 h 672"/>
                  <a:gd name="T48" fmla="*/ 218 w 523"/>
                  <a:gd name="T49" fmla="*/ 75 h 672"/>
                  <a:gd name="T50" fmla="*/ 221 w 523"/>
                  <a:gd name="T51" fmla="*/ 73 h 672"/>
                  <a:gd name="T52" fmla="*/ 290 w 523"/>
                  <a:gd name="T53" fmla="*/ 0 h 672"/>
                  <a:gd name="T54" fmla="*/ 520 w 523"/>
                  <a:gd name="T55"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23" h="672">
                    <a:moveTo>
                      <a:pt x="522" y="671"/>
                    </a:moveTo>
                    <a:lnTo>
                      <a:pt x="297" y="671"/>
                    </a:lnTo>
                    <a:lnTo>
                      <a:pt x="206" y="577"/>
                    </a:lnTo>
                    <a:lnTo>
                      <a:pt x="204" y="578"/>
                    </a:lnTo>
                    <a:lnTo>
                      <a:pt x="218" y="527"/>
                    </a:lnTo>
                    <a:lnTo>
                      <a:pt x="145" y="572"/>
                    </a:lnTo>
                    <a:lnTo>
                      <a:pt x="191" y="476"/>
                    </a:lnTo>
                    <a:lnTo>
                      <a:pt x="114" y="529"/>
                    </a:lnTo>
                    <a:lnTo>
                      <a:pt x="153" y="440"/>
                    </a:lnTo>
                    <a:lnTo>
                      <a:pt x="80" y="493"/>
                    </a:lnTo>
                    <a:lnTo>
                      <a:pt x="115" y="404"/>
                    </a:lnTo>
                    <a:lnTo>
                      <a:pt x="48" y="449"/>
                    </a:lnTo>
                    <a:lnTo>
                      <a:pt x="61" y="385"/>
                    </a:lnTo>
                    <a:lnTo>
                      <a:pt x="57" y="385"/>
                    </a:lnTo>
                    <a:lnTo>
                      <a:pt x="0" y="323"/>
                    </a:lnTo>
                    <a:lnTo>
                      <a:pt x="67" y="235"/>
                    </a:lnTo>
                    <a:lnTo>
                      <a:pt x="122" y="253"/>
                    </a:lnTo>
                    <a:lnTo>
                      <a:pt x="67" y="181"/>
                    </a:lnTo>
                    <a:lnTo>
                      <a:pt x="159" y="223"/>
                    </a:lnTo>
                    <a:lnTo>
                      <a:pt x="102" y="141"/>
                    </a:lnTo>
                    <a:lnTo>
                      <a:pt x="191" y="181"/>
                    </a:lnTo>
                    <a:lnTo>
                      <a:pt x="130" y="97"/>
                    </a:lnTo>
                    <a:lnTo>
                      <a:pt x="218" y="137"/>
                    </a:lnTo>
                    <a:lnTo>
                      <a:pt x="166" y="57"/>
                    </a:lnTo>
                    <a:lnTo>
                      <a:pt x="218" y="75"/>
                    </a:lnTo>
                    <a:lnTo>
                      <a:pt x="221" y="73"/>
                    </a:lnTo>
                    <a:lnTo>
                      <a:pt x="290" y="0"/>
                    </a:lnTo>
                    <a:lnTo>
                      <a:pt x="520"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88" name="Text Box 9"/>
              <p:cNvSpPr txBox="1">
                <a:spLocks noChangeArrowheads="1"/>
              </p:cNvSpPr>
              <p:nvPr/>
            </p:nvSpPr>
            <p:spPr bwMode="auto">
              <a:xfrm>
                <a:off x="1635" y="2239"/>
                <a:ext cx="295"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1200">
                    <a:solidFill>
                      <a:srgbClr val="000000"/>
                    </a:solidFill>
                  </a:rPr>
                  <a:t>50 </a:t>
                </a:r>
                <a:r>
                  <a:rPr lang="en-US" altLang="zh-CN" sz="1200">
                    <a:solidFill>
                      <a:srgbClr val="000000"/>
                    </a:solidFill>
                    <a:latin typeface="Symbol" panose="05050102010706020507" pitchFamily="18" charset="2"/>
                  </a:rPr>
                  <a:t>W</a:t>
                </a:r>
                <a:endParaRPr lang="en-US" altLang="zh-CN" sz="2200">
                  <a:latin typeface="Times New Roman" panose="02020603050405020304" pitchFamily="18" charset="0"/>
                </a:endParaRPr>
              </a:p>
            </p:txBody>
          </p:sp>
          <p:sp>
            <p:nvSpPr>
              <p:cNvPr id="89" name="Text Box 10"/>
              <p:cNvSpPr txBox="1">
                <a:spLocks noChangeArrowheads="1"/>
              </p:cNvSpPr>
              <p:nvPr/>
            </p:nvSpPr>
            <p:spPr bwMode="auto">
              <a:xfrm>
                <a:off x="2394" y="2202"/>
                <a:ext cx="293"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1200">
                    <a:solidFill>
                      <a:srgbClr val="000000"/>
                    </a:solidFill>
                  </a:rPr>
                  <a:t>6 dB</a:t>
                </a:r>
                <a:endParaRPr lang="en-US" altLang="zh-CN" sz="2200">
                  <a:latin typeface="Times New Roman" panose="02020603050405020304" pitchFamily="18" charset="0"/>
                </a:endParaRPr>
              </a:p>
            </p:txBody>
          </p:sp>
          <p:grpSp>
            <p:nvGrpSpPr>
              <p:cNvPr id="90" name="Group 11"/>
              <p:cNvGrpSpPr>
                <a:grpSpLocks/>
              </p:cNvGrpSpPr>
              <p:nvPr/>
            </p:nvGrpSpPr>
            <p:grpSpPr bwMode="auto">
              <a:xfrm>
                <a:off x="558" y="2182"/>
                <a:ext cx="416" cy="724"/>
                <a:chOff x="558" y="2182"/>
                <a:chExt cx="416" cy="724"/>
              </a:xfrm>
            </p:grpSpPr>
            <p:sp>
              <p:nvSpPr>
                <p:cNvPr id="92" name="Oval 12"/>
                <p:cNvSpPr>
                  <a:spLocks noChangeArrowheads="1"/>
                </p:cNvSpPr>
                <p:nvPr/>
              </p:nvSpPr>
              <p:spPr bwMode="auto">
                <a:xfrm>
                  <a:off x="558" y="2182"/>
                  <a:ext cx="416" cy="416"/>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93" name="Freeform 13"/>
                <p:cNvSpPr>
                  <a:spLocks/>
                </p:cNvSpPr>
                <p:nvPr/>
              </p:nvSpPr>
              <p:spPr bwMode="auto">
                <a:xfrm>
                  <a:off x="654" y="2291"/>
                  <a:ext cx="227" cy="197"/>
                </a:xfrm>
                <a:custGeom>
                  <a:avLst/>
                  <a:gdLst>
                    <a:gd name="T0" fmla="*/ 2 w 227"/>
                    <a:gd name="T1" fmla="*/ 92 h 197"/>
                    <a:gd name="T2" fmla="*/ 7 w 227"/>
                    <a:gd name="T3" fmla="*/ 79 h 197"/>
                    <a:gd name="T4" fmla="*/ 12 w 227"/>
                    <a:gd name="T5" fmla="*/ 68 h 197"/>
                    <a:gd name="T6" fmla="*/ 17 w 227"/>
                    <a:gd name="T7" fmla="*/ 56 h 197"/>
                    <a:gd name="T8" fmla="*/ 21 w 227"/>
                    <a:gd name="T9" fmla="*/ 45 h 197"/>
                    <a:gd name="T10" fmla="*/ 25 w 227"/>
                    <a:gd name="T11" fmla="*/ 35 h 197"/>
                    <a:gd name="T12" fmla="*/ 28 w 227"/>
                    <a:gd name="T13" fmla="*/ 28 h 197"/>
                    <a:gd name="T14" fmla="*/ 34 w 227"/>
                    <a:gd name="T15" fmla="*/ 18 h 197"/>
                    <a:gd name="T16" fmla="*/ 39 w 227"/>
                    <a:gd name="T17" fmla="*/ 11 h 197"/>
                    <a:gd name="T18" fmla="*/ 44 w 227"/>
                    <a:gd name="T19" fmla="*/ 7 h 197"/>
                    <a:gd name="T20" fmla="*/ 48 w 227"/>
                    <a:gd name="T21" fmla="*/ 3 h 197"/>
                    <a:gd name="T22" fmla="*/ 52 w 227"/>
                    <a:gd name="T23" fmla="*/ 0 h 197"/>
                    <a:gd name="T24" fmla="*/ 57 w 227"/>
                    <a:gd name="T25" fmla="*/ 0 h 197"/>
                    <a:gd name="T26" fmla="*/ 62 w 227"/>
                    <a:gd name="T27" fmla="*/ 0 h 197"/>
                    <a:gd name="T28" fmla="*/ 66 w 227"/>
                    <a:gd name="T29" fmla="*/ 2 h 197"/>
                    <a:gd name="T30" fmla="*/ 70 w 227"/>
                    <a:gd name="T31" fmla="*/ 7 h 197"/>
                    <a:gd name="T32" fmla="*/ 75 w 227"/>
                    <a:gd name="T33" fmla="*/ 11 h 197"/>
                    <a:gd name="T34" fmla="*/ 80 w 227"/>
                    <a:gd name="T35" fmla="*/ 18 h 197"/>
                    <a:gd name="T36" fmla="*/ 85 w 227"/>
                    <a:gd name="T37" fmla="*/ 28 h 197"/>
                    <a:gd name="T38" fmla="*/ 88 w 227"/>
                    <a:gd name="T39" fmla="*/ 35 h 197"/>
                    <a:gd name="T40" fmla="*/ 93 w 227"/>
                    <a:gd name="T41" fmla="*/ 45 h 197"/>
                    <a:gd name="T42" fmla="*/ 97 w 227"/>
                    <a:gd name="T43" fmla="*/ 56 h 197"/>
                    <a:gd name="T44" fmla="*/ 102 w 227"/>
                    <a:gd name="T45" fmla="*/ 68 h 197"/>
                    <a:gd name="T46" fmla="*/ 106 w 227"/>
                    <a:gd name="T47" fmla="*/ 79 h 197"/>
                    <a:gd name="T48" fmla="*/ 112 w 227"/>
                    <a:gd name="T49" fmla="*/ 92 h 197"/>
                    <a:gd name="T50" fmla="*/ 113 w 227"/>
                    <a:gd name="T51" fmla="*/ 97 h 197"/>
                    <a:gd name="T52" fmla="*/ 118 w 227"/>
                    <a:gd name="T53" fmla="*/ 110 h 197"/>
                    <a:gd name="T54" fmla="*/ 122 w 227"/>
                    <a:gd name="T55" fmla="*/ 122 h 197"/>
                    <a:gd name="T56" fmla="*/ 126 w 227"/>
                    <a:gd name="T57" fmla="*/ 133 h 197"/>
                    <a:gd name="T58" fmla="*/ 132 w 227"/>
                    <a:gd name="T59" fmla="*/ 145 h 197"/>
                    <a:gd name="T60" fmla="*/ 136 w 227"/>
                    <a:gd name="T61" fmla="*/ 156 h 197"/>
                    <a:gd name="T62" fmla="*/ 140 w 227"/>
                    <a:gd name="T63" fmla="*/ 165 h 197"/>
                    <a:gd name="T64" fmla="*/ 145 w 227"/>
                    <a:gd name="T65" fmla="*/ 173 h 197"/>
                    <a:gd name="T66" fmla="*/ 150 w 227"/>
                    <a:gd name="T67" fmla="*/ 181 h 197"/>
                    <a:gd name="T68" fmla="*/ 154 w 227"/>
                    <a:gd name="T69" fmla="*/ 186 h 197"/>
                    <a:gd name="T70" fmla="*/ 158 w 227"/>
                    <a:gd name="T71" fmla="*/ 191 h 197"/>
                    <a:gd name="T72" fmla="*/ 163 w 227"/>
                    <a:gd name="T73" fmla="*/ 194 h 197"/>
                    <a:gd name="T74" fmla="*/ 167 w 227"/>
                    <a:gd name="T75" fmla="*/ 196 h 197"/>
                    <a:gd name="T76" fmla="*/ 172 w 227"/>
                    <a:gd name="T77" fmla="*/ 196 h 197"/>
                    <a:gd name="T78" fmla="*/ 177 w 227"/>
                    <a:gd name="T79" fmla="*/ 194 h 197"/>
                    <a:gd name="T80" fmla="*/ 181 w 227"/>
                    <a:gd name="T81" fmla="*/ 191 h 197"/>
                    <a:gd name="T82" fmla="*/ 186 w 227"/>
                    <a:gd name="T83" fmla="*/ 186 h 197"/>
                    <a:gd name="T84" fmla="*/ 190 w 227"/>
                    <a:gd name="T85" fmla="*/ 181 h 197"/>
                    <a:gd name="T86" fmla="*/ 194 w 227"/>
                    <a:gd name="T87" fmla="*/ 173 h 197"/>
                    <a:gd name="T88" fmla="*/ 199 w 227"/>
                    <a:gd name="T89" fmla="*/ 165 h 197"/>
                    <a:gd name="T90" fmla="*/ 204 w 227"/>
                    <a:gd name="T91" fmla="*/ 156 h 197"/>
                    <a:gd name="T92" fmla="*/ 208 w 227"/>
                    <a:gd name="T93" fmla="*/ 145 h 197"/>
                    <a:gd name="T94" fmla="*/ 213 w 227"/>
                    <a:gd name="T95" fmla="*/ 134 h 197"/>
                    <a:gd name="T96" fmla="*/ 217 w 227"/>
                    <a:gd name="T97" fmla="*/ 122 h 197"/>
                    <a:gd name="T98" fmla="*/ 222 w 227"/>
                    <a:gd name="T99" fmla="*/ 110 h 197"/>
                    <a:gd name="T100" fmla="*/ 226 w 227"/>
                    <a:gd name="T101" fmla="*/ 9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27" h="197">
                      <a:moveTo>
                        <a:pt x="0" y="97"/>
                      </a:moveTo>
                      <a:lnTo>
                        <a:pt x="2" y="92"/>
                      </a:lnTo>
                      <a:lnTo>
                        <a:pt x="5" y="86"/>
                      </a:lnTo>
                      <a:lnTo>
                        <a:pt x="7" y="79"/>
                      </a:lnTo>
                      <a:lnTo>
                        <a:pt x="9" y="73"/>
                      </a:lnTo>
                      <a:lnTo>
                        <a:pt x="12" y="68"/>
                      </a:lnTo>
                      <a:lnTo>
                        <a:pt x="14" y="61"/>
                      </a:lnTo>
                      <a:lnTo>
                        <a:pt x="17" y="56"/>
                      </a:lnTo>
                      <a:lnTo>
                        <a:pt x="18" y="51"/>
                      </a:lnTo>
                      <a:lnTo>
                        <a:pt x="21" y="45"/>
                      </a:lnTo>
                      <a:lnTo>
                        <a:pt x="24" y="40"/>
                      </a:lnTo>
                      <a:lnTo>
                        <a:pt x="25" y="35"/>
                      </a:lnTo>
                      <a:lnTo>
                        <a:pt x="27" y="30"/>
                      </a:lnTo>
                      <a:lnTo>
                        <a:pt x="28" y="28"/>
                      </a:lnTo>
                      <a:lnTo>
                        <a:pt x="32" y="23"/>
                      </a:lnTo>
                      <a:lnTo>
                        <a:pt x="34" y="18"/>
                      </a:lnTo>
                      <a:lnTo>
                        <a:pt x="36" y="15"/>
                      </a:lnTo>
                      <a:lnTo>
                        <a:pt x="39" y="11"/>
                      </a:lnTo>
                      <a:lnTo>
                        <a:pt x="41" y="9"/>
                      </a:lnTo>
                      <a:lnTo>
                        <a:pt x="44" y="7"/>
                      </a:lnTo>
                      <a:lnTo>
                        <a:pt x="45" y="4"/>
                      </a:lnTo>
                      <a:lnTo>
                        <a:pt x="48" y="3"/>
                      </a:lnTo>
                      <a:lnTo>
                        <a:pt x="50" y="1"/>
                      </a:lnTo>
                      <a:lnTo>
                        <a:pt x="52" y="0"/>
                      </a:lnTo>
                      <a:lnTo>
                        <a:pt x="55" y="0"/>
                      </a:lnTo>
                      <a:lnTo>
                        <a:pt x="57" y="0"/>
                      </a:lnTo>
                      <a:lnTo>
                        <a:pt x="59" y="0"/>
                      </a:lnTo>
                      <a:lnTo>
                        <a:pt x="62" y="0"/>
                      </a:lnTo>
                      <a:lnTo>
                        <a:pt x="64" y="1"/>
                      </a:lnTo>
                      <a:lnTo>
                        <a:pt x="66" y="2"/>
                      </a:lnTo>
                      <a:lnTo>
                        <a:pt x="68" y="4"/>
                      </a:lnTo>
                      <a:lnTo>
                        <a:pt x="70" y="7"/>
                      </a:lnTo>
                      <a:lnTo>
                        <a:pt x="73" y="9"/>
                      </a:lnTo>
                      <a:lnTo>
                        <a:pt x="75" y="11"/>
                      </a:lnTo>
                      <a:lnTo>
                        <a:pt x="77" y="15"/>
                      </a:lnTo>
                      <a:lnTo>
                        <a:pt x="80" y="18"/>
                      </a:lnTo>
                      <a:lnTo>
                        <a:pt x="82" y="23"/>
                      </a:lnTo>
                      <a:lnTo>
                        <a:pt x="85" y="28"/>
                      </a:lnTo>
                      <a:lnTo>
                        <a:pt x="86" y="30"/>
                      </a:lnTo>
                      <a:lnTo>
                        <a:pt x="88" y="35"/>
                      </a:lnTo>
                      <a:lnTo>
                        <a:pt x="91" y="40"/>
                      </a:lnTo>
                      <a:lnTo>
                        <a:pt x="93" y="45"/>
                      </a:lnTo>
                      <a:lnTo>
                        <a:pt x="95" y="51"/>
                      </a:lnTo>
                      <a:lnTo>
                        <a:pt x="97" y="56"/>
                      </a:lnTo>
                      <a:lnTo>
                        <a:pt x="100" y="61"/>
                      </a:lnTo>
                      <a:lnTo>
                        <a:pt x="102" y="68"/>
                      </a:lnTo>
                      <a:lnTo>
                        <a:pt x="104" y="73"/>
                      </a:lnTo>
                      <a:lnTo>
                        <a:pt x="106" y="79"/>
                      </a:lnTo>
                      <a:lnTo>
                        <a:pt x="109" y="85"/>
                      </a:lnTo>
                      <a:lnTo>
                        <a:pt x="112" y="92"/>
                      </a:lnTo>
                      <a:lnTo>
                        <a:pt x="113" y="97"/>
                      </a:lnTo>
                      <a:lnTo>
                        <a:pt x="113" y="97"/>
                      </a:lnTo>
                      <a:lnTo>
                        <a:pt x="115" y="104"/>
                      </a:lnTo>
                      <a:lnTo>
                        <a:pt x="118" y="110"/>
                      </a:lnTo>
                      <a:lnTo>
                        <a:pt x="120" y="116"/>
                      </a:lnTo>
                      <a:lnTo>
                        <a:pt x="122" y="122"/>
                      </a:lnTo>
                      <a:lnTo>
                        <a:pt x="125" y="128"/>
                      </a:lnTo>
                      <a:lnTo>
                        <a:pt x="126" y="133"/>
                      </a:lnTo>
                      <a:lnTo>
                        <a:pt x="129" y="139"/>
                      </a:lnTo>
                      <a:lnTo>
                        <a:pt x="132" y="145"/>
                      </a:lnTo>
                      <a:lnTo>
                        <a:pt x="134" y="150"/>
                      </a:lnTo>
                      <a:lnTo>
                        <a:pt x="136" y="156"/>
                      </a:lnTo>
                      <a:lnTo>
                        <a:pt x="138" y="160"/>
                      </a:lnTo>
                      <a:lnTo>
                        <a:pt x="140" y="165"/>
                      </a:lnTo>
                      <a:lnTo>
                        <a:pt x="143" y="170"/>
                      </a:lnTo>
                      <a:lnTo>
                        <a:pt x="145" y="173"/>
                      </a:lnTo>
                      <a:lnTo>
                        <a:pt x="147" y="177"/>
                      </a:lnTo>
                      <a:lnTo>
                        <a:pt x="150" y="181"/>
                      </a:lnTo>
                      <a:lnTo>
                        <a:pt x="151" y="184"/>
                      </a:lnTo>
                      <a:lnTo>
                        <a:pt x="154" y="186"/>
                      </a:lnTo>
                      <a:lnTo>
                        <a:pt x="156" y="189"/>
                      </a:lnTo>
                      <a:lnTo>
                        <a:pt x="158" y="191"/>
                      </a:lnTo>
                      <a:lnTo>
                        <a:pt x="161" y="193"/>
                      </a:lnTo>
                      <a:lnTo>
                        <a:pt x="163" y="194"/>
                      </a:lnTo>
                      <a:lnTo>
                        <a:pt x="165" y="195"/>
                      </a:lnTo>
                      <a:lnTo>
                        <a:pt x="167" y="196"/>
                      </a:lnTo>
                      <a:lnTo>
                        <a:pt x="170" y="196"/>
                      </a:lnTo>
                      <a:lnTo>
                        <a:pt x="172" y="196"/>
                      </a:lnTo>
                      <a:lnTo>
                        <a:pt x="174" y="195"/>
                      </a:lnTo>
                      <a:lnTo>
                        <a:pt x="177" y="194"/>
                      </a:lnTo>
                      <a:lnTo>
                        <a:pt x="179" y="193"/>
                      </a:lnTo>
                      <a:lnTo>
                        <a:pt x="181" y="191"/>
                      </a:lnTo>
                      <a:lnTo>
                        <a:pt x="183" y="189"/>
                      </a:lnTo>
                      <a:lnTo>
                        <a:pt x="186" y="186"/>
                      </a:lnTo>
                      <a:lnTo>
                        <a:pt x="188" y="184"/>
                      </a:lnTo>
                      <a:lnTo>
                        <a:pt x="190" y="181"/>
                      </a:lnTo>
                      <a:lnTo>
                        <a:pt x="192" y="177"/>
                      </a:lnTo>
                      <a:lnTo>
                        <a:pt x="194" y="173"/>
                      </a:lnTo>
                      <a:lnTo>
                        <a:pt x="197" y="170"/>
                      </a:lnTo>
                      <a:lnTo>
                        <a:pt x="199" y="165"/>
                      </a:lnTo>
                      <a:lnTo>
                        <a:pt x="201" y="160"/>
                      </a:lnTo>
                      <a:lnTo>
                        <a:pt x="204" y="156"/>
                      </a:lnTo>
                      <a:lnTo>
                        <a:pt x="206" y="150"/>
                      </a:lnTo>
                      <a:lnTo>
                        <a:pt x="208" y="145"/>
                      </a:lnTo>
                      <a:lnTo>
                        <a:pt x="210" y="139"/>
                      </a:lnTo>
                      <a:lnTo>
                        <a:pt x="213" y="134"/>
                      </a:lnTo>
                      <a:lnTo>
                        <a:pt x="214" y="128"/>
                      </a:lnTo>
                      <a:lnTo>
                        <a:pt x="217" y="122"/>
                      </a:lnTo>
                      <a:lnTo>
                        <a:pt x="219" y="116"/>
                      </a:lnTo>
                      <a:lnTo>
                        <a:pt x="222" y="110"/>
                      </a:lnTo>
                      <a:lnTo>
                        <a:pt x="224" y="104"/>
                      </a:lnTo>
                      <a:lnTo>
                        <a:pt x="226" y="97"/>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94" name="Line 14"/>
                <p:cNvSpPr>
                  <a:spLocks noChangeShapeType="1"/>
                </p:cNvSpPr>
                <p:nvPr/>
              </p:nvSpPr>
              <p:spPr bwMode="auto">
                <a:xfrm>
                  <a:off x="720" y="2840"/>
                  <a:ext cx="51" cy="6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95" name="Line 15"/>
                <p:cNvSpPr>
                  <a:spLocks noChangeShapeType="1"/>
                </p:cNvSpPr>
                <p:nvPr/>
              </p:nvSpPr>
              <p:spPr bwMode="auto">
                <a:xfrm flipH="1">
                  <a:off x="772" y="2840"/>
                  <a:ext cx="52" cy="6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96" name="Line 16"/>
                <p:cNvSpPr>
                  <a:spLocks noChangeShapeType="1"/>
                </p:cNvSpPr>
                <p:nvPr/>
              </p:nvSpPr>
              <p:spPr bwMode="auto">
                <a:xfrm>
                  <a:off x="720" y="2837"/>
                  <a:ext cx="10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97" name="Line 17"/>
                <p:cNvSpPr>
                  <a:spLocks noChangeShapeType="1"/>
                </p:cNvSpPr>
                <p:nvPr/>
              </p:nvSpPr>
              <p:spPr bwMode="auto">
                <a:xfrm>
                  <a:off x="770" y="2601"/>
                  <a:ext cx="0" cy="23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grpSp>
          <p:sp>
            <p:nvSpPr>
              <p:cNvPr id="91" name="Freeform 18"/>
              <p:cNvSpPr>
                <a:spLocks/>
              </p:cNvSpPr>
              <p:nvPr/>
            </p:nvSpPr>
            <p:spPr bwMode="auto">
              <a:xfrm>
                <a:off x="767" y="2053"/>
                <a:ext cx="1068" cy="129"/>
              </a:xfrm>
              <a:custGeom>
                <a:avLst/>
                <a:gdLst>
                  <a:gd name="T0" fmla="*/ 0 w 1068"/>
                  <a:gd name="T1" fmla="*/ 128 h 129"/>
                  <a:gd name="T2" fmla="*/ 0 w 1068"/>
                  <a:gd name="T3" fmla="*/ 0 h 129"/>
                  <a:gd name="T4" fmla="*/ 1067 w 1068"/>
                  <a:gd name="T5" fmla="*/ 0 h 129"/>
                </a:gdLst>
                <a:ahLst/>
                <a:cxnLst>
                  <a:cxn ang="0">
                    <a:pos x="T0" y="T1"/>
                  </a:cxn>
                  <a:cxn ang="0">
                    <a:pos x="T2" y="T3"/>
                  </a:cxn>
                  <a:cxn ang="0">
                    <a:pos x="T4" y="T5"/>
                  </a:cxn>
                </a:cxnLst>
                <a:rect l="0" t="0" r="r" b="b"/>
                <a:pathLst>
                  <a:path w="1068" h="129">
                    <a:moveTo>
                      <a:pt x="0" y="128"/>
                    </a:moveTo>
                    <a:lnTo>
                      <a:pt x="0" y="0"/>
                    </a:lnTo>
                    <a:lnTo>
                      <a:pt x="1067"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grpSp>
        <p:grpSp>
          <p:nvGrpSpPr>
            <p:cNvPr id="5" name="Group 20"/>
            <p:cNvGrpSpPr>
              <a:grpSpLocks/>
            </p:cNvGrpSpPr>
            <p:nvPr/>
          </p:nvGrpSpPr>
          <p:grpSpPr bwMode="auto">
            <a:xfrm>
              <a:off x="3052764" y="2894013"/>
              <a:ext cx="1825625" cy="952500"/>
              <a:chOff x="994" y="3218"/>
              <a:chExt cx="1265" cy="680"/>
            </a:xfrm>
          </p:grpSpPr>
          <p:sp>
            <p:nvSpPr>
              <p:cNvPr id="70" name="Freeform 21"/>
              <p:cNvSpPr>
                <a:spLocks/>
              </p:cNvSpPr>
              <p:nvPr/>
            </p:nvSpPr>
            <p:spPr bwMode="auto">
              <a:xfrm>
                <a:off x="1137" y="3218"/>
                <a:ext cx="978" cy="571"/>
              </a:xfrm>
              <a:custGeom>
                <a:avLst/>
                <a:gdLst>
                  <a:gd name="T0" fmla="*/ 977 w 978"/>
                  <a:gd name="T1" fmla="*/ 344 h 571"/>
                  <a:gd name="T2" fmla="*/ 746 w 978"/>
                  <a:gd name="T3" fmla="*/ 344 h 571"/>
                  <a:gd name="T4" fmla="*/ 746 w 978"/>
                  <a:gd name="T5" fmla="*/ 570 h 571"/>
                  <a:gd name="T6" fmla="*/ 563 w 978"/>
                  <a:gd name="T7" fmla="*/ 570 h 571"/>
                  <a:gd name="T8" fmla="*/ 563 w 978"/>
                  <a:gd name="T9" fmla="*/ 344 h 571"/>
                  <a:gd name="T10" fmla="*/ 0 w 978"/>
                  <a:gd name="T11" fmla="*/ 344 h 571"/>
                  <a:gd name="T12" fmla="*/ 0 w 978"/>
                  <a:gd name="T13" fmla="*/ 0 h 571"/>
                  <a:gd name="T14" fmla="*/ 977 w 978"/>
                  <a:gd name="T15" fmla="*/ 0 h 571"/>
                  <a:gd name="T16" fmla="*/ 977 w 978"/>
                  <a:gd name="T17" fmla="*/ 344 h 571"/>
                  <a:gd name="T18" fmla="*/ 977 w 978"/>
                  <a:gd name="T19" fmla="*/ 344 h 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8" h="571">
                    <a:moveTo>
                      <a:pt x="977" y="344"/>
                    </a:moveTo>
                    <a:lnTo>
                      <a:pt x="746" y="344"/>
                    </a:lnTo>
                    <a:lnTo>
                      <a:pt x="746" y="570"/>
                    </a:lnTo>
                    <a:lnTo>
                      <a:pt x="563" y="570"/>
                    </a:lnTo>
                    <a:lnTo>
                      <a:pt x="563" y="344"/>
                    </a:lnTo>
                    <a:lnTo>
                      <a:pt x="0" y="344"/>
                    </a:lnTo>
                    <a:lnTo>
                      <a:pt x="0" y="0"/>
                    </a:lnTo>
                    <a:lnTo>
                      <a:pt x="977" y="0"/>
                    </a:lnTo>
                    <a:lnTo>
                      <a:pt x="977" y="344"/>
                    </a:lnTo>
                    <a:lnTo>
                      <a:pt x="977" y="344"/>
                    </a:lnTo>
                  </a:path>
                </a:pathLst>
              </a:custGeom>
              <a:solidFill>
                <a:srgbClr val="FFFFFF"/>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grpSp>
            <p:nvGrpSpPr>
              <p:cNvPr id="71" name="Group 22"/>
              <p:cNvGrpSpPr>
                <a:grpSpLocks/>
              </p:cNvGrpSpPr>
              <p:nvPr/>
            </p:nvGrpSpPr>
            <p:grpSpPr bwMode="auto">
              <a:xfrm>
                <a:off x="1511" y="3336"/>
                <a:ext cx="132" cy="102"/>
                <a:chOff x="1511" y="3336"/>
                <a:chExt cx="132" cy="102"/>
              </a:xfrm>
            </p:grpSpPr>
            <p:sp>
              <p:nvSpPr>
                <p:cNvPr id="78" name="Line 23"/>
                <p:cNvSpPr>
                  <a:spLocks noChangeShapeType="1"/>
                </p:cNvSpPr>
                <p:nvPr/>
              </p:nvSpPr>
              <p:spPr bwMode="auto">
                <a:xfrm flipH="1" flipV="1">
                  <a:off x="1528" y="3348"/>
                  <a:ext cx="98" cy="7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79" name="Freeform 24"/>
                <p:cNvSpPr>
                  <a:spLocks/>
                </p:cNvSpPr>
                <p:nvPr/>
              </p:nvSpPr>
              <p:spPr bwMode="auto">
                <a:xfrm>
                  <a:off x="1616" y="3416"/>
                  <a:ext cx="27" cy="22"/>
                </a:xfrm>
                <a:custGeom>
                  <a:avLst/>
                  <a:gdLst>
                    <a:gd name="T0" fmla="*/ 26 w 27"/>
                    <a:gd name="T1" fmla="*/ 21 h 22"/>
                    <a:gd name="T2" fmla="*/ 10 w 27"/>
                    <a:gd name="T3" fmla="*/ 0 h 22"/>
                    <a:gd name="T4" fmla="*/ 10 w 27"/>
                    <a:gd name="T5" fmla="*/ 8 h 22"/>
                    <a:gd name="T6" fmla="*/ 0 w 27"/>
                    <a:gd name="T7" fmla="*/ 8 h 22"/>
                    <a:gd name="T8" fmla="*/ 26 w 27"/>
                    <a:gd name="T9" fmla="*/ 21 h 22"/>
                    <a:gd name="T10" fmla="*/ 26 w 27"/>
                    <a:gd name="T11" fmla="*/ 21 h 22"/>
                  </a:gdLst>
                  <a:ahLst/>
                  <a:cxnLst>
                    <a:cxn ang="0">
                      <a:pos x="T0" y="T1"/>
                    </a:cxn>
                    <a:cxn ang="0">
                      <a:pos x="T2" y="T3"/>
                    </a:cxn>
                    <a:cxn ang="0">
                      <a:pos x="T4" y="T5"/>
                    </a:cxn>
                    <a:cxn ang="0">
                      <a:pos x="T6" y="T7"/>
                    </a:cxn>
                    <a:cxn ang="0">
                      <a:pos x="T8" y="T9"/>
                    </a:cxn>
                    <a:cxn ang="0">
                      <a:pos x="T10" y="T11"/>
                    </a:cxn>
                  </a:cxnLst>
                  <a:rect l="0" t="0" r="r" b="b"/>
                  <a:pathLst>
                    <a:path w="27" h="22">
                      <a:moveTo>
                        <a:pt x="26" y="21"/>
                      </a:moveTo>
                      <a:lnTo>
                        <a:pt x="10" y="0"/>
                      </a:lnTo>
                      <a:lnTo>
                        <a:pt x="10" y="8"/>
                      </a:lnTo>
                      <a:lnTo>
                        <a:pt x="0" y="8"/>
                      </a:lnTo>
                      <a:lnTo>
                        <a:pt x="26" y="21"/>
                      </a:lnTo>
                      <a:lnTo>
                        <a:pt x="26" y="21"/>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80" name="Freeform 25"/>
                <p:cNvSpPr>
                  <a:spLocks/>
                </p:cNvSpPr>
                <p:nvPr/>
              </p:nvSpPr>
              <p:spPr bwMode="auto">
                <a:xfrm>
                  <a:off x="1511" y="3336"/>
                  <a:ext cx="28" cy="22"/>
                </a:xfrm>
                <a:custGeom>
                  <a:avLst/>
                  <a:gdLst>
                    <a:gd name="T0" fmla="*/ 0 w 28"/>
                    <a:gd name="T1" fmla="*/ 0 h 22"/>
                    <a:gd name="T2" fmla="*/ 17 w 28"/>
                    <a:gd name="T3" fmla="*/ 21 h 22"/>
                    <a:gd name="T4" fmla="*/ 17 w 28"/>
                    <a:gd name="T5" fmla="*/ 12 h 22"/>
                    <a:gd name="T6" fmla="*/ 27 w 28"/>
                    <a:gd name="T7" fmla="*/ 12 h 22"/>
                    <a:gd name="T8" fmla="*/ 0 w 28"/>
                    <a:gd name="T9" fmla="*/ 0 h 22"/>
                    <a:gd name="T10" fmla="*/ 0 w 28"/>
                    <a:gd name="T11" fmla="*/ 0 h 22"/>
                  </a:gdLst>
                  <a:ahLst/>
                  <a:cxnLst>
                    <a:cxn ang="0">
                      <a:pos x="T0" y="T1"/>
                    </a:cxn>
                    <a:cxn ang="0">
                      <a:pos x="T2" y="T3"/>
                    </a:cxn>
                    <a:cxn ang="0">
                      <a:pos x="T4" y="T5"/>
                    </a:cxn>
                    <a:cxn ang="0">
                      <a:pos x="T6" y="T7"/>
                    </a:cxn>
                    <a:cxn ang="0">
                      <a:pos x="T8" y="T9"/>
                    </a:cxn>
                    <a:cxn ang="0">
                      <a:pos x="T10" y="T11"/>
                    </a:cxn>
                  </a:cxnLst>
                  <a:rect l="0" t="0" r="r" b="b"/>
                  <a:pathLst>
                    <a:path w="28" h="22">
                      <a:moveTo>
                        <a:pt x="0" y="0"/>
                      </a:moveTo>
                      <a:lnTo>
                        <a:pt x="17" y="21"/>
                      </a:lnTo>
                      <a:lnTo>
                        <a:pt x="17" y="12"/>
                      </a:lnTo>
                      <a:lnTo>
                        <a:pt x="27" y="12"/>
                      </a:lnTo>
                      <a:lnTo>
                        <a:pt x="0" y="0"/>
                      </a:lnTo>
                      <a:lnTo>
                        <a:pt x="0" y="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81" name="Line 26"/>
                <p:cNvSpPr>
                  <a:spLocks noChangeShapeType="1"/>
                </p:cNvSpPr>
                <p:nvPr/>
              </p:nvSpPr>
              <p:spPr bwMode="auto">
                <a:xfrm flipV="1">
                  <a:off x="1528" y="3348"/>
                  <a:ext cx="98" cy="7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82" name="Freeform 27"/>
                <p:cNvSpPr>
                  <a:spLocks/>
                </p:cNvSpPr>
                <p:nvPr/>
              </p:nvSpPr>
              <p:spPr bwMode="auto">
                <a:xfrm>
                  <a:off x="1511" y="3416"/>
                  <a:ext cx="28" cy="22"/>
                </a:xfrm>
                <a:custGeom>
                  <a:avLst/>
                  <a:gdLst>
                    <a:gd name="T0" fmla="*/ 0 w 28"/>
                    <a:gd name="T1" fmla="*/ 21 h 22"/>
                    <a:gd name="T2" fmla="*/ 27 w 28"/>
                    <a:gd name="T3" fmla="*/ 8 h 22"/>
                    <a:gd name="T4" fmla="*/ 17 w 28"/>
                    <a:gd name="T5" fmla="*/ 8 h 22"/>
                    <a:gd name="T6" fmla="*/ 17 w 28"/>
                    <a:gd name="T7" fmla="*/ 0 h 22"/>
                    <a:gd name="T8" fmla="*/ 0 w 28"/>
                    <a:gd name="T9" fmla="*/ 21 h 22"/>
                    <a:gd name="T10" fmla="*/ 0 w 28"/>
                    <a:gd name="T11" fmla="*/ 21 h 22"/>
                  </a:gdLst>
                  <a:ahLst/>
                  <a:cxnLst>
                    <a:cxn ang="0">
                      <a:pos x="T0" y="T1"/>
                    </a:cxn>
                    <a:cxn ang="0">
                      <a:pos x="T2" y="T3"/>
                    </a:cxn>
                    <a:cxn ang="0">
                      <a:pos x="T4" y="T5"/>
                    </a:cxn>
                    <a:cxn ang="0">
                      <a:pos x="T6" y="T7"/>
                    </a:cxn>
                    <a:cxn ang="0">
                      <a:pos x="T8" y="T9"/>
                    </a:cxn>
                    <a:cxn ang="0">
                      <a:pos x="T10" y="T11"/>
                    </a:cxn>
                  </a:cxnLst>
                  <a:rect l="0" t="0" r="r" b="b"/>
                  <a:pathLst>
                    <a:path w="28" h="22">
                      <a:moveTo>
                        <a:pt x="0" y="21"/>
                      </a:moveTo>
                      <a:lnTo>
                        <a:pt x="27" y="8"/>
                      </a:lnTo>
                      <a:lnTo>
                        <a:pt x="17" y="8"/>
                      </a:lnTo>
                      <a:lnTo>
                        <a:pt x="17" y="0"/>
                      </a:lnTo>
                      <a:lnTo>
                        <a:pt x="0" y="21"/>
                      </a:lnTo>
                      <a:lnTo>
                        <a:pt x="0" y="21"/>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83" name="Freeform 28"/>
                <p:cNvSpPr>
                  <a:spLocks/>
                </p:cNvSpPr>
                <p:nvPr/>
              </p:nvSpPr>
              <p:spPr bwMode="auto">
                <a:xfrm>
                  <a:off x="1616" y="3336"/>
                  <a:ext cx="27" cy="22"/>
                </a:xfrm>
                <a:custGeom>
                  <a:avLst/>
                  <a:gdLst>
                    <a:gd name="T0" fmla="*/ 26 w 27"/>
                    <a:gd name="T1" fmla="*/ 0 h 22"/>
                    <a:gd name="T2" fmla="*/ 0 w 27"/>
                    <a:gd name="T3" fmla="*/ 12 h 22"/>
                    <a:gd name="T4" fmla="*/ 10 w 27"/>
                    <a:gd name="T5" fmla="*/ 12 h 22"/>
                    <a:gd name="T6" fmla="*/ 10 w 27"/>
                    <a:gd name="T7" fmla="*/ 21 h 22"/>
                    <a:gd name="T8" fmla="*/ 26 w 27"/>
                    <a:gd name="T9" fmla="*/ 0 h 22"/>
                    <a:gd name="T10" fmla="*/ 26 w 27"/>
                    <a:gd name="T11" fmla="*/ 0 h 22"/>
                  </a:gdLst>
                  <a:ahLst/>
                  <a:cxnLst>
                    <a:cxn ang="0">
                      <a:pos x="T0" y="T1"/>
                    </a:cxn>
                    <a:cxn ang="0">
                      <a:pos x="T2" y="T3"/>
                    </a:cxn>
                    <a:cxn ang="0">
                      <a:pos x="T4" y="T5"/>
                    </a:cxn>
                    <a:cxn ang="0">
                      <a:pos x="T6" y="T7"/>
                    </a:cxn>
                    <a:cxn ang="0">
                      <a:pos x="T8" y="T9"/>
                    </a:cxn>
                    <a:cxn ang="0">
                      <a:pos x="T10" y="T11"/>
                    </a:cxn>
                  </a:cxnLst>
                  <a:rect l="0" t="0" r="r" b="b"/>
                  <a:pathLst>
                    <a:path w="27" h="22">
                      <a:moveTo>
                        <a:pt x="26" y="0"/>
                      </a:moveTo>
                      <a:lnTo>
                        <a:pt x="0" y="12"/>
                      </a:lnTo>
                      <a:lnTo>
                        <a:pt x="10" y="12"/>
                      </a:lnTo>
                      <a:lnTo>
                        <a:pt x="10" y="21"/>
                      </a:lnTo>
                      <a:lnTo>
                        <a:pt x="26" y="0"/>
                      </a:lnTo>
                      <a:lnTo>
                        <a:pt x="26" y="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grpSp>
          <p:sp>
            <p:nvSpPr>
              <p:cNvPr id="72" name="Freeform 29"/>
              <p:cNvSpPr>
                <a:spLocks/>
              </p:cNvSpPr>
              <p:nvPr/>
            </p:nvSpPr>
            <p:spPr bwMode="auto">
              <a:xfrm>
                <a:off x="1221" y="3402"/>
                <a:ext cx="43" cy="95"/>
              </a:xfrm>
              <a:custGeom>
                <a:avLst/>
                <a:gdLst>
                  <a:gd name="T0" fmla="*/ 17 w 43"/>
                  <a:gd name="T1" fmla="*/ 94 h 95"/>
                  <a:gd name="T2" fmla="*/ 0 w 43"/>
                  <a:gd name="T3" fmla="*/ 86 h 95"/>
                  <a:gd name="T4" fmla="*/ 42 w 43"/>
                  <a:gd name="T5" fmla="*/ 72 h 95"/>
                  <a:gd name="T6" fmla="*/ 1 w 43"/>
                  <a:gd name="T7" fmla="*/ 56 h 95"/>
                  <a:gd name="T8" fmla="*/ 42 w 43"/>
                  <a:gd name="T9" fmla="*/ 40 h 95"/>
                  <a:gd name="T10" fmla="*/ 1 w 43"/>
                  <a:gd name="T11" fmla="*/ 25 h 95"/>
                  <a:gd name="T12" fmla="*/ 42 w 43"/>
                  <a:gd name="T13" fmla="*/ 10 h 95"/>
                  <a:gd name="T14" fmla="*/ 17 w 43"/>
                  <a:gd name="T15" fmla="*/ 0 h 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95">
                    <a:moveTo>
                      <a:pt x="17" y="94"/>
                    </a:moveTo>
                    <a:lnTo>
                      <a:pt x="0" y="86"/>
                    </a:lnTo>
                    <a:lnTo>
                      <a:pt x="42" y="72"/>
                    </a:lnTo>
                    <a:lnTo>
                      <a:pt x="1" y="56"/>
                    </a:lnTo>
                    <a:lnTo>
                      <a:pt x="42" y="40"/>
                    </a:lnTo>
                    <a:lnTo>
                      <a:pt x="1" y="25"/>
                    </a:lnTo>
                    <a:lnTo>
                      <a:pt x="42" y="10"/>
                    </a:lnTo>
                    <a:lnTo>
                      <a:pt x="17"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73" name="Freeform 30"/>
              <p:cNvSpPr>
                <a:spLocks/>
              </p:cNvSpPr>
              <p:nvPr/>
            </p:nvSpPr>
            <p:spPr bwMode="auto">
              <a:xfrm>
                <a:off x="1314" y="3451"/>
                <a:ext cx="478" cy="440"/>
              </a:xfrm>
              <a:custGeom>
                <a:avLst/>
                <a:gdLst>
                  <a:gd name="T0" fmla="*/ 0 w 478"/>
                  <a:gd name="T1" fmla="*/ 0 h 440"/>
                  <a:gd name="T2" fmla="*/ 477 w 478"/>
                  <a:gd name="T3" fmla="*/ 0 h 440"/>
                  <a:gd name="T4" fmla="*/ 477 w 478"/>
                  <a:gd name="T5" fmla="*/ 439 h 440"/>
                </a:gdLst>
                <a:ahLst/>
                <a:cxnLst>
                  <a:cxn ang="0">
                    <a:pos x="T0" y="T1"/>
                  </a:cxn>
                  <a:cxn ang="0">
                    <a:pos x="T2" y="T3"/>
                  </a:cxn>
                  <a:cxn ang="0">
                    <a:pos x="T4" y="T5"/>
                  </a:cxn>
                </a:cxnLst>
                <a:rect l="0" t="0" r="r" b="b"/>
                <a:pathLst>
                  <a:path w="478" h="440">
                    <a:moveTo>
                      <a:pt x="0" y="0"/>
                    </a:moveTo>
                    <a:lnTo>
                      <a:pt x="477" y="0"/>
                    </a:lnTo>
                    <a:lnTo>
                      <a:pt x="477" y="439"/>
                    </a:lnTo>
                  </a:path>
                </a:pathLst>
              </a:custGeom>
              <a:noFill/>
              <a:ln w="317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74" name="Line 31"/>
              <p:cNvSpPr>
                <a:spLocks noChangeShapeType="1"/>
              </p:cNvSpPr>
              <p:nvPr/>
            </p:nvSpPr>
            <p:spPr bwMode="auto">
              <a:xfrm>
                <a:off x="995" y="3321"/>
                <a:ext cx="1264" cy="0"/>
              </a:xfrm>
              <a:prstGeom prst="line">
                <a:avLst/>
              </a:prstGeom>
              <a:noFill/>
              <a:ln w="317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75" name="Line 32"/>
              <p:cNvSpPr>
                <a:spLocks noChangeShapeType="1"/>
              </p:cNvSpPr>
              <p:nvPr/>
            </p:nvSpPr>
            <p:spPr bwMode="auto">
              <a:xfrm flipV="1">
                <a:off x="2259" y="3280"/>
                <a:ext cx="0" cy="81"/>
              </a:xfrm>
              <a:prstGeom prst="line">
                <a:avLst/>
              </a:prstGeom>
              <a:noFill/>
              <a:ln w="476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76" name="Line 33"/>
              <p:cNvSpPr>
                <a:spLocks noChangeShapeType="1"/>
              </p:cNvSpPr>
              <p:nvPr/>
            </p:nvSpPr>
            <p:spPr bwMode="auto">
              <a:xfrm flipV="1">
                <a:off x="994" y="3280"/>
                <a:ext cx="0" cy="81"/>
              </a:xfrm>
              <a:prstGeom prst="line">
                <a:avLst/>
              </a:prstGeom>
              <a:noFill/>
              <a:ln w="476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77" name="Line 34"/>
              <p:cNvSpPr>
                <a:spLocks noChangeShapeType="1"/>
              </p:cNvSpPr>
              <p:nvPr/>
            </p:nvSpPr>
            <p:spPr bwMode="auto">
              <a:xfrm flipH="1">
                <a:off x="1741" y="3898"/>
                <a:ext cx="105" cy="0"/>
              </a:xfrm>
              <a:prstGeom prst="line">
                <a:avLst/>
              </a:prstGeom>
              <a:noFill/>
              <a:ln w="476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grpSp>
        <p:grpSp>
          <p:nvGrpSpPr>
            <p:cNvPr id="6" name="Group 35"/>
            <p:cNvGrpSpPr>
              <a:grpSpLocks/>
            </p:cNvGrpSpPr>
            <p:nvPr/>
          </p:nvGrpSpPr>
          <p:grpSpPr bwMode="auto">
            <a:xfrm>
              <a:off x="1858964" y="3222626"/>
              <a:ext cx="600075" cy="1014413"/>
              <a:chOff x="167" y="3452"/>
              <a:chExt cx="416" cy="724"/>
            </a:xfrm>
          </p:grpSpPr>
          <p:grpSp>
            <p:nvGrpSpPr>
              <p:cNvPr id="62" name="Group 36"/>
              <p:cNvGrpSpPr>
                <a:grpSpLocks/>
              </p:cNvGrpSpPr>
              <p:nvPr/>
            </p:nvGrpSpPr>
            <p:grpSpPr bwMode="auto">
              <a:xfrm>
                <a:off x="167" y="3452"/>
                <a:ext cx="416" cy="416"/>
                <a:chOff x="167" y="3452"/>
                <a:chExt cx="416" cy="416"/>
              </a:xfrm>
            </p:grpSpPr>
            <p:sp>
              <p:nvSpPr>
                <p:cNvPr id="68" name="Oval 37"/>
                <p:cNvSpPr>
                  <a:spLocks noChangeArrowheads="1"/>
                </p:cNvSpPr>
                <p:nvPr/>
              </p:nvSpPr>
              <p:spPr bwMode="auto">
                <a:xfrm>
                  <a:off x="167" y="3452"/>
                  <a:ext cx="416" cy="416"/>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9" name="Freeform 38"/>
                <p:cNvSpPr>
                  <a:spLocks/>
                </p:cNvSpPr>
                <p:nvPr/>
              </p:nvSpPr>
              <p:spPr bwMode="auto">
                <a:xfrm>
                  <a:off x="263" y="3560"/>
                  <a:ext cx="226" cy="198"/>
                </a:xfrm>
                <a:custGeom>
                  <a:avLst/>
                  <a:gdLst>
                    <a:gd name="T0" fmla="*/ 2 w 226"/>
                    <a:gd name="T1" fmla="*/ 93 h 198"/>
                    <a:gd name="T2" fmla="*/ 7 w 226"/>
                    <a:gd name="T3" fmla="*/ 80 h 198"/>
                    <a:gd name="T4" fmla="*/ 12 w 226"/>
                    <a:gd name="T5" fmla="*/ 68 h 198"/>
                    <a:gd name="T6" fmla="*/ 16 w 226"/>
                    <a:gd name="T7" fmla="*/ 57 h 198"/>
                    <a:gd name="T8" fmla="*/ 21 w 226"/>
                    <a:gd name="T9" fmla="*/ 46 h 198"/>
                    <a:gd name="T10" fmla="*/ 25 w 226"/>
                    <a:gd name="T11" fmla="*/ 36 h 198"/>
                    <a:gd name="T12" fmla="*/ 28 w 226"/>
                    <a:gd name="T13" fmla="*/ 28 h 198"/>
                    <a:gd name="T14" fmla="*/ 34 w 226"/>
                    <a:gd name="T15" fmla="*/ 19 h 198"/>
                    <a:gd name="T16" fmla="*/ 39 w 226"/>
                    <a:gd name="T17" fmla="*/ 12 h 198"/>
                    <a:gd name="T18" fmla="*/ 43 w 226"/>
                    <a:gd name="T19" fmla="*/ 8 h 198"/>
                    <a:gd name="T20" fmla="*/ 48 w 226"/>
                    <a:gd name="T21" fmla="*/ 4 h 198"/>
                    <a:gd name="T22" fmla="*/ 52 w 226"/>
                    <a:gd name="T23" fmla="*/ 1 h 198"/>
                    <a:gd name="T24" fmla="*/ 57 w 226"/>
                    <a:gd name="T25" fmla="*/ 0 h 198"/>
                    <a:gd name="T26" fmla="*/ 61 w 226"/>
                    <a:gd name="T27" fmla="*/ 1 h 198"/>
                    <a:gd name="T28" fmla="*/ 66 w 226"/>
                    <a:gd name="T29" fmla="*/ 3 h 198"/>
                    <a:gd name="T30" fmla="*/ 70 w 226"/>
                    <a:gd name="T31" fmla="*/ 7 h 198"/>
                    <a:gd name="T32" fmla="*/ 75 w 226"/>
                    <a:gd name="T33" fmla="*/ 12 h 198"/>
                    <a:gd name="T34" fmla="*/ 79 w 226"/>
                    <a:gd name="T35" fmla="*/ 18 h 198"/>
                    <a:gd name="T36" fmla="*/ 85 w 226"/>
                    <a:gd name="T37" fmla="*/ 29 h 198"/>
                    <a:gd name="T38" fmla="*/ 88 w 226"/>
                    <a:gd name="T39" fmla="*/ 36 h 198"/>
                    <a:gd name="T40" fmla="*/ 93 w 226"/>
                    <a:gd name="T41" fmla="*/ 45 h 198"/>
                    <a:gd name="T42" fmla="*/ 97 w 226"/>
                    <a:gd name="T43" fmla="*/ 57 h 198"/>
                    <a:gd name="T44" fmla="*/ 102 w 226"/>
                    <a:gd name="T45" fmla="*/ 68 h 198"/>
                    <a:gd name="T46" fmla="*/ 106 w 226"/>
                    <a:gd name="T47" fmla="*/ 80 h 198"/>
                    <a:gd name="T48" fmla="*/ 111 w 226"/>
                    <a:gd name="T49" fmla="*/ 93 h 198"/>
                    <a:gd name="T50" fmla="*/ 113 w 226"/>
                    <a:gd name="T51" fmla="*/ 98 h 198"/>
                    <a:gd name="T52" fmla="*/ 118 w 226"/>
                    <a:gd name="T53" fmla="*/ 111 h 198"/>
                    <a:gd name="T54" fmla="*/ 122 w 226"/>
                    <a:gd name="T55" fmla="*/ 123 h 198"/>
                    <a:gd name="T56" fmla="*/ 126 w 226"/>
                    <a:gd name="T57" fmla="*/ 133 h 198"/>
                    <a:gd name="T58" fmla="*/ 131 w 226"/>
                    <a:gd name="T59" fmla="*/ 146 h 198"/>
                    <a:gd name="T60" fmla="*/ 136 w 226"/>
                    <a:gd name="T61" fmla="*/ 156 h 198"/>
                    <a:gd name="T62" fmla="*/ 140 w 226"/>
                    <a:gd name="T63" fmla="*/ 166 h 198"/>
                    <a:gd name="T64" fmla="*/ 145 w 226"/>
                    <a:gd name="T65" fmla="*/ 174 h 198"/>
                    <a:gd name="T66" fmla="*/ 149 w 226"/>
                    <a:gd name="T67" fmla="*/ 182 h 198"/>
                    <a:gd name="T68" fmla="*/ 154 w 226"/>
                    <a:gd name="T69" fmla="*/ 187 h 198"/>
                    <a:gd name="T70" fmla="*/ 158 w 226"/>
                    <a:gd name="T71" fmla="*/ 192 h 198"/>
                    <a:gd name="T72" fmla="*/ 162 w 226"/>
                    <a:gd name="T73" fmla="*/ 194 h 198"/>
                    <a:gd name="T74" fmla="*/ 167 w 226"/>
                    <a:gd name="T75" fmla="*/ 197 h 198"/>
                    <a:gd name="T76" fmla="*/ 172 w 226"/>
                    <a:gd name="T77" fmla="*/ 197 h 198"/>
                    <a:gd name="T78" fmla="*/ 177 w 226"/>
                    <a:gd name="T79" fmla="*/ 194 h 198"/>
                    <a:gd name="T80" fmla="*/ 181 w 226"/>
                    <a:gd name="T81" fmla="*/ 192 h 198"/>
                    <a:gd name="T82" fmla="*/ 185 w 226"/>
                    <a:gd name="T83" fmla="*/ 187 h 198"/>
                    <a:gd name="T84" fmla="*/ 190 w 226"/>
                    <a:gd name="T85" fmla="*/ 182 h 198"/>
                    <a:gd name="T86" fmla="*/ 194 w 226"/>
                    <a:gd name="T87" fmla="*/ 174 h 198"/>
                    <a:gd name="T88" fmla="*/ 199 w 226"/>
                    <a:gd name="T89" fmla="*/ 166 h 198"/>
                    <a:gd name="T90" fmla="*/ 203 w 226"/>
                    <a:gd name="T91" fmla="*/ 156 h 198"/>
                    <a:gd name="T92" fmla="*/ 207 w 226"/>
                    <a:gd name="T93" fmla="*/ 146 h 198"/>
                    <a:gd name="T94" fmla="*/ 213 w 226"/>
                    <a:gd name="T95" fmla="*/ 135 h 198"/>
                    <a:gd name="T96" fmla="*/ 217 w 226"/>
                    <a:gd name="T97" fmla="*/ 123 h 198"/>
                    <a:gd name="T98" fmla="*/ 222 w 226"/>
                    <a:gd name="T99" fmla="*/ 111 h 198"/>
                    <a:gd name="T100" fmla="*/ 225 w 226"/>
                    <a:gd name="T101" fmla="*/ 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26" h="198">
                      <a:moveTo>
                        <a:pt x="0" y="98"/>
                      </a:moveTo>
                      <a:lnTo>
                        <a:pt x="2" y="93"/>
                      </a:lnTo>
                      <a:lnTo>
                        <a:pt x="5" y="86"/>
                      </a:lnTo>
                      <a:lnTo>
                        <a:pt x="7" y="80"/>
                      </a:lnTo>
                      <a:lnTo>
                        <a:pt x="9" y="74"/>
                      </a:lnTo>
                      <a:lnTo>
                        <a:pt x="12" y="68"/>
                      </a:lnTo>
                      <a:lnTo>
                        <a:pt x="14" y="62"/>
                      </a:lnTo>
                      <a:lnTo>
                        <a:pt x="16" y="57"/>
                      </a:lnTo>
                      <a:lnTo>
                        <a:pt x="18" y="52"/>
                      </a:lnTo>
                      <a:lnTo>
                        <a:pt x="21" y="46"/>
                      </a:lnTo>
                      <a:lnTo>
                        <a:pt x="23" y="41"/>
                      </a:lnTo>
                      <a:lnTo>
                        <a:pt x="25" y="36"/>
                      </a:lnTo>
                      <a:lnTo>
                        <a:pt x="27" y="31"/>
                      </a:lnTo>
                      <a:lnTo>
                        <a:pt x="28" y="28"/>
                      </a:lnTo>
                      <a:lnTo>
                        <a:pt x="32" y="24"/>
                      </a:lnTo>
                      <a:lnTo>
                        <a:pt x="34" y="19"/>
                      </a:lnTo>
                      <a:lnTo>
                        <a:pt x="36" y="16"/>
                      </a:lnTo>
                      <a:lnTo>
                        <a:pt x="39" y="12"/>
                      </a:lnTo>
                      <a:lnTo>
                        <a:pt x="41" y="10"/>
                      </a:lnTo>
                      <a:lnTo>
                        <a:pt x="43" y="8"/>
                      </a:lnTo>
                      <a:lnTo>
                        <a:pt x="45" y="5"/>
                      </a:lnTo>
                      <a:lnTo>
                        <a:pt x="48" y="4"/>
                      </a:lnTo>
                      <a:lnTo>
                        <a:pt x="50" y="2"/>
                      </a:lnTo>
                      <a:lnTo>
                        <a:pt x="52" y="1"/>
                      </a:lnTo>
                      <a:lnTo>
                        <a:pt x="55" y="0"/>
                      </a:lnTo>
                      <a:lnTo>
                        <a:pt x="57" y="0"/>
                      </a:lnTo>
                      <a:lnTo>
                        <a:pt x="59" y="0"/>
                      </a:lnTo>
                      <a:lnTo>
                        <a:pt x="61" y="1"/>
                      </a:lnTo>
                      <a:lnTo>
                        <a:pt x="63" y="2"/>
                      </a:lnTo>
                      <a:lnTo>
                        <a:pt x="66" y="3"/>
                      </a:lnTo>
                      <a:lnTo>
                        <a:pt x="68" y="5"/>
                      </a:lnTo>
                      <a:lnTo>
                        <a:pt x="70" y="7"/>
                      </a:lnTo>
                      <a:lnTo>
                        <a:pt x="73" y="10"/>
                      </a:lnTo>
                      <a:lnTo>
                        <a:pt x="75" y="12"/>
                      </a:lnTo>
                      <a:lnTo>
                        <a:pt x="77" y="16"/>
                      </a:lnTo>
                      <a:lnTo>
                        <a:pt x="79" y="18"/>
                      </a:lnTo>
                      <a:lnTo>
                        <a:pt x="82" y="24"/>
                      </a:lnTo>
                      <a:lnTo>
                        <a:pt x="85" y="29"/>
                      </a:lnTo>
                      <a:lnTo>
                        <a:pt x="86" y="31"/>
                      </a:lnTo>
                      <a:lnTo>
                        <a:pt x="88" y="36"/>
                      </a:lnTo>
                      <a:lnTo>
                        <a:pt x="91" y="41"/>
                      </a:lnTo>
                      <a:lnTo>
                        <a:pt x="93" y="45"/>
                      </a:lnTo>
                      <a:lnTo>
                        <a:pt x="95" y="52"/>
                      </a:lnTo>
                      <a:lnTo>
                        <a:pt x="97" y="57"/>
                      </a:lnTo>
                      <a:lnTo>
                        <a:pt x="100" y="62"/>
                      </a:lnTo>
                      <a:lnTo>
                        <a:pt x="102" y="68"/>
                      </a:lnTo>
                      <a:lnTo>
                        <a:pt x="104" y="74"/>
                      </a:lnTo>
                      <a:lnTo>
                        <a:pt x="106" y="80"/>
                      </a:lnTo>
                      <a:lnTo>
                        <a:pt x="109" y="86"/>
                      </a:lnTo>
                      <a:lnTo>
                        <a:pt x="111" y="93"/>
                      </a:lnTo>
                      <a:lnTo>
                        <a:pt x="113" y="98"/>
                      </a:lnTo>
                      <a:lnTo>
                        <a:pt x="113" y="98"/>
                      </a:lnTo>
                      <a:lnTo>
                        <a:pt x="115" y="105"/>
                      </a:lnTo>
                      <a:lnTo>
                        <a:pt x="118" y="111"/>
                      </a:lnTo>
                      <a:lnTo>
                        <a:pt x="120" y="116"/>
                      </a:lnTo>
                      <a:lnTo>
                        <a:pt x="122" y="123"/>
                      </a:lnTo>
                      <a:lnTo>
                        <a:pt x="125" y="129"/>
                      </a:lnTo>
                      <a:lnTo>
                        <a:pt x="126" y="133"/>
                      </a:lnTo>
                      <a:lnTo>
                        <a:pt x="129" y="140"/>
                      </a:lnTo>
                      <a:lnTo>
                        <a:pt x="131" y="146"/>
                      </a:lnTo>
                      <a:lnTo>
                        <a:pt x="134" y="151"/>
                      </a:lnTo>
                      <a:lnTo>
                        <a:pt x="136" y="156"/>
                      </a:lnTo>
                      <a:lnTo>
                        <a:pt x="137" y="161"/>
                      </a:lnTo>
                      <a:lnTo>
                        <a:pt x="140" y="166"/>
                      </a:lnTo>
                      <a:lnTo>
                        <a:pt x="143" y="171"/>
                      </a:lnTo>
                      <a:lnTo>
                        <a:pt x="145" y="174"/>
                      </a:lnTo>
                      <a:lnTo>
                        <a:pt x="147" y="178"/>
                      </a:lnTo>
                      <a:lnTo>
                        <a:pt x="149" y="182"/>
                      </a:lnTo>
                      <a:lnTo>
                        <a:pt x="151" y="184"/>
                      </a:lnTo>
                      <a:lnTo>
                        <a:pt x="154" y="187"/>
                      </a:lnTo>
                      <a:lnTo>
                        <a:pt x="156" y="190"/>
                      </a:lnTo>
                      <a:lnTo>
                        <a:pt x="158" y="192"/>
                      </a:lnTo>
                      <a:lnTo>
                        <a:pt x="161" y="193"/>
                      </a:lnTo>
                      <a:lnTo>
                        <a:pt x="162" y="194"/>
                      </a:lnTo>
                      <a:lnTo>
                        <a:pt x="165" y="196"/>
                      </a:lnTo>
                      <a:lnTo>
                        <a:pt x="167" y="197"/>
                      </a:lnTo>
                      <a:lnTo>
                        <a:pt x="170" y="197"/>
                      </a:lnTo>
                      <a:lnTo>
                        <a:pt x="172" y="197"/>
                      </a:lnTo>
                      <a:lnTo>
                        <a:pt x="174" y="196"/>
                      </a:lnTo>
                      <a:lnTo>
                        <a:pt x="177" y="194"/>
                      </a:lnTo>
                      <a:lnTo>
                        <a:pt x="179" y="194"/>
                      </a:lnTo>
                      <a:lnTo>
                        <a:pt x="181" y="192"/>
                      </a:lnTo>
                      <a:lnTo>
                        <a:pt x="183" y="190"/>
                      </a:lnTo>
                      <a:lnTo>
                        <a:pt x="185" y="187"/>
                      </a:lnTo>
                      <a:lnTo>
                        <a:pt x="188" y="184"/>
                      </a:lnTo>
                      <a:lnTo>
                        <a:pt x="190" y="182"/>
                      </a:lnTo>
                      <a:lnTo>
                        <a:pt x="192" y="178"/>
                      </a:lnTo>
                      <a:lnTo>
                        <a:pt x="194" y="174"/>
                      </a:lnTo>
                      <a:lnTo>
                        <a:pt x="197" y="171"/>
                      </a:lnTo>
                      <a:lnTo>
                        <a:pt x="199" y="166"/>
                      </a:lnTo>
                      <a:lnTo>
                        <a:pt x="201" y="161"/>
                      </a:lnTo>
                      <a:lnTo>
                        <a:pt x="203" y="156"/>
                      </a:lnTo>
                      <a:lnTo>
                        <a:pt x="205" y="151"/>
                      </a:lnTo>
                      <a:lnTo>
                        <a:pt x="207" y="146"/>
                      </a:lnTo>
                      <a:lnTo>
                        <a:pt x="210" y="140"/>
                      </a:lnTo>
                      <a:lnTo>
                        <a:pt x="213" y="135"/>
                      </a:lnTo>
                      <a:lnTo>
                        <a:pt x="214" y="129"/>
                      </a:lnTo>
                      <a:lnTo>
                        <a:pt x="217" y="123"/>
                      </a:lnTo>
                      <a:lnTo>
                        <a:pt x="219" y="116"/>
                      </a:lnTo>
                      <a:lnTo>
                        <a:pt x="222" y="111"/>
                      </a:lnTo>
                      <a:lnTo>
                        <a:pt x="223" y="105"/>
                      </a:lnTo>
                      <a:lnTo>
                        <a:pt x="225" y="98"/>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grpSp>
          <p:grpSp>
            <p:nvGrpSpPr>
              <p:cNvPr id="63" name="Group 39"/>
              <p:cNvGrpSpPr>
                <a:grpSpLocks/>
              </p:cNvGrpSpPr>
              <p:nvPr/>
            </p:nvGrpSpPr>
            <p:grpSpPr bwMode="auto">
              <a:xfrm>
                <a:off x="329" y="3870"/>
                <a:ext cx="103" cy="306"/>
                <a:chOff x="329" y="3870"/>
                <a:chExt cx="103" cy="306"/>
              </a:xfrm>
            </p:grpSpPr>
            <p:sp>
              <p:nvSpPr>
                <p:cNvPr id="64" name="Line 40"/>
                <p:cNvSpPr>
                  <a:spLocks noChangeShapeType="1"/>
                </p:cNvSpPr>
                <p:nvPr/>
              </p:nvSpPr>
              <p:spPr bwMode="auto">
                <a:xfrm>
                  <a:off x="329" y="4110"/>
                  <a:ext cx="51" cy="6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5" name="Line 41"/>
                <p:cNvSpPr>
                  <a:spLocks noChangeShapeType="1"/>
                </p:cNvSpPr>
                <p:nvPr/>
              </p:nvSpPr>
              <p:spPr bwMode="auto">
                <a:xfrm flipH="1">
                  <a:off x="381" y="4110"/>
                  <a:ext cx="51" cy="6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6" name="Line 42"/>
                <p:cNvSpPr>
                  <a:spLocks noChangeShapeType="1"/>
                </p:cNvSpPr>
                <p:nvPr/>
              </p:nvSpPr>
              <p:spPr bwMode="auto">
                <a:xfrm>
                  <a:off x="329" y="4106"/>
                  <a:ext cx="10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7" name="Line 43"/>
                <p:cNvSpPr>
                  <a:spLocks noChangeShapeType="1"/>
                </p:cNvSpPr>
                <p:nvPr/>
              </p:nvSpPr>
              <p:spPr bwMode="auto">
                <a:xfrm>
                  <a:off x="379" y="3870"/>
                  <a:ext cx="0" cy="23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grpSp>
        </p:grpSp>
        <p:sp>
          <p:nvSpPr>
            <p:cNvPr id="7" name="Freeform 44"/>
            <p:cNvSpPr>
              <a:spLocks/>
            </p:cNvSpPr>
            <p:nvPr/>
          </p:nvSpPr>
          <p:spPr bwMode="auto">
            <a:xfrm>
              <a:off x="2165350" y="3041651"/>
              <a:ext cx="1036638" cy="187325"/>
            </a:xfrm>
            <a:custGeom>
              <a:avLst/>
              <a:gdLst>
                <a:gd name="T0" fmla="*/ 0 w 718"/>
                <a:gd name="T1" fmla="*/ 133 h 134"/>
                <a:gd name="T2" fmla="*/ 0 w 718"/>
                <a:gd name="T3" fmla="*/ 0 h 134"/>
                <a:gd name="T4" fmla="*/ 717 w 718"/>
                <a:gd name="T5" fmla="*/ 0 h 134"/>
              </a:gdLst>
              <a:ahLst/>
              <a:cxnLst>
                <a:cxn ang="0">
                  <a:pos x="T0" y="T1"/>
                </a:cxn>
                <a:cxn ang="0">
                  <a:pos x="T2" y="T3"/>
                </a:cxn>
                <a:cxn ang="0">
                  <a:pos x="T4" y="T5"/>
                </a:cxn>
              </a:cxnLst>
              <a:rect l="0" t="0" r="r" b="b"/>
              <a:pathLst>
                <a:path w="718" h="134">
                  <a:moveTo>
                    <a:pt x="0" y="133"/>
                  </a:moveTo>
                  <a:lnTo>
                    <a:pt x="0" y="0"/>
                  </a:lnTo>
                  <a:lnTo>
                    <a:pt x="717"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8" name="Text Box 45"/>
            <p:cNvSpPr txBox="1">
              <a:spLocks noChangeArrowheads="1"/>
            </p:cNvSpPr>
            <p:nvPr/>
          </p:nvSpPr>
          <p:spPr bwMode="auto">
            <a:xfrm>
              <a:off x="4611688" y="2676526"/>
              <a:ext cx="819150"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573088" indent="-163513" defTabSz="409575">
                <a:defRPr>
                  <a:solidFill>
                    <a:schemeClr val="tx1"/>
                  </a:solidFill>
                  <a:latin typeface="Arial" panose="020B0604020202020204" pitchFamily="34" charset="0"/>
                  <a:ea typeface="宋体" panose="02010600030101010101" pitchFamily="2" charset="-122"/>
                </a:defRPr>
              </a:lvl2pPr>
              <a:lvl3pPr marL="915988" indent="-95250"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200" dirty="0">
                  <a:solidFill>
                    <a:srgbClr val="000000"/>
                  </a:solidFill>
                </a:rPr>
                <a:t>Main signal</a:t>
              </a:r>
              <a:endParaRPr lang="en-US" altLang="zh-CN" sz="2200" dirty="0">
                <a:latin typeface="Times New Roman" panose="02020603050405020304" pitchFamily="18" charset="0"/>
              </a:endParaRPr>
            </a:p>
          </p:txBody>
        </p:sp>
        <p:sp>
          <p:nvSpPr>
            <p:cNvPr id="9" name="Text Box 46"/>
            <p:cNvSpPr txBox="1">
              <a:spLocks noChangeArrowheads="1"/>
            </p:cNvSpPr>
            <p:nvPr/>
          </p:nvSpPr>
          <p:spPr bwMode="auto">
            <a:xfrm>
              <a:off x="3736976" y="3967164"/>
              <a:ext cx="1071563"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573088" indent="-163513" defTabSz="409575">
                <a:defRPr>
                  <a:solidFill>
                    <a:schemeClr val="tx1"/>
                  </a:solidFill>
                  <a:latin typeface="Arial" panose="020B0604020202020204" pitchFamily="34" charset="0"/>
                  <a:ea typeface="宋体" panose="02010600030101010101" pitchFamily="2" charset="-122"/>
                </a:defRPr>
              </a:lvl2pPr>
              <a:lvl3pPr marL="915988" indent="-95250"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200">
                  <a:solidFill>
                    <a:srgbClr val="000000"/>
                  </a:solidFill>
                </a:rPr>
                <a:t>Coupled signal</a:t>
              </a:r>
              <a:endParaRPr lang="en-US" altLang="zh-CN" sz="2200">
                <a:latin typeface="Times New Roman" panose="02020603050405020304" pitchFamily="18" charset="0"/>
              </a:endParaRPr>
            </a:p>
          </p:txBody>
        </p:sp>
        <p:grpSp>
          <p:nvGrpSpPr>
            <p:cNvPr id="10" name="Group 142"/>
            <p:cNvGrpSpPr>
              <a:grpSpLocks/>
            </p:cNvGrpSpPr>
            <p:nvPr/>
          </p:nvGrpSpPr>
          <p:grpSpPr bwMode="auto">
            <a:xfrm>
              <a:off x="2603500" y="4367214"/>
              <a:ext cx="2020888" cy="1812925"/>
              <a:chOff x="4274" y="3210"/>
              <a:chExt cx="1637" cy="1434"/>
            </a:xfrm>
          </p:grpSpPr>
          <p:sp>
            <p:nvSpPr>
              <p:cNvPr id="11" name="Text Box 143"/>
              <p:cNvSpPr txBox="1">
                <a:spLocks noChangeArrowheads="1"/>
              </p:cNvSpPr>
              <p:nvPr/>
            </p:nvSpPr>
            <p:spPr bwMode="auto">
              <a:xfrm>
                <a:off x="5394" y="4054"/>
                <a:ext cx="517" cy="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1000">
                    <a:solidFill>
                      <a:srgbClr val="000000"/>
                    </a:solidFill>
                  </a:rPr>
                  <a:t>Test Port</a:t>
                </a:r>
                <a:endParaRPr lang="en-US" altLang="zh-CN" sz="2200">
                  <a:latin typeface="Times New Roman" panose="02020603050405020304" pitchFamily="18" charset="0"/>
                </a:endParaRPr>
              </a:p>
            </p:txBody>
          </p:sp>
          <p:sp>
            <p:nvSpPr>
              <p:cNvPr id="12" name="Line 144"/>
              <p:cNvSpPr>
                <a:spLocks noChangeShapeType="1"/>
              </p:cNvSpPr>
              <p:nvPr/>
            </p:nvSpPr>
            <p:spPr bwMode="auto">
              <a:xfrm flipH="1">
                <a:off x="4287" y="3624"/>
                <a:ext cx="271" cy="26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13" name="Line 145"/>
              <p:cNvSpPr>
                <a:spLocks noChangeShapeType="1"/>
              </p:cNvSpPr>
              <p:nvPr/>
            </p:nvSpPr>
            <p:spPr bwMode="auto">
              <a:xfrm flipH="1">
                <a:off x="4687" y="3232"/>
                <a:ext cx="273" cy="27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14" name="Line 146"/>
              <p:cNvSpPr>
                <a:spLocks noChangeShapeType="1"/>
              </p:cNvSpPr>
              <p:nvPr/>
            </p:nvSpPr>
            <p:spPr bwMode="auto">
              <a:xfrm flipV="1">
                <a:off x="5318" y="3549"/>
                <a:ext cx="55" cy="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15" name="Line 147"/>
              <p:cNvSpPr>
                <a:spLocks noChangeShapeType="1"/>
              </p:cNvSpPr>
              <p:nvPr/>
            </p:nvSpPr>
            <p:spPr bwMode="auto">
              <a:xfrm flipH="1">
                <a:off x="5281" y="3549"/>
                <a:ext cx="91" cy="5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16" name="Line 148"/>
              <p:cNvSpPr>
                <a:spLocks noChangeShapeType="1"/>
              </p:cNvSpPr>
              <p:nvPr/>
            </p:nvSpPr>
            <p:spPr bwMode="auto">
              <a:xfrm flipH="1">
                <a:off x="5318" y="3610"/>
                <a:ext cx="46" cy="2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17" name="Line 149"/>
              <p:cNvSpPr>
                <a:spLocks noChangeShapeType="1"/>
              </p:cNvSpPr>
              <p:nvPr/>
            </p:nvSpPr>
            <p:spPr bwMode="auto">
              <a:xfrm flipV="1">
                <a:off x="5281" y="3515"/>
                <a:ext cx="55" cy="8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18" name="Line 150"/>
              <p:cNvSpPr>
                <a:spLocks noChangeShapeType="1"/>
              </p:cNvSpPr>
              <p:nvPr/>
            </p:nvSpPr>
            <p:spPr bwMode="auto">
              <a:xfrm flipH="1">
                <a:off x="5246" y="3515"/>
                <a:ext cx="90" cy="5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19" name="Line 151"/>
              <p:cNvSpPr>
                <a:spLocks noChangeShapeType="1"/>
              </p:cNvSpPr>
              <p:nvPr/>
            </p:nvSpPr>
            <p:spPr bwMode="auto">
              <a:xfrm flipV="1">
                <a:off x="5246" y="3480"/>
                <a:ext cx="52" cy="8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20" name="Line 152"/>
              <p:cNvSpPr>
                <a:spLocks noChangeShapeType="1"/>
              </p:cNvSpPr>
              <p:nvPr/>
            </p:nvSpPr>
            <p:spPr bwMode="auto">
              <a:xfrm flipH="1">
                <a:off x="5210" y="3480"/>
                <a:ext cx="89" cy="5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21" name="Line 153"/>
              <p:cNvSpPr>
                <a:spLocks noChangeShapeType="1"/>
              </p:cNvSpPr>
              <p:nvPr/>
            </p:nvSpPr>
            <p:spPr bwMode="auto">
              <a:xfrm flipV="1">
                <a:off x="5210" y="3488"/>
                <a:ext cx="26" cy="4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22" name="Line 154"/>
              <p:cNvSpPr>
                <a:spLocks noChangeShapeType="1"/>
              </p:cNvSpPr>
              <p:nvPr/>
            </p:nvSpPr>
            <p:spPr bwMode="auto">
              <a:xfrm flipH="1" flipV="1">
                <a:off x="4966" y="3230"/>
                <a:ext cx="274" cy="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23" name="Line 155"/>
              <p:cNvSpPr>
                <a:spLocks noChangeShapeType="1"/>
              </p:cNvSpPr>
              <p:nvPr/>
            </p:nvSpPr>
            <p:spPr bwMode="auto">
              <a:xfrm flipH="1" flipV="1">
                <a:off x="5364" y="3610"/>
                <a:ext cx="285" cy="26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24" name="Line 156"/>
              <p:cNvSpPr>
                <a:spLocks noChangeShapeType="1"/>
              </p:cNvSpPr>
              <p:nvPr/>
            </p:nvSpPr>
            <p:spPr bwMode="auto">
              <a:xfrm>
                <a:off x="4704" y="4262"/>
                <a:ext cx="273" cy="26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25" name="Line 157"/>
              <p:cNvSpPr>
                <a:spLocks noChangeShapeType="1"/>
              </p:cNvSpPr>
              <p:nvPr/>
            </p:nvSpPr>
            <p:spPr bwMode="auto">
              <a:xfrm>
                <a:off x="4294" y="3880"/>
                <a:ext cx="282" cy="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26" name="Freeform 158"/>
              <p:cNvSpPr>
                <a:spLocks/>
              </p:cNvSpPr>
              <p:nvPr/>
            </p:nvSpPr>
            <p:spPr bwMode="auto">
              <a:xfrm>
                <a:off x="4758" y="3798"/>
                <a:ext cx="404" cy="179"/>
              </a:xfrm>
              <a:custGeom>
                <a:avLst/>
                <a:gdLst>
                  <a:gd name="T0" fmla="*/ 0 w 404"/>
                  <a:gd name="T1" fmla="*/ 0 h 179"/>
                  <a:gd name="T2" fmla="*/ 0 w 404"/>
                  <a:gd name="T3" fmla="*/ 178 h 179"/>
                  <a:gd name="T4" fmla="*/ 403 w 404"/>
                  <a:gd name="T5" fmla="*/ 178 h 179"/>
                  <a:gd name="T6" fmla="*/ 403 w 404"/>
                  <a:gd name="T7" fmla="*/ 0 h 179"/>
                  <a:gd name="T8" fmla="*/ 0 w 404"/>
                  <a:gd name="T9" fmla="*/ 0 h 179"/>
                </a:gdLst>
                <a:ahLst/>
                <a:cxnLst>
                  <a:cxn ang="0">
                    <a:pos x="T0" y="T1"/>
                  </a:cxn>
                  <a:cxn ang="0">
                    <a:pos x="T2" y="T3"/>
                  </a:cxn>
                  <a:cxn ang="0">
                    <a:pos x="T4" y="T5"/>
                  </a:cxn>
                  <a:cxn ang="0">
                    <a:pos x="T6" y="T7"/>
                  </a:cxn>
                  <a:cxn ang="0">
                    <a:pos x="T8" y="T9"/>
                  </a:cxn>
                </a:cxnLst>
                <a:rect l="0" t="0" r="r" b="b"/>
                <a:pathLst>
                  <a:path w="404" h="179">
                    <a:moveTo>
                      <a:pt x="0" y="0"/>
                    </a:moveTo>
                    <a:lnTo>
                      <a:pt x="0" y="178"/>
                    </a:lnTo>
                    <a:lnTo>
                      <a:pt x="403" y="178"/>
                    </a:lnTo>
                    <a:lnTo>
                      <a:pt x="403" y="0"/>
                    </a:lnTo>
                    <a:lnTo>
                      <a:pt x="0" y="0"/>
                    </a:lnTo>
                  </a:path>
                </a:pathLst>
              </a:custGeom>
              <a:noFill/>
              <a:ln w="317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27" name="Line 159"/>
              <p:cNvSpPr>
                <a:spLocks noChangeShapeType="1"/>
              </p:cNvSpPr>
              <p:nvPr/>
            </p:nvSpPr>
            <p:spPr bwMode="auto">
              <a:xfrm>
                <a:off x="4294" y="3880"/>
                <a:ext cx="462"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28" name="Line 160"/>
              <p:cNvSpPr>
                <a:spLocks noChangeShapeType="1"/>
              </p:cNvSpPr>
              <p:nvPr/>
            </p:nvSpPr>
            <p:spPr bwMode="auto">
              <a:xfrm flipH="1">
                <a:off x="5162" y="3880"/>
                <a:ext cx="48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29" name="Text Box 161"/>
              <p:cNvSpPr txBox="1">
                <a:spLocks noChangeArrowheads="1"/>
              </p:cNvSpPr>
              <p:nvPr/>
            </p:nvSpPr>
            <p:spPr bwMode="auto">
              <a:xfrm>
                <a:off x="4731" y="3810"/>
                <a:ext cx="481"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900">
                    <a:solidFill>
                      <a:srgbClr val="000000"/>
                    </a:solidFill>
                  </a:rPr>
                  <a:t>Detector</a:t>
                </a:r>
                <a:endParaRPr lang="en-US" altLang="zh-CN" sz="900">
                  <a:latin typeface="Times New Roman" panose="02020603050405020304" pitchFamily="18" charset="0"/>
                </a:endParaRPr>
              </a:p>
            </p:txBody>
          </p:sp>
          <p:sp>
            <p:nvSpPr>
              <p:cNvPr id="30" name="Freeform 162"/>
              <p:cNvSpPr>
                <a:spLocks/>
              </p:cNvSpPr>
              <p:nvPr/>
            </p:nvSpPr>
            <p:spPr bwMode="auto">
              <a:xfrm>
                <a:off x="5248" y="4110"/>
                <a:ext cx="169" cy="161"/>
              </a:xfrm>
              <a:custGeom>
                <a:avLst/>
                <a:gdLst>
                  <a:gd name="T0" fmla="*/ 168 w 169"/>
                  <a:gd name="T1" fmla="*/ 74 h 161"/>
                  <a:gd name="T2" fmla="*/ 166 w 169"/>
                  <a:gd name="T3" fmla="*/ 61 h 161"/>
                  <a:gd name="T4" fmla="*/ 162 w 169"/>
                  <a:gd name="T5" fmla="*/ 51 h 161"/>
                  <a:gd name="T6" fmla="*/ 156 w 169"/>
                  <a:gd name="T7" fmla="*/ 39 h 161"/>
                  <a:gd name="T8" fmla="*/ 150 w 169"/>
                  <a:gd name="T9" fmla="*/ 30 h 161"/>
                  <a:gd name="T10" fmla="*/ 141 w 169"/>
                  <a:gd name="T11" fmla="*/ 20 h 161"/>
                  <a:gd name="T12" fmla="*/ 131 w 169"/>
                  <a:gd name="T13" fmla="*/ 14 h 161"/>
                  <a:gd name="T14" fmla="*/ 121 w 169"/>
                  <a:gd name="T15" fmla="*/ 8 h 161"/>
                  <a:gd name="T16" fmla="*/ 109 w 169"/>
                  <a:gd name="T17" fmla="*/ 4 h 161"/>
                  <a:gd name="T18" fmla="*/ 96 w 169"/>
                  <a:gd name="T19" fmla="*/ 2 h 161"/>
                  <a:gd name="T20" fmla="*/ 83 w 169"/>
                  <a:gd name="T21" fmla="*/ 0 h 161"/>
                  <a:gd name="T22" fmla="*/ 70 w 169"/>
                  <a:gd name="T23" fmla="*/ 2 h 161"/>
                  <a:gd name="T24" fmla="*/ 57 w 169"/>
                  <a:gd name="T25" fmla="*/ 4 h 161"/>
                  <a:gd name="T26" fmla="*/ 48 w 169"/>
                  <a:gd name="T27" fmla="*/ 8 h 161"/>
                  <a:gd name="T28" fmla="*/ 35 w 169"/>
                  <a:gd name="T29" fmla="*/ 14 h 161"/>
                  <a:gd name="T30" fmla="*/ 25 w 169"/>
                  <a:gd name="T31" fmla="*/ 20 h 161"/>
                  <a:gd name="T32" fmla="*/ 18 w 169"/>
                  <a:gd name="T33" fmla="*/ 30 h 161"/>
                  <a:gd name="T34" fmla="*/ 10 w 169"/>
                  <a:gd name="T35" fmla="*/ 39 h 161"/>
                  <a:gd name="T36" fmla="*/ 5 w 169"/>
                  <a:gd name="T37" fmla="*/ 51 h 161"/>
                  <a:gd name="T38" fmla="*/ 2 w 169"/>
                  <a:gd name="T39" fmla="*/ 61 h 161"/>
                  <a:gd name="T40" fmla="*/ 0 w 169"/>
                  <a:gd name="T41" fmla="*/ 74 h 161"/>
                  <a:gd name="T42" fmla="*/ 0 w 169"/>
                  <a:gd name="T43" fmla="*/ 88 h 161"/>
                  <a:gd name="T44" fmla="*/ 2 w 169"/>
                  <a:gd name="T45" fmla="*/ 100 h 161"/>
                  <a:gd name="T46" fmla="*/ 5 w 169"/>
                  <a:gd name="T47" fmla="*/ 110 h 161"/>
                  <a:gd name="T48" fmla="*/ 10 w 169"/>
                  <a:gd name="T49" fmla="*/ 121 h 161"/>
                  <a:gd name="T50" fmla="*/ 18 w 169"/>
                  <a:gd name="T51" fmla="*/ 131 h 161"/>
                  <a:gd name="T52" fmla="*/ 25 w 169"/>
                  <a:gd name="T53" fmla="*/ 140 h 161"/>
                  <a:gd name="T54" fmla="*/ 35 w 169"/>
                  <a:gd name="T55" fmla="*/ 147 h 161"/>
                  <a:gd name="T56" fmla="*/ 48 w 169"/>
                  <a:gd name="T57" fmla="*/ 152 h 161"/>
                  <a:gd name="T58" fmla="*/ 57 w 169"/>
                  <a:gd name="T59" fmla="*/ 157 h 161"/>
                  <a:gd name="T60" fmla="*/ 70 w 169"/>
                  <a:gd name="T61" fmla="*/ 160 h 161"/>
                  <a:gd name="T62" fmla="*/ 83 w 169"/>
                  <a:gd name="T63" fmla="*/ 160 h 161"/>
                  <a:gd name="T64" fmla="*/ 96 w 169"/>
                  <a:gd name="T65" fmla="*/ 160 h 161"/>
                  <a:gd name="T66" fmla="*/ 109 w 169"/>
                  <a:gd name="T67" fmla="*/ 157 h 161"/>
                  <a:gd name="T68" fmla="*/ 121 w 169"/>
                  <a:gd name="T69" fmla="*/ 152 h 161"/>
                  <a:gd name="T70" fmla="*/ 131 w 169"/>
                  <a:gd name="T71" fmla="*/ 147 h 161"/>
                  <a:gd name="T72" fmla="*/ 141 w 169"/>
                  <a:gd name="T73" fmla="*/ 140 h 161"/>
                  <a:gd name="T74" fmla="*/ 150 w 169"/>
                  <a:gd name="T75" fmla="*/ 131 h 161"/>
                  <a:gd name="T76" fmla="*/ 156 w 169"/>
                  <a:gd name="T77" fmla="*/ 121 h 161"/>
                  <a:gd name="T78" fmla="*/ 162 w 169"/>
                  <a:gd name="T79" fmla="*/ 110 h 161"/>
                  <a:gd name="T80" fmla="*/ 166 w 169"/>
                  <a:gd name="T81" fmla="*/ 100 h 161"/>
                  <a:gd name="T82" fmla="*/ 168 w 169"/>
                  <a:gd name="T83" fmla="*/ 88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9" h="161">
                    <a:moveTo>
                      <a:pt x="168" y="81"/>
                    </a:moveTo>
                    <a:lnTo>
                      <a:pt x="168" y="74"/>
                    </a:lnTo>
                    <a:lnTo>
                      <a:pt x="166" y="68"/>
                    </a:lnTo>
                    <a:lnTo>
                      <a:pt x="166" y="61"/>
                    </a:lnTo>
                    <a:lnTo>
                      <a:pt x="166" y="56"/>
                    </a:lnTo>
                    <a:lnTo>
                      <a:pt x="162" y="51"/>
                    </a:lnTo>
                    <a:lnTo>
                      <a:pt x="159" y="46"/>
                    </a:lnTo>
                    <a:lnTo>
                      <a:pt x="156" y="39"/>
                    </a:lnTo>
                    <a:lnTo>
                      <a:pt x="152" y="35"/>
                    </a:lnTo>
                    <a:lnTo>
                      <a:pt x="150" y="30"/>
                    </a:lnTo>
                    <a:lnTo>
                      <a:pt x="146" y="26"/>
                    </a:lnTo>
                    <a:lnTo>
                      <a:pt x="141" y="20"/>
                    </a:lnTo>
                    <a:lnTo>
                      <a:pt x="136" y="17"/>
                    </a:lnTo>
                    <a:lnTo>
                      <a:pt x="131" y="14"/>
                    </a:lnTo>
                    <a:lnTo>
                      <a:pt x="127" y="11"/>
                    </a:lnTo>
                    <a:lnTo>
                      <a:pt x="121" y="8"/>
                    </a:lnTo>
                    <a:lnTo>
                      <a:pt x="115" y="4"/>
                    </a:lnTo>
                    <a:lnTo>
                      <a:pt x="109" y="4"/>
                    </a:lnTo>
                    <a:lnTo>
                      <a:pt x="103" y="3"/>
                    </a:lnTo>
                    <a:lnTo>
                      <a:pt x="96" y="2"/>
                    </a:lnTo>
                    <a:lnTo>
                      <a:pt x="91" y="0"/>
                    </a:lnTo>
                    <a:lnTo>
                      <a:pt x="83" y="0"/>
                    </a:lnTo>
                    <a:lnTo>
                      <a:pt x="78" y="0"/>
                    </a:lnTo>
                    <a:lnTo>
                      <a:pt x="70" y="2"/>
                    </a:lnTo>
                    <a:lnTo>
                      <a:pt x="67" y="3"/>
                    </a:lnTo>
                    <a:lnTo>
                      <a:pt x="57" y="4"/>
                    </a:lnTo>
                    <a:lnTo>
                      <a:pt x="53" y="4"/>
                    </a:lnTo>
                    <a:lnTo>
                      <a:pt x="48" y="8"/>
                    </a:lnTo>
                    <a:lnTo>
                      <a:pt x="41" y="11"/>
                    </a:lnTo>
                    <a:lnTo>
                      <a:pt x="35" y="14"/>
                    </a:lnTo>
                    <a:lnTo>
                      <a:pt x="32" y="17"/>
                    </a:lnTo>
                    <a:lnTo>
                      <a:pt x="25" y="20"/>
                    </a:lnTo>
                    <a:lnTo>
                      <a:pt x="22" y="26"/>
                    </a:lnTo>
                    <a:lnTo>
                      <a:pt x="18" y="30"/>
                    </a:lnTo>
                    <a:lnTo>
                      <a:pt x="15" y="35"/>
                    </a:lnTo>
                    <a:lnTo>
                      <a:pt x="10" y="39"/>
                    </a:lnTo>
                    <a:lnTo>
                      <a:pt x="7" y="46"/>
                    </a:lnTo>
                    <a:lnTo>
                      <a:pt x="5" y="51"/>
                    </a:lnTo>
                    <a:lnTo>
                      <a:pt x="3" y="56"/>
                    </a:lnTo>
                    <a:lnTo>
                      <a:pt x="2" y="61"/>
                    </a:lnTo>
                    <a:lnTo>
                      <a:pt x="1" y="68"/>
                    </a:lnTo>
                    <a:lnTo>
                      <a:pt x="0" y="74"/>
                    </a:lnTo>
                    <a:lnTo>
                      <a:pt x="0" y="81"/>
                    </a:lnTo>
                    <a:lnTo>
                      <a:pt x="0" y="88"/>
                    </a:lnTo>
                    <a:lnTo>
                      <a:pt x="1" y="92"/>
                    </a:lnTo>
                    <a:lnTo>
                      <a:pt x="2" y="100"/>
                    </a:lnTo>
                    <a:lnTo>
                      <a:pt x="3" y="104"/>
                    </a:lnTo>
                    <a:lnTo>
                      <a:pt x="5" y="110"/>
                    </a:lnTo>
                    <a:lnTo>
                      <a:pt x="7" y="116"/>
                    </a:lnTo>
                    <a:lnTo>
                      <a:pt x="10" y="121"/>
                    </a:lnTo>
                    <a:lnTo>
                      <a:pt x="15" y="126"/>
                    </a:lnTo>
                    <a:lnTo>
                      <a:pt x="18" y="131"/>
                    </a:lnTo>
                    <a:lnTo>
                      <a:pt x="22" y="135"/>
                    </a:lnTo>
                    <a:lnTo>
                      <a:pt x="25" y="140"/>
                    </a:lnTo>
                    <a:lnTo>
                      <a:pt x="32" y="143"/>
                    </a:lnTo>
                    <a:lnTo>
                      <a:pt x="35" y="147"/>
                    </a:lnTo>
                    <a:lnTo>
                      <a:pt x="41" y="151"/>
                    </a:lnTo>
                    <a:lnTo>
                      <a:pt x="48" y="152"/>
                    </a:lnTo>
                    <a:lnTo>
                      <a:pt x="53" y="156"/>
                    </a:lnTo>
                    <a:lnTo>
                      <a:pt x="57" y="157"/>
                    </a:lnTo>
                    <a:lnTo>
                      <a:pt x="67" y="159"/>
                    </a:lnTo>
                    <a:lnTo>
                      <a:pt x="70" y="160"/>
                    </a:lnTo>
                    <a:lnTo>
                      <a:pt x="78" y="160"/>
                    </a:lnTo>
                    <a:lnTo>
                      <a:pt x="83" y="160"/>
                    </a:lnTo>
                    <a:lnTo>
                      <a:pt x="91" y="160"/>
                    </a:lnTo>
                    <a:lnTo>
                      <a:pt x="96" y="160"/>
                    </a:lnTo>
                    <a:lnTo>
                      <a:pt x="103" y="159"/>
                    </a:lnTo>
                    <a:lnTo>
                      <a:pt x="109" y="157"/>
                    </a:lnTo>
                    <a:lnTo>
                      <a:pt x="115" y="156"/>
                    </a:lnTo>
                    <a:lnTo>
                      <a:pt x="121" y="152"/>
                    </a:lnTo>
                    <a:lnTo>
                      <a:pt x="127" y="151"/>
                    </a:lnTo>
                    <a:lnTo>
                      <a:pt x="131" y="147"/>
                    </a:lnTo>
                    <a:lnTo>
                      <a:pt x="136" y="143"/>
                    </a:lnTo>
                    <a:lnTo>
                      <a:pt x="141" y="140"/>
                    </a:lnTo>
                    <a:lnTo>
                      <a:pt x="146" y="135"/>
                    </a:lnTo>
                    <a:lnTo>
                      <a:pt x="150" y="131"/>
                    </a:lnTo>
                    <a:lnTo>
                      <a:pt x="152" y="126"/>
                    </a:lnTo>
                    <a:lnTo>
                      <a:pt x="156" y="121"/>
                    </a:lnTo>
                    <a:lnTo>
                      <a:pt x="159" y="116"/>
                    </a:lnTo>
                    <a:lnTo>
                      <a:pt x="162" y="110"/>
                    </a:lnTo>
                    <a:lnTo>
                      <a:pt x="166" y="104"/>
                    </a:lnTo>
                    <a:lnTo>
                      <a:pt x="166" y="100"/>
                    </a:lnTo>
                    <a:lnTo>
                      <a:pt x="166" y="92"/>
                    </a:lnTo>
                    <a:lnTo>
                      <a:pt x="168" y="88"/>
                    </a:lnTo>
                    <a:lnTo>
                      <a:pt x="168" y="81"/>
                    </a:lnTo>
                  </a:path>
                </a:pathLst>
              </a:custGeom>
              <a:noFill/>
              <a:ln w="317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31" name="Freeform 163"/>
              <p:cNvSpPr>
                <a:spLocks/>
              </p:cNvSpPr>
              <p:nvPr/>
            </p:nvSpPr>
            <p:spPr bwMode="auto">
              <a:xfrm>
                <a:off x="5309" y="4171"/>
                <a:ext cx="46" cy="41"/>
              </a:xfrm>
              <a:custGeom>
                <a:avLst/>
                <a:gdLst>
                  <a:gd name="T0" fmla="*/ 45 w 46"/>
                  <a:gd name="T1" fmla="*/ 18 h 41"/>
                  <a:gd name="T2" fmla="*/ 44 w 46"/>
                  <a:gd name="T3" fmla="*/ 15 h 41"/>
                  <a:gd name="T4" fmla="*/ 43 w 46"/>
                  <a:gd name="T5" fmla="*/ 11 h 41"/>
                  <a:gd name="T6" fmla="*/ 42 w 46"/>
                  <a:gd name="T7" fmla="*/ 9 h 41"/>
                  <a:gd name="T8" fmla="*/ 39 w 46"/>
                  <a:gd name="T9" fmla="*/ 6 h 41"/>
                  <a:gd name="T10" fmla="*/ 39 w 46"/>
                  <a:gd name="T11" fmla="*/ 5 h 41"/>
                  <a:gd name="T12" fmla="*/ 35 w 46"/>
                  <a:gd name="T13" fmla="*/ 0 h 41"/>
                  <a:gd name="T14" fmla="*/ 32 w 46"/>
                  <a:gd name="T15" fmla="*/ 0 h 41"/>
                  <a:gd name="T16" fmla="*/ 30 w 46"/>
                  <a:gd name="T17" fmla="*/ 0 h 41"/>
                  <a:gd name="T18" fmla="*/ 27 w 46"/>
                  <a:gd name="T19" fmla="*/ 0 h 41"/>
                  <a:gd name="T20" fmla="*/ 22 w 46"/>
                  <a:gd name="T21" fmla="*/ 0 h 41"/>
                  <a:gd name="T22" fmla="*/ 20 w 46"/>
                  <a:gd name="T23" fmla="*/ 0 h 41"/>
                  <a:gd name="T24" fmla="*/ 17 w 46"/>
                  <a:gd name="T25" fmla="*/ 0 h 41"/>
                  <a:gd name="T26" fmla="*/ 13 w 46"/>
                  <a:gd name="T27" fmla="*/ 0 h 41"/>
                  <a:gd name="T28" fmla="*/ 9 w 46"/>
                  <a:gd name="T29" fmla="*/ 0 h 41"/>
                  <a:gd name="T30" fmla="*/ 7 w 46"/>
                  <a:gd name="T31" fmla="*/ 5 h 41"/>
                  <a:gd name="T32" fmla="*/ 6 w 46"/>
                  <a:gd name="T33" fmla="*/ 6 h 41"/>
                  <a:gd name="T34" fmla="*/ 2 w 46"/>
                  <a:gd name="T35" fmla="*/ 9 h 41"/>
                  <a:gd name="T36" fmla="*/ 2 w 46"/>
                  <a:gd name="T37" fmla="*/ 11 h 41"/>
                  <a:gd name="T38" fmla="*/ 1 w 46"/>
                  <a:gd name="T39" fmla="*/ 15 h 41"/>
                  <a:gd name="T40" fmla="*/ 0 w 46"/>
                  <a:gd name="T41" fmla="*/ 18 h 41"/>
                  <a:gd name="T42" fmla="*/ 0 w 46"/>
                  <a:gd name="T43" fmla="*/ 20 h 41"/>
                  <a:gd name="T44" fmla="*/ 1 w 46"/>
                  <a:gd name="T45" fmla="*/ 22 h 41"/>
                  <a:gd name="T46" fmla="*/ 2 w 46"/>
                  <a:gd name="T47" fmla="*/ 27 h 41"/>
                  <a:gd name="T48" fmla="*/ 2 w 46"/>
                  <a:gd name="T49" fmla="*/ 30 h 41"/>
                  <a:gd name="T50" fmla="*/ 6 w 46"/>
                  <a:gd name="T51" fmla="*/ 33 h 41"/>
                  <a:gd name="T52" fmla="*/ 7 w 46"/>
                  <a:gd name="T53" fmla="*/ 35 h 41"/>
                  <a:gd name="T54" fmla="*/ 9 w 46"/>
                  <a:gd name="T55" fmla="*/ 39 h 41"/>
                  <a:gd name="T56" fmla="*/ 13 w 46"/>
                  <a:gd name="T57" fmla="*/ 39 h 41"/>
                  <a:gd name="T58" fmla="*/ 17 w 46"/>
                  <a:gd name="T59" fmla="*/ 40 h 41"/>
                  <a:gd name="T60" fmla="*/ 20 w 46"/>
                  <a:gd name="T61" fmla="*/ 40 h 41"/>
                  <a:gd name="T62" fmla="*/ 22 w 46"/>
                  <a:gd name="T63" fmla="*/ 40 h 41"/>
                  <a:gd name="T64" fmla="*/ 27 w 46"/>
                  <a:gd name="T65" fmla="*/ 40 h 41"/>
                  <a:gd name="T66" fmla="*/ 30 w 46"/>
                  <a:gd name="T67" fmla="*/ 40 h 41"/>
                  <a:gd name="T68" fmla="*/ 32 w 46"/>
                  <a:gd name="T69" fmla="*/ 39 h 41"/>
                  <a:gd name="T70" fmla="*/ 35 w 46"/>
                  <a:gd name="T71" fmla="*/ 39 h 41"/>
                  <a:gd name="T72" fmla="*/ 39 w 46"/>
                  <a:gd name="T73" fmla="*/ 35 h 41"/>
                  <a:gd name="T74" fmla="*/ 39 w 46"/>
                  <a:gd name="T75" fmla="*/ 33 h 41"/>
                  <a:gd name="T76" fmla="*/ 42 w 46"/>
                  <a:gd name="T77" fmla="*/ 30 h 41"/>
                  <a:gd name="T78" fmla="*/ 43 w 46"/>
                  <a:gd name="T79" fmla="*/ 27 h 41"/>
                  <a:gd name="T80" fmla="*/ 44 w 46"/>
                  <a:gd name="T81" fmla="*/ 22 h 41"/>
                  <a:gd name="T82" fmla="*/ 45 w 46"/>
                  <a:gd name="T83" fmla="*/ 20 h 41"/>
                  <a:gd name="T84" fmla="*/ 45 w 46"/>
                  <a:gd name="T85" fmla="*/ 2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6" h="41">
                    <a:moveTo>
                      <a:pt x="45" y="20"/>
                    </a:moveTo>
                    <a:lnTo>
                      <a:pt x="45" y="18"/>
                    </a:lnTo>
                    <a:lnTo>
                      <a:pt x="44" y="17"/>
                    </a:lnTo>
                    <a:lnTo>
                      <a:pt x="44" y="15"/>
                    </a:lnTo>
                    <a:lnTo>
                      <a:pt x="43" y="12"/>
                    </a:lnTo>
                    <a:lnTo>
                      <a:pt x="43" y="11"/>
                    </a:lnTo>
                    <a:lnTo>
                      <a:pt x="43" y="10"/>
                    </a:lnTo>
                    <a:lnTo>
                      <a:pt x="42" y="9"/>
                    </a:lnTo>
                    <a:lnTo>
                      <a:pt x="42" y="7"/>
                    </a:lnTo>
                    <a:lnTo>
                      <a:pt x="39" y="6"/>
                    </a:lnTo>
                    <a:lnTo>
                      <a:pt x="39" y="5"/>
                    </a:lnTo>
                    <a:lnTo>
                      <a:pt x="39" y="5"/>
                    </a:lnTo>
                    <a:lnTo>
                      <a:pt x="37" y="1"/>
                    </a:lnTo>
                    <a:lnTo>
                      <a:pt x="35" y="0"/>
                    </a:lnTo>
                    <a:lnTo>
                      <a:pt x="33" y="0"/>
                    </a:lnTo>
                    <a:lnTo>
                      <a:pt x="32" y="0"/>
                    </a:lnTo>
                    <a:lnTo>
                      <a:pt x="31" y="0"/>
                    </a:lnTo>
                    <a:lnTo>
                      <a:pt x="30" y="0"/>
                    </a:lnTo>
                    <a:lnTo>
                      <a:pt x="27" y="0"/>
                    </a:lnTo>
                    <a:lnTo>
                      <a:pt x="27" y="0"/>
                    </a:lnTo>
                    <a:lnTo>
                      <a:pt x="25" y="0"/>
                    </a:lnTo>
                    <a:lnTo>
                      <a:pt x="22" y="0"/>
                    </a:lnTo>
                    <a:lnTo>
                      <a:pt x="21" y="0"/>
                    </a:lnTo>
                    <a:lnTo>
                      <a:pt x="20" y="0"/>
                    </a:lnTo>
                    <a:lnTo>
                      <a:pt x="17" y="0"/>
                    </a:lnTo>
                    <a:lnTo>
                      <a:pt x="17" y="0"/>
                    </a:lnTo>
                    <a:lnTo>
                      <a:pt x="14" y="0"/>
                    </a:lnTo>
                    <a:lnTo>
                      <a:pt x="13" y="0"/>
                    </a:lnTo>
                    <a:lnTo>
                      <a:pt x="12" y="0"/>
                    </a:lnTo>
                    <a:lnTo>
                      <a:pt x="9" y="0"/>
                    </a:lnTo>
                    <a:lnTo>
                      <a:pt x="8" y="1"/>
                    </a:lnTo>
                    <a:lnTo>
                      <a:pt x="7" y="5"/>
                    </a:lnTo>
                    <a:lnTo>
                      <a:pt x="6" y="5"/>
                    </a:lnTo>
                    <a:lnTo>
                      <a:pt x="6" y="6"/>
                    </a:lnTo>
                    <a:lnTo>
                      <a:pt x="6" y="7"/>
                    </a:lnTo>
                    <a:lnTo>
                      <a:pt x="2" y="9"/>
                    </a:lnTo>
                    <a:lnTo>
                      <a:pt x="2" y="10"/>
                    </a:lnTo>
                    <a:lnTo>
                      <a:pt x="2" y="11"/>
                    </a:lnTo>
                    <a:lnTo>
                      <a:pt x="1" y="12"/>
                    </a:lnTo>
                    <a:lnTo>
                      <a:pt x="1" y="15"/>
                    </a:lnTo>
                    <a:lnTo>
                      <a:pt x="1" y="17"/>
                    </a:lnTo>
                    <a:lnTo>
                      <a:pt x="0" y="18"/>
                    </a:lnTo>
                    <a:lnTo>
                      <a:pt x="0" y="20"/>
                    </a:lnTo>
                    <a:lnTo>
                      <a:pt x="0" y="20"/>
                    </a:lnTo>
                    <a:lnTo>
                      <a:pt x="1" y="22"/>
                    </a:lnTo>
                    <a:lnTo>
                      <a:pt x="1" y="22"/>
                    </a:lnTo>
                    <a:lnTo>
                      <a:pt x="1" y="27"/>
                    </a:lnTo>
                    <a:lnTo>
                      <a:pt x="2" y="27"/>
                    </a:lnTo>
                    <a:lnTo>
                      <a:pt x="2" y="29"/>
                    </a:lnTo>
                    <a:lnTo>
                      <a:pt x="2" y="30"/>
                    </a:lnTo>
                    <a:lnTo>
                      <a:pt x="6" y="31"/>
                    </a:lnTo>
                    <a:lnTo>
                      <a:pt x="6" y="33"/>
                    </a:lnTo>
                    <a:lnTo>
                      <a:pt x="6" y="35"/>
                    </a:lnTo>
                    <a:lnTo>
                      <a:pt x="7" y="35"/>
                    </a:lnTo>
                    <a:lnTo>
                      <a:pt x="8" y="37"/>
                    </a:lnTo>
                    <a:lnTo>
                      <a:pt x="9" y="39"/>
                    </a:lnTo>
                    <a:lnTo>
                      <a:pt x="12" y="39"/>
                    </a:lnTo>
                    <a:lnTo>
                      <a:pt x="13" y="39"/>
                    </a:lnTo>
                    <a:lnTo>
                      <a:pt x="14" y="40"/>
                    </a:lnTo>
                    <a:lnTo>
                      <a:pt x="17" y="40"/>
                    </a:lnTo>
                    <a:lnTo>
                      <a:pt x="17" y="40"/>
                    </a:lnTo>
                    <a:lnTo>
                      <a:pt x="20" y="40"/>
                    </a:lnTo>
                    <a:lnTo>
                      <a:pt x="21" y="40"/>
                    </a:lnTo>
                    <a:lnTo>
                      <a:pt x="22" y="40"/>
                    </a:lnTo>
                    <a:lnTo>
                      <a:pt x="25" y="40"/>
                    </a:lnTo>
                    <a:lnTo>
                      <a:pt x="27" y="40"/>
                    </a:lnTo>
                    <a:lnTo>
                      <a:pt x="27" y="40"/>
                    </a:lnTo>
                    <a:lnTo>
                      <a:pt x="30" y="40"/>
                    </a:lnTo>
                    <a:lnTo>
                      <a:pt x="31" y="40"/>
                    </a:lnTo>
                    <a:lnTo>
                      <a:pt x="32" y="39"/>
                    </a:lnTo>
                    <a:lnTo>
                      <a:pt x="33" y="39"/>
                    </a:lnTo>
                    <a:lnTo>
                      <a:pt x="35" y="39"/>
                    </a:lnTo>
                    <a:lnTo>
                      <a:pt x="37" y="37"/>
                    </a:lnTo>
                    <a:lnTo>
                      <a:pt x="39" y="35"/>
                    </a:lnTo>
                    <a:lnTo>
                      <a:pt x="39" y="35"/>
                    </a:lnTo>
                    <a:lnTo>
                      <a:pt x="39" y="33"/>
                    </a:lnTo>
                    <a:lnTo>
                      <a:pt x="42" y="31"/>
                    </a:lnTo>
                    <a:lnTo>
                      <a:pt x="42" y="30"/>
                    </a:lnTo>
                    <a:lnTo>
                      <a:pt x="43" y="29"/>
                    </a:lnTo>
                    <a:lnTo>
                      <a:pt x="43" y="27"/>
                    </a:lnTo>
                    <a:lnTo>
                      <a:pt x="43" y="27"/>
                    </a:lnTo>
                    <a:lnTo>
                      <a:pt x="44" y="22"/>
                    </a:lnTo>
                    <a:lnTo>
                      <a:pt x="44" y="22"/>
                    </a:lnTo>
                    <a:lnTo>
                      <a:pt x="45" y="20"/>
                    </a:lnTo>
                    <a:lnTo>
                      <a:pt x="45" y="20"/>
                    </a:lnTo>
                    <a:lnTo>
                      <a:pt x="45" y="2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32" name="Line 164"/>
              <p:cNvSpPr>
                <a:spLocks noChangeShapeType="1"/>
              </p:cNvSpPr>
              <p:nvPr/>
            </p:nvSpPr>
            <p:spPr bwMode="auto">
              <a:xfrm flipV="1">
                <a:off x="4984" y="4246"/>
                <a:ext cx="288" cy="27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33" name="Line 165"/>
              <p:cNvSpPr>
                <a:spLocks noChangeShapeType="1"/>
              </p:cNvSpPr>
              <p:nvPr/>
            </p:nvSpPr>
            <p:spPr bwMode="auto">
              <a:xfrm flipH="1">
                <a:off x="5385" y="3880"/>
                <a:ext cx="264" cy="25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34" name="Freeform 166"/>
              <p:cNvSpPr>
                <a:spLocks/>
              </p:cNvSpPr>
              <p:nvPr/>
            </p:nvSpPr>
            <p:spPr bwMode="auto">
              <a:xfrm>
                <a:off x="5624" y="3859"/>
                <a:ext cx="45" cy="46"/>
              </a:xfrm>
              <a:custGeom>
                <a:avLst/>
                <a:gdLst>
                  <a:gd name="T0" fmla="*/ 44 w 45"/>
                  <a:gd name="T1" fmla="*/ 21 h 46"/>
                  <a:gd name="T2" fmla="*/ 44 w 45"/>
                  <a:gd name="T3" fmla="*/ 18 h 46"/>
                  <a:gd name="T4" fmla="*/ 44 w 45"/>
                  <a:gd name="T5" fmla="*/ 15 h 46"/>
                  <a:gd name="T6" fmla="*/ 44 w 45"/>
                  <a:gd name="T7" fmla="*/ 11 h 46"/>
                  <a:gd name="T8" fmla="*/ 42 w 45"/>
                  <a:gd name="T9" fmla="*/ 10 h 46"/>
                  <a:gd name="T10" fmla="*/ 39 w 45"/>
                  <a:gd name="T11" fmla="*/ 5 h 46"/>
                  <a:gd name="T12" fmla="*/ 37 w 45"/>
                  <a:gd name="T13" fmla="*/ 3 h 46"/>
                  <a:gd name="T14" fmla="*/ 33 w 45"/>
                  <a:gd name="T15" fmla="*/ 3 h 46"/>
                  <a:gd name="T16" fmla="*/ 30 w 45"/>
                  <a:gd name="T17" fmla="*/ 3 h 46"/>
                  <a:gd name="T18" fmla="*/ 26 w 45"/>
                  <a:gd name="T19" fmla="*/ 3 h 46"/>
                  <a:gd name="T20" fmla="*/ 23 w 45"/>
                  <a:gd name="T21" fmla="*/ 0 h 46"/>
                  <a:gd name="T22" fmla="*/ 20 w 45"/>
                  <a:gd name="T23" fmla="*/ 3 h 46"/>
                  <a:gd name="T24" fmla="*/ 16 w 45"/>
                  <a:gd name="T25" fmla="*/ 3 h 46"/>
                  <a:gd name="T26" fmla="*/ 13 w 45"/>
                  <a:gd name="T27" fmla="*/ 3 h 46"/>
                  <a:gd name="T28" fmla="*/ 10 w 45"/>
                  <a:gd name="T29" fmla="*/ 3 h 46"/>
                  <a:gd name="T30" fmla="*/ 9 w 45"/>
                  <a:gd name="T31" fmla="*/ 5 h 46"/>
                  <a:gd name="T32" fmla="*/ 6 w 45"/>
                  <a:gd name="T33" fmla="*/ 10 h 46"/>
                  <a:gd name="T34" fmla="*/ 3 w 45"/>
                  <a:gd name="T35" fmla="*/ 11 h 46"/>
                  <a:gd name="T36" fmla="*/ 2 w 45"/>
                  <a:gd name="T37" fmla="*/ 15 h 46"/>
                  <a:gd name="T38" fmla="*/ 1 w 45"/>
                  <a:gd name="T39" fmla="*/ 18 h 46"/>
                  <a:gd name="T40" fmla="*/ 0 w 45"/>
                  <a:gd name="T41" fmla="*/ 21 h 46"/>
                  <a:gd name="T42" fmla="*/ 0 w 45"/>
                  <a:gd name="T43" fmla="*/ 23 h 46"/>
                  <a:gd name="T44" fmla="*/ 1 w 45"/>
                  <a:gd name="T45" fmla="*/ 28 h 46"/>
                  <a:gd name="T46" fmla="*/ 2 w 45"/>
                  <a:gd name="T47" fmla="*/ 30 h 46"/>
                  <a:gd name="T48" fmla="*/ 3 w 45"/>
                  <a:gd name="T49" fmla="*/ 33 h 46"/>
                  <a:gd name="T50" fmla="*/ 6 w 45"/>
                  <a:gd name="T51" fmla="*/ 35 h 46"/>
                  <a:gd name="T52" fmla="*/ 9 w 45"/>
                  <a:gd name="T53" fmla="*/ 39 h 46"/>
                  <a:gd name="T54" fmla="*/ 10 w 45"/>
                  <a:gd name="T55" fmla="*/ 40 h 46"/>
                  <a:gd name="T56" fmla="*/ 13 w 45"/>
                  <a:gd name="T57" fmla="*/ 41 h 46"/>
                  <a:gd name="T58" fmla="*/ 16 w 45"/>
                  <a:gd name="T59" fmla="*/ 43 h 46"/>
                  <a:gd name="T60" fmla="*/ 20 w 45"/>
                  <a:gd name="T61" fmla="*/ 45 h 46"/>
                  <a:gd name="T62" fmla="*/ 23 w 45"/>
                  <a:gd name="T63" fmla="*/ 45 h 46"/>
                  <a:gd name="T64" fmla="*/ 26 w 45"/>
                  <a:gd name="T65" fmla="*/ 45 h 46"/>
                  <a:gd name="T66" fmla="*/ 30 w 45"/>
                  <a:gd name="T67" fmla="*/ 43 h 46"/>
                  <a:gd name="T68" fmla="*/ 33 w 45"/>
                  <a:gd name="T69" fmla="*/ 41 h 46"/>
                  <a:gd name="T70" fmla="*/ 37 w 45"/>
                  <a:gd name="T71" fmla="*/ 40 h 46"/>
                  <a:gd name="T72" fmla="*/ 39 w 45"/>
                  <a:gd name="T73" fmla="*/ 39 h 46"/>
                  <a:gd name="T74" fmla="*/ 42 w 45"/>
                  <a:gd name="T75" fmla="*/ 35 h 46"/>
                  <a:gd name="T76" fmla="*/ 44 w 45"/>
                  <a:gd name="T77" fmla="*/ 33 h 46"/>
                  <a:gd name="T78" fmla="*/ 44 w 45"/>
                  <a:gd name="T79" fmla="*/ 30 h 46"/>
                  <a:gd name="T80" fmla="*/ 44 w 45"/>
                  <a:gd name="T81" fmla="*/ 28 h 46"/>
                  <a:gd name="T82" fmla="*/ 44 w 45"/>
                  <a:gd name="T83" fmla="*/ 23 h 46"/>
                  <a:gd name="T84" fmla="*/ 44 w 45"/>
                  <a:gd name="T85" fmla="*/ 2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5" h="46">
                    <a:moveTo>
                      <a:pt x="44" y="21"/>
                    </a:moveTo>
                    <a:lnTo>
                      <a:pt x="44" y="21"/>
                    </a:lnTo>
                    <a:lnTo>
                      <a:pt x="44" y="20"/>
                    </a:lnTo>
                    <a:lnTo>
                      <a:pt x="44" y="18"/>
                    </a:lnTo>
                    <a:lnTo>
                      <a:pt x="44" y="17"/>
                    </a:lnTo>
                    <a:lnTo>
                      <a:pt x="44" y="15"/>
                    </a:lnTo>
                    <a:lnTo>
                      <a:pt x="44" y="13"/>
                    </a:lnTo>
                    <a:lnTo>
                      <a:pt x="44" y="11"/>
                    </a:lnTo>
                    <a:lnTo>
                      <a:pt x="42" y="10"/>
                    </a:lnTo>
                    <a:lnTo>
                      <a:pt x="42" y="10"/>
                    </a:lnTo>
                    <a:lnTo>
                      <a:pt x="41" y="9"/>
                    </a:lnTo>
                    <a:lnTo>
                      <a:pt x="39" y="5"/>
                    </a:lnTo>
                    <a:lnTo>
                      <a:pt x="38" y="4"/>
                    </a:lnTo>
                    <a:lnTo>
                      <a:pt x="37" y="3"/>
                    </a:lnTo>
                    <a:lnTo>
                      <a:pt x="37" y="3"/>
                    </a:lnTo>
                    <a:lnTo>
                      <a:pt x="33" y="3"/>
                    </a:lnTo>
                    <a:lnTo>
                      <a:pt x="32" y="3"/>
                    </a:lnTo>
                    <a:lnTo>
                      <a:pt x="30" y="3"/>
                    </a:lnTo>
                    <a:lnTo>
                      <a:pt x="27" y="3"/>
                    </a:lnTo>
                    <a:lnTo>
                      <a:pt x="26" y="3"/>
                    </a:lnTo>
                    <a:lnTo>
                      <a:pt x="25" y="0"/>
                    </a:lnTo>
                    <a:lnTo>
                      <a:pt x="23" y="0"/>
                    </a:lnTo>
                    <a:lnTo>
                      <a:pt x="21" y="0"/>
                    </a:lnTo>
                    <a:lnTo>
                      <a:pt x="20" y="3"/>
                    </a:lnTo>
                    <a:lnTo>
                      <a:pt x="19" y="3"/>
                    </a:lnTo>
                    <a:lnTo>
                      <a:pt x="16" y="3"/>
                    </a:lnTo>
                    <a:lnTo>
                      <a:pt x="16" y="3"/>
                    </a:lnTo>
                    <a:lnTo>
                      <a:pt x="13" y="3"/>
                    </a:lnTo>
                    <a:lnTo>
                      <a:pt x="13" y="3"/>
                    </a:lnTo>
                    <a:lnTo>
                      <a:pt x="10" y="3"/>
                    </a:lnTo>
                    <a:lnTo>
                      <a:pt x="9" y="4"/>
                    </a:lnTo>
                    <a:lnTo>
                      <a:pt x="9" y="5"/>
                    </a:lnTo>
                    <a:lnTo>
                      <a:pt x="7" y="9"/>
                    </a:lnTo>
                    <a:lnTo>
                      <a:pt x="6" y="10"/>
                    </a:lnTo>
                    <a:lnTo>
                      <a:pt x="4" y="10"/>
                    </a:lnTo>
                    <a:lnTo>
                      <a:pt x="3" y="11"/>
                    </a:lnTo>
                    <a:lnTo>
                      <a:pt x="3" y="13"/>
                    </a:lnTo>
                    <a:lnTo>
                      <a:pt x="2" y="15"/>
                    </a:lnTo>
                    <a:lnTo>
                      <a:pt x="1" y="17"/>
                    </a:lnTo>
                    <a:lnTo>
                      <a:pt x="1" y="18"/>
                    </a:lnTo>
                    <a:lnTo>
                      <a:pt x="1" y="20"/>
                    </a:lnTo>
                    <a:lnTo>
                      <a:pt x="0" y="21"/>
                    </a:lnTo>
                    <a:lnTo>
                      <a:pt x="0" y="21"/>
                    </a:lnTo>
                    <a:lnTo>
                      <a:pt x="0" y="23"/>
                    </a:lnTo>
                    <a:lnTo>
                      <a:pt x="1" y="27"/>
                    </a:lnTo>
                    <a:lnTo>
                      <a:pt x="1" y="28"/>
                    </a:lnTo>
                    <a:lnTo>
                      <a:pt x="1" y="29"/>
                    </a:lnTo>
                    <a:lnTo>
                      <a:pt x="2" y="30"/>
                    </a:lnTo>
                    <a:lnTo>
                      <a:pt x="3" y="31"/>
                    </a:lnTo>
                    <a:lnTo>
                      <a:pt x="3" y="33"/>
                    </a:lnTo>
                    <a:lnTo>
                      <a:pt x="4" y="34"/>
                    </a:lnTo>
                    <a:lnTo>
                      <a:pt x="6" y="35"/>
                    </a:lnTo>
                    <a:lnTo>
                      <a:pt x="7" y="39"/>
                    </a:lnTo>
                    <a:lnTo>
                      <a:pt x="9" y="39"/>
                    </a:lnTo>
                    <a:lnTo>
                      <a:pt x="9" y="39"/>
                    </a:lnTo>
                    <a:lnTo>
                      <a:pt x="10" y="40"/>
                    </a:lnTo>
                    <a:lnTo>
                      <a:pt x="13" y="41"/>
                    </a:lnTo>
                    <a:lnTo>
                      <a:pt x="13" y="41"/>
                    </a:lnTo>
                    <a:lnTo>
                      <a:pt x="16" y="43"/>
                    </a:lnTo>
                    <a:lnTo>
                      <a:pt x="16" y="43"/>
                    </a:lnTo>
                    <a:lnTo>
                      <a:pt x="19" y="45"/>
                    </a:lnTo>
                    <a:lnTo>
                      <a:pt x="20" y="45"/>
                    </a:lnTo>
                    <a:lnTo>
                      <a:pt x="21" y="45"/>
                    </a:lnTo>
                    <a:lnTo>
                      <a:pt x="23" y="45"/>
                    </a:lnTo>
                    <a:lnTo>
                      <a:pt x="25" y="45"/>
                    </a:lnTo>
                    <a:lnTo>
                      <a:pt x="26" y="45"/>
                    </a:lnTo>
                    <a:lnTo>
                      <a:pt x="27" y="45"/>
                    </a:lnTo>
                    <a:lnTo>
                      <a:pt x="30" y="43"/>
                    </a:lnTo>
                    <a:lnTo>
                      <a:pt x="32" y="43"/>
                    </a:lnTo>
                    <a:lnTo>
                      <a:pt x="33" y="41"/>
                    </a:lnTo>
                    <a:lnTo>
                      <a:pt x="37" y="41"/>
                    </a:lnTo>
                    <a:lnTo>
                      <a:pt x="37" y="40"/>
                    </a:lnTo>
                    <a:lnTo>
                      <a:pt x="38" y="39"/>
                    </a:lnTo>
                    <a:lnTo>
                      <a:pt x="39" y="39"/>
                    </a:lnTo>
                    <a:lnTo>
                      <a:pt x="41" y="39"/>
                    </a:lnTo>
                    <a:lnTo>
                      <a:pt x="42" y="35"/>
                    </a:lnTo>
                    <a:lnTo>
                      <a:pt x="42" y="34"/>
                    </a:lnTo>
                    <a:lnTo>
                      <a:pt x="44" y="33"/>
                    </a:lnTo>
                    <a:lnTo>
                      <a:pt x="44" y="31"/>
                    </a:lnTo>
                    <a:lnTo>
                      <a:pt x="44" y="30"/>
                    </a:lnTo>
                    <a:lnTo>
                      <a:pt x="44" y="29"/>
                    </a:lnTo>
                    <a:lnTo>
                      <a:pt x="44" y="28"/>
                    </a:lnTo>
                    <a:lnTo>
                      <a:pt x="44" y="27"/>
                    </a:lnTo>
                    <a:lnTo>
                      <a:pt x="44" y="23"/>
                    </a:lnTo>
                    <a:lnTo>
                      <a:pt x="44" y="21"/>
                    </a:lnTo>
                    <a:lnTo>
                      <a:pt x="44" y="21"/>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35" name="Freeform 167"/>
              <p:cNvSpPr>
                <a:spLocks/>
              </p:cNvSpPr>
              <p:nvPr/>
            </p:nvSpPr>
            <p:spPr bwMode="auto">
              <a:xfrm>
                <a:off x="4947" y="3210"/>
                <a:ext cx="46" cy="45"/>
              </a:xfrm>
              <a:custGeom>
                <a:avLst/>
                <a:gdLst>
                  <a:gd name="T0" fmla="*/ 45 w 46"/>
                  <a:gd name="T1" fmla="*/ 20 h 45"/>
                  <a:gd name="T2" fmla="*/ 44 w 46"/>
                  <a:gd name="T3" fmla="*/ 16 h 45"/>
                  <a:gd name="T4" fmla="*/ 42 w 46"/>
                  <a:gd name="T5" fmla="*/ 14 h 45"/>
                  <a:gd name="T6" fmla="*/ 42 w 46"/>
                  <a:gd name="T7" fmla="*/ 10 h 45"/>
                  <a:gd name="T8" fmla="*/ 39 w 46"/>
                  <a:gd name="T9" fmla="*/ 8 h 45"/>
                  <a:gd name="T10" fmla="*/ 37 w 46"/>
                  <a:gd name="T11" fmla="*/ 5 h 45"/>
                  <a:gd name="T12" fmla="*/ 34 w 46"/>
                  <a:gd name="T13" fmla="*/ 4 h 45"/>
                  <a:gd name="T14" fmla="*/ 31 w 46"/>
                  <a:gd name="T15" fmla="*/ 2 h 45"/>
                  <a:gd name="T16" fmla="*/ 27 w 46"/>
                  <a:gd name="T17" fmla="*/ 0 h 45"/>
                  <a:gd name="T18" fmla="*/ 25 w 46"/>
                  <a:gd name="T19" fmla="*/ 0 h 45"/>
                  <a:gd name="T20" fmla="*/ 22 w 46"/>
                  <a:gd name="T21" fmla="*/ 0 h 45"/>
                  <a:gd name="T22" fmla="*/ 18 w 46"/>
                  <a:gd name="T23" fmla="*/ 0 h 45"/>
                  <a:gd name="T24" fmla="*/ 14 w 46"/>
                  <a:gd name="T25" fmla="*/ 0 h 45"/>
                  <a:gd name="T26" fmla="*/ 12 w 46"/>
                  <a:gd name="T27" fmla="*/ 2 h 45"/>
                  <a:gd name="T28" fmla="*/ 7 w 46"/>
                  <a:gd name="T29" fmla="*/ 4 h 45"/>
                  <a:gd name="T30" fmla="*/ 6 w 46"/>
                  <a:gd name="T31" fmla="*/ 5 h 45"/>
                  <a:gd name="T32" fmla="*/ 5 w 46"/>
                  <a:gd name="T33" fmla="*/ 8 h 45"/>
                  <a:gd name="T34" fmla="*/ 2 w 46"/>
                  <a:gd name="T35" fmla="*/ 10 h 45"/>
                  <a:gd name="T36" fmla="*/ 1 w 46"/>
                  <a:gd name="T37" fmla="*/ 14 h 45"/>
                  <a:gd name="T38" fmla="*/ 0 w 46"/>
                  <a:gd name="T39" fmla="*/ 16 h 45"/>
                  <a:gd name="T40" fmla="*/ 0 w 46"/>
                  <a:gd name="T41" fmla="*/ 20 h 45"/>
                  <a:gd name="T42" fmla="*/ 0 w 46"/>
                  <a:gd name="T43" fmla="*/ 22 h 45"/>
                  <a:gd name="T44" fmla="*/ 0 w 46"/>
                  <a:gd name="T45" fmla="*/ 26 h 45"/>
                  <a:gd name="T46" fmla="*/ 1 w 46"/>
                  <a:gd name="T47" fmla="*/ 28 h 45"/>
                  <a:gd name="T48" fmla="*/ 2 w 46"/>
                  <a:gd name="T49" fmla="*/ 32 h 45"/>
                  <a:gd name="T50" fmla="*/ 5 w 46"/>
                  <a:gd name="T51" fmla="*/ 35 h 45"/>
                  <a:gd name="T52" fmla="*/ 6 w 46"/>
                  <a:gd name="T53" fmla="*/ 37 h 45"/>
                  <a:gd name="T54" fmla="*/ 7 w 46"/>
                  <a:gd name="T55" fmla="*/ 38 h 45"/>
                  <a:gd name="T56" fmla="*/ 12 w 46"/>
                  <a:gd name="T57" fmla="*/ 40 h 45"/>
                  <a:gd name="T58" fmla="*/ 14 w 46"/>
                  <a:gd name="T59" fmla="*/ 42 h 45"/>
                  <a:gd name="T60" fmla="*/ 18 w 46"/>
                  <a:gd name="T61" fmla="*/ 44 h 45"/>
                  <a:gd name="T62" fmla="*/ 22 w 46"/>
                  <a:gd name="T63" fmla="*/ 44 h 45"/>
                  <a:gd name="T64" fmla="*/ 25 w 46"/>
                  <a:gd name="T65" fmla="*/ 44 h 45"/>
                  <a:gd name="T66" fmla="*/ 27 w 46"/>
                  <a:gd name="T67" fmla="*/ 42 h 45"/>
                  <a:gd name="T68" fmla="*/ 31 w 46"/>
                  <a:gd name="T69" fmla="*/ 40 h 45"/>
                  <a:gd name="T70" fmla="*/ 34 w 46"/>
                  <a:gd name="T71" fmla="*/ 38 h 45"/>
                  <a:gd name="T72" fmla="*/ 37 w 46"/>
                  <a:gd name="T73" fmla="*/ 37 h 45"/>
                  <a:gd name="T74" fmla="*/ 39 w 46"/>
                  <a:gd name="T75" fmla="*/ 35 h 45"/>
                  <a:gd name="T76" fmla="*/ 42 w 46"/>
                  <a:gd name="T77" fmla="*/ 32 h 45"/>
                  <a:gd name="T78" fmla="*/ 42 w 46"/>
                  <a:gd name="T79" fmla="*/ 28 h 45"/>
                  <a:gd name="T80" fmla="*/ 44 w 46"/>
                  <a:gd name="T81" fmla="*/ 26 h 45"/>
                  <a:gd name="T82" fmla="*/ 45 w 46"/>
                  <a:gd name="T83" fmla="*/ 22 h 45"/>
                  <a:gd name="T84" fmla="*/ 45 w 46"/>
                  <a:gd name="T85" fmla="*/ 2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6" h="45">
                    <a:moveTo>
                      <a:pt x="45" y="20"/>
                    </a:moveTo>
                    <a:lnTo>
                      <a:pt x="45" y="20"/>
                    </a:lnTo>
                    <a:lnTo>
                      <a:pt x="44" y="18"/>
                    </a:lnTo>
                    <a:lnTo>
                      <a:pt x="44" y="16"/>
                    </a:lnTo>
                    <a:lnTo>
                      <a:pt x="42" y="15"/>
                    </a:lnTo>
                    <a:lnTo>
                      <a:pt x="42" y="14"/>
                    </a:lnTo>
                    <a:lnTo>
                      <a:pt x="42" y="10"/>
                    </a:lnTo>
                    <a:lnTo>
                      <a:pt x="42" y="10"/>
                    </a:lnTo>
                    <a:lnTo>
                      <a:pt x="41" y="8"/>
                    </a:lnTo>
                    <a:lnTo>
                      <a:pt x="39" y="8"/>
                    </a:lnTo>
                    <a:lnTo>
                      <a:pt x="38" y="6"/>
                    </a:lnTo>
                    <a:lnTo>
                      <a:pt x="37" y="5"/>
                    </a:lnTo>
                    <a:lnTo>
                      <a:pt x="37" y="5"/>
                    </a:lnTo>
                    <a:lnTo>
                      <a:pt x="34" y="4"/>
                    </a:lnTo>
                    <a:lnTo>
                      <a:pt x="32" y="2"/>
                    </a:lnTo>
                    <a:lnTo>
                      <a:pt x="31" y="2"/>
                    </a:lnTo>
                    <a:lnTo>
                      <a:pt x="30" y="0"/>
                    </a:lnTo>
                    <a:lnTo>
                      <a:pt x="27" y="0"/>
                    </a:lnTo>
                    <a:lnTo>
                      <a:pt x="26" y="0"/>
                    </a:lnTo>
                    <a:lnTo>
                      <a:pt x="25" y="0"/>
                    </a:lnTo>
                    <a:lnTo>
                      <a:pt x="23" y="0"/>
                    </a:lnTo>
                    <a:lnTo>
                      <a:pt x="22" y="0"/>
                    </a:lnTo>
                    <a:lnTo>
                      <a:pt x="21" y="0"/>
                    </a:lnTo>
                    <a:lnTo>
                      <a:pt x="18" y="0"/>
                    </a:lnTo>
                    <a:lnTo>
                      <a:pt x="17" y="0"/>
                    </a:lnTo>
                    <a:lnTo>
                      <a:pt x="14" y="0"/>
                    </a:lnTo>
                    <a:lnTo>
                      <a:pt x="13" y="0"/>
                    </a:lnTo>
                    <a:lnTo>
                      <a:pt x="12" y="2"/>
                    </a:lnTo>
                    <a:lnTo>
                      <a:pt x="10" y="2"/>
                    </a:lnTo>
                    <a:lnTo>
                      <a:pt x="7" y="4"/>
                    </a:lnTo>
                    <a:lnTo>
                      <a:pt x="7" y="5"/>
                    </a:lnTo>
                    <a:lnTo>
                      <a:pt x="6" y="5"/>
                    </a:lnTo>
                    <a:lnTo>
                      <a:pt x="5" y="6"/>
                    </a:lnTo>
                    <a:lnTo>
                      <a:pt x="5" y="8"/>
                    </a:lnTo>
                    <a:lnTo>
                      <a:pt x="3" y="8"/>
                    </a:lnTo>
                    <a:lnTo>
                      <a:pt x="2" y="10"/>
                    </a:lnTo>
                    <a:lnTo>
                      <a:pt x="2" y="10"/>
                    </a:lnTo>
                    <a:lnTo>
                      <a:pt x="1" y="14"/>
                    </a:lnTo>
                    <a:lnTo>
                      <a:pt x="1" y="15"/>
                    </a:lnTo>
                    <a:lnTo>
                      <a:pt x="0" y="16"/>
                    </a:lnTo>
                    <a:lnTo>
                      <a:pt x="0" y="18"/>
                    </a:lnTo>
                    <a:lnTo>
                      <a:pt x="0" y="20"/>
                    </a:lnTo>
                    <a:lnTo>
                      <a:pt x="0" y="20"/>
                    </a:lnTo>
                    <a:lnTo>
                      <a:pt x="0" y="22"/>
                    </a:lnTo>
                    <a:lnTo>
                      <a:pt x="0" y="26"/>
                    </a:lnTo>
                    <a:lnTo>
                      <a:pt x="0" y="26"/>
                    </a:lnTo>
                    <a:lnTo>
                      <a:pt x="1" y="26"/>
                    </a:lnTo>
                    <a:lnTo>
                      <a:pt x="1" y="28"/>
                    </a:lnTo>
                    <a:lnTo>
                      <a:pt x="2" y="32"/>
                    </a:lnTo>
                    <a:lnTo>
                      <a:pt x="2" y="32"/>
                    </a:lnTo>
                    <a:lnTo>
                      <a:pt x="3" y="33"/>
                    </a:lnTo>
                    <a:lnTo>
                      <a:pt x="5" y="35"/>
                    </a:lnTo>
                    <a:lnTo>
                      <a:pt x="5" y="37"/>
                    </a:lnTo>
                    <a:lnTo>
                      <a:pt x="6" y="37"/>
                    </a:lnTo>
                    <a:lnTo>
                      <a:pt x="7" y="38"/>
                    </a:lnTo>
                    <a:lnTo>
                      <a:pt x="7" y="38"/>
                    </a:lnTo>
                    <a:lnTo>
                      <a:pt x="10" y="40"/>
                    </a:lnTo>
                    <a:lnTo>
                      <a:pt x="12" y="40"/>
                    </a:lnTo>
                    <a:lnTo>
                      <a:pt x="13" y="42"/>
                    </a:lnTo>
                    <a:lnTo>
                      <a:pt x="14" y="42"/>
                    </a:lnTo>
                    <a:lnTo>
                      <a:pt x="17" y="44"/>
                    </a:lnTo>
                    <a:lnTo>
                      <a:pt x="18" y="44"/>
                    </a:lnTo>
                    <a:lnTo>
                      <a:pt x="21" y="44"/>
                    </a:lnTo>
                    <a:lnTo>
                      <a:pt x="22" y="44"/>
                    </a:lnTo>
                    <a:lnTo>
                      <a:pt x="23" y="44"/>
                    </a:lnTo>
                    <a:lnTo>
                      <a:pt x="25" y="44"/>
                    </a:lnTo>
                    <a:lnTo>
                      <a:pt x="26" y="44"/>
                    </a:lnTo>
                    <a:lnTo>
                      <a:pt x="27" y="42"/>
                    </a:lnTo>
                    <a:lnTo>
                      <a:pt x="30" y="42"/>
                    </a:lnTo>
                    <a:lnTo>
                      <a:pt x="31" y="40"/>
                    </a:lnTo>
                    <a:lnTo>
                      <a:pt x="32" y="40"/>
                    </a:lnTo>
                    <a:lnTo>
                      <a:pt x="34" y="38"/>
                    </a:lnTo>
                    <a:lnTo>
                      <a:pt x="37" y="38"/>
                    </a:lnTo>
                    <a:lnTo>
                      <a:pt x="37" y="37"/>
                    </a:lnTo>
                    <a:lnTo>
                      <a:pt x="38" y="37"/>
                    </a:lnTo>
                    <a:lnTo>
                      <a:pt x="39" y="35"/>
                    </a:lnTo>
                    <a:lnTo>
                      <a:pt x="41" y="33"/>
                    </a:lnTo>
                    <a:lnTo>
                      <a:pt x="42" y="32"/>
                    </a:lnTo>
                    <a:lnTo>
                      <a:pt x="42" y="32"/>
                    </a:lnTo>
                    <a:lnTo>
                      <a:pt x="42" y="28"/>
                    </a:lnTo>
                    <a:lnTo>
                      <a:pt x="42" y="26"/>
                    </a:lnTo>
                    <a:lnTo>
                      <a:pt x="44" y="26"/>
                    </a:lnTo>
                    <a:lnTo>
                      <a:pt x="44" y="26"/>
                    </a:lnTo>
                    <a:lnTo>
                      <a:pt x="45" y="22"/>
                    </a:lnTo>
                    <a:lnTo>
                      <a:pt x="45" y="20"/>
                    </a:lnTo>
                    <a:lnTo>
                      <a:pt x="45" y="2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36" name="Freeform 168"/>
              <p:cNvSpPr>
                <a:spLocks/>
              </p:cNvSpPr>
              <p:nvPr/>
            </p:nvSpPr>
            <p:spPr bwMode="auto">
              <a:xfrm>
                <a:off x="4274" y="3859"/>
                <a:ext cx="45" cy="46"/>
              </a:xfrm>
              <a:custGeom>
                <a:avLst/>
                <a:gdLst>
                  <a:gd name="T0" fmla="*/ 44 w 45"/>
                  <a:gd name="T1" fmla="*/ 21 h 46"/>
                  <a:gd name="T2" fmla="*/ 44 w 45"/>
                  <a:gd name="T3" fmla="*/ 18 h 46"/>
                  <a:gd name="T4" fmla="*/ 43 w 45"/>
                  <a:gd name="T5" fmla="*/ 15 h 46"/>
                  <a:gd name="T6" fmla="*/ 41 w 45"/>
                  <a:gd name="T7" fmla="*/ 11 h 46"/>
                  <a:gd name="T8" fmla="*/ 39 w 45"/>
                  <a:gd name="T9" fmla="*/ 10 h 46"/>
                  <a:gd name="T10" fmla="*/ 38 w 45"/>
                  <a:gd name="T11" fmla="*/ 5 h 46"/>
                  <a:gd name="T12" fmla="*/ 34 w 45"/>
                  <a:gd name="T13" fmla="*/ 3 h 46"/>
                  <a:gd name="T14" fmla="*/ 32 w 45"/>
                  <a:gd name="T15" fmla="*/ 3 h 46"/>
                  <a:gd name="T16" fmla="*/ 28 w 45"/>
                  <a:gd name="T17" fmla="*/ 3 h 46"/>
                  <a:gd name="T18" fmla="*/ 26 w 45"/>
                  <a:gd name="T19" fmla="*/ 3 h 46"/>
                  <a:gd name="T20" fmla="*/ 22 w 45"/>
                  <a:gd name="T21" fmla="*/ 0 h 46"/>
                  <a:gd name="T22" fmla="*/ 17 w 45"/>
                  <a:gd name="T23" fmla="*/ 3 h 46"/>
                  <a:gd name="T24" fmla="*/ 15 w 45"/>
                  <a:gd name="T25" fmla="*/ 3 h 46"/>
                  <a:gd name="T26" fmla="*/ 10 w 45"/>
                  <a:gd name="T27" fmla="*/ 3 h 46"/>
                  <a:gd name="T28" fmla="*/ 9 w 45"/>
                  <a:gd name="T29" fmla="*/ 3 h 46"/>
                  <a:gd name="T30" fmla="*/ 4 w 45"/>
                  <a:gd name="T31" fmla="*/ 5 h 46"/>
                  <a:gd name="T32" fmla="*/ 4 w 45"/>
                  <a:gd name="T33" fmla="*/ 10 h 46"/>
                  <a:gd name="T34" fmla="*/ 3 w 45"/>
                  <a:gd name="T35" fmla="*/ 11 h 46"/>
                  <a:gd name="T36" fmla="*/ 2 w 45"/>
                  <a:gd name="T37" fmla="*/ 15 h 46"/>
                  <a:gd name="T38" fmla="*/ 0 w 45"/>
                  <a:gd name="T39" fmla="*/ 18 h 46"/>
                  <a:gd name="T40" fmla="*/ 0 w 45"/>
                  <a:gd name="T41" fmla="*/ 21 h 46"/>
                  <a:gd name="T42" fmla="*/ 0 w 45"/>
                  <a:gd name="T43" fmla="*/ 23 h 46"/>
                  <a:gd name="T44" fmla="*/ 0 w 45"/>
                  <a:gd name="T45" fmla="*/ 28 h 46"/>
                  <a:gd name="T46" fmla="*/ 2 w 45"/>
                  <a:gd name="T47" fmla="*/ 30 h 46"/>
                  <a:gd name="T48" fmla="*/ 3 w 45"/>
                  <a:gd name="T49" fmla="*/ 33 h 46"/>
                  <a:gd name="T50" fmla="*/ 4 w 45"/>
                  <a:gd name="T51" fmla="*/ 35 h 46"/>
                  <a:gd name="T52" fmla="*/ 4 w 45"/>
                  <a:gd name="T53" fmla="*/ 39 h 46"/>
                  <a:gd name="T54" fmla="*/ 9 w 45"/>
                  <a:gd name="T55" fmla="*/ 40 h 46"/>
                  <a:gd name="T56" fmla="*/ 10 w 45"/>
                  <a:gd name="T57" fmla="*/ 41 h 46"/>
                  <a:gd name="T58" fmla="*/ 15 w 45"/>
                  <a:gd name="T59" fmla="*/ 43 h 46"/>
                  <a:gd name="T60" fmla="*/ 17 w 45"/>
                  <a:gd name="T61" fmla="*/ 45 h 46"/>
                  <a:gd name="T62" fmla="*/ 22 w 45"/>
                  <a:gd name="T63" fmla="*/ 45 h 46"/>
                  <a:gd name="T64" fmla="*/ 26 w 45"/>
                  <a:gd name="T65" fmla="*/ 45 h 46"/>
                  <a:gd name="T66" fmla="*/ 28 w 45"/>
                  <a:gd name="T67" fmla="*/ 43 h 46"/>
                  <a:gd name="T68" fmla="*/ 32 w 45"/>
                  <a:gd name="T69" fmla="*/ 41 h 46"/>
                  <a:gd name="T70" fmla="*/ 34 w 45"/>
                  <a:gd name="T71" fmla="*/ 40 h 46"/>
                  <a:gd name="T72" fmla="*/ 38 w 45"/>
                  <a:gd name="T73" fmla="*/ 39 h 46"/>
                  <a:gd name="T74" fmla="*/ 39 w 45"/>
                  <a:gd name="T75" fmla="*/ 35 h 46"/>
                  <a:gd name="T76" fmla="*/ 41 w 45"/>
                  <a:gd name="T77" fmla="*/ 33 h 46"/>
                  <a:gd name="T78" fmla="*/ 43 w 45"/>
                  <a:gd name="T79" fmla="*/ 30 h 46"/>
                  <a:gd name="T80" fmla="*/ 44 w 45"/>
                  <a:gd name="T81" fmla="*/ 28 h 46"/>
                  <a:gd name="T82" fmla="*/ 44 w 45"/>
                  <a:gd name="T83" fmla="*/ 23 h 46"/>
                  <a:gd name="T84" fmla="*/ 44 w 45"/>
                  <a:gd name="T85" fmla="*/ 2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5" h="46">
                    <a:moveTo>
                      <a:pt x="44" y="21"/>
                    </a:moveTo>
                    <a:lnTo>
                      <a:pt x="44" y="21"/>
                    </a:lnTo>
                    <a:lnTo>
                      <a:pt x="44" y="20"/>
                    </a:lnTo>
                    <a:lnTo>
                      <a:pt x="44" y="18"/>
                    </a:lnTo>
                    <a:lnTo>
                      <a:pt x="44" y="17"/>
                    </a:lnTo>
                    <a:lnTo>
                      <a:pt x="43" y="15"/>
                    </a:lnTo>
                    <a:lnTo>
                      <a:pt x="42" y="13"/>
                    </a:lnTo>
                    <a:lnTo>
                      <a:pt x="41" y="11"/>
                    </a:lnTo>
                    <a:lnTo>
                      <a:pt x="41" y="10"/>
                    </a:lnTo>
                    <a:lnTo>
                      <a:pt x="39" y="10"/>
                    </a:lnTo>
                    <a:lnTo>
                      <a:pt x="38" y="9"/>
                    </a:lnTo>
                    <a:lnTo>
                      <a:pt x="38" y="5"/>
                    </a:lnTo>
                    <a:lnTo>
                      <a:pt x="34" y="4"/>
                    </a:lnTo>
                    <a:lnTo>
                      <a:pt x="34" y="3"/>
                    </a:lnTo>
                    <a:lnTo>
                      <a:pt x="32" y="3"/>
                    </a:lnTo>
                    <a:lnTo>
                      <a:pt x="32" y="3"/>
                    </a:lnTo>
                    <a:lnTo>
                      <a:pt x="30" y="3"/>
                    </a:lnTo>
                    <a:lnTo>
                      <a:pt x="28" y="3"/>
                    </a:lnTo>
                    <a:lnTo>
                      <a:pt x="27" y="3"/>
                    </a:lnTo>
                    <a:lnTo>
                      <a:pt x="26" y="3"/>
                    </a:lnTo>
                    <a:lnTo>
                      <a:pt x="23" y="0"/>
                    </a:lnTo>
                    <a:lnTo>
                      <a:pt x="22" y="0"/>
                    </a:lnTo>
                    <a:lnTo>
                      <a:pt x="20" y="0"/>
                    </a:lnTo>
                    <a:lnTo>
                      <a:pt x="17" y="3"/>
                    </a:lnTo>
                    <a:lnTo>
                      <a:pt x="16" y="3"/>
                    </a:lnTo>
                    <a:lnTo>
                      <a:pt x="15" y="3"/>
                    </a:lnTo>
                    <a:lnTo>
                      <a:pt x="14" y="3"/>
                    </a:lnTo>
                    <a:lnTo>
                      <a:pt x="10" y="3"/>
                    </a:lnTo>
                    <a:lnTo>
                      <a:pt x="9" y="3"/>
                    </a:lnTo>
                    <a:lnTo>
                      <a:pt x="9" y="3"/>
                    </a:lnTo>
                    <a:lnTo>
                      <a:pt x="8" y="4"/>
                    </a:lnTo>
                    <a:lnTo>
                      <a:pt x="4" y="5"/>
                    </a:lnTo>
                    <a:lnTo>
                      <a:pt x="4" y="9"/>
                    </a:lnTo>
                    <a:lnTo>
                      <a:pt x="4" y="10"/>
                    </a:lnTo>
                    <a:lnTo>
                      <a:pt x="3" y="10"/>
                    </a:lnTo>
                    <a:lnTo>
                      <a:pt x="3" y="11"/>
                    </a:lnTo>
                    <a:lnTo>
                      <a:pt x="2" y="13"/>
                    </a:lnTo>
                    <a:lnTo>
                      <a:pt x="2" y="15"/>
                    </a:lnTo>
                    <a:lnTo>
                      <a:pt x="0" y="17"/>
                    </a:lnTo>
                    <a:lnTo>
                      <a:pt x="0" y="18"/>
                    </a:lnTo>
                    <a:lnTo>
                      <a:pt x="0" y="20"/>
                    </a:lnTo>
                    <a:lnTo>
                      <a:pt x="0" y="21"/>
                    </a:lnTo>
                    <a:lnTo>
                      <a:pt x="0" y="21"/>
                    </a:lnTo>
                    <a:lnTo>
                      <a:pt x="0" y="23"/>
                    </a:lnTo>
                    <a:lnTo>
                      <a:pt x="0" y="27"/>
                    </a:lnTo>
                    <a:lnTo>
                      <a:pt x="0" y="28"/>
                    </a:lnTo>
                    <a:lnTo>
                      <a:pt x="0" y="29"/>
                    </a:lnTo>
                    <a:lnTo>
                      <a:pt x="2" y="30"/>
                    </a:lnTo>
                    <a:lnTo>
                      <a:pt x="2" y="31"/>
                    </a:lnTo>
                    <a:lnTo>
                      <a:pt x="3" y="33"/>
                    </a:lnTo>
                    <a:lnTo>
                      <a:pt x="3" y="34"/>
                    </a:lnTo>
                    <a:lnTo>
                      <a:pt x="4" y="35"/>
                    </a:lnTo>
                    <a:lnTo>
                      <a:pt x="4" y="39"/>
                    </a:lnTo>
                    <a:lnTo>
                      <a:pt x="4" y="39"/>
                    </a:lnTo>
                    <a:lnTo>
                      <a:pt x="8" y="39"/>
                    </a:lnTo>
                    <a:lnTo>
                      <a:pt x="9" y="40"/>
                    </a:lnTo>
                    <a:lnTo>
                      <a:pt x="9" y="41"/>
                    </a:lnTo>
                    <a:lnTo>
                      <a:pt x="10" y="41"/>
                    </a:lnTo>
                    <a:lnTo>
                      <a:pt x="14" y="43"/>
                    </a:lnTo>
                    <a:lnTo>
                      <a:pt x="15" y="43"/>
                    </a:lnTo>
                    <a:lnTo>
                      <a:pt x="16" y="45"/>
                    </a:lnTo>
                    <a:lnTo>
                      <a:pt x="17" y="45"/>
                    </a:lnTo>
                    <a:lnTo>
                      <a:pt x="20" y="45"/>
                    </a:lnTo>
                    <a:lnTo>
                      <a:pt x="22" y="45"/>
                    </a:lnTo>
                    <a:lnTo>
                      <a:pt x="23" y="45"/>
                    </a:lnTo>
                    <a:lnTo>
                      <a:pt x="26" y="45"/>
                    </a:lnTo>
                    <a:lnTo>
                      <a:pt x="27" y="45"/>
                    </a:lnTo>
                    <a:lnTo>
                      <a:pt x="28" y="43"/>
                    </a:lnTo>
                    <a:lnTo>
                      <a:pt x="30" y="43"/>
                    </a:lnTo>
                    <a:lnTo>
                      <a:pt x="32" y="41"/>
                    </a:lnTo>
                    <a:lnTo>
                      <a:pt x="32" y="41"/>
                    </a:lnTo>
                    <a:lnTo>
                      <a:pt x="34" y="40"/>
                    </a:lnTo>
                    <a:lnTo>
                      <a:pt x="34" y="39"/>
                    </a:lnTo>
                    <a:lnTo>
                      <a:pt x="38" y="39"/>
                    </a:lnTo>
                    <a:lnTo>
                      <a:pt x="38" y="39"/>
                    </a:lnTo>
                    <a:lnTo>
                      <a:pt x="39" y="35"/>
                    </a:lnTo>
                    <a:lnTo>
                      <a:pt x="41" y="34"/>
                    </a:lnTo>
                    <a:lnTo>
                      <a:pt x="41" y="33"/>
                    </a:lnTo>
                    <a:lnTo>
                      <a:pt x="42" y="31"/>
                    </a:lnTo>
                    <a:lnTo>
                      <a:pt x="43" y="30"/>
                    </a:lnTo>
                    <a:lnTo>
                      <a:pt x="44" y="29"/>
                    </a:lnTo>
                    <a:lnTo>
                      <a:pt x="44" y="28"/>
                    </a:lnTo>
                    <a:lnTo>
                      <a:pt x="44" y="27"/>
                    </a:lnTo>
                    <a:lnTo>
                      <a:pt x="44" y="23"/>
                    </a:lnTo>
                    <a:lnTo>
                      <a:pt x="44" y="21"/>
                    </a:lnTo>
                    <a:lnTo>
                      <a:pt x="44" y="21"/>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37" name="Freeform 169"/>
              <p:cNvSpPr>
                <a:spLocks/>
              </p:cNvSpPr>
              <p:nvPr/>
            </p:nvSpPr>
            <p:spPr bwMode="auto">
              <a:xfrm>
                <a:off x="4953" y="4504"/>
                <a:ext cx="46" cy="47"/>
              </a:xfrm>
              <a:custGeom>
                <a:avLst/>
                <a:gdLst>
                  <a:gd name="T0" fmla="*/ 45 w 46"/>
                  <a:gd name="T1" fmla="*/ 21 h 47"/>
                  <a:gd name="T2" fmla="*/ 43 w 46"/>
                  <a:gd name="T3" fmla="*/ 18 h 47"/>
                  <a:gd name="T4" fmla="*/ 43 w 46"/>
                  <a:gd name="T5" fmla="*/ 15 h 47"/>
                  <a:gd name="T6" fmla="*/ 41 w 46"/>
                  <a:gd name="T7" fmla="*/ 12 h 47"/>
                  <a:gd name="T8" fmla="*/ 39 w 46"/>
                  <a:gd name="T9" fmla="*/ 11 h 47"/>
                  <a:gd name="T10" fmla="*/ 36 w 46"/>
                  <a:gd name="T11" fmla="*/ 6 h 47"/>
                  <a:gd name="T12" fmla="*/ 35 w 46"/>
                  <a:gd name="T13" fmla="*/ 5 h 47"/>
                  <a:gd name="T14" fmla="*/ 32 w 46"/>
                  <a:gd name="T15" fmla="*/ 3 h 47"/>
                  <a:gd name="T16" fmla="*/ 28 w 46"/>
                  <a:gd name="T17" fmla="*/ 2 h 47"/>
                  <a:gd name="T18" fmla="*/ 25 w 46"/>
                  <a:gd name="T19" fmla="*/ 2 h 47"/>
                  <a:gd name="T20" fmla="*/ 21 w 46"/>
                  <a:gd name="T21" fmla="*/ 0 h 47"/>
                  <a:gd name="T22" fmla="*/ 17 w 46"/>
                  <a:gd name="T23" fmla="*/ 2 h 47"/>
                  <a:gd name="T24" fmla="*/ 16 w 46"/>
                  <a:gd name="T25" fmla="*/ 2 h 47"/>
                  <a:gd name="T26" fmla="*/ 12 w 46"/>
                  <a:gd name="T27" fmla="*/ 3 h 47"/>
                  <a:gd name="T28" fmla="*/ 8 w 46"/>
                  <a:gd name="T29" fmla="*/ 5 h 47"/>
                  <a:gd name="T30" fmla="*/ 7 w 46"/>
                  <a:gd name="T31" fmla="*/ 6 h 47"/>
                  <a:gd name="T32" fmla="*/ 4 w 46"/>
                  <a:gd name="T33" fmla="*/ 11 h 47"/>
                  <a:gd name="T34" fmla="*/ 1 w 46"/>
                  <a:gd name="T35" fmla="*/ 12 h 47"/>
                  <a:gd name="T36" fmla="*/ 0 w 46"/>
                  <a:gd name="T37" fmla="*/ 15 h 47"/>
                  <a:gd name="T38" fmla="*/ 0 w 46"/>
                  <a:gd name="T39" fmla="*/ 18 h 47"/>
                  <a:gd name="T40" fmla="*/ 0 w 46"/>
                  <a:gd name="T41" fmla="*/ 21 h 47"/>
                  <a:gd name="T42" fmla="*/ 0 w 46"/>
                  <a:gd name="T43" fmla="*/ 24 h 47"/>
                  <a:gd name="T44" fmla="*/ 0 w 46"/>
                  <a:gd name="T45" fmla="*/ 27 h 47"/>
                  <a:gd name="T46" fmla="*/ 0 w 46"/>
                  <a:gd name="T47" fmla="*/ 30 h 47"/>
                  <a:gd name="T48" fmla="*/ 1 w 46"/>
                  <a:gd name="T49" fmla="*/ 32 h 47"/>
                  <a:gd name="T50" fmla="*/ 4 w 46"/>
                  <a:gd name="T51" fmla="*/ 37 h 47"/>
                  <a:gd name="T52" fmla="*/ 7 w 46"/>
                  <a:gd name="T53" fmla="*/ 40 h 47"/>
                  <a:gd name="T54" fmla="*/ 8 w 46"/>
                  <a:gd name="T55" fmla="*/ 40 h 47"/>
                  <a:gd name="T56" fmla="*/ 12 w 46"/>
                  <a:gd name="T57" fmla="*/ 42 h 47"/>
                  <a:gd name="T58" fmla="*/ 16 w 46"/>
                  <a:gd name="T59" fmla="*/ 43 h 47"/>
                  <a:gd name="T60" fmla="*/ 17 w 46"/>
                  <a:gd name="T61" fmla="*/ 43 h 47"/>
                  <a:gd name="T62" fmla="*/ 21 w 46"/>
                  <a:gd name="T63" fmla="*/ 46 h 47"/>
                  <a:gd name="T64" fmla="*/ 25 w 46"/>
                  <a:gd name="T65" fmla="*/ 43 h 47"/>
                  <a:gd name="T66" fmla="*/ 28 w 46"/>
                  <a:gd name="T67" fmla="*/ 43 h 47"/>
                  <a:gd name="T68" fmla="*/ 32 w 46"/>
                  <a:gd name="T69" fmla="*/ 42 h 47"/>
                  <a:gd name="T70" fmla="*/ 35 w 46"/>
                  <a:gd name="T71" fmla="*/ 40 h 47"/>
                  <a:gd name="T72" fmla="*/ 36 w 46"/>
                  <a:gd name="T73" fmla="*/ 40 h 47"/>
                  <a:gd name="T74" fmla="*/ 39 w 46"/>
                  <a:gd name="T75" fmla="*/ 37 h 47"/>
                  <a:gd name="T76" fmla="*/ 41 w 46"/>
                  <a:gd name="T77" fmla="*/ 32 h 47"/>
                  <a:gd name="T78" fmla="*/ 43 w 46"/>
                  <a:gd name="T79" fmla="*/ 30 h 47"/>
                  <a:gd name="T80" fmla="*/ 43 w 46"/>
                  <a:gd name="T81" fmla="*/ 27 h 47"/>
                  <a:gd name="T82" fmla="*/ 45 w 46"/>
                  <a:gd name="T83" fmla="*/ 24 h 47"/>
                  <a:gd name="T84" fmla="*/ 45 w 46"/>
                  <a:gd name="T85" fmla="*/ 2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6" h="47">
                    <a:moveTo>
                      <a:pt x="45" y="22"/>
                    </a:moveTo>
                    <a:lnTo>
                      <a:pt x="45" y="21"/>
                    </a:lnTo>
                    <a:lnTo>
                      <a:pt x="43" y="18"/>
                    </a:lnTo>
                    <a:lnTo>
                      <a:pt x="43" y="18"/>
                    </a:lnTo>
                    <a:lnTo>
                      <a:pt x="43" y="16"/>
                    </a:lnTo>
                    <a:lnTo>
                      <a:pt x="43" y="15"/>
                    </a:lnTo>
                    <a:lnTo>
                      <a:pt x="43" y="14"/>
                    </a:lnTo>
                    <a:lnTo>
                      <a:pt x="41" y="12"/>
                    </a:lnTo>
                    <a:lnTo>
                      <a:pt x="41" y="11"/>
                    </a:lnTo>
                    <a:lnTo>
                      <a:pt x="39" y="11"/>
                    </a:lnTo>
                    <a:lnTo>
                      <a:pt x="39" y="8"/>
                    </a:lnTo>
                    <a:lnTo>
                      <a:pt x="36" y="6"/>
                    </a:lnTo>
                    <a:lnTo>
                      <a:pt x="36" y="6"/>
                    </a:lnTo>
                    <a:lnTo>
                      <a:pt x="35" y="5"/>
                    </a:lnTo>
                    <a:lnTo>
                      <a:pt x="33" y="5"/>
                    </a:lnTo>
                    <a:lnTo>
                      <a:pt x="32" y="3"/>
                    </a:lnTo>
                    <a:lnTo>
                      <a:pt x="31" y="2"/>
                    </a:lnTo>
                    <a:lnTo>
                      <a:pt x="28" y="2"/>
                    </a:lnTo>
                    <a:lnTo>
                      <a:pt x="26" y="2"/>
                    </a:lnTo>
                    <a:lnTo>
                      <a:pt x="25" y="2"/>
                    </a:lnTo>
                    <a:lnTo>
                      <a:pt x="24" y="2"/>
                    </a:lnTo>
                    <a:lnTo>
                      <a:pt x="21" y="0"/>
                    </a:lnTo>
                    <a:lnTo>
                      <a:pt x="20" y="2"/>
                    </a:lnTo>
                    <a:lnTo>
                      <a:pt x="17" y="2"/>
                    </a:lnTo>
                    <a:lnTo>
                      <a:pt x="16" y="2"/>
                    </a:lnTo>
                    <a:lnTo>
                      <a:pt x="16" y="2"/>
                    </a:lnTo>
                    <a:lnTo>
                      <a:pt x="13" y="2"/>
                    </a:lnTo>
                    <a:lnTo>
                      <a:pt x="12" y="3"/>
                    </a:lnTo>
                    <a:lnTo>
                      <a:pt x="11" y="5"/>
                    </a:lnTo>
                    <a:lnTo>
                      <a:pt x="8" y="5"/>
                    </a:lnTo>
                    <a:lnTo>
                      <a:pt x="7" y="6"/>
                    </a:lnTo>
                    <a:lnTo>
                      <a:pt x="7" y="6"/>
                    </a:lnTo>
                    <a:lnTo>
                      <a:pt x="4" y="8"/>
                    </a:lnTo>
                    <a:lnTo>
                      <a:pt x="4" y="11"/>
                    </a:lnTo>
                    <a:lnTo>
                      <a:pt x="1" y="11"/>
                    </a:lnTo>
                    <a:lnTo>
                      <a:pt x="1" y="12"/>
                    </a:lnTo>
                    <a:lnTo>
                      <a:pt x="1" y="14"/>
                    </a:lnTo>
                    <a:lnTo>
                      <a:pt x="0" y="15"/>
                    </a:lnTo>
                    <a:lnTo>
                      <a:pt x="0" y="16"/>
                    </a:lnTo>
                    <a:lnTo>
                      <a:pt x="0" y="18"/>
                    </a:lnTo>
                    <a:lnTo>
                      <a:pt x="0" y="18"/>
                    </a:lnTo>
                    <a:lnTo>
                      <a:pt x="0" y="21"/>
                    </a:lnTo>
                    <a:lnTo>
                      <a:pt x="0" y="22"/>
                    </a:lnTo>
                    <a:lnTo>
                      <a:pt x="0" y="24"/>
                    </a:lnTo>
                    <a:lnTo>
                      <a:pt x="0" y="26"/>
                    </a:lnTo>
                    <a:lnTo>
                      <a:pt x="0" y="27"/>
                    </a:lnTo>
                    <a:lnTo>
                      <a:pt x="0" y="30"/>
                    </a:lnTo>
                    <a:lnTo>
                      <a:pt x="0" y="30"/>
                    </a:lnTo>
                    <a:lnTo>
                      <a:pt x="1" y="31"/>
                    </a:lnTo>
                    <a:lnTo>
                      <a:pt x="1" y="32"/>
                    </a:lnTo>
                    <a:lnTo>
                      <a:pt x="1" y="36"/>
                    </a:lnTo>
                    <a:lnTo>
                      <a:pt x="4" y="37"/>
                    </a:lnTo>
                    <a:lnTo>
                      <a:pt x="4" y="37"/>
                    </a:lnTo>
                    <a:lnTo>
                      <a:pt x="7" y="40"/>
                    </a:lnTo>
                    <a:lnTo>
                      <a:pt x="7" y="40"/>
                    </a:lnTo>
                    <a:lnTo>
                      <a:pt x="8" y="40"/>
                    </a:lnTo>
                    <a:lnTo>
                      <a:pt x="11" y="42"/>
                    </a:lnTo>
                    <a:lnTo>
                      <a:pt x="12" y="42"/>
                    </a:lnTo>
                    <a:lnTo>
                      <a:pt x="13" y="43"/>
                    </a:lnTo>
                    <a:lnTo>
                      <a:pt x="16" y="43"/>
                    </a:lnTo>
                    <a:lnTo>
                      <a:pt x="16" y="43"/>
                    </a:lnTo>
                    <a:lnTo>
                      <a:pt x="17" y="43"/>
                    </a:lnTo>
                    <a:lnTo>
                      <a:pt x="20" y="46"/>
                    </a:lnTo>
                    <a:lnTo>
                      <a:pt x="21" y="46"/>
                    </a:lnTo>
                    <a:lnTo>
                      <a:pt x="24" y="46"/>
                    </a:lnTo>
                    <a:lnTo>
                      <a:pt x="25" y="43"/>
                    </a:lnTo>
                    <a:lnTo>
                      <a:pt x="26" y="43"/>
                    </a:lnTo>
                    <a:lnTo>
                      <a:pt x="28" y="43"/>
                    </a:lnTo>
                    <a:lnTo>
                      <a:pt x="31" y="43"/>
                    </a:lnTo>
                    <a:lnTo>
                      <a:pt x="32" y="42"/>
                    </a:lnTo>
                    <a:lnTo>
                      <a:pt x="33" y="42"/>
                    </a:lnTo>
                    <a:lnTo>
                      <a:pt x="35" y="40"/>
                    </a:lnTo>
                    <a:lnTo>
                      <a:pt x="36" y="40"/>
                    </a:lnTo>
                    <a:lnTo>
                      <a:pt x="36" y="40"/>
                    </a:lnTo>
                    <a:lnTo>
                      <a:pt x="39" y="37"/>
                    </a:lnTo>
                    <a:lnTo>
                      <a:pt x="39" y="37"/>
                    </a:lnTo>
                    <a:lnTo>
                      <a:pt x="41" y="36"/>
                    </a:lnTo>
                    <a:lnTo>
                      <a:pt x="41" y="32"/>
                    </a:lnTo>
                    <a:lnTo>
                      <a:pt x="43" y="31"/>
                    </a:lnTo>
                    <a:lnTo>
                      <a:pt x="43" y="30"/>
                    </a:lnTo>
                    <a:lnTo>
                      <a:pt x="43" y="30"/>
                    </a:lnTo>
                    <a:lnTo>
                      <a:pt x="43" y="27"/>
                    </a:lnTo>
                    <a:lnTo>
                      <a:pt x="43" y="26"/>
                    </a:lnTo>
                    <a:lnTo>
                      <a:pt x="45" y="24"/>
                    </a:lnTo>
                    <a:lnTo>
                      <a:pt x="45" y="22"/>
                    </a:lnTo>
                    <a:lnTo>
                      <a:pt x="45" y="22"/>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38" name="Line 170"/>
              <p:cNvSpPr>
                <a:spLocks noChangeShapeType="1"/>
              </p:cNvSpPr>
              <p:nvPr/>
            </p:nvSpPr>
            <p:spPr bwMode="auto">
              <a:xfrm>
                <a:off x="4974" y="4530"/>
                <a:ext cx="0" cy="5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39" name="Line 171"/>
              <p:cNvSpPr>
                <a:spLocks noChangeShapeType="1"/>
              </p:cNvSpPr>
              <p:nvPr/>
            </p:nvSpPr>
            <p:spPr bwMode="auto">
              <a:xfrm flipH="1">
                <a:off x="4891" y="4581"/>
                <a:ext cx="16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40" name="Line 172"/>
              <p:cNvSpPr>
                <a:spLocks noChangeShapeType="1"/>
              </p:cNvSpPr>
              <p:nvPr/>
            </p:nvSpPr>
            <p:spPr bwMode="auto">
              <a:xfrm flipH="1">
                <a:off x="4917" y="4599"/>
                <a:ext cx="119"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41" name="Line 173"/>
              <p:cNvSpPr>
                <a:spLocks noChangeShapeType="1"/>
              </p:cNvSpPr>
              <p:nvPr/>
            </p:nvSpPr>
            <p:spPr bwMode="auto">
              <a:xfrm flipH="1">
                <a:off x="4938" y="4617"/>
                <a:ext cx="74"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42" name="Line 174"/>
              <p:cNvSpPr>
                <a:spLocks noChangeShapeType="1"/>
              </p:cNvSpPr>
              <p:nvPr/>
            </p:nvSpPr>
            <p:spPr bwMode="auto">
              <a:xfrm flipH="1">
                <a:off x="4964" y="4631"/>
                <a:ext cx="24"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43" name="Line 175"/>
              <p:cNvSpPr>
                <a:spLocks noChangeShapeType="1"/>
              </p:cNvSpPr>
              <p:nvPr/>
            </p:nvSpPr>
            <p:spPr bwMode="auto">
              <a:xfrm flipH="1">
                <a:off x="4973" y="4644"/>
                <a:ext cx="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44" name="Line 176"/>
              <p:cNvSpPr>
                <a:spLocks noChangeShapeType="1"/>
              </p:cNvSpPr>
              <p:nvPr/>
            </p:nvSpPr>
            <p:spPr bwMode="auto">
              <a:xfrm flipV="1">
                <a:off x="4657" y="4201"/>
                <a:ext cx="55" cy="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45" name="Line 177"/>
              <p:cNvSpPr>
                <a:spLocks noChangeShapeType="1"/>
              </p:cNvSpPr>
              <p:nvPr/>
            </p:nvSpPr>
            <p:spPr bwMode="auto">
              <a:xfrm flipH="1">
                <a:off x="4622" y="4201"/>
                <a:ext cx="90" cy="5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46" name="Line 178"/>
              <p:cNvSpPr>
                <a:spLocks noChangeShapeType="1"/>
              </p:cNvSpPr>
              <p:nvPr/>
            </p:nvSpPr>
            <p:spPr bwMode="auto">
              <a:xfrm flipH="1">
                <a:off x="4657" y="4262"/>
                <a:ext cx="47" cy="2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47" name="Line 179"/>
              <p:cNvSpPr>
                <a:spLocks noChangeShapeType="1"/>
              </p:cNvSpPr>
              <p:nvPr/>
            </p:nvSpPr>
            <p:spPr bwMode="auto">
              <a:xfrm flipV="1">
                <a:off x="4620" y="4166"/>
                <a:ext cx="54" cy="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48" name="Line 180"/>
              <p:cNvSpPr>
                <a:spLocks noChangeShapeType="1"/>
              </p:cNvSpPr>
              <p:nvPr/>
            </p:nvSpPr>
            <p:spPr bwMode="auto">
              <a:xfrm flipH="1">
                <a:off x="4585" y="4166"/>
                <a:ext cx="91" cy="5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49" name="Line 181"/>
              <p:cNvSpPr>
                <a:spLocks noChangeShapeType="1"/>
              </p:cNvSpPr>
              <p:nvPr/>
            </p:nvSpPr>
            <p:spPr bwMode="auto">
              <a:xfrm flipV="1">
                <a:off x="4585" y="4132"/>
                <a:ext cx="54" cy="8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50" name="Line 182"/>
              <p:cNvSpPr>
                <a:spLocks noChangeShapeType="1"/>
              </p:cNvSpPr>
              <p:nvPr/>
            </p:nvSpPr>
            <p:spPr bwMode="auto">
              <a:xfrm flipH="1">
                <a:off x="4551" y="4132"/>
                <a:ext cx="89" cy="5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51" name="Line 183"/>
              <p:cNvSpPr>
                <a:spLocks noChangeShapeType="1"/>
              </p:cNvSpPr>
              <p:nvPr/>
            </p:nvSpPr>
            <p:spPr bwMode="auto">
              <a:xfrm flipV="1">
                <a:off x="4551" y="4141"/>
                <a:ext cx="25" cy="4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52" name="Line 184"/>
              <p:cNvSpPr>
                <a:spLocks noChangeShapeType="1"/>
              </p:cNvSpPr>
              <p:nvPr/>
            </p:nvSpPr>
            <p:spPr bwMode="auto">
              <a:xfrm>
                <a:off x="4531" y="3580"/>
                <a:ext cx="91" cy="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53" name="Line 185"/>
              <p:cNvSpPr>
                <a:spLocks noChangeShapeType="1"/>
              </p:cNvSpPr>
              <p:nvPr/>
            </p:nvSpPr>
            <p:spPr bwMode="auto">
              <a:xfrm flipH="1" flipV="1">
                <a:off x="4568" y="3546"/>
                <a:ext cx="54" cy="8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54" name="Line 186"/>
              <p:cNvSpPr>
                <a:spLocks noChangeShapeType="1"/>
              </p:cNvSpPr>
              <p:nvPr/>
            </p:nvSpPr>
            <p:spPr bwMode="auto">
              <a:xfrm flipH="1" flipV="1">
                <a:off x="4531" y="3580"/>
                <a:ext cx="27" cy="4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55" name="Line 187"/>
              <p:cNvSpPr>
                <a:spLocks noChangeShapeType="1"/>
              </p:cNvSpPr>
              <p:nvPr/>
            </p:nvSpPr>
            <p:spPr bwMode="auto">
              <a:xfrm>
                <a:off x="4568" y="3545"/>
                <a:ext cx="89" cy="5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56" name="Line 188"/>
              <p:cNvSpPr>
                <a:spLocks noChangeShapeType="1"/>
              </p:cNvSpPr>
              <p:nvPr/>
            </p:nvSpPr>
            <p:spPr bwMode="auto">
              <a:xfrm flipH="1" flipV="1">
                <a:off x="4601" y="3510"/>
                <a:ext cx="56" cy="8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57" name="Line 189"/>
              <p:cNvSpPr>
                <a:spLocks noChangeShapeType="1"/>
              </p:cNvSpPr>
              <p:nvPr/>
            </p:nvSpPr>
            <p:spPr bwMode="auto">
              <a:xfrm>
                <a:off x="4601" y="3510"/>
                <a:ext cx="93" cy="5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58" name="Line 190"/>
              <p:cNvSpPr>
                <a:spLocks noChangeShapeType="1"/>
              </p:cNvSpPr>
              <p:nvPr/>
            </p:nvSpPr>
            <p:spPr bwMode="auto">
              <a:xfrm flipH="1" flipV="1">
                <a:off x="4639" y="3476"/>
                <a:ext cx="55" cy="8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59" name="Line 191"/>
              <p:cNvSpPr>
                <a:spLocks noChangeShapeType="1"/>
              </p:cNvSpPr>
              <p:nvPr/>
            </p:nvSpPr>
            <p:spPr bwMode="auto">
              <a:xfrm>
                <a:off x="4639" y="3475"/>
                <a:ext cx="48" cy="29"/>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60" name="Line 192"/>
              <p:cNvSpPr>
                <a:spLocks noChangeShapeType="1"/>
              </p:cNvSpPr>
              <p:nvPr/>
            </p:nvSpPr>
            <p:spPr bwMode="auto">
              <a:xfrm flipH="1">
                <a:off x="4595" y="3233"/>
                <a:ext cx="379"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61" name="Line 193"/>
              <p:cNvSpPr>
                <a:spLocks noChangeShapeType="1"/>
              </p:cNvSpPr>
              <p:nvPr/>
            </p:nvSpPr>
            <p:spPr bwMode="auto">
              <a:xfrm flipH="1">
                <a:off x="4586" y="4524"/>
                <a:ext cx="383"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grpSp>
      </p:grpSp>
      <p:sp>
        <p:nvSpPr>
          <p:cNvPr id="98" name="Text Box 3"/>
          <p:cNvSpPr txBox="1">
            <a:spLocks noChangeArrowheads="1"/>
          </p:cNvSpPr>
          <p:nvPr/>
        </p:nvSpPr>
        <p:spPr bwMode="auto">
          <a:xfrm>
            <a:off x="5169222" y="1709081"/>
            <a:ext cx="3028950" cy="1490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573088" indent="-163513" defTabSz="409575">
              <a:defRPr>
                <a:solidFill>
                  <a:schemeClr val="tx1"/>
                </a:solidFill>
                <a:latin typeface="Arial" panose="020B0604020202020204" pitchFamily="34" charset="0"/>
                <a:ea typeface="宋体" panose="02010600030101010101" pitchFamily="2" charset="-122"/>
              </a:defRPr>
            </a:lvl2pPr>
            <a:lvl3pPr marL="915988" indent="-95250"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0" hangingPunct="0">
              <a:lnSpc>
                <a:spcPct val="150000"/>
              </a:lnSpc>
              <a:buClr>
                <a:srgbClr val="000000"/>
              </a:buClr>
              <a:buSzPct val="46000"/>
              <a:buFont typeface="Monotype Sorts" pitchFamily="2" charset="2"/>
              <a:buChar char="l"/>
            </a:pPr>
            <a:r>
              <a:rPr lang="zh-CN" altLang="en-US" sz="2100" b="1" dirty="0">
                <a:solidFill>
                  <a:srgbClr val="FF0000"/>
                </a:solidFill>
                <a:latin typeface="微软雅黑" panose="020B0503020204020204" pitchFamily="34" charset="-122"/>
                <a:ea typeface="微软雅黑" panose="020B0503020204020204" pitchFamily="34" charset="-122"/>
              </a:rPr>
              <a:t>功分器</a:t>
            </a:r>
            <a:endParaRPr lang="zh-CN" altLang="en-US" sz="2100" dirty="0">
              <a:solidFill>
                <a:srgbClr val="FF0000"/>
              </a:solidFill>
              <a:latin typeface="微软雅黑" panose="020B0503020204020204" pitchFamily="34" charset="-122"/>
              <a:ea typeface="微软雅黑" panose="020B0503020204020204" pitchFamily="34" charset="-122"/>
            </a:endParaRPr>
          </a:p>
          <a:p>
            <a:pPr lvl="1" eaLnBrk="0" hangingPunct="0">
              <a:lnSpc>
                <a:spcPct val="150000"/>
              </a:lnSpc>
              <a:buClr>
                <a:srgbClr val="000000"/>
              </a:buClr>
              <a:buSzPct val="46000"/>
              <a:buFont typeface="Monotype Sorts" pitchFamily="2" charset="2"/>
              <a:buChar char="è"/>
            </a:pPr>
            <a:r>
              <a:rPr lang="zh-CN" altLang="en-US" sz="2100" b="1" dirty="0">
                <a:solidFill>
                  <a:srgbClr val="000000"/>
                </a:solidFill>
                <a:latin typeface="微软雅黑" panose="020B0503020204020204" pitchFamily="34" charset="-122"/>
                <a:ea typeface="微软雅黑" panose="020B0503020204020204" pitchFamily="34" charset="-122"/>
              </a:rPr>
              <a:t>提供参考</a:t>
            </a:r>
            <a:r>
              <a:rPr lang="zh-CN" altLang="en-US" sz="2100" b="1" dirty="0" smtClean="0">
                <a:solidFill>
                  <a:srgbClr val="000000"/>
                </a:solidFill>
                <a:latin typeface="微软雅黑" panose="020B0503020204020204" pitchFamily="34" charset="-122"/>
                <a:ea typeface="微软雅黑" panose="020B0503020204020204" pitchFamily="34" charset="-122"/>
              </a:rPr>
              <a:t>信号</a:t>
            </a:r>
            <a:endParaRPr lang="en-US" altLang="zh-CN" sz="2100" b="1" dirty="0" smtClean="0">
              <a:solidFill>
                <a:srgbClr val="000000"/>
              </a:solidFill>
              <a:latin typeface="微软雅黑" panose="020B0503020204020204" pitchFamily="34" charset="-122"/>
              <a:ea typeface="微软雅黑" panose="020B0503020204020204" pitchFamily="34" charset="-122"/>
            </a:endParaRPr>
          </a:p>
          <a:p>
            <a:pPr lvl="1" eaLnBrk="0" hangingPunct="0">
              <a:lnSpc>
                <a:spcPct val="150000"/>
              </a:lnSpc>
              <a:buClr>
                <a:srgbClr val="000000"/>
              </a:buClr>
              <a:buSzPct val="46000"/>
              <a:buFont typeface="Monotype Sorts" pitchFamily="2" charset="2"/>
              <a:buChar char="è"/>
            </a:pPr>
            <a:r>
              <a:rPr lang="zh-CN" altLang="en-US" sz="2100" b="1" dirty="0" smtClean="0">
                <a:solidFill>
                  <a:srgbClr val="000000"/>
                </a:solidFill>
                <a:latin typeface="微软雅黑" panose="020B0503020204020204" pitchFamily="34" charset="-122"/>
                <a:ea typeface="微软雅黑" panose="020B0503020204020204" pitchFamily="34" charset="-122"/>
              </a:rPr>
              <a:t>宽</a:t>
            </a:r>
            <a:r>
              <a:rPr lang="zh-CN" altLang="en-US" sz="2100" b="1" dirty="0">
                <a:solidFill>
                  <a:srgbClr val="000000"/>
                </a:solidFill>
                <a:latin typeface="微软雅黑" panose="020B0503020204020204" pitchFamily="34" charset="-122"/>
                <a:ea typeface="微软雅黑" panose="020B0503020204020204" pitchFamily="34" charset="-122"/>
              </a:rPr>
              <a:t>频率覆盖</a:t>
            </a:r>
            <a:endParaRPr lang="zh-CN" altLang="en-US" sz="2200" b="1" dirty="0">
              <a:latin typeface="微软雅黑" panose="020B0503020204020204" pitchFamily="34" charset="-122"/>
              <a:ea typeface="微软雅黑" panose="020B0503020204020204" pitchFamily="34" charset="-122"/>
            </a:endParaRPr>
          </a:p>
        </p:txBody>
      </p:sp>
      <p:sp>
        <p:nvSpPr>
          <p:cNvPr id="99" name="Text Box 19"/>
          <p:cNvSpPr txBox="1">
            <a:spLocks noChangeArrowheads="1"/>
          </p:cNvSpPr>
          <p:nvPr/>
        </p:nvSpPr>
        <p:spPr bwMode="auto">
          <a:xfrm>
            <a:off x="5205870" y="3731855"/>
            <a:ext cx="2974975" cy="185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573088" indent="-163513" defTabSz="409575">
              <a:defRPr>
                <a:solidFill>
                  <a:schemeClr val="tx1"/>
                </a:solidFill>
                <a:latin typeface="Arial" panose="020B0604020202020204" pitchFamily="34" charset="0"/>
                <a:ea typeface="宋体" panose="02010600030101010101" pitchFamily="2" charset="-122"/>
              </a:defRPr>
            </a:lvl2pPr>
            <a:lvl3pPr marL="915988" indent="-95250"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0" hangingPunct="0">
              <a:lnSpc>
                <a:spcPct val="150000"/>
              </a:lnSpc>
              <a:buClr>
                <a:srgbClr val="000000"/>
              </a:buClr>
              <a:buSzPct val="46000"/>
              <a:buFont typeface="Monotype Sorts" pitchFamily="2" charset="2"/>
              <a:buChar char="l"/>
            </a:pPr>
            <a:r>
              <a:rPr lang="zh-CN" altLang="en-US" sz="2100" b="1" dirty="0">
                <a:solidFill>
                  <a:srgbClr val="1CADE4"/>
                </a:solidFill>
                <a:latin typeface="微软雅黑" panose="020B0503020204020204" pitchFamily="34" charset="-122"/>
                <a:ea typeface="微软雅黑" panose="020B0503020204020204" pitchFamily="34" charset="-122"/>
              </a:rPr>
              <a:t>定向耦合器</a:t>
            </a:r>
          </a:p>
          <a:p>
            <a:pPr lvl="1" eaLnBrk="0" hangingPunct="0">
              <a:lnSpc>
                <a:spcPct val="150000"/>
              </a:lnSpc>
              <a:buClr>
                <a:srgbClr val="000000"/>
              </a:buClr>
              <a:buSzPct val="46000"/>
              <a:buFont typeface="Monotype Sorts" pitchFamily="2" charset="2"/>
              <a:buChar char="l"/>
            </a:pPr>
            <a:r>
              <a:rPr lang="zh-CN" altLang="en-US" sz="2100" b="1" dirty="0">
                <a:solidFill>
                  <a:srgbClr val="00B050"/>
                </a:solidFill>
                <a:latin typeface="微软雅黑" panose="020B0503020204020204" pitchFamily="34" charset="-122"/>
                <a:ea typeface="微软雅黑" panose="020B0503020204020204" pitchFamily="34" charset="-122"/>
              </a:rPr>
              <a:t>电桥</a:t>
            </a:r>
            <a:endParaRPr lang="zh-CN" altLang="en-US" sz="2100" dirty="0">
              <a:solidFill>
                <a:srgbClr val="00B050"/>
              </a:solidFill>
              <a:latin typeface="微软雅黑" panose="020B0503020204020204" pitchFamily="34" charset="-122"/>
              <a:ea typeface="微软雅黑" panose="020B0503020204020204" pitchFamily="34" charset="-122"/>
            </a:endParaRPr>
          </a:p>
          <a:p>
            <a:pPr lvl="1" eaLnBrk="0" hangingPunct="0">
              <a:lnSpc>
                <a:spcPct val="150000"/>
              </a:lnSpc>
              <a:buClr>
                <a:srgbClr val="000000"/>
              </a:buClr>
              <a:buSzPct val="46000"/>
              <a:buFont typeface="Monotype Sorts" pitchFamily="2" charset="2"/>
              <a:buChar char="è"/>
            </a:pPr>
            <a:r>
              <a:rPr lang="zh-CN" altLang="en-US" sz="2100" b="1" dirty="0" smtClean="0">
                <a:solidFill>
                  <a:srgbClr val="000000"/>
                </a:solidFill>
                <a:latin typeface="微软雅黑" panose="020B0503020204020204" pitchFamily="34" charset="-122"/>
                <a:ea typeface="微软雅黑" panose="020B0503020204020204" pitchFamily="34" charset="-122"/>
              </a:rPr>
              <a:t>方向性</a:t>
            </a:r>
            <a:endParaRPr lang="en-US" altLang="zh-CN" sz="2100" b="1" dirty="0" smtClean="0">
              <a:solidFill>
                <a:srgbClr val="000000"/>
              </a:solidFill>
              <a:latin typeface="微软雅黑" panose="020B0503020204020204" pitchFamily="34" charset="-122"/>
              <a:ea typeface="微软雅黑" panose="020B0503020204020204" pitchFamily="34" charset="-122"/>
            </a:endParaRPr>
          </a:p>
          <a:p>
            <a:pPr lvl="1" eaLnBrk="0" hangingPunct="0">
              <a:lnSpc>
                <a:spcPct val="150000"/>
              </a:lnSpc>
              <a:buClr>
                <a:srgbClr val="000000"/>
              </a:buClr>
              <a:buSzPct val="46000"/>
              <a:buFont typeface="Monotype Sorts" pitchFamily="2" charset="2"/>
              <a:buChar char="è"/>
            </a:pPr>
            <a:r>
              <a:rPr lang="zh-CN" altLang="en-US" sz="2100" b="1" dirty="0" smtClean="0">
                <a:solidFill>
                  <a:srgbClr val="000000"/>
                </a:solidFill>
                <a:latin typeface="微软雅黑" panose="020B0503020204020204" pitchFamily="34" charset="-122"/>
                <a:ea typeface="微软雅黑" panose="020B0503020204020204" pitchFamily="34" charset="-122"/>
              </a:rPr>
              <a:t>低</a:t>
            </a:r>
            <a:r>
              <a:rPr lang="zh-CN" altLang="en-US" sz="2100" b="1" dirty="0">
                <a:solidFill>
                  <a:srgbClr val="000000"/>
                </a:solidFill>
                <a:latin typeface="微软雅黑" panose="020B0503020204020204" pitchFamily="34" charset="-122"/>
                <a:ea typeface="微软雅黑" panose="020B0503020204020204" pitchFamily="34" charset="-122"/>
              </a:rPr>
              <a:t>插入损耗</a:t>
            </a:r>
          </a:p>
          <a:p>
            <a:pPr lvl="2" eaLnBrk="0" hangingPunct="0">
              <a:lnSpc>
                <a:spcPct val="150000"/>
              </a:lnSpc>
              <a:buClr>
                <a:srgbClr val="000000"/>
              </a:buClr>
              <a:buSzPct val="46000"/>
              <a:buFont typeface="Monotype Sorts" pitchFamily="2" charset="2"/>
              <a:buChar char="è"/>
            </a:pPr>
            <a:endParaRPr lang="en-US" altLang="zh-CN" sz="2200" dirty="0">
              <a:latin typeface="微软雅黑" panose="020B0503020204020204" pitchFamily="34" charset="-122"/>
              <a:ea typeface="微软雅黑" panose="020B0503020204020204" pitchFamily="34" charset="-122"/>
            </a:endParaRPr>
          </a:p>
        </p:txBody>
      </p:sp>
      <p:grpSp>
        <p:nvGrpSpPr>
          <p:cNvPr id="100" name="组合 99"/>
          <p:cNvGrpSpPr/>
          <p:nvPr/>
        </p:nvGrpSpPr>
        <p:grpSpPr>
          <a:xfrm>
            <a:off x="7414408" y="1869892"/>
            <a:ext cx="4113557" cy="3413377"/>
            <a:chOff x="7672389" y="1717676"/>
            <a:chExt cx="2835275" cy="2352675"/>
          </a:xfrm>
        </p:grpSpPr>
        <p:sp>
          <p:nvSpPr>
            <p:cNvPr id="101" name="AutoShape 47"/>
            <p:cNvSpPr>
              <a:spLocks noChangeArrowheads="1"/>
            </p:cNvSpPr>
            <p:nvPr/>
          </p:nvSpPr>
          <p:spPr bwMode="auto">
            <a:xfrm flipV="1">
              <a:off x="7672389" y="1717676"/>
              <a:ext cx="2835275" cy="2352675"/>
            </a:xfrm>
            <a:prstGeom prst="roundRect">
              <a:avLst>
                <a:gd name="adj" fmla="val 0"/>
              </a:avLst>
            </a:prstGeom>
            <a:solidFill>
              <a:srgbClr val="FFFFFF"/>
            </a:solidFill>
            <a:ln w="6350">
              <a:solidFill>
                <a:schemeClr val="bg1">
                  <a:lumMod val="75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02" name="Freeform 48"/>
            <p:cNvSpPr>
              <a:spLocks/>
            </p:cNvSpPr>
            <p:nvPr/>
          </p:nvSpPr>
          <p:spPr bwMode="auto">
            <a:xfrm>
              <a:off x="8442326" y="3689351"/>
              <a:ext cx="1509713" cy="201613"/>
            </a:xfrm>
            <a:custGeom>
              <a:avLst/>
              <a:gdLst>
                <a:gd name="T0" fmla="*/ 1046 w 1047"/>
                <a:gd name="T1" fmla="*/ 0 h 144"/>
                <a:gd name="T2" fmla="*/ 1046 w 1047"/>
                <a:gd name="T3" fmla="*/ 143 h 144"/>
                <a:gd name="T4" fmla="*/ 0 w 1047"/>
                <a:gd name="T5" fmla="*/ 143 h 144"/>
                <a:gd name="T6" fmla="*/ 0 w 1047"/>
                <a:gd name="T7" fmla="*/ 0 h 144"/>
                <a:gd name="T8" fmla="*/ 1046 w 1047"/>
                <a:gd name="T9" fmla="*/ 0 h 144"/>
                <a:gd name="T10" fmla="*/ 1046 w 1047"/>
                <a:gd name="T11" fmla="*/ 0 h 144"/>
              </a:gdLst>
              <a:ahLst/>
              <a:cxnLst>
                <a:cxn ang="0">
                  <a:pos x="T0" y="T1"/>
                </a:cxn>
                <a:cxn ang="0">
                  <a:pos x="T2" y="T3"/>
                </a:cxn>
                <a:cxn ang="0">
                  <a:pos x="T4" y="T5"/>
                </a:cxn>
                <a:cxn ang="0">
                  <a:pos x="T6" y="T7"/>
                </a:cxn>
                <a:cxn ang="0">
                  <a:pos x="T8" y="T9"/>
                </a:cxn>
                <a:cxn ang="0">
                  <a:pos x="T10" y="T11"/>
                </a:cxn>
              </a:cxnLst>
              <a:rect l="0" t="0" r="r" b="b"/>
              <a:pathLst>
                <a:path w="1047" h="144">
                  <a:moveTo>
                    <a:pt x="1046" y="0"/>
                  </a:moveTo>
                  <a:lnTo>
                    <a:pt x="1046" y="143"/>
                  </a:lnTo>
                  <a:lnTo>
                    <a:pt x="0" y="143"/>
                  </a:lnTo>
                  <a:lnTo>
                    <a:pt x="0" y="0"/>
                  </a:lnTo>
                  <a:lnTo>
                    <a:pt x="1046" y="0"/>
                  </a:lnTo>
                  <a:lnTo>
                    <a:pt x="1046" y="0"/>
                  </a:lnTo>
                </a:path>
              </a:pathLst>
            </a:custGeom>
            <a:gradFill rotWithShape="0">
              <a:gsLst>
                <a:gs pos="0">
                  <a:srgbClr val="FF9FA9"/>
                </a:gs>
                <a:gs pos="50000">
                  <a:srgbClr val="FFFFFF"/>
                </a:gs>
                <a:gs pos="100000">
                  <a:srgbClr val="FF9FA9"/>
                </a:gs>
              </a:gsLst>
              <a:lin ang="5400000" scaled="1"/>
            </a:gra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03" name="Freeform 49"/>
            <p:cNvSpPr>
              <a:spLocks/>
            </p:cNvSpPr>
            <p:nvPr/>
          </p:nvSpPr>
          <p:spPr bwMode="auto">
            <a:xfrm>
              <a:off x="8440738" y="3309938"/>
              <a:ext cx="1509712" cy="201612"/>
            </a:xfrm>
            <a:custGeom>
              <a:avLst/>
              <a:gdLst>
                <a:gd name="T0" fmla="*/ 1046 w 1047"/>
                <a:gd name="T1" fmla="*/ 0 h 144"/>
                <a:gd name="T2" fmla="*/ 1046 w 1047"/>
                <a:gd name="T3" fmla="*/ 143 h 144"/>
                <a:gd name="T4" fmla="*/ 0 w 1047"/>
                <a:gd name="T5" fmla="*/ 143 h 144"/>
                <a:gd name="T6" fmla="*/ 0 w 1047"/>
                <a:gd name="T7" fmla="*/ 0 h 144"/>
                <a:gd name="T8" fmla="*/ 1046 w 1047"/>
                <a:gd name="T9" fmla="*/ 0 h 144"/>
                <a:gd name="T10" fmla="*/ 1046 w 1047"/>
                <a:gd name="T11" fmla="*/ 0 h 144"/>
              </a:gdLst>
              <a:ahLst/>
              <a:cxnLst>
                <a:cxn ang="0">
                  <a:pos x="T0" y="T1"/>
                </a:cxn>
                <a:cxn ang="0">
                  <a:pos x="T2" y="T3"/>
                </a:cxn>
                <a:cxn ang="0">
                  <a:pos x="T4" y="T5"/>
                </a:cxn>
                <a:cxn ang="0">
                  <a:pos x="T6" y="T7"/>
                </a:cxn>
                <a:cxn ang="0">
                  <a:pos x="T8" y="T9"/>
                </a:cxn>
                <a:cxn ang="0">
                  <a:pos x="T10" y="T11"/>
                </a:cxn>
              </a:cxnLst>
              <a:rect l="0" t="0" r="r" b="b"/>
              <a:pathLst>
                <a:path w="1047" h="144">
                  <a:moveTo>
                    <a:pt x="1046" y="0"/>
                  </a:moveTo>
                  <a:lnTo>
                    <a:pt x="1046" y="143"/>
                  </a:lnTo>
                  <a:lnTo>
                    <a:pt x="0" y="143"/>
                  </a:lnTo>
                  <a:lnTo>
                    <a:pt x="0" y="0"/>
                  </a:lnTo>
                  <a:lnTo>
                    <a:pt x="1046" y="0"/>
                  </a:lnTo>
                  <a:lnTo>
                    <a:pt x="1046" y="0"/>
                  </a:lnTo>
                </a:path>
              </a:pathLst>
            </a:custGeom>
            <a:gradFill rotWithShape="0">
              <a:gsLst>
                <a:gs pos="0">
                  <a:srgbClr val="FFE118"/>
                </a:gs>
                <a:gs pos="50000">
                  <a:srgbClr val="FFFFFF"/>
                </a:gs>
                <a:gs pos="100000">
                  <a:srgbClr val="FFE118"/>
                </a:gs>
              </a:gsLst>
              <a:lin ang="5400000" scaled="1"/>
            </a:gra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04" name="Freeform 50"/>
            <p:cNvSpPr>
              <a:spLocks/>
            </p:cNvSpPr>
            <p:nvPr/>
          </p:nvSpPr>
          <p:spPr bwMode="auto">
            <a:xfrm>
              <a:off x="8004176" y="2024064"/>
              <a:ext cx="131763" cy="111125"/>
            </a:xfrm>
            <a:custGeom>
              <a:avLst/>
              <a:gdLst>
                <a:gd name="T0" fmla="*/ 0 w 91"/>
                <a:gd name="T1" fmla="*/ 37 h 79"/>
                <a:gd name="T2" fmla="*/ 2 w 91"/>
                <a:gd name="T3" fmla="*/ 32 h 79"/>
                <a:gd name="T4" fmla="*/ 4 w 91"/>
                <a:gd name="T5" fmla="*/ 27 h 79"/>
                <a:gd name="T6" fmla="*/ 6 w 91"/>
                <a:gd name="T7" fmla="*/ 22 h 79"/>
                <a:gd name="T8" fmla="*/ 8 w 91"/>
                <a:gd name="T9" fmla="*/ 18 h 79"/>
                <a:gd name="T10" fmla="*/ 9 w 91"/>
                <a:gd name="T11" fmla="*/ 14 h 79"/>
                <a:gd name="T12" fmla="*/ 11 w 91"/>
                <a:gd name="T13" fmla="*/ 10 h 79"/>
                <a:gd name="T14" fmla="*/ 13 w 91"/>
                <a:gd name="T15" fmla="*/ 7 h 79"/>
                <a:gd name="T16" fmla="*/ 15 w 91"/>
                <a:gd name="T17" fmla="*/ 5 h 79"/>
                <a:gd name="T18" fmla="*/ 17 w 91"/>
                <a:gd name="T19" fmla="*/ 2 h 79"/>
                <a:gd name="T20" fmla="*/ 19 w 91"/>
                <a:gd name="T21" fmla="*/ 1 h 79"/>
                <a:gd name="T22" fmla="*/ 20 w 91"/>
                <a:gd name="T23" fmla="*/ 0 h 79"/>
                <a:gd name="T24" fmla="*/ 22 w 91"/>
                <a:gd name="T25" fmla="*/ 0 h 79"/>
                <a:gd name="T26" fmla="*/ 24 w 91"/>
                <a:gd name="T27" fmla="*/ 0 h 79"/>
                <a:gd name="T28" fmla="*/ 26 w 91"/>
                <a:gd name="T29" fmla="*/ 1 h 79"/>
                <a:gd name="T30" fmla="*/ 27 w 91"/>
                <a:gd name="T31" fmla="*/ 2 h 79"/>
                <a:gd name="T32" fmla="*/ 30 w 91"/>
                <a:gd name="T33" fmla="*/ 5 h 79"/>
                <a:gd name="T34" fmla="*/ 31 w 91"/>
                <a:gd name="T35" fmla="*/ 7 h 79"/>
                <a:gd name="T36" fmla="*/ 33 w 91"/>
                <a:gd name="T37" fmla="*/ 11 h 79"/>
                <a:gd name="T38" fmla="*/ 35 w 91"/>
                <a:gd name="T39" fmla="*/ 14 h 79"/>
                <a:gd name="T40" fmla="*/ 37 w 91"/>
                <a:gd name="T41" fmla="*/ 18 h 79"/>
                <a:gd name="T42" fmla="*/ 38 w 91"/>
                <a:gd name="T43" fmla="*/ 22 h 79"/>
                <a:gd name="T44" fmla="*/ 40 w 91"/>
                <a:gd name="T45" fmla="*/ 27 h 79"/>
                <a:gd name="T46" fmla="*/ 42 w 91"/>
                <a:gd name="T47" fmla="*/ 32 h 79"/>
                <a:gd name="T48" fmla="*/ 43 w 91"/>
                <a:gd name="T49" fmla="*/ 37 h 79"/>
                <a:gd name="T50" fmla="*/ 45 w 91"/>
                <a:gd name="T51" fmla="*/ 39 h 79"/>
                <a:gd name="T52" fmla="*/ 47 w 91"/>
                <a:gd name="T53" fmla="*/ 44 h 79"/>
                <a:gd name="T54" fmla="*/ 48 w 91"/>
                <a:gd name="T55" fmla="*/ 48 h 79"/>
                <a:gd name="T56" fmla="*/ 50 w 91"/>
                <a:gd name="T57" fmla="*/ 54 h 79"/>
                <a:gd name="T58" fmla="*/ 52 w 91"/>
                <a:gd name="T59" fmla="*/ 58 h 79"/>
                <a:gd name="T60" fmla="*/ 54 w 91"/>
                <a:gd name="T61" fmla="*/ 62 h 79"/>
                <a:gd name="T62" fmla="*/ 56 w 91"/>
                <a:gd name="T63" fmla="*/ 66 h 79"/>
                <a:gd name="T64" fmla="*/ 58 w 91"/>
                <a:gd name="T65" fmla="*/ 69 h 79"/>
                <a:gd name="T66" fmla="*/ 59 w 91"/>
                <a:gd name="T67" fmla="*/ 72 h 79"/>
                <a:gd name="T68" fmla="*/ 61 w 91"/>
                <a:gd name="T69" fmla="*/ 75 h 79"/>
                <a:gd name="T70" fmla="*/ 63 w 91"/>
                <a:gd name="T71" fmla="*/ 77 h 79"/>
                <a:gd name="T72" fmla="*/ 65 w 91"/>
                <a:gd name="T73" fmla="*/ 78 h 79"/>
                <a:gd name="T74" fmla="*/ 67 w 91"/>
                <a:gd name="T75" fmla="*/ 78 h 79"/>
                <a:gd name="T76" fmla="*/ 68 w 91"/>
                <a:gd name="T77" fmla="*/ 78 h 79"/>
                <a:gd name="T78" fmla="*/ 69 w 91"/>
                <a:gd name="T79" fmla="*/ 78 h 79"/>
                <a:gd name="T80" fmla="*/ 72 w 91"/>
                <a:gd name="T81" fmla="*/ 77 h 79"/>
                <a:gd name="T82" fmla="*/ 74 w 91"/>
                <a:gd name="T83" fmla="*/ 75 h 79"/>
                <a:gd name="T84" fmla="*/ 76 w 91"/>
                <a:gd name="T85" fmla="*/ 72 h 79"/>
                <a:gd name="T86" fmla="*/ 77 w 91"/>
                <a:gd name="T87" fmla="*/ 69 h 79"/>
                <a:gd name="T88" fmla="*/ 79 w 91"/>
                <a:gd name="T89" fmla="*/ 66 h 79"/>
                <a:gd name="T90" fmla="*/ 81 w 91"/>
                <a:gd name="T91" fmla="*/ 62 h 79"/>
                <a:gd name="T92" fmla="*/ 83 w 91"/>
                <a:gd name="T93" fmla="*/ 58 h 79"/>
                <a:gd name="T94" fmla="*/ 85 w 91"/>
                <a:gd name="T95" fmla="*/ 54 h 79"/>
                <a:gd name="T96" fmla="*/ 87 w 91"/>
                <a:gd name="T97" fmla="*/ 48 h 79"/>
                <a:gd name="T98" fmla="*/ 88 w 91"/>
                <a:gd name="T99" fmla="*/ 44 h 79"/>
                <a:gd name="T100" fmla="*/ 90 w 91"/>
                <a:gd name="T101" fmla="*/ 3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1" h="79">
                  <a:moveTo>
                    <a:pt x="0" y="39"/>
                  </a:moveTo>
                  <a:lnTo>
                    <a:pt x="0" y="37"/>
                  </a:lnTo>
                  <a:lnTo>
                    <a:pt x="1" y="34"/>
                  </a:lnTo>
                  <a:lnTo>
                    <a:pt x="2" y="32"/>
                  </a:lnTo>
                  <a:lnTo>
                    <a:pt x="3" y="29"/>
                  </a:lnTo>
                  <a:lnTo>
                    <a:pt x="4" y="27"/>
                  </a:lnTo>
                  <a:lnTo>
                    <a:pt x="5" y="25"/>
                  </a:lnTo>
                  <a:lnTo>
                    <a:pt x="6" y="22"/>
                  </a:lnTo>
                  <a:lnTo>
                    <a:pt x="7" y="20"/>
                  </a:lnTo>
                  <a:lnTo>
                    <a:pt x="8" y="18"/>
                  </a:lnTo>
                  <a:lnTo>
                    <a:pt x="9" y="16"/>
                  </a:lnTo>
                  <a:lnTo>
                    <a:pt x="9" y="14"/>
                  </a:lnTo>
                  <a:lnTo>
                    <a:pt x="11" y="12"/>
                  </a:lnTo>
                  <a:lnTo>
                    <a:pt x="11" y="10"/>
                  </a:lnTo>
                  <a:lnTo>
                    <a:pt x="12" y="9"/>
                  </a:lnTo>
                  <a:lnTo>
                    <a:pt x="13" y="7"/>
                  </a:lnTo>
                  <a:lnTo>
                    <a:pt x="14" y="6"/>
                  </a:lnTo>
                  <a:lnTo>
                    <a:pt x="15" y="5"/>
                  </a:lnTo>
                  <a:lnTo>
                    <a:pt x="16" y="4"/>
                  </a:lnTo>
                  <a:lnTo>
                    <a:pt x="17" y="2"/>
                  </a:lnTo>
                  <a:lnTo>
                    <a:pt x="17" y="2"/>
                  </a:lnTo>
                  <a:lnTo>
                    <a:pt x="19" y="1"/>
                  </a:lnTo>
                  <a:lnTo>
                    <a:pt x="20" y="0"/>
                  </a:lnTo>
                  <a:lnTo>
                    <a:pt x="20" y="0"/>
                  </a:lnTo>
                  <a:lnTo>
                    <a:pt x="21" y="0"/>
                  </a:lnTo>
                  <a:lnTo>
                    <a:pt x="22" y="0"/>
                  </a:lnTo>
                  <a:lnTo>
                    <a:pt x="23" y="0"/>
                  </a:lnTo>
                  <a:lnTo>
                    <a:pt x="24" y="0"/>
                  </a:lnTo>
                  <a:lnTo>
                    <a:pt x="25" y="0"/>
                  </a:lnTo>
                  <a:lnTo>
                    <a:pt x="26" y="1"/>
                  </a:lnTo>
                  <a:lnTo>
                    <a:pt x="27" y="2"/>
                  </a:lnTo>
                  <a:lnTo>
                    <a:pt x="27" y="2"/>
                  </a:lnTo>
                  <a:lnTo>
                    <a:pt x="29" y="4"/>
                  </a:lnTo>
                  <a:lnTo>
                    <a:pt x="30" y="5"/>
                  </a:lnTo>
                  <a:lnTo>
                    <a:pt x="30" y="6"/>
                  </a:lnTo>
                  <a:lnTo>
                    <a:pt x="31" y="7"/>
                  </a:lnTo>
                  <a:lnTo>
                    <a:pt x="31" y="9"/>
                  </a:lnTo>
                  <a:lnTo>
                    <a:pt x="33" y="11"/>
                  </a:lnTo>
                  <a:lnTo>
                    <a:pt x="34" y="12"/>
                  </a:lnTo>
                  <a:lnTo>
                    <a:pt x="35" y="14"/>
                  </a:lnTo>
                  <a:lnTo>
                    <a:pt x="35" y="16"/>
                  </a:lnTo>
                  <a:lnTo>
                    <a:pt x="37" y="18"/>
                  </a:lnTo>
                  <a:lnTo>
                    <a:pt x="38" y="20"/>
                  </a:lnTo>
                  <a:lnTo>
                    <a:pt x="38" y="22"/>
                  </a:lnTo>
                  <a:lnTo>
                    <a:pt x="39" y="24"/>
                  </a:lnTo>
                  <a:lnTo>
                    <a:pt x="40" y="27"/>
                  </a:lnTo>
                  <a:lnTo>
                    <a:pt x="41" y="29"/>
                  </a:lnTo>
                  <a:lnTo>
                    <a:pt x="42" y="32"/>
                  </a:lnTo>
                  <a:lnTo>
                    <a:pt x="43" y="34"/>
                  </a:lnTo>
                  <a:lnTo>
                    <a:pt x="43" y="37"/>
                  </a:lnTo>
                  <a:lnTo>
                    <a:pt x="45" y="39"/>
                  </a:lnTo>
                  <a:lnTo>
                    <a:pt x="45" y="39"/>
                  </a:lnTo>
                  <a:lnTo>
                    <a:pt x="46" y="42"/>
                  </a:lnTo>
                  <a:lnTo>
                    <a:pt x="47" y="44"/>
                  </a:lnTo>
                  <a:lnTo>
                    <a:pt x="47" y="46"/>
                  </a:lnTo>
                  <a:lnTo>
                    <a:pt x="48" y="48"/>
                  </a:lnTo>
                  <a:lnTo>
                    <a:pt x="50" y="51"/>
                  </a:lnTo>
                  <a:lnTo>
                    <a:pt x="50" y="54"/>
                  </a:lnTo>
                  <a:lnTo>
                    <a:pt x="51" y="56"/>
                  </a:lnTo>
                  <a:lnTo>
                    <a:pt x="52" y="58"/>
                  </a:lnTo>
                  <a:lnTo>
                    <a:pt x="53" y="60"/>
                  </a:lnTo>
                  <a:lnTo>
                    <a:pt x="54" y="62"/>
                  </a:lnTo>
                  <a:lnTo>
                    <a:pt x="55" y="64"/>
                  </a:lnTo>
                  <a:lnTo>
                    <a:pt x="56" y="66"/>
                  </a:lnTo>
                  <a:lnTo>
                    <a:pt x="57" y="68"/>
                  </a:lnTo>
                  <a:lnTo>
                    <a:pt x="58" y="69"/>
                  </a:lnTo>
                  <a:lnTo>
                    <a:pt x="58" y="71"/>
                  </a:lnTo>
                  <a:lnTo>
                    <a:pt x="59" y="72"/>
                  </a:lnTo>
                  <a:lnTo>
                    <a:pt x="60" y="74"/>
                  </a:lnTo>
                  <a:lnTo>
                    <a:pt x="61" y="75"/>
                  </a:lnTo>
                  <a:lnTo>
                    <a:pt x="62" y="76"/>
                  </a:lnTo>
                  <a:lnTo>
                    <a:pt x="63" y="77"/>
                  </a:lnTo>
                  <a:lnTo>
                    <a:pt x="64" y="77"/>
                  </a:lnTo>
                  <a:lnTo>
                    <a:pt x="65" y="78"/>
                  </a:lnTo>
                  <a:lnTo>
                    <a:pt x="66" y="78"/>
                  </a:lnTo>
                  <a:lnTo>
                    <a:pt x="67" y="78"/>
                  </a:lnTo>
                  <a:lnTo>
                    <a:pt x="68" y="78"/>
                  </a:lnTo>
                  <a:lnTo>
                    <a:pt x="68" y="78"/>
                  </a:lnTo>
                  <a:lnTo>
                    <a:pt x="69" y="78"/>
                  </a:lnTo>
                  <a:lnTo>
                    <a:pt x="69" y="78"/>
                  </a:lnTo>
                  <a:lnTo>
                    <a:pt x="71" y="77"/>
                  </a:lnTo>
                  <a:lnTo>
                    <a:pt x="72" y="77"/>
                  </a:lnTo>
                  <a:lnTo>
                    <a:pt x="73" y="76"/>
                  </a:lnTo>
                  <a:lnTo>
                    <a:pt x="74" y="75"/>
                  </a:lnTo>
                  <a:lnTo>
                    <a:pt x="75" y="74"/>
                  </a:lnTo>
                  <a:lnTo>
                    <a:pt x="76" y="72"/>
                  </a:lnTo>
                  <a:lnTo>
                    <a:pt x="77" y="71"/>
                  </a:lnTo>
                  <a:lnTo>
                    <a:pt x="77" y="69"/>
                  </a:lnTo>
                  <a:lnTo>
                    <a:pt x="78" y="68"/>
                  </a:lnTo>
                  <a:lnTo>
                    <a:pt x="79" y="66"/>
                  </a:lnTo>
                  <a:lnTo>
                    <a:pt x="80" y="64"/>
                  </a:lnTo>
                  <a:lnTo>
                    <a:pt x="81" y="62"/>
                  </a:lnTo>
                  <a:lnTo>
                    <a:pt x="81" y="60"/>
                  </a:lnTo>
                  <a:lnTo>
                    <a:pt x="83" y="58"/>
                  </a:lnTo>
                  <a:lnTo>
                    <a:pt x="84" y="56"/>
                  </a:lnTo>
                  <a:lnTo>
                    <a:pt x="85" y="54"/>
                  </a:lnTo>
                  <a:lnTo>
                    <a:pt x="85" y="51"/>
                  </a:lnTo>
                  <a:lnTo>
                    <a:pt x="87" y="48"/>
                  </a:lnTo>
                  <a:lnTo>
                    <a:pt x="88" y="46"/>
                  </a:lnTo>
                  <a:lnTo>
                    <a:pt x="88" y="44"/>
                  </a:lnTo>
                  <a:lnTo>
                    <a:pt x="89" y="42"/>
                  </a:lnTo>
                  <a:lnTo>
                    <a:pt x="90" y="39"/>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05" name="Freeform 51"/>
            <p:cNvSpPr>
              <a:spLocks/>
            </p:cNvSpPr>
            <p:nvPr/>
          </p:nvSpPr>
          <p:spPr bwMode="auto">
            <a:xfrm>
              <a:off x="7931150" y="1941513"/>
              <a:ext cx="287338" cy="279400"/>
            </a:xfrm>
            <a:custGeom>
              <a:avLst/>
              <a:gdLst>
                <a:gd name="T0" fmla="*/ 198 w 199"/>
                <a:gd name="T1" fmla="*/ 91 h 199"/>
                <a:gd name="T2" fmla="*/ 196 w 199"/>
                <a:gd name="T3" fmla="*/ 77 h 199"/>
                <a:gd name="T4" fmla="*/ 191 w 199"/>
                <a:gd name="T5" fmla="*/ 63 h 199"/>
                <a:gd name="T6" fmla="*/ 185 w 199"/>
                <a:gd name="T7" fmla="*/ 49 h 199"/>
                <a:gd name="T8" fmla="*/ 177 w 199"/>
                <a:gd name="T9" fmla="*/ 37 h 199"/>
                <a:gd name="T10" fmla="*/ 167 w 199"/>
                <a:gd name="T11" fmla="*/ 26 h 199"/>
                <a:gd name="T12" fmla="*/ 155 w 199"/>
                <a:gd name="T13" fmla="*/ 17 h 199"/>
                <a:gd name="T14" fmla="*/ 142 w 199"/>
                <a:gd name="T15" fmla="*/ 9 h 199"/>
                <a:gd name="T16" fmla="*/ 128 w 199"/>
                <a:gd name="T17" fmla="*/ 4 h 199"/>
                <a:gd name="T18" fmla="*/ 114 w 199"/>
                <a:gd name="T19" fmla="*/ 1 h 199"/>
                <a:gd name="T20" fmla="*/ 99 w 199"/>
                <a:gd name="T21" fmla="*/ 0 h 199"/>
                <a:gd name="T22" fmla="*/ 84 w 199"/>
                <a:gd name="T23" fmla="*/ 1 h 199"/>
                <a:gd name="T24" fmla="*/ 70 w 199"/>
                <a:gd name="T25" fmla="*/ 4 h 199"/>
                <a:gd name="T26" fmla="*/ 56 w 199"/>
                <a:gd name="T27" fmla="*/ 9 h 199"/>
                <a:gd name="T28" fmla="*/ 43 w 199"/>
                <a:gd name="T29" fmla="*/ 17 h 199"/>
                <a:gd name="T30" fmla="*/ 31 w 199"/>
                <a:gd name="T31" fmla="*/ 26 h 199"/>
                <a:gd name="T32" fmla="*/ 21 w 199"/>
                <a:gd name="T33" fmla="*/ 37 h 199"/>
                <a:gd name="T34" fmla="*/ 13 w 199"/>
                <a:gd name="T35" fmla="*/ 49 h 199"/>
                <a:gd name="T36" fmla="*/ 6 w 199"/>
                <a:gd name="T37" fmla="*/ 63 h 199"/>
                <a:gd name="T38" fmla="*/ 2 w 199"/>
                <a:gd name="T39" fmla="*/ 77 h 199"/>
                <a:gd name="T40" fmla="*/ 0 w 199"/>
                <a:gd name="T41" fmla="*/ 91 h 199"/>
                <a:gd name="T42" fmla="*/ 0 w 199"/>
                <a:gd name="T43" fmla="*/ 106 h 199"/>
                <a:gd name="T44" fmla="*/ 2 w 199"/>
                <a:gd name="T45" fmla="*/ 121 h 199"/>
                <a:gd name="T46" fmla="*/ 6 w 199"/>
                <a:gd name="T47" fmla="*/ 136 h 199"/>
                <a:gd name="T48" fmla="*/ 13 w 199"/>
                <a:gd name="T49" fmla="*/ 149 h 199"/>
                <a:gd name="T50" fmla="*/ 21 w 199"/>
                <a:gd name="T51" fmla="*/ 161 h 199"/>
                <a:gd name="T52" fmla="*/ 31 w 199"/>
                <a:gd name="T53" fmla="*/ 172 h 199"/>
                <a:gd name="T54" fmla="*/ 43 w 199"/>
                <a:gd name="T55" fmla="*/ 181 h 199"/>
                <a:gd name="T56" fmla="*/ 56 w 199"/>
                <a:gd name="T57" fmla="*/ 189 h 199"/>
                <a:gd name="T58" fmla="*/ 70 w 199"/>
                <a:gd name="T59" fmla="*/ 194 h 199"/>
                <a:gd name="T60" fmla="*/ 84 w 199"/>
                <a:gd name="T61" fmla="*/ 197 h 199"/>
                <a:gd name="T62" fmla="*/ 99 w 199"/>
                <a:gd name="T63" fmla="*/ 198 h 199"/>
                <a:gd name="T64" fmla="*/ 114 w 199"/>
                <a:gd name="T65" fmla="*/ 197 h 199"/>
                <a:gd name="T66" fmla="*/ 128 w 199"/>
                <a:gd name="T67" fmla="*/ 194 h 199"/>
                <a:gd name="T68" fmla="*/ 142 w 199"/>
                <a:gd name="T69" fmla="*/ 189 h 199"/>
                <a:gd name="T70" fmla="*/ 155 w 199"/>
                <a:gd name="T71" fmla="*/ 181 h 199"/>
                <a:gd name="T72" fmla="*/ 167 w 199"/>
                <a:gd name="T73" fmla="*/ 172 h 199"/>
                <a:gd name="T74" fmla="*/ 177 w 199"/>
                <a:gd name="T75" fmla="*/ 161 h 199"/>
                <a:gd name="T76" fmla="*/ 185 w 199"/>
                <a:gd name="T77" fmla="*/ 149 h 199"/>
                <a:gd name="T78" fmla="*/ 191 w 199"/>
                <a:gd name="T79" fmla="*/ 136 h 199"/>
                <a:gd name="T80" fmla="*/ 196 w 199"/>
                <a:gd name="T81" fmla="*/ 121 h 199"/>
                <a:gd name="T82" fmla="*/ 198 w 199"/>
                <a:gd name="T83" fmla="*/ 106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9" h="199">
                  <a:moveTo>
                    <a:pt x="198" y="99"/>
                  </a:moveTo>
                  <a:lnTo>
                    <a:pt x="198" y="91"/>
                  </a:lnTo>
                  <a:lnTo>
                    <a:pt x="197" y="85"/>
                  </a:lnTo>
                  <a:lnTo>
                    <a:pt x="196" y="77"/>
                  </a:lnTo>
                  <a:lnTo>
                    <a:pt x="194" y="69"/>
                  </a:lnTo>
                  <a:lnTo>
                    <a:pt x="191" y="63"/>
                  </a:lnTo>
                  <a:lnTo>
                    <a:pt x="189" y="56"/>
                  </a:lnTo>
                  <a:lnTo>
                    <a:pt x="185" y="49"/>
                  </a:lnTo>
                  <a:lnTo>
                    <a:pt x="181" y="43"/>
                  </a:lnTo>
                  <a:lnTo>
                    <a:pt x="177" y="37"/>
                  </a:lnTo>
                  <a:lnTo>
                    <a:pt x="172" y="31"/>
                  </a:lnTo>
                  <a:lnTo>
                    <a:pt x="167" y="26"/>
                  </a:lnTo>
                  <a:lnTo>
                    <a:pt x="161" y="21"/>
                  </a:lnTo>
                  <a:lnTo>
                    <a:pt x="155" y="17"/>
                  </a:lnTo>
                  <a:lnTo>
                    <a:pt x="148" y="13"/>
                  </a:lnTo>
                  <a:lnTo>
                    <a:pt x="142" y="9"/>
                  </a:lnTo>
                  <a:lnTo>
                    <a:pt x="136" y="7"/>
                  </a:lnTo>
                  <a:lnTo>
                    <a:pt x="128" y="4"/>
                  </a:lnTo>
                  <a:lnTo>
                    <a:pt x="120" y="2"/>
                  </a:lnTo>
                  <a:lnTo>
                    <a:pt x="114" y="1"/>
                  </a:lnTo>
                  <a:lnTo>
                    <a:pt x="106" y="0"/>
                  </a:lnTo>
                  <a:lnTo>
                    <a:pt x="99" y="0"/>
                  </a:lnTo>
                  <a:lnTo>
                    <a:pt x="91" y="0"/>
                  </a:lnTo>
                  <a:lnTo>
                    <a:pt x="84" y="1"/>
                  </a:lnTo>
                  <a:lnTo>
                    <a:pt x="77" y="2"/>
                  </a:lnTo>
                  <a:lnTo>
                    <a:pt x="70" y="4"/>
                  </a:lnTo>
                  <a:lnTo>
                    <a:pt x="62" y="7"/>
                  </a:lnTo>
                  <a:lnTo>
                    <a:pt x="56" y="9"/>
                  </a:lnTo>
                  <a:lnTo>
                    <a:pt x="50" y="13"/>
                  </a:lnTo>
                  <a:lnTo>
                    <a:pt x="43" y="17"/>
                  </a:lnTo>
                  <a:lnTo>
                    <a:pt x="37" y="21"/>
                  </a:lnTo>
                  <a:lnTo>
                    <a:pt x="31" y="26"/>
                  </a:lnTo>
                  <a:lnTo>
                    <a:pt x="26" y="31"/>
                  </a:lnTo>
                  <a:lnTo>
                    <a:pt x="21" y="37"/>
                  </a:lnTo>
                  <a:lnTo>
                    <a:pt x="17" y="43"/>
                  </a:lnTo>
                  <a:lnTo>
                    <a:pt x="13" y="49"/>
                  </a:lnTo>
                  <a:lnTo>
                    <a:pt x="9" y="56"/>
                  </a:lnTo>
                  <a:lnTo>
                    <a:pt x="6" y="63"/>
                  </a:lnTo>
                  <a:lnTo>
                    <a:pt x="4" y="69"/>
                  </a:lnTo>
                  <a:lnTo>
                    <a:pt x="2" y="77"/>
                  </a:lnTo>
                  <a:lnTo>
                    <a:pt x="1" y="85"/>
                  </a:lnTo>
                  <a:lnTo>
                    <a:pt x="0" y="91"/>
                  </a:lnTo>
                  <a:lnTo>
                    <a:pt x="0" y="99"/>
                  </a:lnTo>
                  <a:lnTo>
                    <a:pt x="0" y="106"/>
                  </a:lnTo>
                  <a:lnTo>
                    <a:pt x="1" y="114"/>
                  </a:lnTo>
                  <a:lnTo>
                    <a:pt x="2" y="121"/>
                  </a:lnTo>
                  <a:lnTo>
                    <a:pt x="4" y="128"/>
                  </a:lnTo>
                  <a:lnTo>
                    <a:pt x="6" y="136"/>
                  </a:lnTo>
                  <a:lnTo>
                    <a:pt x="9" y="142"/>
                  </a:lnTo>
                  <a:lnTo>
                    <a:pt x="13" y="149"/>
                  </a:lnTo>
                  <a:lnTo>
                    <a:pt x="17" y="155"/>
                  </a:lnTo>
                  <a:lnTo>
                    <a:pt x="21" y="161"/>
                  </a:lnTo>
                  <a:lnTo>
                    <a:pt x="26" y="167"/>
                  </a:lnTo>
                  <a:lnTo>
                    <a:pt x="31" y="172"/>
                  </a:lnTo>
                  <a:lnTo>
                    <a:pt x="37" y="177"/>
                  </a:lnTo>
                  <a:lnTo>
                    <a:pt x="43" y="181"/>
                  </a:lnTo>
                  <a:lnTo>
                    <a:pt x="50" y="185"/>
                  </a:lnTo>
                  <a:lnTo>
                    <a:pt x="56" y="189"/>
                  </a:lnTo>
                  <a:lnTo>
                    <a:pt x="62" y="192"/>
                  </a:lnTo>
                  <a:lnTo>
                    <a:pt x="70" y="194"/>
                  </a:lnTo>
                  <a:lnTo>
                    <a:pt x="77" y="196"/>
                  </a:lnTo>
                  <a:lnTo>
                    <a:pt x="84" y="197"/>
                  </a:lnTo>
                  <a:lnTo>
                    <a:pt x="91" y="198"/>
                  </a:lnTo>
                  <a:lnTo>
                    <a:pt x="99" y="198"/>
                  </a:lnTo>
                  <a:lnTo>
                    <a:pt x="106" y="198"/>
                  </a:lnTo>
                  <a:lnTo>
                    <a:pt x="114" y="197"/>
                  </a:lnTo>
                  <a:lnTo>
                    <a:pt x="120" y="196"/>
                  </a:lnTo>
                  <a:lnTo>
                    <a:pt x="128" y="194"/>
                  </a:lnTo>
                  <a:lnTo>
                    <a:pt x="136" y="192"/>
                  </a:lnTo>
                  <a:lnTo>
                    <a:pt x="142" y="189"/>
                  </a:lnTo>
                  <a:lnTo>
                    <a:pt x="148" y="185"/>
                  </a:lnTo>
                  <a:lnTo>
                    <a:pt x="155" y="181"/>
                  </a:lnTo>
                  <a:lnTo>
                    <a:pt x="161" y="177"/>
                  </a:lnTo>
                  <a:lnTo>
                    <a:pt x="167" y="172"/>
                  </a:lnTo>
                  <a:lnTo>
                    <a:pt x="172" y="167"/>
                  </a:lnTo>
                  <a:lnTo>
                    <a:pt x="177" y="161"/>
                  </a:lnTo>
                  <a:lnTo>
                    <a:pt x="181" y="155"/>
                  </a:lnTo>
                  <a:lnTo>
                    <a:pt x="185" y="149"/>
                  </a:lnTo>
                  <a:lnTo>
                    <a:pt x="189" y="142"/>
                  </a:lnTo>
                  <a:lnTo>
                    <a:pt x="191" y="136"/>
                  </a:lnTo>
                  <a:lnTo>
                    <a:pt x="194" y="128"/>
                  </a:lnTo>
                  <a:lnTo>
                    <a:pt x="196" y="121"/>
                  </a:lnTo>
                  <a:lnTo>
                    <a:pt x="197" y="114"/>
                  </a:lnTo>
                  <a:lnTo>
                    <a:pt x="198" y="106"/>
                  </a:lnTo>
                  <a:lnTo>
                    <a:pt x="198" y="99"/>
                  </a:lnTo>
                </a:path>
              </a:pathLst>
            </a:custGeom>
            <a:noFill/>
            <a:ln w="317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06" name="Text Box 52"/>
            <p:cNvSpPr txBox="1">
              <a:spLocks noChangeArrowheads="1"/>
            </p:cNvSpPr>
            <p:nvPr/>
          </p:nvSpPr>
          <p:spPr bwMode="auto">
            <a:xfrm>
              <a:off x="8680450" y="3357563"/>
              <a:ext cx="1136650" cy="10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600" b="1">
                  <a:solidFill>
                    <a:srgbClr val="0000FF"/>
                  </a:solidFill>
                  <a:latin typeface="ITCCenturyBookT" pitchFamily="2" charset="0"/>
                </a:rPr>
                <a:t>RECEIVER / DETECTOR</a:t>
              </a:r>
              <a:endParaRPr lang="en-US" altLang="zh-CN" sz="2200">
                <a:latin typeface="Times New Roman" panose="02020603050405020304" pitchFamily="18" charset="0"/>
              </a:endParaRPr>
            </a:p>
          </p:txBody>
        </p:sp>
        <p:sp>
          <p:nvSpPr>
            <p:cNvPr id="107" name="Text Box 53"/>
            <p:cNvSpPr txBox="1">
              <a:spLocks noChangeArrowheads="1"/>
            </p:cNvSpPr>
            <p:nvPr/>
          </p:nvSpPr>
          <p:spPr bwMode="auto">
            <a:xfrm>
              <a:off x="8697913" y="3740151"/>
              <a:ext cx="1155700" cy="10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600" b="1">
                  <a:solidFill>
                    <a:srgbClr val="0000FF"/>
                  </a:solidFill>
                  <a:latin typeface="ITCCenturyBookT" pitchFamily="2" charset="0"/>
                </a:rPr>
                <a:t>PROCESSOR / DISPLAY</a:t>
              </a:r>
              <a:endParaRPr lang="en-US" altLang="zh-CN" sz="2200">
                <a:latin typeface="Times New Roman" panose="02020603050405020304" pitchFamily="18" charset="0"/>
              </a:endParaRPr>
            </a:p>
          </p:txBody>
        </p:sp>
        <p:sp>
          <p:nvSpPr>
            <p:cNvPr id="108" name="Line 54"/>
            <p:cNvSpPr>
              <a:spLocks noChangeShapeType="1"/>
            </p:cNvSpPr>
            <p:nvPr/>
          </p:nvSpPr>
          <p:spPr bwMode="auto">
            <a:xfrm>
              <a:off x="8215313" y="2082800"/>
              <a:ext cx="13970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09" name="Freeform 55"/>
            <p:cNvSpPr>
              <a:spLocks/>
            </p:cNvSpPr>
            <p:nvPr/>
          </p:nvSpPr>
          <p:spPr bwMode="auto">
            <a:xfrm>
              <a:off x="8348663" y="2078039"/>
              <a:ext cx="30162" cy="14287"/>
            </a:xfrm>
            <a:custGeom>
              <a:avLst/>
              <a:gdLst>
                <a:gd name="T0" fmla="*/ 20 w 21"/>
                <a:gd name="T1" fmla="*/ 4 h 10"/>
                <a:gd name="T2" fmla="*/ 0 w 21"/>
                <a:gd name="T3" fmla="*/ 0 h 10"/>
                <a:gd name="T4" fmla="*/ 3 w 21"/>
                <a:gd name="T5" fmla="*/ 4 h 10"/>
                <a:gd name="T6" fmla="*/ 0 w 21"/>
                <a:gd name="T7" fmla="*/ 9 h 10"/>
                <a:gd name="T8" fmla="*/ 20 w 21"/>
                <a:gd name="T9" fmla="*/ 4 h 10"/>
                <a:gd name="T10" fmla="*/ 20 w 21"/>
                <a:gd name="T11" fmla="*/ 4 h 10"/>
              </a:gdLst>
              <a:ahLst/>
              <a:cxnLst>
                <a:cxn ang="0">
                  <a:pos x="T0" y="T1"/>
                </a:cxn>
                <a:cxn ang="0">
                  <a:pos x="T2" y="T3"/>
                </a:cxn>
                <a:cxn ang="0">
                  <a:pos x="T4" y="T5"/>
                </a:cxn>
                <a:cxn ang="0">
                  <a:pos x="T6" y="T7"/>
                </a:cxn>
                <a:cxn ang="0">
                  <a:pos x="T8" y="T9"/>
                </a:cxn>
                <a:cxn ang="0">
                  <a:pos x="T10" y="T11"/>
                </a:cxn>
              </a:cxnLst>
              <a:rect l="0" t="0" r="r" b="b"/>
              <a:pathLst>
                <a:path w="21" h="10">
                  <a:moveTo>
                    <a:pt x="20" y="4"/>
                  </a:moveTo>
                  <a:lnTo>
                    <a:pt x="0" y="0"/>
                  </a:lnTo>
                  <a:lnTo>
                    <a:pt x="3" y="4"/>
                  </a:lnTo>
                  <a:lnTo>
                    <a:pt x="0" y="9"/>
                  </a:lnTo>
                  <a:lnTo>
                    <a:pt x="20" y="4"/>
                  </a:lnTo>
                  <a:lnTo>
                    <a:pt x="20" y="4"/>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10" name="Line 56"/>
            <p:cNvSpPr>
              <a:spLocks noChangeShapeType="1"/>
            </p:cNvSpPr>
            <p:nvPr/>
          </p:nvSpPr>
          <p:spPr bwMode="auto">
            <a:xfrm>
              <a:off x="8374063" y="2181225"/>
              <a:ext cx="0" cy="36988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11" name="Freeform 57"/>
            <p:cNvSpPr>
              <a:spLocks/>
            </p:cNvSpPr>
            <p:nvPr/>
          </p:nvSpPr>
          <p:spPr bwMode="auto">
            <a:xfrm>
              <a:off x="8369300" y="2546351"/>
              <a:ext cx="12700" cy="30163"/>
            </a:xfrm>
            <a:custGeom>
              <a:avLst/>
              <a:gdLst>
                <a:gd name="T0" fmla="*/ 3 w 9"/>
                <a:gd name="T1" fmla="*/ 20 h 21"/>
                <a:gd name="T2" fmla="*/ 8 w 9"/>
                <a:gd name="T3" fmla="*/ 0 h 21"/>
                <a:gd name="T4" fmla="*/ 3 w 9"/>
                <a:gd name="T5" fmla="*/ 3 h 21"/>
                <a:gd name="T6" fmla="*/ 0 w 9"/>
                <a:gd name="T7" fmla="*/ 0 h 21"/>
                <a:gd name="T8" fmla="*/ 3 w 9"/>
                <a:gd name="T9" fmla="*/ 20 h 21"/>
                <a:gd name="T10" fmla="*/ 3 w 9"/>
                <a:gd name="T11" fmla="*/ 20 h 21"/>
              </a:gdLst>
              <a:ahLst/>
              <a:cxnLst>
                <a:cxn ang="0">
                  <a:pos x="T0" y="T1"/>
                </a:cxn>
                <a:cxn ang="0">
                  <a:pos x="T2" y="T3"/>
                </a:cxn>
                <a:cxn ang="0">
                  <a:pos x="T4" y="T5"/>
                </a:cxn>
                <a:cxn ang="0">
                  <a:pos x="T6" y="T7"/>
                </a:cxn>
                <a:cxn ang="0">
                  <a:pos x="T8" y="T9"/>
                </a:cxn>
                <a:cxn ang="0">
                  <a:pos x="T10" y="T11"/>
                </a:cxn>
              </a:cxnLst>
              <a:rect l="0" t="0" r="r" b="b"/>
              <a:pathLst>
                <a:path w="9" h="21">
                  <a:moveTo>
                    <a:pt x="3" y="20"/>
                  </a:moveTo>
                  <a:lnTo>
                    <a:pt x="8" y="0"/>
                  </a:lnTo>
                  <a:lnTo>
                    <a:pt x="3" y="3"/>
                  </a:lnTo>
                  <a:lnTo>
                    <a:pt x="0" y="0"/>
                  </a:lnTo>
                  <a:lnTo>
                    <a:pt x="3" y="20"/>
                  </a:lnTo>
                  <a:lnTo>
                    <a:pt x="3" y="2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12" name="Line 58"/>
            <p:cNvSpPr>
              <a:spLocks noChangeShapeType="1"/>
            </p:cNvSpPr>
            <p:nvPr/>
          </p:nvSpPr>
          <p:spPr bwMode="auto">
            <a:xfrm>
              <a:off x="8523288" y="2343151"/>
              <a:ext cx="0" cy="21272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13" name="Freeform 59"/>
            <p:cNvSpPr>
              <a:spLocks/>
            </p:cNvSpPr>
            <p:nvPr/>
          </p:nvSpPr>
          <p:spPr bwMode="auto">
            <a:xfrm>
              <a:off x="8516939" y="2546351"/>
              <a:ext cx="14287" cy="30163"/>
            </a:xfrm>
            <a:custGeom>
              <a:avLst/>
              <a:gdLst>
                <a:gd name="T0" fmla="*/ 5 w 10"/>
                <a:gd name="T1" fmla="*/ 21 h 22"/>
                <a:gd name="T2" fmla="*/ 9 w 10"/>
                <a:gd name="T3" fmla="*/ 0 h 22"/>
                <a:gd name="T4" fmla="*/ 5 w 10"/>
                <a:gd name="T5" fmla="*/ 4 h 22"/>
                <a:gd name="T6" fmla="*/ 0 w 10"/>
                <a:gd name="T7" fmla="*/ 0 h 22"/>
                <a:gd name="T8" fmla="*/ 5 w 10"/>
                <a:gd name="T9" fmla="*/ 21 h 22"/>
                <a:gd name="T10" fmla="*/ 5 w 10"/>
                <a:gd name="T11" fmla="*/ 21 h 22"/>
              </a:gdLst>
              <a:ahLst/>
              <a:cxnLst>
                <a:cxn ang="0">
                  <a:pos x="T0" y="T1"/>
                </a:cxn>
                <a:cxn ang="0">
                  <a:pos x="T2" y="T3"/>
                </a:cxn>
                <a:cxn ang="0">
                  <a:pos x="T4" y="T5"/>
                </a:cxn>
                <a:cxn ang="0">
                  <a:pos x="T6" y="T7"/>
                </a:cxn>
                <a:cxn ang="0">
                  <a:pos x="T8" y="T9"/>
                </a:cxn>
                <a:cxn ang="0">
                  <a:pos x="T10" y="T11"/>
                </a:cxn>
              </a:cxnLst>
              <a:rect l="0" t="0" r="r" b="b"/>
              <a:pathLst>
                <a:path w="10" h="22">
                  <a:moveTo>
                    <a:pt x="5" y="21"/>
                  </a:moveTo>
                  <a:lnTo>
                    <a:pt x="9" y="0"/>
                  </a:lnTo>
                  <a:lnTo>
                    <a:pt x="5" y="4"/>
                  </a:lnTo>
                  <a:lnTo>
                    <a:pt x="0" y="0"/>
                  </a:lnTo>
                  <a:lnTo>
                    <a:pt x="5" y="21"/>
                  </a:lnTo>
                  <a:lnTo>
                    <a:pt x="5" y="21"/>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14" name="Line 60"/>
            <p:cNvSpPr>
              <a:spLocks noChangeShapeType="1"/>
            </p:cNvSpPr>
            <p:nvPr/>
          </p:nvSpPr>
          <p:spPr bwMode="auto">
            <a:xfrm>
              <a:off x="9877425" y="2185989"/>
              <a:ext cx="0" cy="3698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15" name="Freeform 61"/>
            <p:cNvSpPr>
              <a:spLocks/>
            </p:cNvSpPr>
            <p:nvPr/>
          </p:nvSpPr>
          <p:spPr bwMode="auto">
            <a:xfrm>
              <a:off x="9871075" y="2551113"/>
              <a:ext cx="14288" cy="30162"/>
            </a:xfrm>
            <a:custGeom>
              <a:avLst/>
              <a:gdLst>
                <a:gd name="T0" fmla="*/ 5 w 10"/>
                <a:gd name="T1" fmla="*/ 20 h 21"/>
                <a:gd name="T2" fmla="*/ 9 w 10"/>
                <a:gd name="T3" fmla="*/ 0 h 21"/>
                <a:gd name="T4" fmla="*/ 5 w 10"/>
                <a:gd name="T5" fmla="*/ 3 h 21"/>
                <a:gd name="T6" fmla="*/ 0 w 10"/>
                <a:gd name="T7" fmla="*/ 0 h 21"/>
                <a:gd name="T8" fmla="*/ 5 w 10"/>
                <a:gd name="T9" fmla="*/ 20 h 21"/>
                <a:gd name="T10" fmla="*/ 5 w 10"/>
                <a:gd name="T11" fmla="*/ 20 h 21"/>
              </a:gdLst>
              <a:ahLst/>
              <a:cxnLst>
                <a:cxn ang="0">
                  <a:pos x="T0" y="T1"/>
                </a:cxn>
                <a:cxn ang="0">
                  <a:pos x="T2" y="T3"/>
                </a:cxn>
                <a:cxn ang="0">
                  <a:pos x="T4" y="T5"/>
                </a:cxn>
                <a:cxn ang="0">
                  <a:pos x="T6" y="T7"/>
                </a:cxn>
                <a:cxn ang="0">
                  <a:pos x="T8" y="T9"/>
                </a:cxn>
                <a:cxn ang="0">
                  <a:pos x="T10" y="T11"/>
                </a:cxn>
              </a:cxnLst>
              <a:rect l="0" t="0" r="r" b="b"/>
              <a:pathLst>
                <a:path w="10" h="21">
                  <a:moveTo>
                    <a:pt x="5" y="20"/>
                  </a:moveTo>
                  <a:lnTo>
                    <a:pt x="9" y="0"/>
                  </a:lnTo>
                  <a:lnTo>
                    <a:pt x="5" y="3"/>
                  </a:lnTo>
                  <a:lnTo>
                    <a:pt x="0" y="0"/>
                  </a:lnTo>
                  <a:lnTo>
                    <a:pt x="5" y="20"/>
                  </a:lnTo>
                  <a:lnTo>
                    <a:pt x="5" y="2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16" name="Line 62"/>
            <p:cNvSpPr>
              <a:spLocks noChangeShapeType="1"/>
            </p:cNvSpPr>
            <p:nvPr/>
          </p:nvSpPr>
          <p:spPr bwMode="auto">
            <a:xfrm>
              <a:off x="9163050" y="3521076"/>
              <a:ext cx="0" cy="1444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17" name="Freeform 63"/>
            <p:cNvSpPr>
              <a:spLocks/>
            </p:cNvSpPr>
            <p:nvPr/>
          </p:nvSpPr>
          <p:spPr bwMode="auto">
            <a:xfrm>
              <a:off x="9156700" y="3662364"/>
              <a:ext cx="14288" cy="28575"/>
            </a:xfrm>
            <a:custGeom>
              <a:avLst/>
              <a:gdLst>
                <a:gd name="T0" fmla="*/ 4 w 9"/>
                <a:gd name="T1" fmla="*/ 20 h 21"/>
                <a:gd name="T2" fmla="*/ 8 w 9"/>
                <a:gd name="T3" fmla="*/ 0 h 21"/>
                <a:gd name="T4" fmla="*/ 4 w 9"/>
                <a:gd name="T5" fmla="*/ 3 h 21"/>
                <a:gd name="T6" fmla="*/ 0 w 9"/>
                <a:gd name="T7" fmla="*/ 0 h 21"/>
                <a:gd name="T8" fmla="*/ 4 w 9"/>
                <a:gd name="T9" fmla="*/ 20 h 21"/>
                <a:gd name="T10" fmla="*/ 4 w 9"/>
                <a:gd name="T11" fmla="*/ 20 h 21"/>
              </a:gdLst>
              <a:ahLst/>
              <a:cxnLst>
                <a:cxn ang="0">
                  <a:pos x="T0" y="T1"/>
                </a:cxn>
                <a:cxn ang="0">
                  <a:pos x="T2" y="T3"/>
                </a:cxn>
                <a:cxn ang="0">
                  <a:pos x="T4" y="T5"/>
                </a:cxn>
                <a:cxn ang="0">
                  <a:pos x="T6" y="T7"/>
                </a:cxn>
                <a:cxn ang="0">
                  <a:pos x="T8" y="T9"/>
                </a:cxn>
                <a:cxn ang="0">
                  <a:pos x="T10" y="T11"/>
                </a:cxn>
              </a:cxnLst>
              <a:rect l="0" t="0" r="r" b="b"/>
              <a:pathLst>
                <a:path w="9" h="21">
                  <a:moveTo>
                    <a:pt x="4" y="20"/>
                  </a:moveTo>
                  <a:lnTo>
                    <a:pt x="8" y="0"/>
                  </a:lnTo>
                  <a:lnTo>
                    <a:pt x="4" y="3"/>
                  </a:lnTo>
                  <a:lnTo>
                    <a:pt x="0" y="0"/>
                  </a:lnTo>
                  <a:lnTo>
                    <a:pt x="4" y="20"/>
                  </a:lnTo>
                  <a:lnTo>
                    <a:pt x="4" y="2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18" name="Text Box 64"/>
            <p:cNvSpPr txBox="1">
              <a:spLocks noChangeArrowheads="1"/>
            </p:cNvSpPr>
            <p:nvPr/>
          </p:nvSpPr>
          <p:spPr bwMode="auto">
            <a:xfrm>
              <a:off x="8672514" y="2962276"/>
              <a:ext cx="427037" cy="15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400" b="1">
                  <a:solidFill>
                    <a:srgbClr val="000000"/>
                  </a:solidFill>
                </a:rPr>
                <a:t>REFLECTED</a:t>
              </a:r>
            </a:p>
            <a:p>
              <a:pPr algn="ctr" eaLnBrk="0" hangingPunct="0">
                <a:lnSpc>
                  <a:spcPct val="150000"/>
                </a:lnSpc>
                <a:buClr>
                  <a:srgbClr val="104160"/>
                </a:buClr>
                <a:buSzPct val="90000"/>
                <a:buFont typeface="Monotype Sorts" pitchFamily="2" charset="2"/>
                <a:buNone/>
              </a:pPr>
              <a:r>
                <a:rPr lang="en-US" altLang="zh-CN" sz="400" b="1">
                  <a:solidFill>
                    <a:srgbClr val="000000"/>
                  </a:solidFill>
                </a:rPr>
                <a:t>(A)</a:t>
              </a:r>
              <a:endParaRPr lang="en-US" altLang="zh-CN" sz="2200">
                <a:latin typeface="Times New Roman" panose="02020603050405020304" pitchFamily="18" charset="0"/>
              </a:endParaRPr>
            </a:p>
          </p:txBody>
        </p:sp>
        <p:sp>
          <p:nvSpPr>
            <p:cNvPr id="119" name="Text Box 65"/>
            <p:cNvSpPr txBox="1">
              <a:spLocks noChangeArrowheads="1"/>
            </p:cNvSpPr>
            <p:nvPr/>
          </p:nvSpPr>
          <p:spPr bwMode="auto">
            <a:xfrm>
              <a:off x="9390063" y="2962276"/>
              <a:ext cx="508000" cy="15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400" b="1">
                  <a:solidFill>
                    <a:srgbClr val="000000"/>
                  </a:solidFill>
                </a:rPr>
                <a:t>TRANSMITTED</a:t>
              </a:r>
            </a:p>
            <a:p>
              <a:pPr algn="ctr" eaLnBrk="0" hangingPunct="0">
                <a:lnSpc>
                  <a:spcPct val="150000"/>
                </a:lnSpc>
                <a:buClr>
                  <a:srgbClr val="104160"/>
                </a:buClr>
                <a:buSzPct val="90000"/>
                <a:buFont typeface="Monotype Sorts" pitchFamily="2" charset="2"/>
                <a:buNone/>
              </a:pPr>
              <a:r>
                <a:rPr lang="en-US" altLang="zh-CN" sz="400" b="1">
                  <a:solidFill>
                    <a:srgbClr val="000000"/>
                  </a:solidFill>
                </a:rPr>
                <a:t>(B)</a:t>
              </a:r>
              <a:endParaRPr lang="en-US" altLang="zh-CN" sz="2200">
                <a:latin typeface="Times New Roman" panose="02020603050405020304" pitchFamily="18" charset="0"/>
              </a:endParaRPr>
            </a:p>
          </p:txBody>
        </p:sp>
        <p:sp>
          <p:nvSpPr>
            <p:cNvPr id="120" name="Text Box 66"/>
            <p:cNvSpPr txBox="1">
              <a:spLocks noChangeArrowheads="1"/>
            </p:cNvSpPr>
            <p:nvPr/>
          </p:nvSpPr>
          <p:spPr bwMode="auto">
            <a:xfrm>
              <a:off x="8013701" y="2962276"/>
              <a:ext cx="341313" cy="15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400" b="1">
                  <a:solidFill>
                    <a:srgbClr val="000000"/>
                  </a:solidFill>
                </a:rPr>
                <a:t>INCIDENT (R)</a:t>
              </a:r>
              <a:endParaRPr lang="en-US" altLang="zh-CN" sz="2200">
                <a:latin typeface="Times New Roman" panose="02020603050405020304" pitchFamily="18" charset="0"/>
              </a:endParaRPr>
            </a:p>
          </p:txBody>
        </p:sp>
        <p:sp>
          <p:nvSpPr>
            <p:cNvPr id="121" name="Freeform 67"/>
            <p:cNvSpPr>
              <a:spLocks/>
            </p:cNvSpPr>
            <p:nvPr/>
          </p:nvSpPr>
          <p:spPr bwMode="auto">
            <a:xfrm>
              <a:off x="8112125" y="2584450"/>
              <a:ext cx="674688" cy="350838"/>
            </a:xfrm>
            <a:custGeom>
              <a:avLst/>
              <a:gdLst>
                <a:gd name="T0" fmla="*/ 466 w 467"/>
                <a:gd name="T1" fmla="*/ 0 h 250"/>
                <a:gd name="T2" fmla="*/ 466 w 467"/>
                <a:gd name="T3" fmla="*/ 249 h 250"/>
                <a:gd name="T4" fmla="*/ 0 w 467"/>
                <a:gd name="T5" fmla="*/ 249 h 250"/>
                <a:gd name="T6" fmla="*/ 0 w 467"/>
                <a:gd name="T7" fmla="*/ 0 h 250"/>
                <a:gd name="T8" fmla="*/ 466 w 467"/>
                <a:gd name="T9" fmla="*/ 0 h 250"/>
                <a:gd name="T10" fmla="*/ 466 w 467"/>
                <a:gd name="T11" fmla="*/ 0 h 250"/>
              </a:gdLst>
              <a:ahLst/>
              <a:cxnLst>
                <a:cxn ang="0">
                  <a:pos x="T0" y="T1"/>
                </a:cxn>
                <a:cxn ang="0">
                  <a:pos x="T2" y="T3"/>
                </a:cxn>
                <a:cxn ang="0">
                  <a:pos x="T4" y="T5"/>
                </a:cxn>
                <a:cxn ang="0">
                  <a:pos x="T6" y="T7"/>
                </a:cxn>
                <a:cxn ang="0">
                  <a:pos x="T8" y="T9"/>
                </a:cxn>
                <a:cxn ang="0">
                  <a:pos x="T10" y="T11"/>
                </a:cxn>
              </a:cxnLst>
              <a:rect l="0" t="0" r="r" b="b"/>
              <a:pathLst>
                <a:path w="467" h="250">
                  <a:moveTo>
                    <a:pt x="466" y="0"/>
                  </a:moveTo>
                  <a:lnTo>
                    <a:pt x="466" y="249"/>
                  </a:lnTo>
                  <a:lnTo>
                    <a:pt x="0" y="249"/>
                  </a:lnTo>
                  <a:lnTo>
                    <a:pt x="0" y="0"/>
                  </a:lnTo>
                  <a:lnTo>
                    <a:pt x="466" y="0"/>
                  </a:lnTo>
                  <a:lnTo>
                    <a:pt x="466" y="0"/>
                  </a:lnTo>
                </a:path>
              </a:pathLst>
            </a:custGeom>
            <a:gradFill rotWithShape="0">
              <a:gsLst>
                <a:gs pos="0">
                  <a:srgbClr val="C0E1FF"/>
                </a:gs>
                <a:gs pos="50000">
                  <a:srgbClr val="FFFFFF"/>
                </a:gs>
                <a:gs pos="100000">
                  <a:srgbClr val="C0E1FF"/>
                </a:gs>
              </a:gsLst>
              <a:lin ang="5400000" scaled="1"/>
            </a:gra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22" name="Freeform 68"/>
            <p:cNvSpPr>
              <a:spLocks/>
            </p:cNvSpPr>
            <p:nvPr/>
          </p:nvSpPr>
          <p:spPr bwMode="auto">
            <a:xfrm>
              <a:off x="8655050" y="2652713"/>
              <a:ext cx="57150" cy="80962"/>
            </a:xfrm>
            <a:custGeom>
              <a:avLst/>
              <a:gdLst>
                <a:gd name="T0" fmla="*/ 19 w 39"/>
                <a:gd name="T1" fmla="*/ 0 h 57"/>
                <a:gd name="T2" fmla="*/ 19 w 39"/>
                <a:gd name="T3" fmla="*/ 22 h 57"/>
                <a:gd name="T4" fmla="*/ 38 w 39"/>
                <a:gd name="T5" fmla="*/ 30 h 57"/>
                <a:gd name="T6" fmla="*/ 0 w 39"/>
                <a:gd name="T7" fmla="*/ 43 h 57"/>
                <a:gd name="T8" fmla="*/ 38 w 39"/>
                <a:gd name="T9" fmla="*/ 56 h 57"/>
              </a:gdLst>
              <a:ahLst/>
              <a:cxnLst>
                <a:cxn ang="0">
                  <a:pos x="T0" y="T1"/>
                </a:cxn>
                <a:cxn ang="0">
                  <a:pos x="T2" y="T3"/>
                </a:cxn>
                <a:cxn ang="0">
                  <a:pos x="T4" y="T5"/>
                </a:cxn>
                <a:cxn ang="0">
                  <a:pos x="T6" y="T7"/>
                </a:cxn>
                <a:cxn ang="0">
                  <a:pos x="T8" y="T9"/>
                </a:cxn>
              </a:cxnLst>
              <a:rect l="0" t="0" r="r" b="b"/>
              <a:pathLst>
                <a:path w="39" h="57">
                  <a:moveTo>
                    <a:pt x="19" y="0"/>
                  </a:moveTo>
                  <a:lnTo>
                    <a:pt x="19" y="22"/>
                  </a:lnTo>
                  <a:lnTo>
                    <a:pt x="38" y="30"/>
                  </a:lnTo>
                  <a:lnTo>
                    <a:pt x="0" y="43"/>
                  </a:lnTo>
                  <a:lnTo>
                    <a:pt x="38" y="56"/>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23" name="Freeform 69"/>
            <p:cNvSpPr>
              <a:spLocks/>
            </p:cNvSpPr>
            <p:nvPr/>
          </p:nvSpPr>
          <p:spPr bwMode="auto">
            <a:xfrm>
              <a:off x="8655050" y="2732089"/>
              <a:ext cx="57150" cy="85725"/>
            </a:xfrm>
            <a:custGeom>
              <a:avLst/>
              <a:gdLst>
                <a:gd name="T0" fmla="*/ 38 w 39"/>
                <a:gd name="T1" fmla="*/ 0 h 61"/>
                <a:gd name="T2" fmla="*/ 0 w 39"/>
                <a:gd name="T3" fmla="*/ 17 h 61"/>
                <a:gd name="T4" fmla="*/ 38 w 39"/>
                <a:gd name="T5" fmla="*/ 30 h 61"/>
                <a:gd name="T6" fmla="*/ 0 w 39"/>
                <a:gd name="T7" fmla="*/ 43 h 61"/>
                <a:gd name="T8" fmla="*/ 38 w 39"/>
                <a:gd name="T9" fmla="*/ 51 h 61"/>
                <a:gd name="T10" fmla="*/ 19 w 39"/>
                <a:gd name="T11" fmla="*/ 60 h 61"/>
              </a:gdLst>
              <a:ahLst/>
              <a:cxnLst>
                <a:cxn ang="0">
                  <a:pos x="T0" y="T1"/>
                </a:cxn>
                <a:cxn ang="0">
                  <a:pos x="T2" y="T3"/>
                </a:cxn>
                <a:cxn ang="0">
                  <a:pos x="T4" y="T5"/>
                </a:cxn>
                <a:cxn ang="0">
                  <a:pos x="T6" y="T7"/>
                </a:cxn>
                <a:cxn ang="0">
                  <a:pos x="T8" y="T9"/>
                </a:cxn>
                <a:cxn ang="0">
                  <a:pos x="T10" y="T11"/>
                </a:cxn>
              </a:cxnLst>
              <a:rect l="0" t="0" r="r" b="b"/>
              <a:pathLst>
                <a:path w="39" h="61">
                  <a:moveTo>
                    <a:pt x="38" y="0"/>
                  </a:moveTo>
                  <a:lnTo>
                    <a:pt x="0" y="17"/>
                  </a:lnTo>
                  <a:lnTo>
                    <a:pt x="38" y="30"/>
                  </a:lnTo>
                  <a:lnTo>
                    <a:pt x="0" y="43"/>
                  </a:lnTo>
                  <a:lnTo>
                    <a:pt x="38" y="51"/>
                  </a:lnTo>
                  <a:lnTo>
                    <a:pt x="19" y="6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24" name="Line 70"/>
            <p:cNvSpPr>
              <a:spLocks noChangeShapeType="1"/>
            </p:cNvSpPr>
            <p:nvPr/>
          </p:nvSpPr>
          <p:spPr bwMode="auto">
            <a:xfrm>
              <a:off x="8682038" y="2816226"/>
              <a:ext cx="0" cy="3651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25" name="Line 71"/>
            <p:cNvSpPr>
              <a:spLocks noChangeShapeType="1"/>
            </p:cNvSpPr>
            <p:nvPr/>
          </p:nvSpPr>
          <p:spPr bwMode="auto">
            <a:xfrm>
              <a:off x="8494714" y="2649538"/>
              <a:ext cx="58737" cy="6350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26" name="Freeform 72"/>
            <p:cNvSpPr>
              <a:spLocks/>
            </p:cNvSpPr>
            <p:nvPr/>
          </p:nvSpPr>
          <p:spPr bwMode="auto">
            <a:xfrm>
              <a:off x="8478839" y="2630489"/>
              <a:ext cx="26987" cy="28575"/>
            </a:xfrm>
            <a:custGeom>
              <a:avLst/>
              <a:gdLst>
                <a:gd name="T0" fmla="*/ 0 w 18"/>
                <a:gd name="T1" fmla="*/ 0 h 20"/>
                <a:gd name="T2" fmla="*/ 10 w 18"/>
                <a:gd name="T3" fmla="*/ 19 h 20"/>
                <a:gd name="T4" fmla="*/ 11 w 18"/>
                <a:gd name="T5" fmla="*/ 13 h 20"/>
                <a:gd name="T6" fmla="*/ 17 w 18"/>
                <a:gd name="T7" fmla="*/ 13 h 20"/>
                <a:gd name="T8" fmla="*/ 0 w 18"/>
                <a:gd name="T9" fmla="*/ 0 h 20"/>
                <a:gd name="T10" fmla="*/ 0 w 18"/>
                <a:gd name="T11" fmla="*/ 0 h 20"/>
              </a:gdLst>
              <a:ahLst/>
              <a:cxnLst>
                <a:cxn ang="0">
                  <a:pos x="T0" y="T1"/>
                </a:cxn>
                <a:cxn ang="0">
                  <a:pos x="T2" y="T3"/>
                </a:cxn>
                <a:cxn ang="0">
                  <a:pos x="T4" y="T5"/>
                </a:cxn>
                <a:cxn ang="0">
                  <a:pos x="T6" y="T7"/>
                </a:cxn>
                <a:cxn ang="0">
                  <a:pos x="T8" y="T9"/>
                </a:cxn>
                <a:cxn ang="0">
                  <a:pos x="T10" y="T11"/>
                </a:cxn>
              </a:cxnLst>
              <a:rect l="0" t="0" r="r" b="b"/>
              <a:pathLst>
                <a:path w="18" h="20">
                  <a:moveTo>
                    <a:pt x="0" y="0"/>
                  </a:moveTo>
                  <a:lnTo>
                    <a:pt x="10" y="19"/>
                  </a:lnTo>
                  <a:lnTo>
                    <a:pt x="11" y="13"/>
                  </a:lnTo>
                  <a:lnTo>
                    <a:pt x="17" y="13"/>
                  </a:lnTo>
                  <a:lnTo>
                    <a:pt x="0" y="0"/>
                  </a:lnTo>
                  <a:lnTo>
                    <a:pt x="0" y="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27" name="Freeform 73"/>
            <p:cNvSpPr>
              <a:spLocks/>
            </p:cNvSpPr>
            <p:nvPr/>
          </p:nvSpPr>
          <p:spPr bwMode="auto">
            <a:xfrm>
              <a:off x="8547100" y="2705100"/>
              <a:ext cx="25400" cy="26988"/>
            </a:xfrm>
            <a:custGeom>
              <a:avLst/>
              <a:gdLst>
                <a:gd name="T0" fmla="*/ 17 w 18"/>
                <a:gd name="T1" fmla="*/ 18 h 19"/>
                <a:gd name="T2" fmla="*/ 6 w 18"/>
                <a:gd name="T3" fmla="*/ 0 h 19"/>
                <a:gd name="T4" fmla="*/ 5 w 18"/>
                <a:gd name="T5" fmla="*/ 5 h 19"/>
                <a:gd name="T6" fmla="*/ 0 w 18"/>
                <a:gd name="T7" fmla="*/ 6 h 19"/>
                <a:gd name="T8" fmla="*/ 17 w 18"/>
                <a:gd name="T9" fmla="*/ 18 h 19"/>
                <a:gd name="T10" fmla="*/ 17 w 18"/>
                <a:gd name="T11" fmla="*/ 18 h 19"/>
              </a:gdLst>
              <a:ahLst/>
              <a:cxnLst>
                <a:cxn ang="0">
                  <a:pos x="T0" y="T1"/>
                </a:cxn>
                <a:cxn ang="0">
                  <a:pos x="T2" y="T3"/>
                </a:cxn>
                <a:cxn ang="0">
                  <a:pos x="T4" y="T5"/>
                </a:cxn>
                <a:cxn ang="0">
                  <a:pos x="T6" y="T7"/>
                </a:cxn>
                <a:cxn ang="0">
                  <a:pos x="T8" y="T9"/>
                </a:cxn>
                <a:cxn ang="0">
                  <a:pos x="T10" y="T11"/>
                </a:cxn>
              </a:cxnLst>
              <a:rect l="0" t="0" r="r" b="b"/>
              <a:pathLst>
                <a:path w="18" h="19">
                  <a:moveTo>
                    <a:pt x="17" y="18"/>
                  </a:moveTo>
                  <a:lnTo>
                    <a:pt x="6" y="0"/>
                  </a:lnTo>
                  <a:lnTo>
                    <a:pt x="5" y="5"/>
                  </a:lnTo>
                  <a:lnTo>
                    <a:pt x="0" y="6"/>
                  </a:lnTo>
                  <a:lnTo>
                    <a:pt x="17" y="18"/>
                  </a:lnTo>
                  <a:lnTo>
                    <a:pt x="17" y="18"/>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28" name="Line 74"/>
            <p:cNvSpPr>
              <a:spLocks noChangeShapeType="1"/>
            </p:cNvSpPr>
            <p:nvPr/>
          </p:nvSpPr>
          <p:spPr bwMode="auto">
            <a:xfrm flipH="1">
              <a:off x="8494714" y="2649538"/>
              <a:ext cx="58737" cy="6350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29" name="Freeform 75"/>
            <p:cNvSpPr>
              <a:spLocks/>
            </p:cNvSpPr>
            <p:nvPr/>
          </p:nvSpPr>
          <p:spPr bwMode="auto">
            <a:xfrm>
              <a:off x="8547100" y="2630489"/>
              <a:ext cx="25400" cy="28575"/>
            </a:xfrm>
            <a:custGeom>
              <a:avLst/>
              <a:gdLst>
                <a:gd name="T0" fmla="*/ 17 w 18"/>
                <a:gd name="T1" fmla="*/ 0 h 20"/>
                <a:gd name="T2" fmla="*/ 0 w 18"/>
                <a:gd name="T3" fmla="*/ 13 h 20"/>
                <a:gd name="T4" fmla="*/ 5 w 18"/>
                <a:gd name="T5" fmla="*/ 13 h 20"/>
                <a:gd name="T6" fmla="*/ 6 w 18"/>
                <a:gd name="T7" fmla="*/ 19 h 20"/>
                <a:gd name="T8" fmla="*/ 17 w 18"/>
                <a:gd name="T9" fmla="*/ 0 h 20"/>
                <a:gd name="T10" fmla="*/ 17 w 18"/>
                <a:gd name="T11" fmla="*/ 0 h 20"/>
              </a:gdLst>
              <a:ahLst/>
              <a:cxnLst>
                <a:cxn ang="0">
                  <a:pos x="T0" y="T1"/>
                </a:cxn>
                <a:cxn ang="0">
                  <a:pos x="T2" y="T3"/>
                </a:cxn>
                <a:cxn ang="0">
                  <a:pos x="T4" y="T5"/>
                </a:cxn>
                <a:cxn ang="0">
                  <a:pos x="T6" y="T7"/>
                </a:cxn>
                <a:cxn ang="0">
                  <a:pos x="T8" y="T9"/>
                </a:cxn>
                <a:cxn ang="0">
                  <a:pos x="T10" y="T11"/>
                </a:cxn>
              </a:cxnLst>
              <a:rect l="0" t="0" r="r" b="b"/>
              <a:pathLst>
                <a:path w="18" h="20">
                  <a:moveTo>
                    <a:pt x="17" y="0"/>
                  </a:moveTo>
                  <a:lnTo>
                    <a:pt x="0" y="13"/>
                  </a:lnTo>
                  <a:lnTo>
                    <a:pt x="5" y="13"/>
                  </a:lnTo>
                  <a:lnTo>
                    <a:pt x="6" y="19"/>
                  </a:lnTo>
                  <a:lnTo>
                    <a:pt x="17" y="0"/>
                  </a:lnTo>
                  <a:lnTo>
                    <a:pt x="17" y="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30" name="Freeform 76"/>
            <p:cNvSpPr>
              <a:spLocks/>
            </p:cNvSpPr>
            <p:nvPr/>
          </p:nvSpPr>
          <p:spPr bwMode="auto">
            <a:xfrm>
              <a:off x="8478839" y="2705100"/>
              <a:ext cx="26987" cy="26988"/>
            </a:xfrm>
            <a:custGeom>
              <a:avLst/>
              <a:gdLst>
                <a:gd name="T0" fmla="*/ 0 w 18"/>
                <a:gd name="T1" fmla="*/ 18 h 19"/>
                <a:gd name="T2" fmla="*/ 17 w 18"/>
                <a:gd name="T3" fmla="*/ 6 h 19"/>
                <a:gd name="T4" fmla="*/ 11 w 18"/>
                <a:gd name="T5" fmla="*/ 5 h 19"/>
                <a:gd name="T6" fmla="*/ 10 w 18"/>
                <a:gd name="T7" fmla="*/ 0 h 19"/>
                <a:gd name="T8" fmla="*/ 0 w 18"/>
                <a:gd name="T9" fmla="*/ 18 h 19"/>
                <a:gd name="T10" fmla="*/ 0 w 18"/>
                <a:gd name="T11" fmla="*/ 18 h 19"/>
              </a:gdLst>
              <a:ahLst/>
              <a:cxnLst>
                <a:cxn ang="0">
                  <a:pos x="T0" y="T1"/>
                </a:cxn>
                <a:cxn ang="0">
                  <a:pos x="T2" y="T3"/>
                </a:cxn>
                <a:cxn ang="0">
                  <a:pos x="T4" y="T5"/>
                </a:cxn>
                <a:cxn ang="0">
                  <a:pos x="T6" y="T7"/>
                </a:cxn>
                <a:cxn ang="0">
                  <a:pos x="T8" y="T9"/>
                </a:cxn>
                <a:cxn ang="0">
                  <a:pos x="T10" y="T11"/>
                </a:cxn>
              </a:cxnLst>
              <a:rect l="0" t="0" r="r" b="b"/>
              <a:pathLst>
                <a:path w="18" h="19">
                  <a:moveTo>
                    <a:pt x="0" y="18"/>
                  </a:moveTo>
                  <a:lnTo>
                    <a:pt x="17" y="6"/>
                  </a:lnTo>
                  <a:lnTo>
                    <a:pt x="11" y="5"/>
                  </a:lnTo>
                  <a:lnTo>
                    <a:pt x="10" y="0"/>
                  </a:lnTo>
                  <a:lnTo>
                    <a:pt x="0" y="18"/>
                  </a:lnTo>
                  <a:lnTo>
                    <a:pt x="0" y="18"/>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31" name="Line 77"/>
            <p:cNvSpPr>
              <a:spLocks noChangeShapeType="1"/>
            </p:cNvSpPr>
            <p:nvPr/>
          </p:nvSpPr>
          <p:spPr bwMode="auto">
            <a:xfrm>
              <a:off x="8347075" y="2651126"/>
              <a:ext cx="57150" cy="6191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32" name="Freeform 78"/>
            <p:cNvSpPr>
              <a:spLocks/>
            </p:cNvSpPr>
            <p:nvPr/>
          </p:nvSpPr>
          <p:spPr bwMode="auto">
            <a:xfrm>
              <a:off x="8329614" y="2632075"/>
              <a:ext cx="26987" cy="26988"/>
            </a:xfrm>
            <a:custGeom>
              <a:avLst/>
              <a:gdLst>
                <a:gd name="T0" fmla="*/ 0 w 19"/>
                <a:gd name="T1" fmla="*/ 0 h 19"/>
                <a:gd name="T2" fmla="*/ 10 w 19"/>
                <a:gd name="T3" fmla="*/ 18 h 19"/>
                <a:gd name="T4" fmla="*/ 12 w 19"/>
                <a:gd name="T5" fmla="*/ 13 h 19"/>
                <a:gd name="T6" fmla="*/ 18 w 19"/>
                <a:gd name="T7" fmla="*/ 12 h 19"/>
                <a:gd name="T8" fmla="*/ 0 w 19"/>
                <a:gd name="T9" fmla="*/ 0 h 19"/>
                <a:gd name="T10" fmla="*/ 0 w 19"/>
                <a:gd name="T11" fmla="*/ 0 h 19"/>
              </a:gdLst>
              <a:ahLst/>
              <a:cxnLst>
                <a:cxn ang="0">
                  <a:pos x="T0" y="T1"/>
                </a:cxn>
                <a:cxn ang="0">
                  <a:pos x="T2" y="T3"/>
                </a:cxn>
                <a:cxn ang="0">
                  <a:pos x="T4" y="T5"/>
                </a:cxn>
                <a:cxn ang="0">
                  <a:pos x="T6" y="T7"/>
                </a:cxn>
                <a:cxn ang="0">
                  <a:pos x="T8" y="T9"/>
                </a:cxn>
                <a:cxn ang="0">
                  <a:pos x="T10" y="T11"/>
                </a:cxn>
              </a:cxnLst>
              <a:rect l="0" t="0" r="r" b="b"/>
              <a:pathLst>
                <a:path w="19" h="19">
                  <a:moveTo>
                    <a:pt x="0" y="0"/>
                  </a:moveTo>
                  <a:lnTo>
                    <a:pt x="10" y="18"/>
                  </a:lnTo>
                  <a:lnTo>
                    <a:pt x="12" y="13"/>
                  </a:lnTo>
                  <a:lnTo>
                    <a:pt x="18" y="12"/>
                  </a:lnTo>
                  <a:lnTo>
                    <a:pt x="0" y="0"/>
                  </a:lnTo>
                  <a:lnTo>
                    <a:pt x="0" y="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33" name="Freeform 79"/>
            <p:cNvSpPr>
              <a:spLocks/>
            </p:cNvSpPr>
            <p:nvPr/>
          </p:nvSpPr>
          <p:spPr bwMode="auto">
            <a:xfrm>
              <a:off x="8396289" y="2706689"/>
              <a:ext cx="26987" cy="26987"/>
            </a:xfrm>
            <a:custGeom>
              <a:avLst/>
              <a:gdLst>
                <a:gd name="T0" fmla="*/ 17 w 18"/>
                <a:gd name="T1" fmla="*/ 18 h 19"/>
                <a:gd name="T2" fmla="*/ 7 w 18"/>
                <a:gd name="T3" fmla="*/ 0 h 19"/>
                <a:gd name="T4" fmla="*/ 5 w 18"/>
                <a:gd name="T5" fmla="*/ 5 h 19"/>
                <a:gd name="T6" fmla="*/ 0 w 18"/>
                <a:gd name="T7" fmla="*/ 5 h 19"/>
                <a:gd name="T8" fmla="*/ 17 w 18"/>
                <a:gd name="T9" fmla="*/ 18 h 19"/>
                <a:gd name="T10" fmla="*/ 17 w 18"/>
                <a:gd name="T11" fmla="*/ 18 h 19"/>
              </a:gdLst>
              <a:ahLst/>
              <a:cxnLst>
                <a:cxn ang="0">
                  <a:pos x="T0" y="T1"/>
                </a:cxn>
                <a:cxn ang="0">
                  <a:pos x="T2" y="T3"/>
                </a:cxn>
                <a:cxn ang="0">
                  <a:pos x="T4" y="T5"/>
                </a:cxn>
                <a:cxn ang="0">
                  <a:pos x="T6" y="T7"/>
                </a:cxn>
                <a:cxn ang="0">
                  <a:pos x="T8" y="T9"/>
                </a:cxn>
                <a:cxn ang="0">
                  <a:pos x="T10" y="T11"/>
                </a:cxn>
              </a:cxnLst>
              <a:rect l="0" t="0" r="r" b="b"/>
              <a:pathLst>
                <a:path w="18" h="19">
                  <a:moveTo>
                    <a:pt x="17" y="18"/>
                  </a:moveTo>
                  <a:lnTo>
                    <a:pt x="7" y="0"/>
                  </a:lnTo>
                  <a:lnTo>
                    <a:pt x="5" y="5"/>
                  </a:lnTo>
                  <a:lnTo>
                    <a:pt x="0" y="5"/>
                  </a:lnTo>
                  <a:lnTo>
                    <a:pt x="17" y="18"/>
                  </a:lnTo>
                  <a:lnTo>
                    <a:pt x="17" y="18"/>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34" name="Line 80"/>
            <p:cNvSpPr>
              <a:spLocks noChangeShapeType="1"/>
            </p:cNvSpPr>
            <p:nvPr/>
          </p:nvSpPr>
          <p:spPr bwMode="auto">
            <a:xfrm flipH="1">
              <a:off x="8347075" y="2651126"/>
              <a:ext cx="57150" cy="6191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35" name="Freeform 81"/>
            <p:cNvSpPr>
              <a:spLocks/>
            </p:cNvSpPr>
            <p:nvPr/>
          </p:nvSpPr>
          <p:spPr bwMode="auto">
            <a:xfrm>
              <a:off x="8396289" y="2632075"/>
              <a:ext cx="26987" cy="26988"/>
            </a:xfrm>
            <a:custGeom>
              <a:avLst/>
              <a:gdLst>
                <a:gd name="T0" fmla="*/ 17 w 18"/>
                <a:gd name="T1" fmla="*/ 0 h 19"/>
                <a:gd name="T2" fmla="*/ 0 w 18"/>
                <a:gd name="T3" fmla="*/ 12 h 19"/>
                <a:gd name="T4" fmla="*/ 5 w 18"/>
                <a:gd name="T5" fmla="*/ 13 h 19"/>
                <a:gd name="T6" fmla="*/ 7 w 18"/>
                <a:gd name="T7" fmla="*/ 18 h 19"/>
                <a:gd name="T8" fmla="*/ 17 w 18"/>
                <a:gd name="T9" fmla="*/ 0 h 19"/>
                <a:gd name="T10" fmla="*/ 17 w 18"/>
                <a:gd name="T11" fmla="*/ 0 h 19"/>
              </a:gdLst>
              <a:ahLst/>
              <a:cxnLst>
                <a:cxn ang="0">
                  <a:pos x="T0" y="T1"/>
                </a:cxn>
                <a:cxn ang="0">
                  <a:pos x="T2" y="T3"/>
                </a:cxn>
                <a:cxn ang="0">
                  <a:pos x="T4" y="T5"/>
                </a:cxn>
                <a:cxn ang="0">
                  <a:pos x="T6" y="T7"/>
                </a:cxn>
                <a:cxn ang="0">
                  <a:pos x="T8" y="T9"/>
                </a:cxn>
                <a:cxn ang="0">
                  <a:pos x="T10" y="T11"/>
                </a:cxn>
              </a:cxnLst>
              <a:rect l="0" t="0" r="r" b="b"/>
              <a:pathLst>
                <a:path w="18" h="19">
                  <a:moveTo>
                    <a:pt x="17" y="0"/>
                  </a:moveTo>
                  <a:lnTo>
                    <a:pt x="0" y="12"/>
                  </a:lnTo>
                  <a:lnTo>
                    <a:pt x="5" y="13"/>
                  </a:lnTo>
                  <a:lnTo>
                    <a:pt x="7" y="18"/>
                  </a:lnTo>
                  <a:lnTo>
                    <a:pt x="17" y="0"/>
                  </a:lnTo>
                  <a:lnTo>
                    <a:pt x="17" y="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36" name="Freeform 82"/>
            <p:cNvSpPr>
              <a:spLocks/>
            </p:cNvSpPr>
            <p:nvPr/>
          </p:nvSpPr>
          <p:spPr bwMode="auto">
            <a:xfrm>
              <a:off x="8329614" y="2706689"/>
              <a:ext cx="26987" cy="26987"/>
            </a:xfrm>
            <a:custGeom>
              <a:avLst/>
              <a:gdLst>
                <a:gd name="T0" fmla="*/ 0 w 19"/>
                <a:gd name="T1" fmla="*/ 18 h 19"/>
                <a:gd name="T2" fmla="*/ 18 w 19"/>
                <a:gd name="T3" fmla="*/ 5 h 19"/>
                <a:gd name="T4" fmla="*/ 12 w 19"/>
                <a:gd name="T5" fmla="*/ 5 h 19"/>
                <a:gd name="T6" fmla="*/ 10 w 19"/>
                <a:gd name="T7" fmla="*/ 0 h 19"/>
                <a:gd name="T8" fmla="*/ 0 w 19"/>
                <a:gd name="T9" fmla="*/ 18 h 19"/>
                <a:gd name="T10" fmla="*/ 0 w 19"/>
                <a:gd name="T11" fmla="*/ 18 h 19"/>
              </a:gdLst>
              <a:ahLst/>
              <a:cxnLst>
                <a:cxn ang="0">
                  <a:pos x="T0" y="T1"/>
                </a:cxn>
                <a:cxn ang="0">
                  <a:pos x="T2" y="T3"/>
                </a:cxn>
                <a:cxn ang="0">
                  <a:pos x="T4" y="T5"/>
                </a:cxn>
                <a:cxn ang="0">
                  <a:pos x="T6" y="T7"/>
                </a:cxn>
                <a:cxn ang="0">
                  <a:pos x="T8" y="T9"/>
                </a:cxn>
                <a:cxn ang="0">
                  <a:pos x="T10" y="T11"/>
                </a:cxn>
              </a:cxnLst>
              <a:rect l="0" t="0" r="r" b="b"/>
              <a:pathLst>
                <a:path w="19" h="19">
                  <a:moveTo>
                    <a:pt x="0" y="18"/>
                  </a:moveTo>
                  <a:lnTo>
                    <a:pt x="18" y="5"/>
                  </a:lnTo>
                  <a:lnTo>
                    <a:pt x="12" y="5"/>
                  </a:lnTo>
                  <a:lnTo>
                    <a:pt x="10" y="0"/>
                  </a:lnTo>
                  <a:lnTo>
                    <a:pt x="0" y="18"/>
                  </a:lnTo>
                  <a:lnTo>
                    <a:pt x="0" y="18"/>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37" name="Freeform 83"/>
            <p:cNvSpPr>
              <a:spLocks/>
            </p:cNvSpPr>
            <p:nvPr/>
          </p:nvSpPr>
          <p:spPr bwMode="auto">
            <a:xfrm>
              <a:off x="9664701" y="2593976"/>
              <a:ext cx="398463" cy="347663"/>
            </a:xfrm>
            <a:custGeom>
              <a:avLst/>
              <a:gdLst>
                <a:gd name="T0" fmla="*/ 276 w 277"/>
                <a:gd name="T1" fmla="*/ 0 h 249"/>
                <a:gd name="T2" fmla="*/ 276 w 277"/>
                <a:gd name="T3" fmla="*/ 248 h 249"/>
                <a:gd name="T4" fmla="*/ 0 w 277"/>
                <a:gd name="T5" fmla="*/ 248 h 249"/>
                <a:gd name="T6" fmla="*/ 0 w 277"/>
                <a:gd name="T7" fmla="*/ 0 h 249"/>
                <a:gd name="T8" fmla="*/ 276 w 277"/>
                <a:gd name="T9" fmla="*/ 0 h 249"/>
                <a:gd name="T10" fmla="*/ 276 w 277"/>
                <a:gd name="T11" fmla="*/ 0 h 249"/>
              </a:gdLst>
              <a:ahLst/>
              <a:cxnLst>
                <a:cxn ang="0">
                  <a:pos x="T0" y="T1"/>
                </a:cxn>
                <a:cxn ang="0">
                  <a:pos x="T2" y="T3"/>
                </a:cxn>
                <a:cxn ang="0">
                  <a:pos x="T4" y="T5"/>
                </a:cxn>
                <a:cxn ang="0">
                  <a:pos x="T6" y="T7"/>
                </a:cxn>
                <a:cxn ang="0">
                  <a:pos x="T8" y="T9"/>
                </a:cxn>
                <a:cxn ang="0">
                  <a:pos x="T10" y="T11"/>
                </a:cxn>
              </a:cxnLst>
              <a:rect l="0" t="0" r="r" b="b"/>
              <a:pathLst>
                <a:path w="277" h="249">
                  <a:moveTo>
                    <a:pt x="276" y="0"/>
                  </a:moveTo>
                  <a:lnTo>
                    <a:pt x="276" y="248"/>
                  </a:lnTo>
                  <a:lnTo>
                    <a:pt x="0" y="248"/>
                  </a:lnTo>
                  <a:lnTo>
                    <a:pt x="0" y="0"/>
                  </a:lnTo>
                  <a:lnTo>
                    <a:pt x="276" y="0"/>
                  </a:lnTo>
                  <a:lnTo>
                    <a:pt x="276" y="0"/>
                  </a:lnTo>
                </a:path>
              </a:pathLst>
            </a:custGeom>
            <a:gradFill rotWithShape="0">
              <a:gsLst>
                <a:gs pos="0">
                  <a:srgbClr val="C0E1FF"/>
                </a:gs>
                <a:gs pos="50000">
                  <a:srgbClr val="FFFFFF"/>
                </a:gs>
                <a:gs pos="100000">
                  <a:srgbClr val="C0E1FF"/>
                </a:gs>
              </a:gsLst>
              <a:lin ang="5400000" scaled="1"/>
            </a:gra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38" name="Line 84"/>
            <p:cNvSpPr>
              <a:spLocks noChangeShapeType="1"/>
            </p:cNvSpPr>
            <p:nvPr/>
          </p:nvSpPr>
          <p:spPr bwMode="auto">
            <a:xfrm>
              <a:off x="9847263" y="2665414"/>
              <a:ext cx="57150" cy="650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39" name="Freeform 85"/>
            <p:cNvSpPr>
              <a:spLocks/>
            </p:cNvSpPr>
            <p:nvPr/>
          </p:nvSpPr>
          <p:spPr bwMode="auto">
            <a:xfrm>
              <a:off x="9829800" y="2649539"/>
              <a:ext cx="26988" cy="26987"/>
            </a:xfrm>
            <a:custGeom>
              <a:avLst/>
              <a:gdLst>
                <a:gd name="T0" fmla="*/ 0 w 19"/>
                <a:gd name="T1" fmla="*/ 0 h 19"/>
                <a:gd name="T2" fmla="*/ 11 w 19"/>
                <a:gd name="T3" fmla="*/ 18 h 19"/>
                <a:gd name="T4" fmla="*/ 12 w 19"/>
                <a:gd name="T5" fmla="*/ 12 h 19"/>
                <a:gd name="T6" fmla="*/ 18 w 19"/>
                <a:gd name="T7" fmla="*/ 12 h 19"/>
                <a:gd name="T8" fmla="*/ 0 w 19"/>
                <a:gd name="T9" fmla="*/ 0 h 19"/>
                <a:gd name="T10" fmla="*/ 0 w 19"/>
                <a:gd name="T11" fmla="*/ 0 h 19"/>
              </a:gdLst>
              <a:ahLst/>
              <a:cxnLst>
                <a:cxn ang="0">
                  <a:pos x="T0" y="T1"/>
                </a:cxn>
                <a:cxn ang="0">
                  <a:pos x="T2" y="T3"/>
                </a:cxn>
                <a:cxn ang="0">
                  <a:pos x="T4" y="T5"/>
                </a:cxn>
                <a:cxn ang="0">
                  <a:pos x="T6" y="T7"/>
                </a:cxn>
                <a:cxn ang="0">
                  <a:pos x="T8" y="T9"/>
                </a:cxn>
                <a:cxn ang="0">
                  <a:pos x="T10" y="T11"/>
                </a:cxn>
              </a:cxnLst>
              <a:rect l="0" t="0" r="r" b="b"/>
              <a:pathLst>
                <a:path w="19" h="19">
                  <a:moveTo>
                    <a:pt x="0" y="0"/>
                  </a:moveTo>
                  <a:lnTo>
                    <a:pt x="11" y="18"/>
                  </a:lnTo>
                  <a:lnTo>
                    <a:pt x="12" y="12"/>
                  </a:lnTo>
                  <a:lnTo>
                    <a:pt x="18" y="12"/>
                  </a:lnTo>
                  <a:lnTo>
                    <a:pt x="0" y="0"/>
                  </a:lnTo>
                  <a:lnTo>
                    <a:pt x="0" y="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40" name="Freeform 86"/>
            <p:cNvSpPr>
              <a:spLocks/>
            </p:cNvSpPr>
            <p:nvPr/>
          </p:nvSpPr>
          <p:spPr bwMode="auto">
            <a:xfrm>
              <a:off x="9898063" y="2722564"/>
              <a:ext cx="25400" cy="26987"/>
            </a:xfrm>
            <a:custGeom>
              <a:avLst/>
              <a:gdLst>
                <a:gd name="T0" fmla="*/ 17 w 18"/>
                <a:gd name="T1" fmla="*/ 19 h 20"/>
                <a:gd name="T2" fmla="*/ 7 w 18"/>
                <a:gd name="T3" fmla="*/ 0 h 20"/>
                <a:gd name="T4" fmla="*/ 5 w 18"/>
                <a:gd name="T5" fmla="*/ 6 h 20"/>
                <a:gd name="T6" fmla="*/ 0 w 18"/>
                <a:gd name="T7" fmla="*/ 7 h 20"/>
                <a:gd name="T8" fmla="*/ 17 w 18"/>
                <a:gd name="T9" fmla="*/ 19 h 20"/>
                <a:gd name="T10" fmla="*/ 17 w 18"/>
                <a:gd name="T11" fmla="*/ 19 h 20"/>
              </a:gdLst>
              <a:ahLst/>
              <a:cxnLst>
                <a:cxn ang="0">
                  <a:pos x="T0" y="T1"/>
                </a:cxn>
                <a:cxn ang="0">
                  <a:pos x="T2" y="T3"/>
                </a:cxn>
                <a:cxn ang="0">
                  <a:pos x="T4" y="T5"/>
                </a:cxn>
                <a:cxn ang="0">
                  <a:pos x="T6" y="T7"/>
                </a:cxn>
                <a:cxn ang="0">
                  <a:pos x="T8" y="T9"/>
                </a:cxn>
                <a:cxn ang="0">
                  <a:pos x="T10" y="T11"/>
                </a:cxn>
              </a:cxnLst>
              <a:rect l="0" t="0" r="r" b="b"/>
              <a:pathLst>
                <a:path w="18" h="20">
                  <a:moveTo>
                    <a:pt x="17" y="19"/>
                  </a:moveTo>
                  <a:lnTo>
                    <a:pt x="7" y="0"/>
                  </a:lnTo>
                  <a:lnTo>
                    <a:pt x="5" y="6"/>
                  </a:lnTo>
                  <a:lnTo>
                    <a:pt x="0" y="7"/>
                  </a:lnTo>
                  <a:lnTo>
                    <a:pt x="17" y="19"/>
                  </a:lnTo>
                  <a:lnTo>
                    <a:pt x="17" y="19"/>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41" name="Line 87"/>
            <p:cNvSpPr>
              <a:spLocks noChangeShapeType="1"/>
            </p:cNvSpPr>
            <p:nvPr/>
          </p:nvSpPr>
          <p:spPr bwMode="auto">
            <a:xfrm flipH="1">
              <a:off x="9847263" y="2665414"/>
              <a:ext cx="57150" cy="650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42" name="Freeform 88"/>
            <p:cNvSpPr>
              <a:spLocks/>
            </p:cNvSpPr>
            <p:nvPr/>
          </p:nvSpPr>
          <p:spPr bwMode="auto">
            <a:xfrm>
              <a:off x="9898063" y="2649539"/>
              <a:ext cx="25400" cy="26987"/>
            </a:xfrm>
            <a:custGeom>
              <a:avLst/>
              <a:gdLst>
                <a:gd name="T0" fmla="*/ 17 w 18"/>
                <a:gd name="T1" fmla="*/ 0 h 19"/>
                <a:gd name="T2" fmla="*/ 0 w 18"/>
                <a:gd name="T3" fmla="*/ 12 h 19"/>
                <a:gd name="T4" fmla="*/ 5 w 18"/>
                <a:gd name="T5" fmla="*/ 12 h 19"/>
                <a:gd name="T6" fmla="*/ 7 w 18"/>
                <a:gd name="T7" fmla="*/ 18 h 19"/>
                <a:gd name="T8" fmla="*/ 17 w 18"/>
                <a:gd name="T9" fmla="*/ 0 h 19"/>
                <a:gd name="T10" fmla="*/ 17 w 18"/>
                <a:gd name="T11" fmla="*/ 0 h 19"/>
              </a:gdLst>
              <a:ahLst/>
              <a:cxnLst>
                <a:cxn ang="0">
                  <a:pos x="T0" y="T1"/>
                </a:cxn>
                <a:cxn ang="0">
                  <a:pos x="T2" y="T3"/>
                </a:cxn>
                <a:cxn ang="0">
                  <a:pos x="T4" y="T5"/>
                </a:cxn>
                <a:cxn ang="0">
                  <a:pos x="T6" y="T7"/>
                </a:cxn>
                <a:cxn ang="0">
                  <a:pos x="T8" y="T9"/>
                </a:cxn>
                <a:cxn ang="0">
                  <a:pos x="T10" y="T11"/>
                </a:cxn>
              </a:cxnLst>
              <a:rect l="0" t="0" r="r" b="b"/>
              <a:pathLst>
                <a:path w="18" h="19">
                  <a:moveTo>
                    <a:pt x="17" y="0"/>
                  </a:moveTo>
                  <a:lnTo>
                    <a:pt x="0" y="12"/>
                  </a:lnTo>
                  <a:lnTo>
                    <a:pt x="5" y="12"/>
                  </a:lnTo>
                  <a:lnTo>
                    <a:pt x="7" y="18"/>
                  </a:lnTo>
                  <a:lnTo>
                    <a:pt x="17" y="0"/>
                  </a:lnTo>
                  <a:lnTo>
                    <a:pt x="17" y="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43" name="Freeform 89"/>
            <p:cNvSpPr>
              <a:spLocks/>
            </p:cNvSpPr>
            <p:nvPr/>
          </p:nvSpPr>
          <p:spPr bwMode="auto">
            <a:xfrm>
              <a:off x="9829800" y="2722564"/>
              <a:ext cx="26988" cy="26987"/>
            </a:xfrm>
            <a:custGeom>
              <a:avLst/>
              <a:gdLst>
                <a:gd name="T0" fmla="*/ 0 w 19"/>
                <a:gd name="T1" fmla="*/ 19 h 20"/>
                <a:gd name="T2" fmla="*/ 18 w 19"/>
                <a:gd name="T3" fmla="*/ 7 h 20"/>
                <a:gd name="T4" fmla="*/ 12 w 19"/>
                <a:gd name="T5" fmla="*/ 6 h 20"/>
                <a:gd name="T6" fmla="*/ 11 w 19"/>
                <a:gd name="T7" fmla="*/ 0 h 20"/>
                <a:gd name="T8" fmla="*/ 0 w 19"/>
                <a:gd name="T9" fmla="*/ 19 h 20"/>
                <a:gd name="T10" fmla="*/ 0 w 19"/>
                <a:gd name="T11" fmla="*/ 19 h 20"/>
              </a:gdLst>
              <a:ahLst/>
              <a:cxnLst>
                <a:cxn ang="0">
                  <a:pos x="T0" y="T1"/>
                </a:cxn>
                <a:cxn ang="0">
                  <a:pos x="T2" y="T3"/>
                </a:cxn>
                <a:cxn ang="0">
                  <a:pos x="T4" y="T5"/>
                </a:cxn>
                <a:cxn ang="0">
                  <a:pos x="T6" y="T7"/>
                </a:cxn>
                <a:cxn ang="0">
                  <a:pos x="T8" y="T9"/>
                </a:cxn>
                <a:cxn ang="0">
                  <a:pos x="T10" y="T11"/>
                </a:cxn>
              </a:cxnLst>
              <a:rect l="0" t="0" r="r" b="b"/>
              <a:pathLst>
                <a:path w="19" h="20">
                  <a:moveTo>
                    <a:pt x="0" y="19"/>
                  </a:moveTo>
                  <a:lnTo>
                    <a:pt x="18" y="7"/>
                  </a:lnTo>
                  <a:lnTo>
                    <a:pt x="12" y="6"/>
                  </a:lnTo>
                  <a:lnTo>
                    <a:pt x="11" y="0"/>
                  </a:lnTo>
                  <a:lnTo>
                    <a:pt x="0" y="19"/>
                  </a:lnTo>
                  <a:lnTo>
                    <a:pt x="0" y="19"/>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44" name="Freeform 90"/>
            <p:cNvSpPr>
              <a:spLocks/>
            </p:cNvSpPr>
            <p:nvPr/>
          </p:nvSpPr>
          <p:spPr bwMode="auto">
            <a:xfrm>
              <a:off x="9728201" y="2695576"/>
              <a:ext cx="60325" cy="66675"/>
            </a:xfrm>
            <a:custGeom>
              <a:avLst/>
              <a:gdLst>
                <a:gd name="T0" fmla="*/ 21 w 42"/>
                <a:gd name="T1" fmla="*/ 0 h 48"/>
                <a:gd name="T2" fmla="*/ 21 w 42"/>
                <a:gd name="T3" fmla="*/ 18 h 48"/>
                <a:gd name="T4" fmla="*/ 41 w 42"/>
                <a:gd name="T5" fmla="*/ 26 h 48"/>
                <a:gd name="T6" fmla="*/ 0 w 42"/>
                <a:gd name="T7" fmla="*/ 37 h 48"/>
                <a:gd name="T8" fmla="*/ 41 w 42"/>
                <a:gd name="T9" fmla="*/ 47 h 48"/>
              </a:gdLst>
              <a:ahLst/>
              <a:cxnLst>
                <a:cxn ang="0">
                  <a:pos x="T0" y="T1"/>
                </a:cxn>
                <a:cxn ang="0">
                  <a:pos x="T2" y="T3"/>
                </a:cxn>
                <a:cxn ang="0">
                  <a:pos x="T4" y="T5"/>
                </a:cxn>
                <a:cxn ang="0">
                  <a:pos x="T6" y="T7"/>
                </a:cxn>
                <a:cxn ang="0">
                  <a:pos x="T8" y="T9"/>
                </a:cxn>
              </a:cxnLst>
              <a:rect l="0" t="0" r="r" b="b"/>
              <a:pathLst>
                <a:path w="42" h="48">
                  <a:moveTo>
                    <a:pt x="21" y="0"/>
                  </a:moveTo>
                  <a:lnTo>
                    <a:pt x="21" y="18"/>
                  </a:lnTo>
                  <a:lnTo>
                    <a:pt x="41" y="26"/>
                  </a:lnTo>
                  <a:lnTo>
                    <a:pt x="0" y="37"/>
                  </a:lnTo>
                  <a:lnTo>
                    <a:pt x="41" y="47"/>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45" name="Freeform 91"/>
            <p:cNvSpPr>
              <a:spLocks/>
            </p:cNvSpPr>
            <p:nvPr/>
          </p:nvSpPr>
          <p:spPr bwMode="auto">
            <a:xfrm>
              <a:off x="9728201" y="2760663"/>
              <a:ext cx="60325" cy="74612"/>
            </a:xfrm>
            <a:custGeom>
              <a:avLst/>
              <a:gdLst>
                <a:gd name="T0" fmla="*/ 41 w 42"/>
                <a:gd name="T1" fmla="*/ 0 h 53"/>
                <a:gd name="T2" fmla="*/ 0 w 42"/>
                <a:gd name="T3" fmla="*/ 15 h 53"/>
                <a:gd name="T4" fmla="*/ 41 w 42"/>
                <a:gd name="T5" fmla="*/ 26 h 53"/>
                <a:gd name="T6" fmla="*/ 0 w 42"/>
                <a:gd name="T7" fmla="*/ 37 h 53"/>
                <a:gd name="T8" fmla="*/ 41 w 42"/>
                <a:gd name="T9" fmla="*/ 44 h 53"/>
                <a:gd name="T10" fmla="*/ 21 w 42"/>
                <a:gd name="T11" fmla="*/ 52 h 53"/>
              </a:gdLst>
              <a:ahLst/>
              <a:cxnLst>
                <a:cxn ang="0">
                  <a:pos x="T0" y="T1"/>
                </a:cxn>
                <a:cxn ang="0">
                  <a:pos x="T2" y="T3"/>
                </a:cxn>
                <a:cxn ang="0">
                  <a:pos x="T4" y="T5"/>
                </a:cxn>
                <a:cxn ang="0">
                  <a:pos x="T6" y="T7"/>
                </a:cxn>
                <a:cxn ang="0">
                  <a:pos x="T8" y="T9"/>
                </a:cxn>
                <a:cxn ang="0">
                  <a:pos x="T10" y="T11"/>
                </a:cxn>
              </a:cxnLst>
              <a:rect l="0" t="0" r="r" b="b"/>
              <a:pathLst>
                <a:path w="42" h="53">
                  <a:moveTo>
                    <a:pt x="41" y="0"/>
                  </a:moveTo>
                  <a:lnTo>
                    <a:pt x="0" y="15"/>
                  </a:lnTo>
                  <a:lnTo>
                    <a:pt x="41" y="26"/>
                  </a:lnTo>
                  <a:lnTo>
                    <a:pt x="0" y="37"/>
                  </a:lnTo>
                  <a:lnTo>
                    <a:pt x="41" y="44"/>
                  </a:lnTo>
                  <a:lnTo>
                    <a:pt x="21" y="52"/>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46" name="Line 92"/>
            <p:cNvSpPr>
              <a:spLocks noChangeShapeType="1"/>
            </p:cNvSpPr>
            <p:nvPr/>
          </p:nvSpPr>
          <p:spPr bwMode="auto">
            <a:xfrm>
              <a:off x="9758363" y="2833688"/>
              <a:ext cx="0" cy="301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47" name="Freeform 93"/>
            <p:cNvSpPr>
              <a:spLocks/>
            </p:cNvSpPr>
            <p:nvPr/>
          </p:nvSpPr>
          <p:spPr bwMode="auto">
            <a:xfrm>
              <a:off x="8170864" y="2659064"/>
              <a:ext cx="58737" cy="79375"/>
            </a:xfrm>
            <a:custGeom>
              <a:avLst/>
              <a:gdLst>
                <a:gd name="T0" fmla="*/ 20 w 41"/>
                <a:gd name="T1" fmla="*/ 0 h 57"/>
                <a:gd name="T2" fmla="*/ 20 w 41"/>
                <a:gd name="T3" fmla="*/ 22 h 57"/>
                <a:gd name="T4" fmla="*/ 40 w 41"/>
                <a:gd name="T5" fmla="*/ 30 h 57"/>
                <a:gd name="T6" fmla="*/ 0 w 41"/>
                <a:gd name="T7" fmla="*/ 43 h 57"/>
                <a:gd name="T8" fmla="*/ 40 w 41"/>
                <a:gd name="T9" fmla="*/ 56 h 57"/>
              </a:gdLst>
              <a:ahLst/>
              <a:cxnLst>
                <a:cxn ang="0">
                  <a:pos x="T0" y="T1"/>
                </a:cxn>
                <a:cxn ang="0">
                  <a:pos x="T2" y="T3"/>
                </a:cxn>
                <a:cxn ang="0">
                  <a:pos x="T4" y="T5"/>
                </a:cxn>
                <a:cxn ang="0">
                  <a:pos x="T6" y="T7"/>
                </a:cxn>
                <a:cxn ang="0">
                  <a:pos x="T8" y="T9"/>
                </a:cxn>
              </a:cxnLst>
              <a:rect l="0" t="0" r="r" b="b"/>
              <a:pathLst>
                <a:path w="41" h="57">
                  <a:moveTo>
                    <a:pt x="20" y="0"/>
                  </a:moveTo>
                  <a:lnTo>
                    <a:pt x="20" y="22"/>
                  </a:lnTo>
                  <a:lnTo>
                    <a:pt x="40" y="30"/>
                  </a:lnTo>
                  <a:lnTo>
                    <a:pt x="0" y="43"/>
                  </a:lnTo>
                  <a:lnTo>
                    <a:pt x="40" y="56"/>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48" name="Freeform 94"/>
            <p:cNvSpPr>
              <a:spLocks/>
            </p:cNvSpPr>
            <p:nvPr/>
          </p:nvSpPr>
          <p:spPr bwMode="auto">
            <a:xfrm>
              <a:off x="8170864" y="2736851"/>
              <a:ext cx="58737" cy="85725"/>
            </a:xfrm>
            <a:custGeom>
              <a:avLst/>
              <a:gdLst>
                <a:gd name="T0" fmla="*/ 40 w 41"/>
                <a:gd name="T1" fmla="*/ 0 h 61"/>
                <a:gd name="T2" fmla="*/ 0 w 41"/>
                <a:gd name="T3" fmla="*/ 17 h 61"/>
                <a:gd name="T4" fmla="*/ 40 w 41"/>
                <a:gd name="T5" fmla="*/ 30 h 61"/>
                <a:gd name="T6" fmla="*/ 0 w 41"/>
                <a:gd name="T7" fmla="*/ 43 h 61"/>
                <a:gd name="T8" fmla="*/ 40 w 41"/>
                <a:gd name="T9" fmla="*/ 51 h 61"/>
                <a:gd name="T10" fmla="*/ 20 w 41"/>
                <a:gd name="T11" fmla="*/ 60 h 61"/>
              </a:gdLst>
              <a:ahLst/>
              <a:cxnLst>
                <a:cxn ang="0">
                  <a:pos x="T0" y="T1"/>
                </a:cxn>
                <a:cxn ang="0">
                  <a:pos x="T2" y="T3"/>
                </a:cxn>
                <a:cxn ang="0">
                  <a:pos x="T4" y="T5"/>
                </a:cxn>
                <a:cxn ang="0">
                  <a:pos x="T6" y="T7"/>
                </a:cxn>
                <a:cxn ang="0">
                  <a:pos x="T8" y="T9"/>
                </a:cxn>
                <a:cxn ang="0">
                  <a:pos x="T10" y="T11"/>
                </a:cxn>
              </a:cxnLst>
              <a:rect l="0" t="0" r="r" b="b"/>
              <a:pathLst>
                <a:path w="41" h="61">
                  <a:moveTo>
                    <a:pt x="40" y="0"/>
                  </a:moveTo>
                  <a:lnTo>
                    <a:pt x="0" y="17"/>
                  </a:lnTo>
                  <a:lnTo>
                    <a:pt x="40" y="30"/>
                  </a:lnTo>
                  <a:lnTo>
                    <a:pt x="0" y="43"/>
                  </a:lnTo>
                  <a:lnTo>
                    <a:pt x="40" y="51"/>
                  </a:lnTo>
                  <a:lnTo>
                    <a:pt x="20" y="6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49" name="Line 95"/>
            <p:cNvSpPr>
              <a:spLocks noChangeShapeType="1"/>
            </p:cNvSpPr>
            <p:nvPr/>
          </p:nvSpPr>
          <p:spPr bwMode="auto">
            <a:xfrm>
              <a:off x="8199438" y="2820989"/>
              <a:ext cx="0" cy="3492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50" name="Line 96"/>
            <p:cNvSpPr>
              <a:spLocks noChangeShapeType="1"/>
            </p:cNvSpPr>
            <p:nvPr/>
          </p:nvSpPr>
          <p:spPr bwMode="auto">
            <a:xfrm flipH="1">
              <a:off x="8531225" y="2755900"/>
              <a:ext cx="8890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51" name="Freeform 97"/>
            <p:cNvSpPr>
              <a:spLocks/>
            </p:cNvSpPr>
            <p:nvPr/>
          </p:nvSpPr>
          <p:spPr bwMode="auto">
            <a:xfrm>
              <a:off x="8616950" y="2747964"/>
              <a:ext cx="31750" cy="14287"/>
            </a:xfrm>
            <a:custGeom>
              <a:avLst/>
              <a:gdLst>
                <a:gd name="T0" fmla="*/ 21 w 22"/>
                <a:gd name="T1" fmla="*/ 5 h 10"/>
                <a:gd name="T2" fmla="*/ 0 w 22"/>
                <a:gd name="T3" fmla="*/ 0 h 10"/>
                <a:gd name="T4" fmla="*/ 3 w 22"/>
                <a:gd name="T5" fmla="*/ 5 h 10"/>
                <a:gd name="T6" fmla="*/ 0 w 22"/>
                <a:gd name="T7" fmla="*/ 9 h 10"/>
                <a:gd name="T8" fmla="*/ 21 w 22"/>
                <a:gd name="T9" fmla="*/ 5 h 10"/>
                <a:gd name="T10" fmla="*/ 21 w 22"/>
                <a:gd name="T11" fmla="*/ 5 h 10"/>
              </a:gdLst>
              <a:ahLst/>
              <a:cxnLst>
                <a:cxn ang="0">
                  <a:pos x="T0" y="T1"/>
                </a:cxn>
                <a:cxn ang="0">
                  <a:pos x="T2" y="T3"/>
                </a:cxn>
                <a:cxn ang="0">
                  <a:pos x="T4" y="T5"/>
                </a:cxn>
                <a:cxn ang="0">
                  <a:pos x="T6" y="T7"/>
                </a:cxn>
                <a:cxn ang="0">
                  <a:pos x="T8" y="T9"/>
                </a:cxn>
                <a:cxn ang="0">
                  <a:pos x="T10" y="T11"/>
                </a:cxn>
              </a:cxnLst>
              <a:rect l="0" t="0" r="r" b="b"/>
              <a:pathLst>
                <a:path w="22" h="10">
                  <a:moveTo>
                    <a:pt x="21" y="5"/>
                  </a:moveTo>
                  <a:lnTo>
                    <a:pt x="0" y="0"/>
                  </a:lnTo>
                  <a:lnTo>
                    <a:pt x="3" y="5"/>
                  </a:lnTo>
                  <a:lnTo>
                    <a:pt x="0" y="9"/>
                  </a:lnTo>
                  <a:lnTo>
                    <a:pt x="21" y="5"/>
                  </a:lnTo>
                  <a:lnTo>
                    <a:pt x="21" y="5"/>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52" name="Freeform 98"/>
            <p:cNvSpPr>
              <a:spLocks/>
            </p:cNvSpPr>
            <p:nvPr/>
          </p:nvSpPr>
          <p:spPr bwMode="auto">
            <a:xfrm>
              <a:off x="8531226" y="2755900"/>
              <a:ext cx="523875" cy="533400"/>
            </a:xfrm>
            <a:custGeom>
              <a:avLst/>
              <a:gdLst>
                <a:gd name="T0" fmla="*/ 0 w 363"/>
                <a:gd name="T1" fmla="*/ 0 h 381"/>
                <a:gd name="T2" fmla="*/ 0 w 363"/>
                <a:gd name="T3" fmla="*/ 272 h 381"/>
                <a:gd name="T4" fmla="*/ 362 w 363"/>
                <a:gd name="T5" fmla="*/ 272 h 381"/>
                <a:gd name="T6" fmla="*/ 362 w 363"/>
                <a:gd name="T7" fmla="*/ 380 h 381"/>
              </a:gdLst>
              <a:ahLst/>
              <a:cxnLst>
                <a:cxn ang="0">
                  <a:pos x="T0" y="T1"/>
                </a:cxn>
                <a:cxn ang="0">
                  <a:pos x="T2" y="T3"/>
                </a:cxn>
                <a:cxn ang="0">
                  <a:pos x="T4" y="T5"/>
                </a:cxn>
                <a:cxn ang="0">
                  <a:pos x="T6" y="T7"/>
                </a:cxn>
              </a:cxnLst>
              <a:rect l="0" t="0" r="r" b="b"/>
              <a:pathLst>
                <a:path w="363" h="381">
                  <a:moveTo>
                    <a:pt x="0" y="0"/>
                  </a:moveTo>
                  <a:lnTo>
                    <a:pt x="0" y="272"/>
                  </a:lnTo>
                  <a:lnTo>
                    <a:pt x="362" y="272"/>
                  </a:lnTo>
                  <a:lnTo>
                    <a:pt x="362" y="38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53" name="Freeform 99"/>
            <p:cNvSpPr>
              <a:spLocks/>
            </p:cNvSpPr>
            <p:nvPr/>
          </p:nvSpPr>
          <p:spPr bwMode="auto">
            <a:xfrm>
              <a:off x="9047164" y="3282951"/>
              <a:ext cx="14287" cy="28575"/>
            </a:xfrm>
            <a:custGeom>
              <a:avLst/>
              <a:gdLst>
                <a:gd name="T0" fmla="*/ 4 w 10"/>
                <a:gd name="T1" fmla="*/ 20 h 21"/>
                <a:gd name="T2" fmla="*/ 9 w 10"/>
                <a:gd name="T3" fmla="*/ 0 h 21"/>
                <a:gd name="T4" fmla="*/ 4 w 10"/>
                <a:gd name="T5" fmla="*/ 4 h 21"/>
                <a:gd name="T6" fmla="*/ 0 w 10"/>
                <a:gd name="T7" fmla="*/ 0 h 21"/>
                <a:gd name="T8" fmla="*/ 4 w 10"/>
                <a:gd name="T9" fmla="*/ 20 h 21"/>
                <a:gd name="T10" fmla="*/ 4 w 10"/>
                <a:gd name="T11" fmla="*/ 20 h 21"/>
              </a:gdLst>
              <a:ahLst/>
              <a:cxnLst>
                <a:cxn ang="0">
                  <a:pos x="T0" y="T1"/>
                </a:cxn>
                <a:cxn ang="0">
                  <a:pos x="T2" y="T3"/>
                </a:cxn>
                <a:cxn ang="0">
                  <a:pos x="T4" y="T5"/>
                </a:cxn>
                <a:cxn ang="0">
                  <a:pos x="T6" y="T7"/>
                </a:cxn>
                <a:cxn ang="0">
                  <a:pos x="T8" y="T9"/>
                </a:cxn>
                <a:cxn ang="0">
                  <a:pos x="T10" y="T11"/>
                </a:cxn>
              </a:cxnLst>
              <a:rect l="0" t="0" r="r" b="b"/>
              <a:pathLst>
                <a:path w="10" h="21">
                  <a:moveTo>
                    <a:pt x="4" y="20"/>
                  </a:moveTo>
                  <a:lnTo>
                    <a:pt x="9" y="0"/>
                  </a:lnTo>
                  <a:lnTo>
                    <a:pt x="4" y="4"/>
                  </a:lnTo>
                  <a:lnTo>
                    <a:pt x="0" y="0"/>
                  </a:lnTo>
                  <a:lnTo>
                    <a:pt x="4" y="20"/>
                  </a:lnTo>
                  <a:lnTo>
                    <a:pt x="4" y="2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54" name="Freeform 100"/>
            <p:cNvSpPr>
              <a:spLocks/>
            </p:cNvSpPr>
            <p:nvPr/>
          </p:nvSpPr>
          <p:spPr bwMode="auto">
            <a:xfrm>
              <a:off x="8255001" y="2760664"/>
              <a:ext cx="569913" cy="528637"/>
            </a:xfrm>
            <a:custGeom>
              <a:avLst/>
              <a:gdLst>
                <a:gd name="T0" fmla="*/ 0 w 395"/>
                <a:gd name="T1" fmla="*/ 0 h 377"/>
                <a:gd name="T2" fmla="*/ 85 w 395"/>
                <a:gd name="T3" fmla="*/ 0 h 377"/>
                <a:gd name="T4" fmla="*/ 85 w 395"/>
                <a:gd name="T5" fmla="*/ 328 h 377"/>
                <a:gd name="T6" fmla="*/ 394 w 395"/>
                <a:gd name="T7" fmla="*/ 328 h 377"/>
                <a:gd name="T8" fmla="*/ 394 w 395"/>
                <a:gd name="T9" fmla="*/ 376 h 377"/>
              </a:gdLst>
              <a:ahLst/>
              <a:cxnLst>
                <a:cxn ang="0">
                  <a:pos x="T0" y="T1"/>
                </a:cxn>
                <a:cxn ang="0">
                  <a:pos x="T2" y="T3"/>
                </a:cxn>
                <a:cxn ang="0">
                  <a:pos x="T4" y="T5"/>
                </a:cxn>
                <a:cxn ang="0">
                  <a:pos x="T6" y="T7"/>
                </a:cxn>
                <a:cxn ang="0">
                  <a:pos x="T8" y="T9"/>
                </a:cxn>
              </a:cxnLst>
              <a:rect l="0" t="0" r="r" b="b"/>
              <a:pathLst>
                <a:path w="395" h="377">
                  <a:moveTo>
                    <a:pt x="0" y="0"/>
                  </a:moveTo>
                  <a:lnTo>
                    <a:pt x="85" y="0"/>
                  </a:lnTo>
                  <a:lnTo>
                    <a:pt x="85" y="328"/>
                  </a:lnTo>
                  <a:lnTo>
                    <a:pt x="394" y="328"/>
                  </a:lnTo>
                  <a:lnTo>
                    <a:pt x="394" y="376"/>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55" name="Freeform 101"/>
            <p:cNvSpPr>
              <a:spLocks/>
            </p:cNvSpPr>
            <p:nvPr/>
          </p:nvSpPr>
          <p:spPr bwMode="auto">
            <a:xfrm>
              <a:off x="8229600" y="2755900"/>
              <a:ext cx="31750" cy="12700"/>
            </a:xfrm>
            <a:custGeom>
              <a:avLst/>
              <a:gdLst>
                <a:gd name="T0" fmla="*/ 0 w 22"/>
                <a:gd name="T1" fmla="*/ 4 h 9"/>
                <a:gd name="T2" fmla="*/ 21 w 22"/>
                <a:gd name="T3" fmla="*/ 8 h 9"/>
                <a:gd name="T4" fmla="*/ 18 w 22"/>
                <a:gd name="T5" fmla="*/ 4 h 9"/>
                <a:gd name="T6" fmla="*/ 21 w 22"/>
                <a:gd name="T7" fmla="*/ 0 h 9"/>
                <a:gd name="T8" fmla="*/ 0 w 22"/>
                <a:gd name="T9" fmla="*/ 4 h 9"/>
                <a:gd name="T10" fmla="*/ 0 w 22"/>
                <a:gd name="T11" fmla="*/ 4 h 9"/>
              </a:gdLst>
              <a:ahLst/>
              <a:cxnLst>
                <a:cxn ang="0">
                  <a:pos x="T0" y="T1"/>
                </a:cxn>
                <a:cxn ang="0">
                  <a:pos x="T2" y="T3"/>
                </a:cxn>
                <a:cxn ang="0">
                  <a:pos x="T4" y="T5"/>
                </a:cxn>
                <a:cxn ang="0">
                  <a:pos x="T6" y="T7"/>
                </a:cxn>
                <a:cxn ang="0">
                  <a:pos x="T8" y="T9"/>
                </a:cxn>
                <a:cxn ang="0">
                  <a:pos x="T10" y="T11"/>
                </a:cxn>
              </a:cxnLst>
              <a:rect l="0" t="0" r="r" b="b"/>
              <a:pathLst>
                <a:path w="22" h="9">
                  <a:moveTo>
                    <a:pt x="0" y="4"/>
                  </a:moveTo>
                  <a:lnTo>
                    <a:pt x="21" y="8"/>
                  </a:lnTo>
                  <a:lnTo>
                    <a:pt x="18" y="4"/>
                  </a:lnTo>
                  <a:lnTo>
                    <a:pt x="21" y="0"/>
                  </a:lnTo>
                  <a:lnTo>
                    <a:pt x="0" y="4"/>
                  </a:lnTo>
                  <a:lnTo>
                    <a:pt x="0" y="4"/>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56" name="Freeform 102"/>
            <p:cNvSpPr>
              <a:spLocks/>
            </p:cNvSpPr>
            <p:nvPr/>
          </p:nvSpPr>
          <p:spPr bwMode="auto">
            <a:xfrm>
              <a:off x="8818564" y="3282951"/>
              <a:ext cx="14287" cy="28575"/>
            </a:xfrm>
            <a:custGeom>
              <a:avLst/>
              <a:gdLst>
                <a:gd name="T0" fmla="*/ 4 w 10"/>
                <a:gd name="T1" fmla="*/ 20 h 21"/>
                <a:gd name="T2" fmla="*/ 9 w 10"/>
                <a:gd name="T3" fmla="*/ 0 h 21"/>
                <a:gd name="T4" fmla="*/ 4 w 10"/>
                <a:gd name="T5" fmla="*/ 4 h 21"/>
                <a:gd name="T6" fmla="*/ 0 w 10"/>
                <a:gd name="T7" fmla="*/ 0 h 21"/>
                <a:gd name="T8" fmla="*/ 4 w 10"/>
                <a:gd name="T9" fmla="*/ 20 h 21"/>
                <a:gd name="T10" fmla="*/ 4 w 10"/>
                <a:gd name="T11" fmla="*/ 20 h 21"/>
              </a:gdLst>
              <a:ahLst/>
              <a:cxnLst>
                <a:cxn ang="0">
                  <a:pos x="T0" y="T1"/>
                </a:cxn>
                <a:cxn ang="0">
                  <a:pos x="T2" y="T3"/>
                </a:cxn>
                <a:cxn ang="0">
                  <a:pos x="T4" y="T5"/>
                </a:cxn>
                <a:cxn ang="0">
                  <a:pos x="T6" y="T7"/>
                </a:cxn>
                <a:cxn ang="0">
                  <a:pos x="T8" y="T9"/>
                </a:cxn>
                <a:cxn ang="0">
                  <a:pos x="T10" y="T11"/>
                </a:cxn>
              </a:cxnLst>
              <a:rect l="0" t="0" r="r" b="b"/>
              <a:pathLst>
                <a:path w="10" h="21">
                  <a:moveTo>
                    <a:pt x="4" y="20"/>
                  </a:moveTo>
                  <a:lnTo>
                    <a:pt x="9" y="0"/>
                  </a:lnTo>
                  <a:lnTo>
                    <a:pt x="4" y="4"/>
                  </a:lnTo>
                  <a:lnTo>
                    <a:pt x="0" y="0"/>
                  </a:lnTo>
                  <a:lnTo>
                    <a:pt x="4" y="20"/>
                  </a:lnTo>
                  <a:lnTo>
                    <a:pt x="4" y="2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57" name="Freeform 103"/>
            <p:cNvSpPr>
              <a:spLocks/>
            </p:cNvSpPr>
            <p:nvPr/>
          </p:nvSpPr>
          <p:spPr bwMode="auto">
            <a:xfrm>
              <a:off x="9791700" y="2773364"/>
              <a:ext cx="31750" cy="14287"/>
            </a:xfrm>
            <a:custGeom>
              <a:avLst/>
              <a:gdLst>
                <a:gd name="T0" fmla="*/ 0 w 21"/>
                <a:gd name="T1" fmla="*/ 5 h 10"/>
                <a:gd name="T2" fmla="*/ 20 w 21"/>
                <a:gd name="T3" fmla="*/ 9 h 10"/>
                <a:gd name="T4" fmla="*/ 18 w 21"/>
                <a:gd name="T5" fmla="*/ 5 h 10"/>
                <a:gd name="T6" fmla="*/ 20 w 21"/>
                <a:gd name="T7" fmla="*/ 0 h 10"/>
                <a:gd name="T8" fmla="*/ 0 w 21"/>
                <a:gd name="T9" fmla="*/ 5 h 10"/>
                <a:gd name="T10" fmla="*/ 0 w 21"/>
                <a:gd name="T11" fmla="*/ 5 h 10"/>
              </a:gdLst>
              <a:ahLst/>
              <a:cxnLst>
                <a:cxn ang="0">
                  <a:pos x="T0" y="T1"/>
                </a:cxn>
                <a:cxn ang="0">
                  <a:pos x="T2" y="T3"/>
                </a:cxn>
                <a:cxn ang="0">
                  <a:pos x="T4" y="T5"/>
                </a:cxn>
                <a:cxn ang="0">
                  <a:pos x="T6" y="T7"/>
                </a:cxn>
                <a:cxn ang="0">
                  <a:pos x="T8" y="T9"/>
                </a:cxn>
                <a:cxn ang="0">
                  <a:pos x="T10" y="T11"/>
                </a:cxn>
              </a:cxnLst>
              <a:rect l="0" t="0" r="r" b="b"/>
              <a:pathLst>
                <a:path w="21" h="10">
                  <a:moveTo>
                    <a:pt x="0" y="5"/>
                  </a:moveTo>
                  <a:lnTo>
                    <a:pt x="20" y="9"/>
                  </a:lnTo>
                  <a:lnTo>
                    <a:pt x="18" y="5"/>
                  </a:lnTo>
                  <a:lnTo>
                    <a:pt x="20" y="0"/>
                  </a:lnTo>
                  <a:lnTo>
                    <a:pt x="0" y="5"/>
                  </a:lnTo>
                  <a:lnTo>
                    <a:pt x="0" y="5"/>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58" name="Freeform 104"/>
            <p:cNvSpPr>
              <a:spLocks/>
            </p:cNvSpPr>
            <p:nvPr/>
          </p:nvSpPr>
          <p:spPr bwMode="auto">
            <a:xfrm>
              <a:off x="9413875" y="2781300"/>
              <a:ext cx="515938" cy="508000"/>
            </a:xfrm>
            <a:custGeom>
              <a:avLst/>
              <a:gdLst>
                <a:gd name="T0" fmla="*/ 280 w 357"/>
                <a:gd name="T1" fmla="*/ 0 h 363"/>
                <a:gd name="T2" fmla="*/ 356 w 357"/>
                <a:gd name="T3" fmla="*/ 0 h 363"/>
                <a:gd name="T4" fmla="*/ 356 w 357"/>
                <a:gd name="T5" fmla="*/ 259 h 363"/>
                <a:gd name="T6" fmla="*/ 0 w 357"/>
                <a:gd name="T7" fmla="*/ 259 h 363"/>
                <a:gd name="T8" fmla="*/ 0 w 357"/>
                <a:gd name="T9" fmla="*/ 362 h 363"/>
              </a:gdLst>
              <a:ahLst/>
              <a:cxnLst>
                <a:cxn ang="0">
                  <a:pos x="T0" y="T1"/>
                </a:cxn>
                <a:cxn ang="0">
                  <a:pos x="T2" y="T3"/>
                </a:cxn>
                <a:cxn ang="0">
                  <a:pos x="T4" y="T5"/>
                </a:cxn>
                <a:cxn ang="0">
                  <a:pos x="T6" y="T7"/>
                </a:cxn>
                <a:cxn ang="0">
                  <a:pos x="T8" y="T9"/>
                </a:cxn>
              </a:cxnLst>
              <a:rect l="0" t="0" r="r" b="b"/>
              <a:pathLst>
                <a:path w="357" h="363">
                  <a:moveTo>
                    <a:pt x="280" y="0"/>
                  </a:moveTo>
                  <a:lnTo>
                    <a:pt x="356" y="0"/>
                  </a:lnTo>
                  <a:lnTo>
                    <a:pt x="356" y="259"/>
                  </a:lnTo>
                  <a:lnTo>
                    <a:pt x="0" y="259"/>
                  </a:lnTo>
                  <a:lnTo>
                    <a:pt x="0" y="362"/>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59" name="Freeform 105"/>
            <p:cNvSpPr>
              <a:spLocks/>
            </p:cNvSpPr>
            <p:nvPr/>
          </p:nvSpPr>
          <p:spPr bwMode="auto">
            <a:xfrm>
              <a:off x="9409114" y="3282951"/>
              <a:ext cx="14287" cy="28575"/>
            </a:xfrm>
            <a:custGeom>
              <a:avLst/>
              <a:gdLst>
                <a:gd name="T0" fmla="*/ 4 w 10"/>
                <a:gd name="T1" fmla="*/ 20 h 21"/>
                <a:gd name="T2" fmla="*/ 9 w 10"/>
                <a:gd name="T3" fmla="*/ 0 h 21"/>
                <a:gd name="T4" fmla="*/ 4 w 10"/>
                <a:gd name="T5" fmla="*/ 4 h 21"/>
                <a:gd name="T6" fmla="*/ 0 w 10"/>
                <a:gd name="T7" fmla="*/ 0 h 21"/>
                <a:gd name="T8" fmla="*/ 4 w 10"/>
                <a:gd name="T9" fmla="*/ 20 h 21"/>
                <a:gd name="T10" fmla="*/ 4 w 10"/>
                <a:gd name="T11" fmla="*/ 20 h 21"/>
              </a:gdLst>
              <a:ahLst/>
              <a:cxnLst>
                <a:cxn ang="0">
                  <a:pos x="T0" y="T1"/>
                </a:cxn>
                <a:cxn ang="0">
                  <a:pos x="T2" y="T3"/>
                </a:cxn>
                <a:cxn ang="0">
                  <a:pos x="T4" y="T5"/>
                </a:cxn>
                <a:cxn ang="0">
                  <a:pos x="T6" y="T7"/>
                </a:cxn>
                <a:cxn ang="0">
                  <a:pos x="T8" y="T9"/>
                </a:cxn>
                <a:cxn ang="0">
                  <a:pos x="T10" y="T11"/>
                </a:cxn>
              </a:cxnLst>
              <a:rect l="0" t="0" r="r" b="b"/>
              <a:pathLst>
                <a:path w="10" h="21">
                  <a:moveTo>
                    <a:pt x="4" y="20"/>
                  </a:moveTo>
                  <a:lnTo>
                    <a:pt x="9" y="0"/>
                  </a:lnTo>
                  <a:lnTo>
                    <a:pt x="4" y="4"/>
                  </a:lnTo>
                  <a:lnTo>
                    <a:pt x="0" y="0"/>
                  </a:lnTo>
                  <a:lnTo>
                    <a:pt x="4" y="20"/>
                  </a:lnTo>
                  <a:lnTo>
                    <a:pt x="4" y="2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60" name="Text Box 106"/>
            <p:cNvSpPr txBox="1">
              <a:spLocks noChangeArrowheads="1"/>
            </p:cNvSpPr>
            <p:nvPr/>
          </p:nvSpPr>
          <p:spPr bwMode="auto">
            <a:xfrm>
              <a:off x="9059864" y="2651126"/>
              <a:ext cx="358775" cy="9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600" b="1">
                  <a:solidFill>
                    <a:srgbClr val="0000FF"/>
                  </a:solidFill>
                  <a:latin typeface="ITCCenturyBookT" pitchFamily="2" charset="0"/>
                </a:rPr>
                <a:t>SIGNAL</a:t>
              </a:r>
              <a:endParaRPr lang="en-US" altLang="zh-CN" sz="2200">
                <a:latin typeface="Times New Roman" panose="02020603050405020304" pitchFamily="18" charset="0"/>
              </a:endParaRPr>
            </a:p>
          </p:txBody>
        </p:sp>
        <p:sp>
          <p:nvSpPr>
            <p:cNvPr id="161" name="Text Box 107"/>
            <p:cNvSpPr txBox="1">
              <a:spLocks noChangeArrowheads="1"/>
            </p:cNvSpPr>
            <p:nvPr/>
          </p:nvSpPr>
          <p:spPr bwMode="auto">
            <a:xfrm>
              <a:off x="8948738" y="2746376"/>
              <a:ext cx="614362" cy="9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600" b="1">
                  <a:solidFill>
                    <a:srgbClr val="0000FF"/>
                  </a:solidFill>
                  <a:latin typeface="ITCCenturyBookT" pitchFamily="2" charset="0"/>
                </a:rPr>
                <a:t>SEPARATION</a:t>
              </a:r>
              <a:endParaRPr lang="en-US" altLang="zh-CN" sz="2200">
                <a:latin typeface="Times New Roman" panose="02020603050405020304" pitchFamily="18" charset="0"/>
              </a:endParaRPr>
            </a:p>
          </p:txBody>
        </p:sp>
        <p:sp>
          <p:nvSpPr>
            <p:cNvPr id="162" name="Text Box 108"/>
            <p:cNvSpPr txBox="1">
              <a:spLocks noChangeArrowheads="1"/>
            </p:cNvSpPr>
            <p:nvPr/>
          </p:nvSpPr>
          <p:spPr bwMode="auto">
            <a:xfrm>
              <a:off x="7875588" y="2292350"/>
              <a:ext cx="398462" cy="10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600" b="1">
                  <a:solidFill>
                    <a:srgbClr val="0000FF"/>
                  </a:solidFill>
                  <a:latin typeface="ITCCenturyBookT" pitchFamily="2" charset="0"/>
                </a:rPr>
                <a:t>SOURCE</a:t>
              </a:r>
              <a:endParaRPr lang="en-US" altLang="zh-CN" sz="2200">
                <a:latin typeface="Times New Roman" panose="02020603050405020304" pitchFamily="18" charset="0"/>
              </a:endParaRPr>
            </a:p>
          </p:txBody>
        </p:sp>
        <p:sp>
          <p:nvSpPr>
            <p:cNvPr id="163" name="Oval 109"/>
            <p:cNvSpPr>
              <a:spLocks noChangeArrowheads="1"/>
            </p:cNvSpPr>
            <p:nvPr/>
          </p:nvSpPr>
          <p:spPr bwMode="auto">
            <a:xfrm>
              <a:off x="7867651" y="1927225"/>
              <a:ext cx="339725" cy="300038"/>
            </a:xfrm>
            <a:prstGeom prst="ellipse">
              <a:avLst/>
            </a:prstGeom>
            <a:gradFill rotWithShape="0">
              <a:gsLst>
                <a:gs pos="0">
                  <a:srgbClr val="0000FF"/>
                </a:gs>
                <a:gs pos="100000">
                  <a:srgbClr val="FFFFFF"/>
                </a:gs>
              </a:gsLst>
              <a:path path="shape">
                <a:fillToRect l="50000" t="50000" r="50000" b="50000"/>
              </a:path>
            </a:gradFill>
            <a:ln w="19050">
              <a:solidFill>
                <a:srgbClr val="0000FF"/>
              </a:solidFill>
              <a:round/>
              <a:headEnd/>
              <a:tailEnd/>
            </a:ln>
            <a:effectLst>
              <a:outerShdw dist="107763" dir="2700000" algn="ctr" rotWithShape="0">
                <a:srgbClr val="404040"/>
              </a:outerShdw>
            </a:effectLst>
          </p:spPr>
          <p:txBody>
            <a:bodyPr wrap="none" anchor="ctr"/>
            <a:lstStyle/>
            <a:p>
              <a:pPr>
                <a:lnSpc>
                  <a:spcPct val="150000"/>
                </a:lnSpc>
              </a:pPr>
              <a:endParaRPr lang="zh-CN" altLang="en-US"/>
            </a:p>
          </p:txBody>
        </p:sp>
        <p:sp>
          <p:nvSpPr>
            <p:cNvPr id="164" name="Freeform 110"/>
            <p:cNvSpPr>
              <a:spLocks/>
            </p:cNvSpPr>
            <p:nvPr/>
          </p:nvSpPr>
          <p:spPr bwMode="auto">
            <a:xfrm>
              <a:off x="7964489" y="2022476"/>
              <a:ext cx="155575" cy="119063"/>
            </a:xfrm>
            <a:custGeom>
              <a:avLst/>
              <a:gdLst>
                <a:gd name="T0" fmla="*/ 1 w 108"/>
                <a:gd name="T1" fmla="*/ 39 h 86"/>
                <a:gd name="T2" fmla="*/ 3 w 108"/>
                <a:gd name="T3" fmla="*/ 35 h 86"/>
                <a:gd name="T4" fmla="*/ 6 w 108"/>
                <a:gd name="T5" fmla="*/ 29 h 86"/>
                <a:gd name="T6" fmla="*/ 8 w 108"/>
                <a:gd name="T7" fmla="*/ 25 h 86"/>
                <a:gd name="T8" fmla="*/ 10 w 108"/>
                <a:gd name="T9" fmla="*/ 20 h 86"/>
                <a:gd name="T10" fmla="*/ 11 w 108"/>
                <a:gd name="T11" fmla="*/ 16 h 86"/>
                <a:gd name="T12" fmla="*/ 13 w 108"/>
                <a:gd name="T13" fmla="*/ 12 h 86"/>
                <a:gd name="T14" fmla="*/ 16 w 108"/>
                <a:gd name="T15" fmla="*/ 8 h 86"/>
                <a:gd name="T16" fmla="*/ 18 w 108"/>
                <a:gd name="T17" fmla="*/ 6 h 86"/>
                <a:gd name="T18" fmla="*/ 20 w 108"/>
                <a:gd name="T19" fmla="*/ 3 h 86"/>
                <a:gd name="T20" fmla="*/ 23 w 108"/>
                <a:gd name="T21" fmla="*/ 1 h 86"/>
                <a:gd name="T22" fmla="*/ 25 w 108"/>
                <a:gd name="T23" fmla="*/ 1 h 86"/>
                <a:gd name="T24" fmla="*/ 27 w 108"/>
                <a:gd name="T25" fmla="*/ 0 h 86"/>
                <a:gd name="T26" fmla="*/ 29 w 108"/>
                <a:gd name="T27" fmla="*/ 1 h 86"/>
                <a:gd name="T28" fmla="*/ 31 w 108"/>
                <a:gd name="T29" fmla="*/ 1 h 86"/>
                <a:gd name="T30" fmla="*/ 33 w 108"/>
                <a:gd name="T31" fmla="*/ 3 h 86"/>
                <a:gd name="T32" fmla="*/ 36 w 108"/>
                <a:gd name="T33" fmla="*/ 6 h 86"/>
                <a:gd name="T34" fmla="*/ 38 w 108"/>
                <a:gd name="T35" fmla="*/ 8 h 86"/>
                <a:gd name="T36" fmla="*/ 40 w 108"/>
                <a:gd name="T37" fmla="*/ 12 h 86"/>
                <a:gd name="T38" fmla="*/ 42 w 108"/>
                <a:gd name="T39" fmla="*/ 16 h 86"/>
                <a:gd name="T40" fmla="*/ 45 w 108"/>
                <a:gd name="T41" fmla="*/ 19 h 86"/>
                <a:gd name="T42" fmla="*/ 47 w 108"/>
                <a:gd name="T43" fmla="*/ 25 h 86"/>
                <a:gd name="T44" fmla="*/ 48 w 108"/>
                <a:gd name="T45" fmla="*/ 29 h 86"/>
                <a:gd name="T46" fmla="*/ 51 w 108"/>
                <a:gd name="T47" fmla="*/ 35 h 86"/>
                <a:gd name="T48" fmla="*/ 53 w 108"/>
                <a:gd name="T49" fmla="*/ 39 h 86"/>
                <a:gd name="T50" fmla="*/ 54 w 108"/>
                <a:gd name="T51" fmla="*/ 43 h 86"/>
                <a:gd name="T52" fmla="*/ 57 w 108"/>
                <a:gd name="T53" fmla="*/ 48 h 86"/>
                <a:gd name="T54" fmla="*/ 58 w 108"/>
                <a:gd name="T55" fmla="*/ 53 h 86"/>
                <a:gd name="T56" fmla="*/ 59 w 108"/>
                <a:gd name="T57" fmla="*/ 58 h 86"/>
                <a:gd name="T58" fmla="*/ 63 w 108"/>
                <a:gd name="T59" fmla="*/ 63 h 86"/>
                <a:gd name="T60" fmla="*/ 65 w 108"/>
                <a:gd name="T61" fmla="*/ 68 h 86"/>
                <a:gd name="T62" fmla="*/ 66 w 108"/>
                <a:gd name="T63" fmla="*/ 72 h 86"/>
                <a:gd name="T64" fmla="*/ 69 w 108"/>
                <a:gd name="T65" fmla="*/ 76 h 86"/>
                <a:gd name="T66" fmla="*/ 71 w 108"/>
                <a:gd name="T67" fmla="*/ 79 h 86"/>
                <a:gd name="T68" fmla="*/ 73 w 108"/>
                <a:gd name="T69" fmla="*/ 81 h 86"/>
                <a:gd name="T70" fmla="*/ 75 w 108"/>
                <a:gd name="T71" fmla="*/ 83 h 86"/>
                <a:gd name="T72" fmla="*/ 78 w 108"/>
                <a:gd name="T73" fmla="*/ 84 h 86"/>
                <a:gd name="T74" fmla="*/ 79 w 108"/>
                <a:gd name="T75" fmla="*/ 85 h 86"/>
                <a:gd name="T76" fmla="*/ 82 w 108"/>
                <a:gd name="T77" fmla="*/ 85 h 86"/>
                <a:gd name="T78" fmla="*/ 84 w 108"/>
                <a:gd name="T79" fmla="*/ 84 h 86"/>
                <a:gd name="T80" fmla="*/ 86 w 108"/>
                <a:gd name="T81" fmla="*/ 83 h 86"/>
                <a:gd name="T82" fmla="*/ 88 w 108"/>
                <a:gd name="T83" fmla="*/ 81 h 86"/>
                <a:gd name="T84" fmla="*/ 90 w 108"/>
                <a:gd name="T85" fmla="*/ 79 h 86"/>
                <a:gd name="T86" fmla="*/ 93 w 108"/>
                <a:gd name="T87" fmla="*/ 76 h 86"/>
                <a:gd name="T88" fmla="*/ 95 w 108"/>
                <a:gd name="T89" fmla="*/ 72 h 86"/>
                <a:gd name="T90" fmla="*/ 97 w 108"/>
                <a:gd name="T91" fmla="*/ 68 h 86"/>
                <a:gd name="T92" fmla="*/ 99 w 108"/>
                <a:gd name="T93" fmla="*/ 63 h 86"/>
                <a:gd name="T94" fmla="*/ 101 w 108"/>
                <a:gd name="T95" fmla="*/ 58 h 86"/>
                <a:gd name="T96" fmla="*/ 103 w 108"/>
                <a:gd name="T97" fmla="*/ 53 h 86"/>
                <a:gd name="T98" fmla="*/ 106 w 108"/>
                <a:gd name="T99" fmla="*/ 48 h 86"/>
                <a:gd name="T100" fmla="*/ 107 w 108"/>
                <a:gd name="T101" fmla="*/ 4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08" h="86">
                  <a:moveTo>
                    <a:pt x="0" y="43"/>
                  </a:moveTo>
                  <a:lnTo>
                    <a:pt x="1" y="39"/>
                  </a:lnTo>
                  <a:lnTo>
                    <a:pt x="2" y="38"/>
                  </a:lnTo>
                  <a:lnTo>
                    <a:pt x="3" y="35"/>
                  </a:lnTo>
                  <a:lnTo>
                    <a:pt x="5" y="32"/>
                  </a:lnTo>
                  <a:lnTo>
                    <a:pt x="6" y="29"/>
                  </a:lnTo>
                  <a:lnTo>
                    <a:pt x="7" y="28"/>
                  </a:lnTo>
                  <a:lnTo>
                    <a:pt x="8" y="25"/>
                  </a:lnTo>
                  <a:lnTo>
                    <a:pt x="8" y="22"/>
                  </a:lnTo>
                  <a:lnTo>
                    <a:pt x="10" y="20"/>
                  </a:lnTo>
                  <a:lnTo>
                    <a:pt x="11" y="18"/>
                  </a:lnTo>
                  <a:lnTo>
                    <a:pt x="11" y="16"/>
                  </a:lnTo>
                  <a:lnTo>
                    <a:pt x="13" y="14"/>
                  </a:lnTo>
                  <a:lnTo>
                    <a:pt x="13" y="12"/>
                  </a:lnTo>
                  <a:lnTo>
                    <a:pt x="15" y="10"/>
                  </a:lnTo>
                  <a:lnTo>
                    <a:pt x="16" y="8"/>
                  </a:lnTo>
                  <a:lnTo>
                    <a:pt x="17" y="7"/>
                  </a:lnTo>
                  <a:lnTo>
                    <a:pt x="18" y="6"/>
                  </a:lnTo>
                  <a:lnTo>
                    <a:pt x="19" y="4"/>
                  </a:lnTo>
                  <a:lnTo>
                    <a:pt x="20" y="3"/>
                  </a:lnTo>
                  <a:lnTo>
                    <a:pt x="21" y="2"/>
                  </a:lnTo>
                  <a:lnTo>
                    <a:pt x="23" y="1"/>
                  </a:lnTo>
                  <a:lnTo>
                    <a:pt x="24" y="1"/>
                  </a:lnTo>
                  <a:lnTo>
                    <a:pt x="25" y="1"/>
                  </a:lnTo>
                  <a:lnTo>
                    <a:pt x="26" y="1"/>
                  </a:lnTo>
                  <a:lnTo>
                    <a:pt x="27" y="0"/>
                  </a:lnTo>
                  <a:lnTo>
                    <a:pt x="28" y="1"/>
                  </a:lnTo>
                  <a:lnTo>
                    <a:pt x="29" y="1"/>
                  </a:lnTo>
                  <a:lnTo>
                    <a:pt x="30" y="1"/>
                  </a:lnTo>
                  <a:lnTo>
                    <a:pt x="31" y="1"/>
                  </a:lnTo>
                  <a:lnTo>
                    <a:pt x="32" y="2"/>
                  </a:lnTo>
                  <a:lnTo>
                    <a:pt x="33" y="3"/>
                  </a:lnTo>
                  <a:lnTo>
                    <a:pt x="34" y="4"/>
                  </a:lnTo>
                  <a:lnTo>
                    <a:pt x="36" y="6"/>
                  </a:lnTo>
                  <a:lnTo>
                    <a:pt x="37" y="7"/>
                  </a:lnTo>
                  <a:lnTo>
                    <a:pt x="38" y="8"/>
                  </a:lnTo>
                  <a:lnTo>
                    <a:pt x="38" y="10"/>
                  </a:lnTo>
                  <a:lnTo>
                    <a:pt x="40" y="12"/>
                  </a:lnTo>
                  <a:lnTo>
                    <a:pt x="41" y="14"/>
                  </a:lnTo>
                  <a:lnTo>
                    <a:pt x="42" y="16"/>
                  </a:lnTo>
                  <a:lnTo>
                    <a:pt x="43" y="18"/>
                  </a:lnTo>
                  <a:lnTo>
                    <a:pt x="45" y="19"/>
                  </a:lnTo>
                  <a:lnTo>
                    <a:pt x="45" y="22"/>
                  </a:lnTo>
                  <a:lnTo>
                    <a:pt x="47" y="25"/>
                  </a:lnTo>
                  <a:lnTo>
                    <a:pt x="47" y="27"/>
                  </a:lnTo>
                  <a:lnTo>
                    <a:pt x="48" y="29"/>
                  </a:lnTo>
                  <a:lnTo>
                    <a:pt x="49" y="32"/>
                  </a:lnTo>
                  <a:lnTo>
                    <a:pt x="51" y="35"/>
                  </a:lnTo>
                  <a:lnTo>
                    <a:pt x="51" y="38"/>
                  </a:lnTo>
                  <a:lnTo>
                    <a:pt x="53" y="39"/>
                  </a:lnTo>
                  <a:lnTo>
                    <a:pt x="54" y="43"/>
                  </a:lnTo>
                  <a:lnTo>
                    <a:pt x="54" y="43"/>
                  </a:lnTo>
                  <a:lnTo>
                    <a:pt x="55" y="46"/>
                  </a:lnTo>
                  <a:lnTo>
                    <a:pt x="57" y="48"/>
                  </a:lnTo>
                  <a:lnTo>
                    <a:pt x="57" y="50"/>
                  </a:lnTo>
                  <a:lnTo>
                    <a:pt x="58" y="53"/>
                  </a:lnTo>
                  <a:lnTo>
                    <a:pt x="59" y="55"/>
                  </a:lnTo>
                  <a:lnTo>
                    <a:pt x="59" y="58"/>
                  </a:lnTo>
                  <a:lnTo>
                    <a:pt x="61" y="60"/>
                  </a:lnTo>
                  <a:lnTo>
                    <a:pt x="63" y="63"/>
                  </a:lnTo>
                  <a:lnTo>
                    <a:pt x="63" y="66"/>
                  </a:lnTo>
                  <a:lnTo>
                    <a:pt x="65" y="68"/>
                  </a:lnTo>
                  <a:lnTo>
                    <a:pt x="66" y="70"/>
                  </a:lnTo>
                  <a:lnTo>
                    <a:pt x="66" y="72"/>
                  </a:lnTo>
                  <a:lnTo>
                    <a:pt x="68" y="73"/>
                  </a:lnTo>
                  <a:lnTo>
                    <a:pt x="69" y="76"/>
                  </a:lnTo>
                  <a:lnTo>
                    <a:pt x="69" y="77"/>
                  </a:lnTo>
                  <a:lnTo>
                    <a:pt x="71" y="79"/>
                  </a:lnTo>
                  <a:lnTo>
                    <a:pt x="72" y="80"/>
                  </a:lnTo>
                  <a:lnTo>
                    <a:pt x="73" y="81"/>
                  </a:lnTo>
                  <a:lnTo>
                    <a:pt x="75" y="82"/>
                  </a:lnTo>
                  <a:lnTo>
                    <a:pt x="75" y="83"/>
                  </a:lnTo>
                  <a:lnTo>
                    <a:pt x="76" y="84"/>
                  </a:lnTo>
                  <a:lnTo>
                    <a:pt x="78" y="84"/>
                  </a:lnTo>
                  <a:lnTo>
                    <a:pt x="78" y="84"/>
                  </a:lnTo>
                  <a:lnTo>
                    <a:pt x="79" y="85"/>
                  </a:lnTo>
                  <a:lnTo>
                    <a:pt x="81" y="85"/>
                  </a:lnTo>
                  <a:lnTo>
                    <a:pt x="82" y="85"/>
                  </a:lnTo>
                  <a:lnTo>
                    <a:pt x="82" y="84"/>
                  </a:lnTo>
                  <a:lnTo>
                    <a:pt x="84" y="84"/>
                  </a:lnTo>
                  <a:lnTo>
                    <a:pt x="85" y="84"/>
                  </a:lnTo>
                  <a:lnTo>
                    <a:pt x="86" y="83"/>
                  </a:lnTo>
                  <a:lnTo>
                    <a:pt x="87" y="82"/>
                  </a:lnTo>
                  <a:lnTo>
                    <a:pt x="88" y="81"/>
                  </a:lnTo>
                  <a:lnTo>
                    <a:pt x="89" y="80"/>
                  </a:lnTo>
                  <a:lnTo>
                    <a:pt x="90" y="79"/>
                  </a:lnTo>
                  <a:lnTo>
                    <a:pt x="92" y="77"/>
                  </a:lnTo>
                  <a:lnTo>
                    <a:pt x="93" y="76"/>
                  </a:lnTo>
                  <a:lnTo>
                    <a:pt x="94" y="73"/>
                  </a:lnTo>
                  <a:lnTo>
                    <a:pt x="95" y="72"/>
                  </a:lnTo>
                  <a:lnTo>
                    <a:pt x="96" y="70"/>
                  </a:lnTo>
                  <a:lnTo>
                    <a:pt x="97" y="68"/>
                  </a:lnTo>
                  <a:lnTo>
                    <a:pt x="97" y="66"/>
                  </a:lnTo>
                  <a:lnTo>
                    <a:pt x="99" y="63"/>
                  </a:lnTo>
                  <a:lnTo>
                    <a:pt x="100" y="60"/>
                  </a:lnTo>
                  <a:lnTo>
                    <a:pt x="101" y="58"/>
                  </a:lnTo>
                  <a:lnTo>
                    <a:pt x="102" y="55"/>
                  </a:lnTo>
                  <a:lnTo>
                    <a:pt x="103" y="53"/>
                  </a:lnTo>
                  <a:lnTo>
                    <a:pt x="105" y="50"/>
                  </a:lnTo>
                  <a:lnTo>
                    <a:pt x="106" y="48"/>
                  </a:lnTo>
                  <a:lnTo>
                    <a:pt x="106" y="46"/>
                  </a:lnTo>
                  <a:lnTo>
                    <a:pt x="107" y="43"/>
                  </a:lnTo>
                </a:path>
              </a:pathLst>
            </a:custGeom>
            <a:noFill/>
            <a:ln w="31750" cap="flat" cmpd="sng">
              <a:solidFill>
                <a:srgbClr val="FFFF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65" name="Text Box 111"/>
            <p:cNvSpPr txBox="1">
              <a:spLocks noChangeArrowheads="1"/>
            </p:cNvSpPr>
            <p:nvPr/>
          </p:nvSpPr>
          <p:spPr bwMode="auto">
            <a:xfrm>
              <a:off x="8485188" y="1876425"/>
              <a:ext cx="330200" cy="9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600">
                  <a:solidFill>
                    <a:srgbClr val="4181C0"/>
                  </a:solidFill>
                  <a:latin typeface="ITCCenturyBookT" pitchFamily="2" charset="0"/>
                </a:rPr>
                <a:t>Incident</a:t>
              </a:r>
              <a:endParaRPr lang="en-US" altLang="zh-CN" sz="2200">
                <a:latin typeface="Times New Roman" panose="02020603050405020304" pitchFamily="18" charset="0"/>
              </a:endParaRPr>
            </a:p>
          </p:txBody>
        </p:sp>
        <p:sp>
          <p:nvSpPr>
            <p:cNvPr id="166" name="Text Box 112"/>
            <p:cNvSpPr txBox="1">
              <a:spLocks noChangeArrowheads="1"/>
            </p:cNvSpPr>
            <p:nvPr/>
          </p:nvSpPr>
          <p:spPr bwMode="auto">
            <a:xfrm>
              <a:off x="8734425" y="2265363"/>
              <a:ext cx="388938" cy="93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600">
                  <a:solidFill>
                    <a:srgbClr val="00603C"/>
                  </a:solidFill>
                  <a:latin typeface="ITCCenturyBookT" pitchFamily="2" charset="0"/>
                </a:rPr>
                <a:t>Reflected</a:t>
              </a:r>
              <a:endParaRPr lang="en-US" altLang="zh-CN" sz="2200">
                <a:latin typeface="Times New Roman" panose="02020603050405020304" pitchFamily="18" charset="0"/>
              </a:endParaRPr>
            </a:p>
          </p:txBody>
        </p:sp>
        <p:sp>
          <p:nvSpPr>
            <p:cNvPr id="167" name="Text Box 113"/>
            <p:cNvSpPr txBox="1">
              <a:spLocks noChangeArrowheads="1"/>
            </p:cNvSpPr>
            <p:nvPr/>
          </p:nvSpPr>
          <p:spPr bwMode="auto">
            <a:xfrm>
              <a:off x="9791700" y="1876425"/>
              <a:ext cx="488950" cy="9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600">
                  <a:solidFill>
                    <a:srgbClr val="C20000"/>
                  </a:solidFill>
                  <a:latin typeface="ITCCenturyBookT" pitchFamily="2" charset="0"/>
                </a:rPr>
                <a:t>Transmitted</a:t>
              </a:r>
              <a:endParaRPr lang="en-US" altLang="zh-CN" sz="2200">
                <a:latin typeface="Times New Roman" panose="02020603050405020304" pitchFamily="18" charset="0"/>
              </a:endParaRPr>
            </a:p>
          </p:txBody>
        </p:sp>
        <p:sp>
          <p:nvSpPr>
            <p:cNvPr id="168" name="Freeform 114"/>
            <p:cNvSpPr>
              <a:spLocks/>
            </p:cNvSpPr>
            <p:nvPr/>
          </p:nvSpPr>
          <p:spPr bwMode="auto">
            <a:xfrm>
              <a:off x="8389938" y="1990725"/>
              <a:ext cx="627062" cy="311150"/>
            </a:xfrm>
            <a:custGeom>
              <a:avLst/>
              <a:gdLst>
                <a:gd name="T0" fmla="*/ 28 w 435"/>
                <a:gd name="T1" fmla="*/ 69 h 222"/>
                <a:gd name="T2" fmla="*/ 0 w 435"/>
                <a:gd name="T3" fmla="*/ 34 h 222"/>
                <a:gd name="T4" fmla="*/ 368 w 435"/>
                <a:gd name="T5" fmla="*/ 34 h 222"/>
                <a:gd name="T6" fmla="*/ 368 w 435"/>
                <a:gd name="T7" fmla="*/ 0 h 222"/>
                <a:gd name="T8" fmla="*/ 434 w 435"/>
                <a:gd name="T9" fmla="*/ 70 h 222"/>
                <a:gd name="T10" fmla="*/ 368 w 435"/>
                <a:gd name="T11" fmla="*/ 140 h 222"/>
                <a:gd name="T12" fmla="*/ 368 w 435"/>
                <a:gd name="T13" fmla="*/ 105 h 222"/>
                <a:gd name="T14" fmla="*/ 251 w 435"/>
                <a:gd name="T15" fmla="*/ 105 h 222"/>
                <a:gd name="T16" fmla="*/ 160 w 435"/>
                <a:gd name="T17" fmla="*/ 202 h 222"/>
                <a:gd name="T18" fmla="*/ 178 w 435"/>
                <a:gd name="T19" fmla="*/ 214 h 222"/>
                <a:gd name="T20" fmla="*/ 112 w 435"/>
                <a:gd name="T21" fmla="*/ 221 h 222"/>
                <a:gd name="T22" fmla="*/ 103 w 435"/>
                <a:gd name="T23" fmla="*/ 162 h 222"/>
                <a:gd name="T24" fmla="*/ 121 w 435"/>
                <a:gd name="T25" fmla="*/ 174 h 222"/>
                <a:gd name="T26" fmla="*/ 186 w 435"/>
                <a:gd name="T27" fmla="*/ 103 h 222"/>
                <a:gd name="T28" fmla="*/ 4 w 435"/>
                <a:gd name="T29" fmla="*/ 103 h 222"/>
                <a:gd name="T30" fmla="*/ 28 w 435"/>
                <a:gd name="T31" fmla="*/ 69 h 222"/>
                <a:gd name="T32" fmla="*/ 28 w 435"/>
                <a:gd name="T33" fmla="*/ 69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222">
                  <a:moveTo>
                    <a:pt x="28" y="69"/>
                  </a:moveTo>
                  <a:lnTo>
                    <a:pt x="0" y="34"/>
                  </a:lnTo>
                  <a:lnTo>
                    <a:pt x="368" y="34"/>
                  </a:lnTo>
                  <a:lnTo>
                    <a:pt x="368" y="0"/>
                  </a:lnTo>
                  <a:lnTo>
                    <a:pt x="434" y="70"/>
                  </a:lnTo>
                  <a:lnTo>
                    <a:pt x="368" y="140"/>
                  </a:lnTo>
                  <a:lnTo>
                    <a:pt x="368" y="105"/>
                  </a:lnTo>
                  <a:lnTo>
                    <a:pt x="251" y="105"/>
                  </a:lnTo>
                  <a:lnTo>
                    <a:pt x="160" y="202"/>
                  </a:lnTo>
                  <a:lnTo>
                    <a:pt x="178" y="214"/>
                  </a:lnTo>
                  <a:lnTo>
                    <a:pt x="112" y="221"/>
                  </a:lnTo>
                  <a:lnTo>
                    <a:pt x="103" y="162"/>
                  </a:lnTo>
                  <a:lnTo>
                    <a:pt x="121" y="174"/>
                  </a:lnTo>
                  <a:lnTo>
                    <a:pt x="186" y="103"/>
                  </a:lnTo>
                  <a:lnTo>
                    <a:pt x="4" y="103"/>
                  </a:lnTo>
                  <a:lnTo>
                    <a:pt x="28" y="69"/>
                  </a:lnTo>
                  <a:lnTo>
                    <a:pt x="28" y="69"/>
                  </a:lnTo>
                </a:path>
              </a:pathLst>
            </a:custGeom>
            <a:gradFill rotWithShape="0">
              <a:gsLst>
                <a:gs pos="0">
                  <a:srgbClr val="C2EFFF"/>
                </a:gs>
                <a:gs pos="100000">
                  <a:srgbClr val="009F82"/>
                </a:gs>
              </a:gsLst>
              <a:lin ang="0" scaled="1"/>
            </a:gra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69" name="Freeform 115"/>
            <p:cNvSpPr>
              <a:spLocks/>
            </p:cNvSpPr>
            <p:nvPr/>
          </p:nvSpPr>
          <p:spPr bwMode="auto">
            <a:xfrm>
              <a:off x="9774238" y="2001839"/>
              <a:ext cx="544512" cy="193675"/>
            </a:xfrm>
            <a:custGeom>
              <a:avLst/>
              <a:gdLst>
                <a:gd name="T0" fmla="*/ 28 w 378"/>
                <a:gd name="T1" fmla="*/ 69 h 138"/>
                <a:gd name="T2" fmla="*/ 2 w 378"/>
                <a:gd name="T3" fmla="*/ 35 h 138"/>
                <a:gd name="T4" fmla="*/ 303 w 378"/>
                <a:gd name="T5" fmla="*/ 35 h 138"/>
                <a:gd name="T6" fmla="*/ 303 w 378"/>
                <a:gd name="T7" fmla="*/ 0 h 138"/>
                <a:gd name="T8" fmla="*/ 377 w 378"/>
                <a:gd name="T9" fmla="*/ 68 h 138"/>
                <a:gd name="T10" fmla="*/ 303 w 378"/>
                <a:gd name="T11" fmla="*/ 137 h 138"/>
                <a:gd name="T12" fmla="*/ 303 w 378"/>
                <a:gd name="T13" fmla="*/ 103 h 138"/>
                <a:gd name="T14" fmla="*/ 0 w 378"/>
                <a:gd name="T15" fmla="*/ 103 h 138"/>
                <a:gd name="T16" fmla="*/ 28 w 378"/>
                <a:gd name="T17" fmla="*/ 69 h 138"/>
                <a:gd name="T18" fmla="*/ 28 w 378"/>
                <a:gd name="T19"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8" h="138">
                  <a:moveTo>
                    <a:pt x="28" y="69"/>
                  </a:moveTo>
                  <a:lnTo>
                    <a:pt x="2" y="35"/>
                  </a:lnTo>
                  <a:lnTo>
                    <a:pt x="303" y="35"/>
                  </a:lnTo>
                  <a:lnTo>
                    <a:pt x="303" y="0"/>
                  </a:lnTo>
                  <a:lnTo>
                    <a:pt x="377" y="68"/>
                  </a:lnTo>
                  <a:lnTo>
                    <a:pt x="303" y="137"/>
                  </a:lnTo>
                  <a:lnTo>
                    <a:pt x="303" y="103"/>
                  </a:lnTo>
                  <a:lnTo>
                    <a:pt x="0" y="103"/>
                  </a:lnTo>
                  <a:lnTo>
                    <a:pt x="28" y="69"/>
                  </a:lnTo>
                  <a:lnTo>
                    <a:pt x="28" y="69"/>
                  </a:lnTo>
                </a:path>
              </a:pathLst>
            </a:custGeom>
            <a:gradFill rotWithShape="0">
              <a:gsLst>
                <a:gs pos="0">
                  <a:srgbClr val="FFE1DC"/>
                </a:gs>
                <a:gs pos="100000">
                  <a:srgbClr val="FF0000"/>
                </a:gs>
              </a:gsLst>
              <a:lin ang="0" scaled="1"/>
            </a:gra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70" name="Freeform 116"/>
            <p:cNvSpPr>
              <a:spLocks/>
            </p:cNvSpPr>
            <p:nvPr/>
          </p:nvSpPr>
          <p:spPr bwMode="auto">
            <a:xfrm>
              <a:off x="9166226" y="2011363"/>
              <a:ext cx="460375" cy="177800"/>
            </a:xfrm>
            <a:custGeom>
              <a:avLst/>
              <a:gdLst>
                <a:gd name="T0" fmla="*/ 318 w 319"/>
                <a:gd name="T1" fmla="*/ 0 h 127"/>
                <a:gd name="T2" fmla="*/ 318 w 319"/>
                <a:gd name="T3" fmla="*/ 126 h 127"/>
                <a:gd name="T4" fmla="*/ 0 w 319"/>
                <a:gd name="T5" fmla="*/ 126 h 127"/>
                <a:gd name="T6" fmla="*/ 0 w 319"/>
                <a:gd name="T7" fmla="*/ 0 h 127"/>
                <a:gd name="T8" fmla="*/ 318 w 319"/>
                <a:gd name="T9" fmla="*/ 0 h 127"/>
                <a:gd name="T10" fmla="*/ 318 w 319"/>
                <a:gd name="T11" fmla="*/ 0 h 127"/>
              </a:gdLst>
              <a:ahLst/>
              <a:cxnLst>
                <a:cxn ang="0">
                  <a:pos x="T0" y="T1"/>
                </a:cxn>
                <a:cxn ang="0">
                  <a:pos x="T2" y="T3"/>
                </a:cxn>
                <a:cxn ang="0">
                  <a:pos x="T4" y="T5"/>
                </a:cxn>
                <a:cxn ang="0">
                  <a:pos x="T6" y="T7"/>
                </a:cxn>
                <a:cxn ang="0">
                  <a:pos x="T8" y="T9"/>
                </a:cxn>
                <a:cxn ang="0">
                  <a:pos x="T10" y="T11"/>
                </a:cxn>
              </a:cxnLst>
              <a:rect l="0" t="0" r="r" b="b"/>
              <a:pathLst>
                <a:path w="319" h="127">
                  <a:moveTo>
                    <a:pt x="318" y="0"/>
                  </a:moveTo>
                  <a:lnTo>
                    <a:pt x="318" y="126"/>
                  </a:lnTo>
                  <a:lnTo>
                    <a:pt x="0" y="126"/>
                  </a:lnTo>
                  <a:lnTo>
                    <a:pt x="0" y="0"/>
                  </a:lnTo>
                  <a:lnTo>
                    <a:pt x="318" y="0"/>
                  </a:lnTo>
                  <a:lnTo>
                    <a:pt x="318" y="0"/>
                  </a:lnTo>
                </a:path>
              </a:pathLst>
            </a:custGeom>
            <a:solidFill>
              <a:srgbClr val="000000"/>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71" name="Freeform 117"/>
            <p:cNvSpPr>
              <a:spLocks/>
            </p:cNvSpPr>
            <p:nvPr/>
          </p:nvSpPr>
          <p:spPr bwMode="auto">
            <a:xfrm>
              <a:off x="9061451" y="2054226"/>
              <a:ext cx="104775" cy="87313"/>
            </a:xfrm>
            <a:custGeom>
              <a:avLst/>
              <a:gdLst>
                <a:gd name="T0" fmla="*/ 72 w 73"/>
                <a:gd name="T1" fmla="*/ 0 h 62"/>
                <a:gd name="T2" fmla="*/ 72 w 73"/>
                <a:gd name="T3" fmla="*/ 61 h 62"/>
                <a:gd name="T4" fmla="*/ 0 w 73"/>
                <a:gd name="T5" fmla="*/ 61 h 62"/>
                <a:gd name="T6" fmla="*/ 0 w 73"/>
                <a:gd name="T7" fmla="*/ 0 h 62"/>
                <a:gd name="T8" fmla="*/ 72 w 73"/>
                <a:gd name="T9" fmla="*/ 0 h 62"/>
                <a:gd name="T10" fmla="*/ 72 w 73"/>
                <a:gd name="T11" fmla="*/ 0 h 62"/>
              </a:gdLst>
              <a:ahLst/>
              <a:cxnLst>
                <a:cxn ang="0">
                  <a:pos x="T0" y="T1"/>
                </a:cxn>
                <a:cxn ang="0">
                  <a:pos x="T2" y="T3"/>
                </a:cxn>
                <a:cxn ang="0">
                  <a:pos x="T4" y="T5"/>
                </a:cxn>
                <a:cxn ang="0">
                  <a:pos x="T6" y="T7"/>
                </a:cxn>
                <a:cxn ang="0">
                  <a:pos x="T8" y="T9"/>
                </a:cxn>
                <a:cxn ang="0">
                  <a:pos x="T10" y="T11"/>
                </a:cxn>
              </a:cxnLst>
              <a:rect l="0" t="0" r="r" b="b"/>
              <a:pathLst>
                <a:path w="73" h="62">
                  <a:moveTo>
                    <a:pt x="72" y="0"/>
                  </a:moveTo>
                  <a:lnTo>
                    <a:pt x="72" y="61"/>
                  </a:lnTo>
                  <a:lnTo>
                    <a:pt x="0" y="61"/>
                  </a:lnTo>
                  <a:lnTo>
                    <a:pt x="0" y="0"/>
                  </a:lnTo>
                  <a:lnTo>
                    <a:pt x="72" y="0"/>
                  </a:lnTo>
                  <a:lnTo>
                    <a:pt x="72" y="0"/>
                  </a:lnTo>
                </a:path>
              </a:pathLst>
            </a:custGeom>
            <a:solidFill>
              <a:srgbClr val="000000"/>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72" name="Freeform 118"/>
            <p:cNvSpPr>
              <a:spLocks/>
            </p:cNvSpPr>
            <p:nvPr/>
          </p:nvSpPr>
          <p:spPr bwMode="auto">
            <a:xfrm>
              <a:off x="9626601" y="2063750"/>
              <a:ext cx="112713" cy="76200"/>
            </a:xfrm>
            <a:custGeom>
              <a:avLst/>
              <a:gdLst>
                <a:gd name="T0" fmla="*/ 77 w 78"/>
                <a:gd name="T1" fmla="*/ 0 h 54"/>
                <a:gd name="T2" fmla="*/ 77 w 78"/>
                <a:gd name="T3" fmla="*/ 53 h 54"/>
                <a:gd name="T4" fmla="*/ 0 w 78"/>
                <a:gd name="T5" fmla="*/ 53 h 54"/>
                <a:gd name="T6" fmla="*/ 0 w 78"/>
                <a:gd name="T7" fmla="*/ 0 h 54"/>
                <a:gd name="T8" fmla="*/ 77 w 78"/>
                <a:gd name="T9" fmla="*/ 0 h 54"/>
                <a:gd name="T10" fmla="*/ 77 w 78"/>
                <a:gd name="T11" fmla="*/ 0 h 54"/>
              </a:gdLst>
              <a:ahLst/>
              <a:cxnLst>
                <a:cxn ang="0">
                  <a:pos x="T0" y="T1"/>
                </a:cxn>
                <a:cxn ang="0">
                  <a:pos x="T2" y="T3"/>
                </a:cxn>
                <a:cxn ang="0">
                  <a:pos x="T4" y="T5"/>
                </a:cxn>
                <a:cxn ang="0">
                  <a:pos x="T6" y="T7"/>
                </a:cxn>
                <a:cxn ang="0">
                  <a:pos x="T8" y="T9"/>
                </a:cxn>
                <a:cxn ang="0">
                  <a:pos x="T10" y="T11"/>
                </a:cxn>
              </a:cxnLst>
              <a:rect l="0" t="0" r="r" b="b"/>
              <a:pathLst>
                <a:path w="78" h="54">
                  <a:moveTo>
                    <a:pt x="77" y="0"/>
                  </a:moveTo>
                  <a:lnTo>
                    <a:pt x="77" y="53"/>
                  </a:lnTo>
                  <a:lnTo>
                    <a:pt x="0" y="53"/>
                  </a:lnTo>
                  <a:lnTo>
                    <a:pt x="0" y="0"/>
                  </a:lnTo>
                  <a:lnTo>
                    <a:pt x="77" y="0"/>
                  </a:lnTo>
                  <a:lnTo>
                    <a:pt x="77" y="0"/>
                  </a:lnTo>
                </a:path>
              </a:pathLst>
            </a:custGeom>
            <a:solidFill>
              <a:srgbClr val="000000"/>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73" name="Freeform 119"/>
            <p:cNvSpPr>
              <a:spLocks/>
            </p:cNvSpPr>
            <p:nvPr/>
          </p:nvSpPr>
          <p:spPr bwMode="auto">
            <a:xfrm>
              <a:off x="9155114" y="1998663"/>
              <a:ext cx="460375" cy="176212"/>
            </a:xfrm>
            <a:custGeom>
              <a:avLst/>
              <a:gdLst>
                <a:gd name="T0" fmla="*/ 318 w 319"/>
                <a:gd name="T1" fmla="*/ 0 h 126"/>
                <a:gd name="T2" fmla="*/ 318 w 319"/>
                <a:gd name="T3" fmla="*/ 125 h 126"/>
                <a:gd name="T4" fmla="*/ 0 w 319"/>
                <a:gd name="T5" fmla="*/ 125 h 126"/>
                <a:gd name="T6" fmla="*/ 0 w 319"/>
                <a:gd name="T7" fmla="*/ 0 h 126"/>
                <a:gd name="T8" fmla="*/ 318 w 319"/>
                <a:gd name="T9" fmla="*/ 0 h 126"/>
                <a:gd name="T10" fmla="*/ 318 w 319"/>
                <a:gd name="T11" fmla="*/ 0 h 126"/>
              </a:gdLst>
              <a:ahLst/>
              <a:cxnLst>
                <a:cxn ang="0">
                  <a:pos x="T0" y="T1"/>
                </a:cxn>
                <a:cxn ang="0">
                  <a:pos x="T2" y="T3"/>
                </a:cxn>
                <a:cxn ang="0">
                  <a:pos x="T4" y="T5"/>
                </a:cxn>
                <a:cxn ang="0">
                  <a:pos x="T6" y="T7"/>
                </a:cxn>
                <a:cxn ang="0">
                  <a:pos x="T8" y="T9"/>
                </a:cxn>
                <a:cxn ang="0">
                  <a:pos x="T10" y="T11"/>
                </a:cxn>
              </a:cxnLst>
              <a:rect l="0" t="0" r="r" b="b"/>
              <a:pathLst>
                <a:path w="319" h="126">
                  <a:moveTo>
                    <a:pt x="318" y="0"/>
                  </a:moveTo>
                  <a:lnTo>
                    <a:pt x="318" y="125"/>
                  </a:lnTo>
                  <a:lnTo>
                    <a:pt x="0" y="125"/>
                  </a:lnTo>
                  <a:lnTo>
                    <a:pt x="0" y="0"/>
                  </a:lnTo>
                  <a:lnTo>
                    <a:pt x="318" y="0"/>
                  </a:lnTo>
                  <a:lnTo>
                    <a:pt x="318" y="0"/>
                  </a:lnTo>
                </a:path>
              </a:pathLst>
            </a:custGeom>
            <a:gradFill rotWithShape="0">
              <a:gsLst>
                <a:gs pos="0">
                  <a:srgbClr val="80FF80"/>
                </a:gs>
                <a:gs pos="50000">
                  <a:srgbClr val="FFFFFF"/>
                </a:gs>
                <a:gs pos="100000">
                  <a:srgbClr val="80FF80"/>
                </a:gs>
              </a:gsLst>
              <a:lin ang="5400000" scaled="1"/>
            </a:gra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174" name="Text Box 120"/>
            <p:cNvSpPr txBox="1">
              <a:spLocks noChangeArrowheads="1"/>
            </p:cNvSpPr>
            <p:nvPr/>
          </p:nvSpPr>
          <p:spPr bwMode="auto">
            <a:xfrm>
              <a:off x="9263063" y="2012950"/>
              <a:ext cx="260350" cy="13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900" b="1">
                  <a:solidFill>
                    <a:srgbClr val="000000"/>
                  </a:solidFill>
                </a:rPr>
                <a:t>DUT</a:t>
              </a:r>
              <a:endParaRPr lang="en-US" altLang="zh-CN" sz="2200">
                <a:latin typeface="Times New Roman" panose="02020603050405020304" pitchFamily="18" charset="0"/>
              </a:endParaRPr>
            </a:p>
          </p:txBody>
        </p:sp>
        <p:sp>
          <p:nvSpPr>
            <p:cNvPr id="175" name="AutoShape 121"/>
            <p:cNvSpPr>
              <a:spLocks noChangeArrowheads="1"/>
            </p:cNvSpPr>
            <p:nvPr/>
          </p:nvSpPr>
          <p:spPr bwMode="auto">
            <a:xfrm flipV="1">
              <a:off x="9623425" y="2051050"/>
              <a:ext cx="103188" cy="71438"/>
            </a:xfrm>
            <a:prstGeom prst="roundRect">
              <a:avLst>
                <a:gd name="adj" fmla="val 0"/>
              </a:avLst>
            </a:prstGeom>
            <a:gradFill rotWithShape="0">
              <a:gsLst>
                <a:gs pos="0">
                  <a:srgbClr val="FFE118"/>
                </a:gs>
                <a:gs pos="50000">
                  <a:srgbClr val="FFFFFF"/>
                </a:gs>
                <a:gs pos="100000">
                  <a:srgbClr val="FFE118"/>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76" name="Line 122"/>
            <p:cNvSpPr>
              <a:spLocks noChangeShapeType="1"/>
            </p:cNvSpPr>
            <p:nvPr/>
          </p:nvSpPr>
          <p:spPr bwMode="auto">
            <a:xfrm>
              <a:off x="9726613" y="2051051"/>
              <a:ext cx="0" cy="682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77" name="Line 123"/>
            <p:cNvSpPr>
              <a:spLocks noChangeShapeType="1"/>
            </p:cNvSpPr>
            <p:nvPr/>
          </p:nvSpPr>
          <p:spPr bwMode="auto">
            <a:xfrm>
              <a:off x="9666288" y="2051051"/>
              <a:ext cx="0" cy="682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78" name="Line 124"/>
            <p:cNvSpPr>
              <a:spLocks noChangeShapeType="1"/>
            </p:cNvSpPr>
            <p:nvPr/>
          </p:nvSpPr>
          <p:spPr bwMode="auto">
            <a:xfrm>
              <a:off x="9690100" y="2051051"/>
              <a:ext cx="0" cy="682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79" name="Line 125"/>
            <p:cNvSpPr>
              <a:spLocks noChangeShapeType="1"/>
            </p:cNvSpPr>
            <p:nvPr/>
          </p:nvSpPr>
          <p:spPr bwMode="auto">
            <a:xfrm>
              <a:off x="9655175" y="2051051"/>
              <a:ext cx="0" cy="682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80" name="Line 126"/>
            <p:cNvSpPr>
              <a:spLocks noChangeShapeType="1"/>
            </p:cNvSpPr>
            <p:nvPr/>
          </p:nvSpPr>
          <p:spPr bwMode="auto">
            <a:xfrm>
              <a:off x="9702800" y="2051051"/>
              <a:ext cx="0" cy="682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81" name="Line 127"/>
            <p:cNvSpPr>
              <a:spLocks noChangeShapeType="1"/>
            </p:cNvSpPr>
            <p:nvPr/>
          </p:nvSpPr>
          <p:spPr bwMode="auto">
            <a:xfrm>
              <a:off x="9678988" y="2051051"/>
              <a:ext cx="0" cy="682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82" name="Line 128"/>
            <p:cNvSpPr>
              <a:spLocks noChangeShapeType="1"/>
            </p:cNvSpPr>
            <p:nvPr/>
          </p:nvSpPr>
          <p:spPr bwMode="auto">
            <a:xfrm>
              <a:off x="9712325" y="2051051"/>
              <a:ext cx="0" cy="682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83" name="Line 129"/>
            <p:cNvSpPr>
              <a:spLocks noChangeShapeType="1"/>
            </p:cNvSpPr>
            <p:nvPr/>
          </p:nvSpPr>
          <p:spPr bwMode="auto">
            <a:xfrm>
              <a:off x="9632950" y="2051051"/>
              <a:ext cx="0" cy="682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84" name="Line 130"/>
            <p:cNvSpPr>
              <a:spLocks noChangeShapeType="1"/>
            </p:cNvSpPr>
            <p:nvPr/>
          </p:nvSpPr>
          <p:spPr bwMode="auto">
            <a:xfrm>
              <a:off x="9645650" y="2051051"/>
              <a:ext cx="0" cy="682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85" name="AutoShape 131"/>
            <p:cNvSpPr>
              <a:spLocks noChangeArrowheads="1"/>
            </p:cNvSpPr>
            <p:nvPr/>
          </p:nvSpPr>
          <p:spPr bwMode="auto">
            <a:xfrm flipV="1">
              <a:off x="9048751" y="2051050"/>
              <a:ext cx="104775" cy="71438"/>
            </a:xfrm>
            <a:prstGeom prst="roundRect">
              <a:avLst>
                <a:gd name="adj" fmla="val 0"/>
              </a:avLst>
            </a:prstGeom>
            <a:gradFill rotWithShape="0">
              <a:gsLst>
                <a:gs pos="0">
                  <a:srgbClr val="FFE118"/>
                </a:gs>
                <a:gs pos="50000">
                  <a:srgbClr val="FFFFFF"/>
                </a:gs>
                <a:gs pos="100000">
                  <a:srgbClr val="FFE118"/>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86" name="Line 132"/>
            <p:cNvSpPr>
              <a:spLocks noChangeShapeType="1"/>
            </p:cNvSpPr>
            <p:nvPr/>
          </p:nvSpPr>
          <p:spPr bwMode="auto">
            <a:xfrm>
              <a:off x="9048750" y="2051051"/>
              <a:ext cx="0" cy="682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87" name="Line 133"/>
            <p:cNvSpPr>
              <a:spLocks noChangeShapeType="1"/>
            </p:cNvSpPr>
            <p:nvPr/>
          </p:nvSpPr>
          <p:spPr bwMode="auto">
            <a:xfrm>
              <a:off x="9109075" y="2051051"/>
              <a:ext cx="0" cy="682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88" name="Line 134"/>
            <p:cNvSpPr>
              <a:spLocks noChangeShapeType="1"/>
            </p:cNvSpPr>
            <p:nvPr/>
          </p:nvSpPr>
          <p:spPr bwMode="auto">
            <a:xfrm>
              <a:off x="9085263" y="2051051"/>
              <a:ext cx="0" cy="682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89" name="Line 135"/>
            <p:cNvSpPr>
              <a:spLocks noChangeShapeType="1"/>
            </p:cNvSpPr>
            <p:nvPr/>
          </p:nvSpPr>
          <p:spPr bwMode="auto">
            <a:xfrm>
              <a:off x="9120188" y="2051051"/>
              <a:ext cx="0" cy="682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90" name="Line 136"/>
            <p:cNvSpPr>
              <a:spLocks noChangeShapeType="1"/>
            </p:cNvSpPr>
            <p:nvPr/>
          </p:nvSpPr>
          <p:spPr bwMode="auto">
            <a:xfrm>
              <a:off x="9074150" y="2051051"/>
              <a:ext cx="0" cy="682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91" name="Line 137"/>
            <p:cNvSpPr>
              <a:spLocks noChangeShapeType="1"/>
            </p:cNvSpPr>
            <p:nvPr/>
          </p:nvSpPr>
          <p:spPr bwMode="auto">
            <a:xfrm>
              <a:off x="9096375" y="2051051"/>
              <a:ext cx="0" cy="682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92" name="Line 138"/>
            <p:cNvSpPr>
              <a:spLocks noChangeShapeType="1"/>
            </p:cNvSpPr>
            <p:nvPr/>
          </p:nvSpPr>
          <p:spPr bwMode="auto">
            <a:xfrm>
              <a:off x="9061450" y="2051051"/>
              <a:ext cx="0" cy="682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93" name="Line 139"/>
            <p:cNvSpPr>
              <a:spLocks noChangeShapeType="1"/>
            </p:cNvSpPr>
            <p:nvPr/>
          </p:nvSpPr>
          <p:spPr bwMode="auto">
            <a:xfrm>
              <a:off x="9142413" y="2051051"/>
              <a:ext cx="0" cy="682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94" name="Line 140"/>
            <p:cNvSpPr>
              <a:spLocks noChangeShapeType="1"/>
            </p:cNvSpPr>
            <p:nvPr/>
          </p:nvSpPr>
          <p:spPr bwMode="auto">
            <a:xfrm>
              <a:off x="9131300" y="2051051"/>
              <a:ext cx="0" cy="682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grpSp>
      <p:sp>
        <p:nvSpPr>
          <p:cNvPr id="195" name="Text Box 141"/>
          <p:cNvSpPr txBox="1">
            <a:spLocks noChangeArrowheads="1"/>
          </p:cNvSpPr>
          <p:nvPr/>
        </p:nvSpPr>
        <p:spPr bwMode="auto">
          <a:xfrm>
            <a:off x="5612269" y="5895018"/>
            <a:ext cx="5915696" cy="715581"/>
          </a:xfrm>
          <a:prstGeom prst="rect">
            <a:avLst/>
          </a:prstGeom>
          <a:solidFill>
            <a:schemeClr val="bg1">
              <a:lumMod val="95000"/>
            </a:schemeClr>
          </a:solidFill>
          <a:ln>
            <a:solidFill>
              <a:schemeClr val="bg1">
                <a:lumMod val="75000"/>
              </a:schemeClr>
            </a:solidFill>
            <a:headEnd type="none" w="sm" len="sm"/>
            <a:tailEnd type="none" w="sm" len="sm"/>
          </a:ln>
          <a:extLst/>
        </p:spPr>
        <p:style>
          <a:lnRef idx="2">
            <a:schemeClr val="accent3">
              <a:shade val="50000"/>
            </a:schemeClr>
          </a:lnRef>
          <a:fillRef idx="1">
            <a:schemeClr val="accent3"/>
          </a:fillRef>
          <a:effectRef idx="0">
            <a:schemeClr val="accent3"/>
          </a:effectRef>
          <a:fontRef idx="minor">
            <a:schemeClr val="lt1"/>
          </a:fontRef>
        </p:style>
        <p:txBody>
          <a:bodyPr wrap="square" lIns="0" tIns="0" rIns="0" bIns="0">
            <a:spAutoFit/>
          </a:bodyPr>
          <a:lstStyle/>
          <a:p>
            <a:pPr eaLnBrk="0" hangingPunct="0">
              <a:lnSpc>
                <a:spcPct val="150000"/>
              </a:lnSpc>
            </a:pPr>
            <a:r>
              <a:rPr lang="en-US" altLang="zh-CN" sz="500" b="1" i="1">
                <a:solidFill>
                  <a:srgbClr val="004098"/>
                </a:solidFill>
                <a:latin typeface="微软雅黑" panose="020B0503020204020204" pitchFamily="34" charset="-122"/>
                <a:ea typeface="微软雅黑" panose="020B0503020204020204" pitchFamily="34" charset="-122"/>
              </a:rPr>
              <a:t>    </a:t>
            </a:r>
          </a:p>
          <a:p>
            <a:pPr eaLnBrk="0" hangingPunct="0">
              <a:lnSpc>
                <a:spcPct val="150000"/>
              </a:lnSpc>
            </a:pPr>
            <a:r>
              <a:rPr lang="en-US" altLang="zh-CN" sz="2100" b="1" i="1">
                <a:solidFill>
                  <a:srgbClr val="004098"/>
                </a:solidFill>
                <a:latin typeface="微软雅黑" panose="020B0503020204020204" pitchFamily="34" charset="-122"/>
                <a:ea typeface="微软雅黑" panose="020B0503020204020204" pitchFamily="34" charset="-122"/>
              </a:rPr>
              <a:t>     </a:t>
            </a:r>
            <a:r>
              <a:rPr lang="zh-CN" altLang="en-US" sz="2100" b="1" i="1">
                <a:solidFill>
                  <a:srgbClr val="004098"/>
                </a:solidFill>
                <a:latin typeface="微软雅黑" panose="020B0503020204020204" pitchFamily="34" charset="-122"/>
                <a:ea typeface="微软雅黑" panose="020B0503020204020204" pitchFamily="34" charset="-122"/>
              </a:rPr>
              <a:t>定向耦合器连接端点</a:t>
            </a:r>
            <a:r>
              <a:rPr lang="en-US" altLang="zh-CN" sz="2100" b="1" i="1">
                <a:solidFill>
                  <a:srgbClr val="004098"/>
                </a:solidFill>
                <a:latin typeface="微软雅黑" panose="020B0503020204020204" pitchFamily="34" charset="-122"/>
                <a:ea typeface="微软雅黑" panose="020B0503020204020204" pitchFamily="34" charset="-122"/>
              </a:rPr>
              <a:t>: </a:t>
            </a:r>
            <a:r>
              <a:rPr lang="zh-CN" altLang="en-US" sz="2100" b="1" i="1">
                <a:solidFill>
                  <a:srgbClr val="004098"/>
                </a:solidFill>
                <a:latin typeface="微软雅黑" panose="020B0503020204020204" pitchFamily="34" charset="-122"/>
                <a:ea typeface="微软雅黑" panose="020B0503020204020204" pitchFamily="34" charset="-122"/>
              </a:rPr>
              <a:t>反射特性测试点</a:t>
            </a:r>
          </a:p>
          <a:p>
            <a:pPr eaLnBrk="0" hangingPunct="0">
              <a:lnSpc>
                <a:spcPct val="150000"/>
              </a:lnSpc>
            </a:pPr>
            <a:endParaRPr lang="en-US" altLang="zh-CN" sz="500">
              <a:solidFill>
                <a:srgbClr val="004098"/>
              </a:solidFill>
              <a:latin typeface="微软雅黑" panose="020B0503020204020204" pitchFamily="34" charset="-122"/>
              <a:ea typeface="微软雅黑" panose="020B0503020204020204" pitchFamily="34" charset="-122"/>
            </a:endParaRPr>
          </a:p>
        </p:txBody>
      </p:sp>
      <p:cxnSp>
        <p:nvCxnSpPr>
          <p:cNvPr id="203" name="直接连接符 202"/>
          <p:cNvCxnSpPr/>
          <p:nvPr/>
        </p:nvCxnSpPr>
        <p:spPr>
          <a:xfrm>
            <a:off x="4534773" y="5120465"/>
            <a:ext cx="0" cy="122174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04" name="直接连接符 203"/>
          <p:cNvCxnSpPr/>
          <p:nvPr/>
        </p:nvCxnSpPr>
        <p:spPr>
          <a:xfrm>
            <a:off x="4534773" y="3431581"/>
            <a:ext cx="0" cy="122174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4534773" y="1742697"/>
            <a:ext cx="0" cy="122174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1674322"/>
      </p:ext>
    </p:extLst>
  </p:cSld>
  <p:clrMapOvr>
    <a:masterClrMapping/>
  </p:clrMapOvr>
  <p:transition spd="slow">
    <p:push di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定向耦合器用于反射性能测试</a:t>
            </a:r>
          </a:p>
        </p:txBody>
      </p:sp>
      <p:sp>
        <p:nvSpPr>
          <p:cNvPr id="38" name="内容占位符 37"/>
          <p:cNvSpPr>
            <a:spLocks noGrp="1"/>
          </p:cNvSpPr>
          <p:nvPr>
            <p:ph idx="1"/>
          </p:nvPr>
        </p:nvSpPr>
        <p:spPr/>
        <p:txBody>
          <a:bodyPr/>
          <a:lstStyle/>
          <a:p>
            <a:endParaRPr lang="zh-CN" altLang="en-US"/>
          </a:p>
        </p:txBody>
      </p:sp>
      <p:sp>
        <p:nvSpPr>
          <p:cNvPr id="103" name="日期占位符 102"/>
          <p:cNvSpPr>
            <a:spLocks noGrp="1"/>
          </p:cNvSpPr>
          <p:nvPr>
            <p:ph type="dt" sz="half" idx="10"/>
          </p:nvPr>
        </p:nvSpPr>
        <p:spPr/>
        <p:txBody>
          <a:bodyPr/>
          <a:lstStyle/>
          <a:p>
            <a:fld id="{ACE44E49-AD79-4F46-BB9D-4C894DCBF270}" type="datetime3">
              <a:rPr lang="zh-CN" altLang="en-US" smtClean="0"/>
              <a:t>2019年5月6日星期一</a:t>
            </a:fld>
            <a:endParaRPr lang="zh-CN" altLang="en-US"/>
          </a:p>
        </p:txBody>
      </p:sp>
      <p:sp>
        <p:nvSpPr>
          <p:cNvPr id="104" name="页脚占位符 103"/>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105" name="灯片编号占位符 104"/>
          <p:cNvSpPr>
            <a:spLocks noGrp="1"/>
          </p:cNvSpPr>
          <p:nvPr>
            <p:ph type="sldNum" sz="quarter" idx="12"/>
          </p:nvPr>
        </p:nvSpPr>
        <p:spPr/>
        <p:txBody>
          <a:bodyPr/>
          <a:lstStyle/>
          <a:p>
            <a:fld id="{D5BA5A3D-E723-4639-877B-B187790AC552}" type="slidenum">
              <a:rPr lang="zh-CN" altLang="en-US" smtClean="0"/>
              <a:pPr/>
              <a:t>14</a:t>
            </a:fld>
            <a:endParaRPr lang="zh-CN" altLang="en-US"/>
          </a:p>
        </p:txBody>
      </p:sp>
      <p:sp>
        <p:nvSpPr>
          <p:cNvPr id="3" name="Text Box 2"/>
          <p:cNvSpPr txBox="1">
            <a:spLocks noChangeArrowheads="1"/>
          </p:cNvSpPr>
          <p:nvPr/>
        </p:nvSpPr>
        <p:spPr bwMode="auto">
          <a:xfrm>
            <a:off x="1766722" y="2643578"/>
            <a:ext cx="2209800" cy="1368303"/>
          </a:xfrm>
          <a:prstGeom prst="rect">
            <a:avLst/>
          </a:prstGeom>
          <a:solidFill>
            <a:schemeClr val="bg1">
              <a:lumMod val="95000"/>
            </a:schemeClr>
          </a:solidFill>
          <a:ln/>
          <a:extLst/>
        </p:spPr>
        <p:style>
          <a:lnRef idx="1">
            <a:schemeClr val="accent3"/>
          </a:lnRef>
          <a:fillRef idx="2">
            <a:schemeClr val="accent3"/>
          </a:fillRef>
          <a:effectRef idx="1">
            <a:schemeClr val="accent3"/>
          </a:effectRef>
          <a:fontRef idx="minor">
            <a:schemeClr val="dk1"/>
          </a:fontRef>
        </p:style>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573088" indent="-163513" defTabSz="409575">
              <a:defRPr>
                <a:solidFill>
                  <a:schemeClr val="tx1"/>
                </a:solidFill>
                <a:latin typeface="Arial" panose="020B0604020202020204" pitchFamily="34" charset="0"/>
                <a:ea typeface="宋体" panose="02010600030101010101" pitchFamily="2" charset="-122"/>
              </a:defRPr>
            </a:lvl2pPr>
            <a:lvl3pPr marL="915988" indent="-95250"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eaLnBrk="0" hangingPunct="0">
              <a:lnSpc>
                <a:spcPct val="150000"/>
              </a:lnSpc>
              <a:buClr>
                <a:srgbClr val="000000"/>
              </a:buClr>
              <a:buSzPct val="90000"/>
              <a:buFont typeface="Arial" panose="020B0604020202020204" pitchFamily="34" charset="0"/>
              <a:buChar char="•"/>
            </a:pPr>
            <a:r>
              <a:rPr lang="en-US" altLang="zh-CN" sz="1500" dirty="0">
                <a:latin typeface="微软雅黑" panose="020B0503020204020204" pitchFamily="34" charset="-122"/>
                <a:ea typeface="微软雅黑" panose="020B0503020204020204" pitchFamily="34" charset="-122"/>
              </a:rPr>
              <a:t>Directivity </a:t>
            </a:r>
            <a:r>
              <a:rPr lang="zh-CN" altLang="en-US" sz="1500" dirty="0" smtClean="0">
                <a:latin typeface="微软雅黑" panose="020B0503020204020204" pitchFamily="34" charset="-122"/>
                <a:ea typeface="微软雅黑" panose="020B0503020204020204" pitchFamily="34" charset="-122"/>
              </a:rPr>
              <a:t>方向性反映定向耦合器分离</a:t>
            </a:r>
            <a:r>
              <a:rPr lang="zh-CN" altLang="en-US" sz="1500" dirty="0">
                <a:latin typeface="微软雅黑" panose="020B0503020204020204" pitchFamily="34" charset="-122"/>
                <a:ea typeface="微软雅黑" panose="020B0503020204020204" pitchFamily="34" charset="-122"/>
              </a:rPr>
              <a:t>两个相反</a:t>
            </a:r>
            <a:r>
              <a:rPr lang="zh-CN" altLang="en-US" sz="1500" dirty="0" smtClean="0">
                <a:latin typeface="微软雅黑" panose="020B0503020204020204" pitchFamily="34" charset="-122"/>
                <a:ea typeface="微软雅黑" panose="020B0503020204020204" pitchFamily="34" charset="-122"/>
              </a:rPr>
              <a:t>传输方向</a:t>
            </a:r>
            <a:r>
              <a:rPr lang="zh-CN" altLang="en-US" sz="1500" dirty="0">
                <a:latin typeface="微软雅黑" panose="020B0503020204020204" pitchFamily="34" charset="-122"/>
                <a:ea typeface="微软雅黑" panose="020B0503020204020204" pitchFamily="34" charset="-122"/>
              </a:rPr>
              <a:t>信号的能力</a:t>
            </a:r>
            <a:r>
              <a:rPr lang="en-US" altLang="zh-CN" sz="1500" dirty="0">
                <a:latin typeface="微软雅黑" panose="020B0503020204020204" pitchFamily="34" charset="-122"/>
                <a:ea typeface="微软雅黑" panose="020B0503020204020204" pitchFamily="34" charset="-122"/>
              </a:rPr>
              <a:t>.</a:t>
            </a:r>
          </a:p>
        </p:txBody>
      </p:sp>
      <p:grpSp>
        <p:nvGrpSpPr>
          <p:cNvPr id="4" name="组合 3"/>
          <p:cNvGrpSpPr/>
          <p:nvPr/>
        </p:nvGrpSpPr>
        <p:grpSpPr>
          <a:xfrm>
            <a:off x="4328375" y="1497330"/>
            <a:ext cx="6259513" cy="2471737"/>
            <a:chOff x="4216401" y="1219201"/>
            <a:chExt cx="6259513" cy="2471737"/>
          </a:xfrm>
        </p:grpSpPr>
        <p:sp>
          <p:nvSpPr>
            <p:cNvPr id="5" name="Text Box 3"/>
            <p:cNvSpPr txBox="1">
              <a:spLocks noChangeArrowheads="1"/>
            </p:cNvSpPr>
            <p:nvPr/>
          </p:nvSpPr>
          <p:spPr bwMode="auto">
            <a:xfrm>
              <a:off x="8867776" y="2517776"/>
              <a:ext cx="141922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zh-CN" altLang="en-US" sz="1500" b="1">
                  <a:solidFill>
                    <a:schemeClr val="folHlink"/>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被测件端口</a:t>
              </a:r>
            </a:p>
          </p:txBody>
        </p:sp>
        <p:grpSp>
          <p:nvGrpSpPr>
            <p:cNvPr id="6" name="Group 4"/>
            <p:cNvGrpSpPr>
              <a:grpSpLocks/>
            </p:cNvGrpSpPr>
            <p:nvPr/>
          </p:nvGrpSpPr>
          <p:grpSpPr bwMode="auto">
            <a:xfrm>
              <a:off x="4748214" y="1219201"/>
              <a:ext cx="3913187" cy="1609725"/>
              <a:chOff x="896" y="1505"/>
              <a:chExt cx="3236" cy="1358"/>
            </a:xfrm>
          </p:grpSpPr>
          <p:sp>
            <p:nvSpPr>
              <p:cNvPr id="18" name="Line 5"/>
              <p:cNvSpPr>
                <a:spLocks noChangeShapeType="1"/>
              </p:cNvSpPr>
              <p:nvPr/>
            </p:nvSpPr>
            <p:spPr bwMode="auto">
              <a:xfrm flipH="1">
                <a:off x="1379" y="2660"/>
                <a:ext cx="2675" cy="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 name="Freeform 6"/>
              <p:cNvSpPr>
                <a:spLocks/>
              </p:cNvSpPr>
              <p:nvPr/>
            </p:nvSpPr>
            <p:spPr bwMode="auto">
              <a:xfrm>
                <a:off x="2109" y="1975"/>
                <a:ext cx="1528" cy="839"/>
              </a:xfrm>
              <a:custGeom>
                <a:avLst/>
                <a:gdLst>
                  <a:gd name="T0" fmla="*/ 0 w 1681"/>
                  <a:gd name="T1" fmla="*/ 376 h 951"/>
                  <a:gd name="T2" fmla="*/ 397 w 1681"/>
                  <a:gd name="T3" fmla="*/ 376 h 951"/>
                  <a:gd name="T4" fmla="*/ 397 w 1681"/>
                  <a:gd name="T5" fmla="*/ 0 h 951"/>
                  <a:gd name="T6" fmla="*/ 712 w 1681"/>
                  <a:gd name="T7" fmla="*/ 0 h 951"/>
                  <a:gd name="T8" fmla="*/ 712 w 1681"/>
                  <a:gd name="T9" fmla="*/ 378 h 951"/>
                  <a:gd name="T10" fmla="*/ 1680 w 1681"/>
                  <a:gd name="T11" fmla="*/ 378 h 951"/>
                  <a:gd name="T12" fmla="*/ 1680 w 1681"/>
                  <a:gd name="T13" fmla="*/ 950 h 951"/>
                  <a:gd name="T14" fmla="*/ 2 w 1681"/>
                  <a:gd name="T15" fmla="*/ 950 h 951"/>
                  <a:gd name="T16" fmla="*/ 0 w 1681"/>
                  <a:gd name="T17" fmla="*/ 376 h 951"/>
                  <a:gd name="T18" fmla="*/ 0 w 1681"/>
                  <a:gd name="T19" fmla="*/ 376 h 9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81" h="951">
                    <a:moveTo>
                      <a:pt x="0" y="376"/>
                    </a:moveTo>
                    <a:lnTo>
                      <a:pt x="397" y="376"/>
                    </a:lnTo>
                    <a:lnTo>
                      <a:pt x="397" y="0"/>
                    </a:lnTo>
                    <a:lnTo>
                      <a:pt x="712" y="0"/>
                    </a:lnTo>
                    <a:lnTo>
                      <a:pt x="712" y="378"/>
                    </a:lnTo>
                    <a:lnTo>
                      <a:pt x="1680" y="378"/>
                    </a:lnTo>
                    <a:lnTo>
                      <a:pt x="1680" y="950"/>
                    </a:lnTo>
                    <a:lnTo>
                      <a:pt x="2" y="950"/>
                    </a:lnTo>
                    <a:lnTo>
                      <a:pt x="0" y="376"/>
                    </a:lnTo>
                    <a:lnTo>
                      <a:pt x="0" y="376"/>
                    </a:lnTo>
                  </a:path>
                </a:pathLst>
              </a:custGeom>
              <a:solidFill>
                <a:srgbClr val="CCFFCC"/>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0" name="Line 7"/>
              <p:cNvSpPr>
                <a:spLocks noChangeShapeType="1"/>
              </p:cNvSpPr>
              <p:nvPr/>
            </p:nvSpPr>
            <p:spPr bwMode="auto">
              <a:xfrm>
                <a:off x="2896" y="2519"/>
                <a:ext cx="135" cy="9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1" name="Freeform 8"/>
              <p:cNvSpPr>
                <a:spLocks/>
              </p:cNvSpPr>
              <p:nvPr/>
            </p:nvSpPr>
            <p:spPr bwMode="auto">
              <a:xfrm>
                <a:off x="2874" y="2502"/>
                <a:ext cx="47" cy="47"/>
              </a:xfrm>
              <a:custGeom>
                <a:avLst/>
                <a:gdLst>
                  <a:gd name="T0" fmla="*/ 0 w 41"/>
                  <a:gd name="T1" fmla="*/ 0 h 31"/>
                  <a:gd name="T2" fmla="*/ 24 w 41"/>
                  <a:gd name="T3" fmla="*/ 30 h 31"/>
                  <a:gd name="T4" fmla="*/ 24 w 41"/>
                  <a:gd name="T5" fmla="*/ 20 h 31"/>
                  <a:gd name="T6" fmla="*/ 40 w 41"/>
                  <a:gd name="T7" fmla="*/ 20 h 31"/>
                  <a:gd name="T8" fmla="*/ 0 w 41"/>
                  <a:gd name="T9" fmla="*/ 0 h 31"/>
                  <a:gd name="T10" fmla="*/ 0 w 41"/>
                  <a:gd name="T11" fmla="*/ 0 h 31"/>
                </a:gdLst>
                <a:ahLst/>
                <a:cxnLst>
                  <a:cxn ang="0">
                    <a:pos x="T0" y="T1"/>
                  </a:cxn>
                  <a:cxn ang="0">
                    <a:pos x="T2" y="T3"/>
                  </a:cxn>
                  <a:cxn ang="0">
                    <a:pos x="T4" y="T5"/>
                  </a:cxn>
                  <a:cxn ang="0">
                    <a:pos x="T6" y="T7"/>
                  </a:cxn>
                  <a:cxn ang="0">
                    <a:pos x="T8" y="T9"/>
                  </a:cxn>
                  <a:cxn ang="0">
                    <a:pos x="T10" y="T11"/>
                  </a:cxn>
                </a:cxnLst>
                <a:rect l="0" t="0" r="r" b="b"/>
                <a:pathLst>
                  <a:path w="41" h="31">
                    <a:moveTo>
                      <a:pt x="0" y="0"/>
                    </a:moveTo>
                    <a:lnTo>
                      <a:pt x="24" y="30"/>
                    </a:lnTo>
                    <a:lnTo>
                      <a:pt x="24" y="20"/>
                    </a:lnTo>
                    <a:lnTo>
                      <a:pt x="40" y="20"/>
                    </a:lnTo>
                    <a:lnTo>
                      <a:pt x="0" y="0"/>
                    </a:lnTo>
                    <a:lnTo>
                      <a:pt x="0" y="0"/>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2" name="Freeform 9"/>
              <p:cNvSpPr>
                <a:spLocks/>
              </p:cNvSpPr>
              <p:nvPr/>
            </p:nvSpPr>
            <p:spPr bwMode="auto">
              <a:xfrm>
                <a:off x="3016" y="2605"/>
                <a:ext cx="47" cy="47"/>
              </a:xfrm>
              <a:custGeom>
                <a:avLst/>
                <a:gdLst>
                  <a:gd name="T0" fmla="*/ 40 w 41"/>
                  <a:gd name="T1" fmla="*/ 28 h 29"/>
                  <a:gd name="T2" fmla="*/ 16 w 41"/>
                  <a:gd name="T3" fmla="*/ 0 h 29"/>
                  <a:gd name="T4" fmla="*/ 16 w 41"/>
                  <a:gd name="T5" fmla="*/ 13 h 29"/>
                  <a:gd name="T6" fmla="*/ 0 w 41"/>
                  <a:gd name="T7" fmla="*/ 13 h 29"/>
                  <a:gd name="T8" fmla="*/ 40 w 41"/>
                  <a:gd name="T9" fmla="*/ 28 h 29"/>
                  <a:gd name="T10" fmla="*/ 40 w 41"/>
                  <a:gd name="T11" fmla="*/ 28 h 29"/>
                </a:gdLst>
                <a:ahLst/>
                <a:cxnLst>
                  <a:cxn ang="0">
                    <a:pos x="T0" y="T1"/>
                  </a:cxn>
                  <a:cxn ang="0">
                    <a:pos x="T2" y="T3"/>
                  </a:cxn>
                  <a:cxn ang="0">
                    <a:pos x="T4" y="T5"/>
                  </a:cxn>
                  <a:cxn ang="0">
                    <a:pos x="T6" y="T7"/>
                  </a:cxn>
                  <a:cxn ang="0">
                    <a:pos x="T8" y="T9"/>
                  </a:cxn>
                  <a:cxn ang="0">
                    <a:pos x="T10" y="T11"/>
                  </a:cxn>
                </a:cxnLst>
                <a:rect l="0" t="0" r="r" b="b"/>
                <a:pathLst>
                  <a:path w="41" h="29">
                    <a:moveTo>
                      <a:pt x="40" y="28"/>
                    </a:moveTo>
                    <a:lnTo>
                      <a:pt x="16" y="0"/>
                    </a:lnTo>
                    <a:lnTo>
                      <a:pt x="16" y="13"/>
                    </a:lnTo>
                    <a:lnTo>
                      <a:pt x="0" y="13"/>
                    </a:lnTo>
                    <a:lnTo>
                      <a:pt x="40" y="28"/>
                    </a:lnTo>
                    <a:lnTo>
                      <a:pt x="40" y="28"/>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3" name="Line 10"/>
              <p:cNvSpPr>
                <a:spLocks noChangeShapeType="1"/>
              </p:cNvSpPr>
              <p:nvPr/>
            </p:nvSpPr>
            <p:spPr bwMode="auto">
              <a:xfrm flipH="1">
                <a:off x="2896" y="2519"/>
                <a:ext cx="135" cy="9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4" name="Freeform 11"/>
              <p:cNvSpPr>
                <a:spLocks/>
              </p:cNvSpPr>
              <p:nvPr/>
            </p:nvSpPr>
            <p:spPr bwMode="auto">
              <a:xfrm>
                <a:off x="3016" y="2502"/>
                <a:ext cx="47" cy="47"/>
              </a:xfrm>
              <a:custGeom>
                <a:avLst/>
                <a:gdLst>
                  <a:gd name="T0" fmla="*/ 40 w 41"/>
                  <a:gd name="T1" fmla="*/ 0 h 31"/>
                  <a:gd name="T2" fmla="*/ 0 w 41"/>
                  <a:gd name="T3" fmla="*/ 20 h 31"/>
                  <a:gd name="T4" fmla="*/ 16 w 41"/>
                  <a:gd name="T5" fmla="*/ 20 h 31"/>
                  <a:gd name="T6" fmla="*/ 16 w 41"/>
                  <a:gd name="T7" fmla="*/ 30 h 31"/>
                  <a:gd name="T8" fmla="*/ 40 w 41"/>
                  <a:gd name="T9" fmla="*/ 0 h 31"/>
                  <a:gd name="T10" fmla="*/ 40 w 41"/>
                  <a:gd name="T11" fmla="*/ 0 h 31"/>
                </a:gdLst>
                <a:ahLst/>
                <a:cxnLst>
                  <a:cxn ang="0">
                    <a:pos x="T0" y="T1"/>
                  </a:cxn>
                  <a:cxn ang="0">
                    <a:pos x="T2" y="T3"/>
                  </a:cxn>
                  <a:cxn ang="0">
                    <a:pos x="T4" y="T5"/>
                  </a:cxn>
                  <a:cxn ang="0">
                    <a:pos x="T6" y="T7"/>
                  </a:cxn>
                  <a:cxn ang="0">
                    <a:pos x="T8" y="T9"/>
                  </a:cxn>
                  <a:cxn ang="0">
                    <a:pos x="T10" y="T11"/>
                  </a:cxn>
                </a:cxnLst>
                <a:rect l="0" t="0" r="r" b="b"/>
                <a:pathLst>
                  <a:path w="41" h="31">
                    <a:moveTo>
                      <a:pt x="40" y="0"/>
                    </a:moveTo>
                    <a:lnTo>
                      <a:pt x="0" y="20"/>
                    </a:lnTo>
                    <a:lnTo>
                      <a:pt x="16" y="20"/>
                    </a:lnTo>
                    <a:lnTo>
                      <a:pt x="16" y="30"/>
                    </a:lnTo>
                    <a:lnTo>
                      <a:pt x="40" y="0"/>
                    </a:lnTo>
                    <a:lnTo>
                      <a:pt x="40" y="0"/>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5" name="Freeform 12"/>
              <p:cNvSpPr>
                <a:spLocks/>
              </p:cNvSpPr>
              <p:nvPr/>
            </p:nvSpPr>
            <p:spPr bwMode="auto">
              <a:xfrm>
                <a:off x="2874" y="2605"/>
                <a:ext cx="47" cy="47"/>
              </a:xfrm>
              <a:custGeom>
                <a:avLst/>
                <a:gdLst>
                  <a:gd name="T0" fmla="*/ 0 w 41"/>
                  <a:gd name="T1" fmla="*/ 28 h 29"/>
                  <a:gd name="T2" fmla="*/ 40 w 41"/>
                  <a:gd name="T3" fmla="*/ 13 h 29"/>
                  <a:gd name="T4" fmla="*/ 24 w 41"/>
                  <a:gd name="T5" fmla="*/ 13 h 29"/>
                  <a:gd name="T6" fmla="*/ 24 w 41"/>
                  <a:gd name="T7" fmla="*/ 0 h 29"/>
                  <a:gd name="T8" fmla="*/ 0 w 41"/>
                  <a:gd name="T9" fmla="*/ 28 h 29"/>
                  <a:gd name="T10" fmla="*/ 0 w 41"/>
                  <a:gd name="T11" fmla="*/ 28 h 29"/>
                </a:gdLst>
                <a:ahLst/>
                <a:cxnLst>
                  <a:cxn ang="0">
                    <a:pos x="T0" y="T1"/>
                  </a:cxn>
                  <a:cxn ang="0">
                    <a:pos x="T2" y="T3"/>
                  </a:cxn>
                  <a:cxn ang="0">
                    <a:pos x="T4" y="T5"/>
                  </a:cxn>
                  <a:cxn ang="0">
                    <a:pos x="T6" y="T7"/>
                  </a:cxn>
                  <a:cxn ang="0">
                    <a:pos x="T8" y="T9"/>
                  </a:cxn>
                  <a:cxn ang="0">
                    <a:pos x="T10" y="T11"/>
                  </a:cxn>
                </a:cxnLst>
                <a:rect l="0" t="0" r="r" b="b"/>
                <a:pathLst>
                  <a:path w="41" h="29">
                    <a:moveTo>
                      <a:pt x="0" y="28"/>
                    </a:moveTo>
                    <a:lnTo>
                      <a:pt x="40" y="13"/>
                    </a:lnTo>
                    <a:lnTo>
                      <a:pt x="24" y="13"/>
                    </a:lnTo>
                    <a:lnTo>
                      <a:pt x="24" y="0"/>
                    </a:lnTo>
                    <a:lnTo>
                      <a:pt x="0" y="28"/>
                    </a:lnTo>
                    <a:lnTo>
                      <a:pt x="0" y="28"/>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6" name="Freeform 13"/>
              <p:cNvSpPr>
                <a:spLocks/>
              </p:cNvSpPr>
              <p:nvPr/>
            </p:nvSpPr>
            <p:spPr bwMode="auto">
              <a:xfrm>
                <a:off x="3439" y="2405"/>
                <a:ext cx="67" cy="137"/>
              </a:xfrm>
              <a:custGeom>
                <a:avLst/>
                <a:gdLst>
                  <a:gd name="T0" fmla="*/ 44 w 74"/>
                  <a:gd name="T1" fmla="*/ 0 h 155"/>
                  <a:gd name="T2" fmla="*/ 73 w 74"/>
                  <a:gd name="T3" fmla="*/ 12 h 155"/>
                  <a:gd name="T4" fmla="*/ 0 w 74"/>
                  <a:gd name="T5" fmla="*/ 36 h 155"/>
                  <a:gd name="T6" fmla="*/ 70 w 74"/>
                  <a:gd name="T7" fmla="*/ 63 h 155"/>
                  <a:gd name="T8" fmla="*/ 0 w 74"/>
                  <a:gd name="T9" fmla="*/ 89 h 155"/>
                  <a:gd name="T10" fmla="*/ 70 w 74"/>
                  <a:gd name="T11" fmla="*/ 114 h 155"/>
                  <a:gd name="T12" fmla="*/ 0 w 74"/>
                  <a:gd name="T13" fmla="*/ 139 h 155"/>
                  <a:gd name="T14" fmla="*/ 44 w 74"/>
                  <a:gd name="T15" fmla="*/ 154 h 1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4" h="155">
                    <a:moveTo>
                      <a:pt x="44" y="0"/>
                    </a:moveTo>
                    <a:lnTo>
                      <a:pt x="73" y="12"/>
                    </a:lnTo>
                    <a:lnTo>
                      <a:pt x="0" y="36"/>
                    </a:lnTo>
                    <a:lnTo>
                      <a:pt x="70" y="63"/>
                    </a:lnTo>
                    <a:lnTo>
                      <a:pt x="0" y="89"/>
                    </a:lnTo>
                    <a:lnTo>
                      <a:pt x="70" y="114"/>
                    </a:lnTo>
                    <a:lnTo>
                      <a:pt x="0" y="139"/>
                    </a:lnTo>
                    <a:lnTo>
                      <a:pt x="44" y="154"/>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7" name="Freeform 14"/>
              <p:cNvSpPr>
                <a:spLocks/>
              </p:cNvSpPr>
              <p:nvPr/>
            </p:nvSpPr>
            <p:spPr bwMode="auto">
              <a:xfrm>
                <a:off x="2615" y="1823"/>
                <a:ext cx="746" cy="649"/>
              </a:xfrm>
              <a:custGeom>
                <a:avLst/>
                <a:gdLst>
                  <a:gd name="T0" fmla="*/ 820 w 821"/>
                  <a:gd name="T1" fmla="*/ 734 h 735"/>
                  <a:gd name="T2" fmla="*/ 0 w 821"/>
                  <a:gd name="T3" fmla="*/ 734 h 735"/>
                  <a:gd name="T4" fmla="*/ 0 w 821"/>
                  <a:gd name="T5" fmla="*/ 0 h 735"/>
                </a:gdLst>
                <a:ahLst/>
                <a:cxnLst>
                  <a:cxn ang="0">
                    <a:pos x="T0" y="T1"/>
                  </a:cxn>
                  <a:cxn ang="0">
                    <a:pos x="T2" y="T3"/>
                  </a:cxn>
                  <a:cxn ang="0">
                    <a:pos x="T4" y="T5"/>
                  </a:cxn>
                </a:cxnLst>
                <a:rect l="0" t="0" r="r" b="b"/>
                <a:pathLst>
                  <a:path w="821" h="735">
                    <a:moveTo>
                      <a:pt x="820" y="734"/>
                    </a:moveTo>
                    <a:lnTo>
                      <a:pt x="0" y="734"/>
                    </a:lnTo>
                    <a:lnTo>
                      <a:pt x="0" y="0"/>
                    </a:lnTo>
                  </a:path>
                </a:pathLst>
              </a:custGeom>
              <a:noFill/>
              <a:ln w="317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8" name="Line 15"/>
              <p:cNvSpPr>
                <a:spLocks noChangeShapeType="1"/>
              </p:cNvSpPr>
              <p:nvPr/>
            </p:nvSpPr>
            <p:spPr bwMode="auto">
              <a:xfrm flipH="1">
                <a:off x="1883" y="2661"/>
                <a:ext cx="1977" cy="1"/>
              </a:xfrm>
              <a:prstGeom prst="line">
                <a:avLst/>
              </a:prstGeom>
              <a:noFill/>
              <a:ln w="317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9" name="Line 16"/>
              <p:cNvSpPr>
                <a:spLocks noChangeShapeType="1"/>
              </p:cNvSpPr>
              <p:nvPr/>
            </p:nvSpPr>
            <p:spPr bwMode="auto">
              <a:xfrm>
                <a:off x="1883" y="2601"/>
                <a:ext cx="1" cy="121"/>
              </a:xfrm>
              <a:prstGeom prst="line">
                <a:avLst/>
              </a:prstGeom>
              <a:noFill/>
              <a:ln w="476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0" name="Line 17"/>
              <p:cNvSpPr>
                <a:spLocks noChangeShapeType="1"/>
              </p:cNvSpPr>
              <p:nvPr/>
            </p:nvSpPr>
            <p:spPr bwMode="auto">
              <a:xfrm>
                <a:off x="3860" y="2601"/>
                <a:ext cx="1" cy="121"/>
              </a:xfrm>
              <a:prstGeom prst="line">
                <a:avLst/>
              </a:prstGeom>
              <a:noFill/>
              <a:ln w="476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1" name="Line 18"/>
              <p:cNvSpPr>
                <a:spLocks noChangeShapeType="1"/>
              </p:cNvSpPr>
              <p:nvPr/>
            </p:nvSpPr>
            <p:spPr bwMode="auto">
              <a:xfrm>
                <a:off x="2529" y="1814"/>
                <a:ext cx="164" cy="1"/>
              </a:xfrm>
              <a:prstGeom prst="line">
                <a:avLst/>
              </a:prstGeom>
              <a:noFill/>
              <a:ln w="476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2" name="Freeform 19"/>
              <p:cNvSpPr>
                <a:spLocks/>
              </p:cNvSpPr>
              <p:nvPr/>
            </p:nvSpPr>
            <p:spPr bwMode="auto">
              <a:xfrm>
                <a:off x="1142" y="1505"/>
                <a:ext cx="1095" cy="614"/>
              </a:xfrm>
              <a:custGeom>
                <a:avLst/>
                <a:gdLst>
                  <a:gd name="T0" fmla="*/ 0 w 1205"/>
                  <a:gd name="T1" fmla="*/ 694 h 695"/>
                  <a:gd name="T2" fmla="*/ 886 w 1205"/>
                  <a:gd name="T3" fmla="*/ 694 h 695"/>
                  <a:gd name="T4" fmla="*/ 902 w 1205"/>
                  <a:gd name="T5" fmla="*/ 693 h 695"/>
                  <a:gd name="T6" fmla="*/ 902 w 1205"/>
                  <a:gd name="T7" fmla="*/ 693 h 695"/>
                  <a:gd name="T8" fmla="*/ 920 w 1205"/>
                  <a:gd name="T9" fmla="*/ 692 h 695"/>
                  <a:gd name="T10" fmla="*/ 940 w 1205"/>
                  <a:gd name="T11" fmla="*/ 690 h 695"/>
                  <a:gd name="T12" fmla="*/ 956 w 1205"/>
                  <a:gd name="T13" fmla="*/ 687 h 695"/>
                  <a:gd name="T14" fmla="*/ 979 w 1205"/>
                  <a:gd name="T15" fmla="*/ 685 h 695"/>
                  <a:gd name="T16" fmla="*/ 994 w 1205"/>
                  <a:gd name="T17" fmla="*/ 681 h 695"/>
                  <a:gd name="T18" fmla="*/ 1013 w 1205"/>
                  <a:gd name="T19" fmla="*/ 674 h 695"/>
                  <a:gd name="T20" fmla="*/ 1031 w 1205"/>
                  <a:gd name="T21" fmla="*/ 666 h 695"/>
                  <a:gd name="T22" fmla="*/ 1046 w 1205"/>
                  <a:gd name="T23" fmla="*/ 661 h 695"/>
                  <a:gd name="T24" fmla="*/ 1064 w 1205"/>
                  <a:gd name="T25" fmla="*/ 651 h 695"/>
                  <a:gd name="T26" fmla="*/ 1080 w 1205"/>
                  <a:gd name="T27" fmla="*/ 641 h 695"/>
                  <a:gd name="T28" fmla="*/ 1093 w 1205"/>
                  <a:gd name="T29" fmla="*/ 633 h 695"/>
                  <a:gd name="T30" fmla="*/ 1106 w 1205"/>
                  <a:gd name="T31" fmla="*/ 620 h 695"/>
                  <a:gd name="T32" fmla="*/ 1119 w 1205"/>
                  <a:gd name="T33" fmla="*/ 609 h 695"/>
                  <a:gd name="T34" fmla="*/ 1133 w 1205"/>
                  <a:gd name="T35" fmla="*/ 596 h 695"/>
                  <a:gd name="T36" fmla="*/ 1144 w 1205"/>
                  <a:gd name="T37" fmla="*/ 583 h 695"/>
                  <a:gd name="T38" fmla="*/ 1156 w 1205"/>
                  <a:gd name="T39" fmla="*/ 569 h 695"/>
                  <a:gd name="T40" fmla="*/ 1164 w 1205"/>
                  <a:gd name="T41" fmla="*/ 556 h 695"/>
                  <a:gd name="T42" fmla="*/ 1173 w 1205"/>
                  <a:gd name="T43" fmla="*/ 541 h 695"/>
                  <a:gd name="T44" fmla="*/ 1182 w 1205"/>
                  <a:gd name="T45" fmla="*/ 526 h 695"/>
                  <a:gd name="T46" fmla="*/ 1187 w 1205"/>
                  <a:gd name="T47" fmla="*/ 509 h 695"/>
                  <a:gd name="T48" fmla="*/ 1192 w 1205"/>
                  <a:gd name="T49" fmla="*/ 495 h 695"/>
                  <a:gd name="T50" fmla="*/ 1197 w 1205"/>
                  <a:gd name="T51" fmla="*/ 477 h 695"/>
                  <a:gd name="T52" fmla="*/ 1198 w 1205"/>
                  <a:gd name="T53" fmla="*/ 460 h 695"/>
                  <a:gd name="T54" fmla="*/ 1202 w 1205"/>
                  <a:gd name="T55" fmla="*/ 445 h 695"/>
                  <a:gd name="T56" fmla="*/ 1202 w 1205"/>
                  <a:gd name="T57" fmla="*/ 428 h 695"/>
                  <a:gd name="T58" fmla="*/ 1204 w 1205"/>
                  <a:gd name="T59" fmla="*/ 413 h 695"/>
                  <a:gd name="T60" fmla="*/ 1204 w 1205"/>
                  <a:gd name="T61"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05" h="695">
                    <a:moveTo>
                      <a:pt x="0" y="694"/>
                    </a:moveTo>
                    <a:lnTo>
                      <a:pt x="886" y="694"/>
                    </a:lnTo>
                    <a:lnTo>
                      <a:pt x="902" y="693"/>
                    </a:lnTo>
                    <a:lnTo>
                      <a:pt x="902" y="693"/>
                    </a:lnTo>
                    <a:lnTo>
                      <a:pt x="920" y="692"/>
                    </a:lnTo>
                    <a:lnTo>
                      <a:pt x="940" y="690"/>
                    </a:lnTo>
                    <a:lnTo>
                      <a:pt x="956" y="687"/>
                    </a:lnTo>
                    <a:lnTo>
                      <a:pt x="979" y="685"/>
                    </a:lnTo>
                    <a:lnTo>
                      <a:pt x="994" y="681"/>
                    </a:lnTo>
                    <a:lnTo>
                      <a:pt x="1013" y="674"/>
                    </a:lnTo>
                    <a:lnTo>
                      <a:pt x="1031" y="666"/>
                    </a:lnTo>
                    <a:lnTo>
                      <a:pt x="1046" y="661"/>
                    </a:lnTo>
                    <a:lnTo>
                      <a:pt x="1064" y="651"/>
                    </a:lnTo>
                    <a:lnTo>
                      <a:pt x="1080" y="641"/>
                    </a:lnTo>
                    <a:lnTo>
                      <a:pt x="1093" y="633"/>
                    </a:lnTo>
                    <a:lnTo>
                      <a:pt x="1106" y="620"/>
                    </a:lnTo>
                    <a:lnTo>
                      <a:pt x="1119" y="609"/>
                    </a:lnTo>
                    <a:lnTo>
                      <a:pt x="1133" y="596"/>
                    </a:lnTo>
                    <a:lnTo>
                      <a:pt x="1144" y="583"/>
                    </a:lnTo>
                    <a:lnTo>
                      <a:pt x="1156" y="569"/>
                    </a:lnTo>
                    <a:lnTo>
                      <a:pt x="1164" y="556"/>
                    </a:lnTo>
                    <a:lnTo>
                      <a:pt x="1173" y="541"/>
                    </a:lnTo>
                    <a:lnTo>
                      <a:pt x="1182" y="526"/>
                    </a:lnTo>
                    <a:lnTo>
                      <a:pt x="1187" y="509"/>
                    </a:lnTo>
                    <a:lnTo>
                      <a:pt x="1192" y="495"/>
                    </a:lnTo>
                    <a:lnTo>
                      <a:pt x="1197" y="477"/>
                    </a:lnTo>
                    <a:lnTo>
                      <a:pt x="1198" y="460"/>
                    </a:lnTo>
                    <a:lnTo>
                      <a:pt x="1202" y="445"/>
                    </a:lnTo>
                    <a:lnTo>
                      <a:pt x="1202" y="428"/>
                    </a:lnTo>
                    <a:lnTo>
                      <a:pt x="1204" y="413"/>
                    </a:lnTo>
                    <a:lnTo>
                      <a:pt x="1204" y="0"/>
                    </a:lnTo>
                  </a:path>
                </a:pathLst>
              </a:custGeom>
              <a:noFill/>
              <a:ln w="31750" cap="flat">
                <a:solidFill>
                  <a:srgbClr val="FF0000"/>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3" name="Freeform 20"/>
              <p:cNvSpPr>
                <a:spLocks/>
              </p:cNvSpPr>
              <p:nvPr/>
            </p:nvSpPr>
            <p:spPr bwMode="auto">
              <a:xfrm>
                <a:off x="2976" y="1505"/>
                <a:ext cx="1096" cy="614"/>
              </a:xfrm>
              <a:custGeom>
                <a:avLst/>
                <a:gdLst>
                  <a:gd name="T0" fmla="*/ 1204 w 1205"/>
                  <a:gd name="T1" fmla="*/ 694 h 695"/>
                  <a:gd name="T2" fmla="*/ 318 w 1205"/>
                  <a:gd name="T3" fmla="*/ 694 h 695"/>
                  <a:gd name="T4" fmla="*/ 300 w 1205"/>
                  <a:gd name="T5" fmla="*/ 693 h 695"/>
                  <a:gd name="T6" fmla="*/ 300 w 1205"/>
                  <a:gd name="T7" fmla="*/ 693 h 695"/>
                  <a:gd name="T8" fmla="*/ 283 w 1205"/>
                  <a:gd name="T9" fmla="*/ 692 h 695"/>
                  <a:gd name="T10" fmla="*/ 262 w 1205"/>
                  <a:gd name="T11" fmla="*/ 690 h 695"/>
                  <a:gd name="T12" fmla="*/ 246 w 1205"/>
                  <a:gd name="T13" fmla="*/ 687 h 695"/>
                  <a:gd name="T14" fmla="*/ 224 w 1205"/>
                  <a:gd name="T15" fmla="*/ 685 h 695"/>
                  <a:gd name="T16" fmla="*/ 208 w 1205"/>
                  <a:gd name="T17" fmla="*/ 681 h 695"/>
                  <a:gd name="T18" fmla="*/ 189 w 1205"/>
                  <a:gd name="T19" fmla="*/ 674 h 695"/>
                  <a:gd name="T20" fmla="*/ 172 w 1205"/>
                  <a:gd name="T21" fmla="*/ 666 h 695"/>
                  <a:gd name="T22" fmla="*/ 156 w 1205"/>
                  <a:gd name="T23" fmla="*/ 661 h 695"/>
                  <a:gd name="T24" fmla="*/ 140 w 1205"/>
                  <a:gd name="T25" fmla="*/ 651 h 695"/>
                  <a:gd name="T26" fmla="*/ 123 w 1205"/>
                  <a:gd name="T27" fmla="*/ 641 h 695"/>
                  <a:gd name="T28" fmla="*/ 109 w 1205"/>
                  <a:gd name="T29" fmla="*/ 633 h 695"/>
                  <a:gd name="T30" fmla="*/ 97 w 1205"/>
                  <a:gd name="T31" fmla="*/ 620 h 695"/>
                  <a:gd name="T32" fmla="*/ 82 w 1205"/>
                  <a:gd name="T33" fmla="*/ 609 h 695"/>
                  <a:gd name="T34" fmla="*/ 70 w 1205"/>
                  <a:gd name="T35" fmla="*/ 596 h 695"/>
                  <a:gd name="T36" fmla="*/ 60 w 1205"/>
                  <a:gd name="T37" fmla="*/ 583 h 695"/>
                  <a:gd name="T38" fmla="*/ 50 w 1205"/>
                  <a:gd name="T39" fmla="*/ 569 h 695"/>
                  <a:gd name="T40" fmla="*/ 38 w 1205"/>
                  <a:gd name="T41" fmla="*/ 556 h 695"/>
                  <a:gd name="T42" fmla="*/ 29 w 1205"/>
                  <a:gd name="T43" fmla="*/ 541 h 695"/>
                  <a:gd name="T44" fmla="*/ 22 w 1205"/>
                  <a:gd name="T45" fmla="*/ 526 h 695"/>
                  <a:gd name="T46" fmla="*/ 16 w 1205"/>
                  <a:gd name="T47" fmla="*/ 509 h 695"/>
                  <a:gd name="T48" fmla="*/ 10 w 1205"/>
                  <a:gd name="T49" fmla="*/ 495 h 695"/>
                  <a:gd name="T50" fmla="*/ 5 w 1205"/>
                  <a:gd name="T51" fmla="*/ 477 h 695"/>
                  <a:gd name="T52" fmla="*/ 4 w 1205"/>
                  <a:gd name="T53" fmla="*/ 460 h 695"/>
                  <a:gd name="T54" fmla="*/ 2 w 1205"/>
                  <a:gd name="T55" fmla="*/ 445 h 695"/>
                  <a:gd name="T56" fmla="*/ 2 w 1205"/>
                  <a:gd name="T57" fmla="*/ 428 h 695"/>
                  <a:gd name="T58" fmla="*/ 0 w 1205"/>
                  <a:gd name="T59" fmla="*/ 413 h 695"/>
                  <a:gd name="T60" fmla="*/ 0 w 1205"/>
                  <a:gd name="T61"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05" h="695">
                    <a:moveTo>
                      <a:pt x="1204" y="694"/>
                    </a:moveTo>
                    <a:lnTo>
                      <a:pt x="318" y="694"/>
                    </a:lnTo>
                    <a:lnTo>
                      <a:pt x="300" y="693"/>
                    </a:lnTo>
                    <a:lnTo>
                      <a:pt x="300" y="693"/>
                    </a:lnTo>
                    <a:lnTo>
                      <a:pt x="283" y="692"/>
                    </a:lnTo>
                    <a:lnTo>
                      <a:pt x="262" y="690"/>
                    </a:lnTo>
                    <a:lnTo>
                      <a:pt x="246" y="687"/>
                    </a:lnTo>
                    <a:lnTo>
                      <a:pt x="224" y="685"/>
                    </a:lnTo>
                    <a:lnTo>
                      <a:pt x="208" y="681"/>
                    </a:lnTo>
                    <a:lnTo>
                      <a:pt x="189" y="674"/>
                    </a:lnTo>
                    <a:lnTo>
                      <a:pt x="172" y="666"/>
                    </a:lnTo>
                    <a:lnTo>
                      <a:pt x="156" y="661"/>
                    </a:lnTo>
                    <a:lnTo>
                      <a:pt x="140" y="651"/>
                    </a:lnTo>
                    <a:lnTo>
                      <a:pt x="123" y="641"/>
                    </a:lnTo>
                    <a:lnTo>
                      <a:pt x="109" y="633"/>
                    </a:lnTo>
                    <a:lnTo>
                      <a:pt x="97" y="620"/>
                    </a:lnTo>
                    <a:lnTo>
                      <a:pt x="82" y="609"/>
                    </a:lnTo>
                    <a:lnTo>
                      <a:pt x="70" y="596"/>
                    </a:lnTo>
                    <a:lnTo>
                      <a:pt x="60" y="583"/>
                    </a:lnTo>
                    <a:lnTo>
                      <a:pt x="50" y="569"/>
                    </a:lnTo>
                    <a:lnTo>
                      <a:pt x="38" y="556"/>
                    </a:lnTo>
                    <a:lnTo>
                      <a:pt x="29" y="541"/>
                    </a:lnTo>
                    <a:lnTo>
                      <a:pt x="22" y="526"/>
                    </a:lnTo>
                    <a:lnTo>
                      <a:pt x="16" y="509"/>
                    </a:lnTo>
                    <a:lnTo>
                      <a:pt x="10" y="495"/>
                    </a:lnTo>
                    <a:lnTo>
                      <a:pt x="5" y="477"/>
                    </a:lnTo>
                    <a:lnTo>
                      <a:pt x="4" y="460"/>
                    </a:lnTo>
                    <a:lnTo>
                      <a:pt x="2" y="445"/>
                    </a:lnTo>
                    <a:lnTo>
                      <a:pt x="2" y="428"/>
                    </a:lnTo>
                    <a:lnTo>
                      <a:pt x="0" y="413"/>
                    </a:lnTo>
                    <a:lnTo>
                      <a:pt x="0" y="0"/>
                    </a:lnTo>
                  </a:path>
                </a:pathLst>
              </a:custGeom>
              <a:noFill/>
              <a:ln w="31750" cap="flat">
                <a:solidFill>
                  <a:srgbClr val="0000FF"/>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nvGrpSpPr>
              <p:cNvPr id="34" name="Group 21"/>
              <p:cNvGrpSpPr>
                <a:grpSpLocks/>
              </p:cNvGrpSpPr>
              <p:nvPr/>
            </p:nvGrpSpPr>
            <p:grpSpPr bwMode="auto">
              <a:xfrm>
                <a:off x="896" y="2408"/>
                <a:ext cx="480" cy="455"/>
                <a:chOff x="1016" y="2729"/>
                <a:chExt cx="528" cy="515"/>
              </a:xfrm>
            </p:grpSpPr>
            <p:sp>
              <p:nvSpPr>
                <p:cNvPr id="36" name="Freeform 22"/>
                <p:cNvSpPr>
                  <a:spLocks/>
                </p:cNvSpPr>
                <p:nvPr/>
              </p:nvSpPr>
              <p:spPr bwMode="auto">
                <a:xfrm>
                  <a:off x="1152" y="2890"/>
                  <a:ext cx="241" cy="204"/>
                </a:xfrm>
                <a:custGeom>
                  <a:avLst/>
                  <a:gdLst>
                    <a:gd name="T0" fmla="*/ 2 w 241"/>
                    <a:gd name="T1" fmla="*/ 96 h 204"/>
                    <a:gd name="T2" fmla="*/ 7 w 241"/>
                    <a:gd name="T3" fmla="*/ 84 h 204"/>
                    <a:gd name="T4" fmla="*/ 14 w 241"/>
                    <a:gd name="T5" fmla="*/ 71 h 204"/>
                    <a:gd name="T6" fmla="*/ 16 w 241"/>
                    <a:gd name="T7" fmla="*/ 58 h 204"/>
                    <a:gd name="T8" fmla="*/ 22 w 241"/>
                    <a:gd name="T9" fmla="*/ 48 h 204"/>
                    <a:gd name="T10" fmla="*/ 26 w 241"/>
                    <a:gd name="T11" fmla="*/ 36 h 204"/>
                    <a:gd name="T12" fmla="*/ 30 w 241"/>
                    <a:gd name="T13" fmla="*/ 29 h 204"/>
                    <a:gd name="T14" fmla="*/ 35 w 241"/>
                    <a:gd name="T15" fmla="*/ 20 h 204"/>
                    <a:gd name="T16" fmla="*/ 40 w 241"/>
                    <a:gd name="T17" fmla="*/ 13 h 204"/>
                    <a:gd name="T18" fmla="*/ 47 w 241"/>
                    <a:gd name="T19" fmla="*/ 8 h 204"/>
                    <a:gd name="T20" fmla="*/ 50 w 241"/>
                    <a:gd name="T21" fmla="*/ 3 h 204"/>
                    <a:gd name="T22" fmla="*/ 55 w 241"/>
                    <a:gd name="T23" fmla="*/ 0 h 204"/>
                    <a:gd name="T24" fmla="*/ 60 w 241"/>
                    <a:gd name="T25" fmla="*/ 0 h 204"/>
                    <a:gd name="T26" fmla="*/ 66 w 241"/>
                    <a:gd name="T27" fmla="*/ 0 h 204"/>
                    <a:gd name="T28" fmla="*/ 70 w 241"/>
                    <a:gd name="T29" fmla="*/ 3 h 204"/>
                    <a:gd name="T30" fmla="*/ 74 w 241"/>
                    <a:gd name="T31" fmla="*/ 7 h 204"/>
                    <a:gd name="T32" fmla="*/ 80 w 241"/>
                    <a:gd name="T33" fmla="*/ 13 h 204"/>
                    <a:gd name="T34" fmla="*/ 85 w 241"/>
                    <a:gd name="T35" fmla="*/ 20 h 204"/>
                    <a:gd name="T36" fmla="*/ 91 w 241"/>
                    <a:gd name="T37" fmla="*/ 30 h 204"/>
                    <a:gd name="T38" fmla="*/ 94 w 241"/>
                    <a:gd name="T39" fmla="*/ 36 h 204"/>
                    <a:gd name="T40" fmla="*/ 100 w 241"/>
                    <a:gd name="T41" fmla="*/ 48 h 204"/>
                    <a:gd name="T42" fmla="*/ 105 w 241"/>
                    <a:gd name="T43" fmla="*/ 58 h 204"/>
                    <a:gd name="T44" fmla="*/ 108 w 241"/>
                    <a:gd name="T45" fmla="*/ 71 h 204"/>
                    <a:gd name="T46" fmla="*/ 112 w 241"/>
                    <a:gd name="T47" fmla="*/ 84 h 204"/>
                    <a:gd name="T48" fmla="*/ 118 w 241"/>
                    <a:gd name="T49" fmla="*/ 96 h 204"/>
                    <a:gd name="T50" fmla="*/ 120 w 241"/>
                    <a:gd name="T51" fmla="*/ 104 h 204"/>
                    <a:gd name="T52" fmla="*/ 126 w 241"/>
                    <a:gd name="T53" fmla="*/ 114 h 204"/>
                    <a:gd name="T54" fmla="*/ 130 w 241"/>
                    <a:gd name="T55" fmla="*/ 126 h 204"/>
                    <a:gd name="T56" fmla="*/ 134 w 241"/>
                    <a:gd name="T57" fmla="*/ 140 h 204"/>
                    <a:gd name="T58" fmla="*/ 140 w 241"/>
                    <a:gd name="T59" fmla="*/ 151 h 204"/>
                    <a:gd name="T60" fmla="*/ 145 w 241"/>
                    <a:gd name="T61" fmla="*/ 162 h 204"/>
                    <a:gd name="T62" fmla="*/ 151 w 241"/>
                    <a:gd name="T63" fmla="*/ 172 h 204"/>
                    <a:gd name="T64" fmla="*/ 153 w 241"/>
                    <a:gd name="T65" fmla="*/ 179 h 204"/>
                    <a:gd name="T66" fmla="*/ 160 w 241"/>
                    <a:gd name="T67" fmla="*/ 187 h 204"/>
                    <a:gd name="T68" fmla="*/ 164 w 241"/>
                    <a:gd name="T69" fmla="*/ 194 h 204"/>
                    <a:gd name="T70" fmla="*/ 170 w 241"/>
                    <a:gd name="T71" fmla="*/ 198 h 204"/>
                    <a:gd name="T72" fmla="*/ 174 w 241"/>
                    <a:gd name="T73" fmla="*/ 201 h 204"/>
                    <a:gd name="T74" fmla="*/ 179 w 241"/>
                    <a:gd name="T75" fmla="*/ 203 h 204"/>
                    <a:gd name="T76" fmla="*/ 184 w 241"/>
                    <a:gd name="T77" fmla="*/ 203 h 204"/>
                    <a:gd name="T78" fmla="*/ 187 w 241"/>
                    <a:gd name="T79" fmla="*/ 201 h 204"/>
                    <a:gd name="T80" fmla="*/ 192 w 241"/>
                    <a:gd name="T81" fmla="*/ 198 h 204"/>
                    <a:gd name="T82" fmla="*/ 198 w 241"/>
                    <a:gd name="T83" fmla="*/ 194 h 204"/>
                    <a:gd name="T84" fmla="*/ 202 w 241"/>
                    <a:gd name="T85" fmla="*/ 187 h 204"/>
                    <a:gd name="T86" fmla="*/ 206 w 241"/>
                    <a:gd name="T87" fmla="*/ 179 h 204"/>
                    <a:gd name="T88" fmla="*/ 212 w 241"/>
                    <a:gd name="T89" fmla="*/ 172 h 204"/>
                    <a:gd name="T90" fmla="*/ 217 w 241"/>
                    <a:gd name="T91" fmla="*/ 162 h 204"/>
                    <a:gd name="T92" fmla="*/ 220 w 241"/>
                    <a:gd name="T93" fmla="*/ 151 h 204"/>
                    <a:gd name="T94" fmla="*/ 226 w 241"/>
                    <a:gd name="T95" fmla="*/ 140 h 204"/>
                    <a:gd name="T96" fmla="*/ 230 w 241"/>
                    <a:gd name="T97" fmla="*/ 126 h 204"/>
                    <a:gd name="T98" fmla="*/ 236 w 241"/>
                    <a:gd name="T99" fmla="*/ 114 h 204"/>
                    <a:gd name="T100" fmla="*/ 240 w 241"/>
                    <a:gd name="T101" fmla="*/ 10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1" h="204">
                      <a:moveTo>
                        <a:pt x="0" y="104"/>
                      </a:moveTo>
                      <a:lnTo>
                        <a:pt x="2" y="96"/>
                      </a:lnTo>
                      <a:lnTo>
                        <a:pt x="5" y="88"/>
                      </a:lnTo>
                      <a:lnTo>
                        <a:pt x="7" y="84"/>
                      </a:lnTo>
                      <a:lnTo>
                        <a:pt x="10" y="78"/>
                      </a:lnTo>
                      <a:lnTo>
                        <a:pt x="14" y="71"/>
                      </a:lnTo>
                      <a:lnTo>
                        <a:pt x="14" y="63"/>
                      </a:lnTo>
                      <a:lnTo>
                        <a:pt x="16" y="58"/>
                      </a:lnTo>
                      <a:lnTo>
                        <a:pt x="18" y="53"/>
                      </a:lnTo>
                      <a:lnTo>
                        <a:pt x="22" y="48"/>
                      </a:lnTo>
                      <a:lnTo>
                        <a:pt x="25" y="43"/>
                      </a:lnTo>
                      <a:lnTo>
                        <a:pt x="26" y="36"/>
                      </a:lnTo>
                      <a:lnTo>
                        <a:pt x="29" y="32"/>
                      </a:lnTo>
                      <a:lnTo>
                        <a:pt x="30" y="29"/>
                      </a:lnTo>
                      <a:lnTo>
                        <a:pt x="34" y="23"/>
                      </a:lnTo>
                      <a:lnTo>
                        <a:pt x="35" y="20"/>
                      </a:lnTo>
                      <a:lnTo>
                        <a:pt x="40" y="16"/>
                      </a:lnTo>
                      <a:lnTo>
                        <a:pt x="40" y="13"/>
                      </a:lnTo>
                      <a:lnTo>
                        <a:pt x="43" y="10"/>
                      </a:lnTo>
                      <a:lnTo>
                        <a:pt x="47" y="8"/>
                      </a:lnTo>
                      <a:lnTo>
                        <a:pt x="49" y="5"/>
                      </a:lnTo>
                      <a:lnTo>
                        <a:pt x="50" y="3"/>
                      </a:lnTo>
                      <a:lnTo>
                        <a:pt x="52" y="2"/>
                      </a:lnTo>
                      <a:lnTo>
                        <a:pt x="55" y="0"/>
                      </a:lnTo>
                      <a:lnTo>
                        <a:pt x="60" y="0"/>
                      </a:lnTo>
                      <a:lnTo>
                        <a:pt x="60" y="0"/>
                      </a:lnTo>
                      <a:lnTo>
                        <a:pt x="61" y="0"/>
                      </a:lnTo>
                      <a:lnTo>
                        <a:pt x="66" y="0"/>
                      </a:lnTo>
                      <a:lnTo>
                        <a:pt x="68" y="2"/>
                      </a:lnTo>
                      <a:lnTo>
                        <a:pt x="70" y="3"/>
                      </a:lnTo>
                      <a:lnTo>
                        <a:pt x="74" y="5"/>
                      </a:lnTo>
                      <a:lnTo>
                        <a:pt x="74" y="7"/>
                      </a:lnTo>
                      <a:lnTo>
                        <a:pt x="78" y="10"/>
                      </a:lnTo>
                      <a:lnTo>
                        <a:pt x="80" y="13"/>
                      </a:lnTo>
                      <a:lnTo>
                        <a:pt x="82" y="16"/>
                      </a:lnTo>
                      <a:lnTo>
                        <a:pt x="85" y="20"/>
                      </a:lnTo>
                      <a:lnTo>
                        <a:pt x="85" y="23"/>
                      </a:lnTo>
                      <a:lnTo>
                        <a:pt x="91" y="30"/>
                      </a:lnTo>
                      <a:lnTo>
                        <a:pt x="92" y="32"/>
                      </a:lnTo>
                      <a:lnTo>
                        <a:pt x="94" y="36"/>
                      </a:lnTo>
                      <a:lnTo>
                        <a:pt x="96" y="43"/>
                      </a:lnTo>
                      <a:lnTo>
                        <a:pt x="100" y="48"/>
                      </a:lnTo>
                      <a:lnTo>
                        <a:pt x="101" y="53"/>
                      </a:lnTo>
                      <a:lnTo>
                        <a:pt x="105" y="58"/>
                      </a:lnTo>
                      <a:lnTo>
                        <a:pt x="107" y="63"/>
                      </a:lnTo>
                      <a:lnTo>
                        <a:pt x="108" y="71"/>
                      </a:lnTo>
                      <a:lnTo>
                        <a:pt x="111" y="76"/>
                      </a:lnTo>
                      <a:lnTo>
                        <a:pt x="112" y="84"/>
                      </a:lnTo>
                      <a:lnTo>
                        <a:pt x="116" y="88"/>
                      </a:lnTo>
                      <a:lnTo>
                        <a:pt x="118" y="96"/>
                      </a:lnTo>
                      <a:lnTo>
                        <a:pt x="120" y="104"/>
                      </a:lnTo>
                      <a:lnTo>
                        <a:pt x="120" y="104"/>
                      </a:lnTo>
                      <a:lnTo>
                        <a:pt x="124" y="110"/>
                      </a:lnTo>
                      <a:lnTo>
                        <a:pt x="126" y="114"/>
                      </a:lnTo>
                      <a:lnTo>
                        <a:pt x="126" y="121"/>
                      </a:lnTo>
                      <a:lnTo>
                        <a:pt x="130" y="126"/>
                      </a:lnTo>
                      <a:lnTo>
                        <a:pt x="134" y="132"/>
                      </a:lnTo>
                      <a:lnTo>
                        <a:pt x="134" y="140"/>
                      </a:lnTo>
                      <a:lnTo>
                        <a:pt x="138" y="144"/>
                      </a:lnTo>
                      <a:lnTo>
                        <a:pt x="140" y="151"/>
                      </a:lnTo>
                      <a:lnTo>
                        <a:pt x="141" y="156"/>
                      </a:lnTo>
                      <a:lnTo>
                        <a:pt x="145" y="162"/>
                      </a:lnTo>
                      <a:lnTo>
                        <a:pt x="149" y="168"/>
                      </a:lnTo>
                      <a:lnTo>
                        <a:pt x="151" y="172"/>
                      </a:lnTo>
                      <a:lnTo>
                        <a:pt x="152" y="176"/>
                      </a:lnTo>
                      <a:lnTo>
                        <a:pt x="153" y="179"/>
                      </a:lnTo>
                      <a:lnTo>
                        <a:pt x="157" y="184"/>
                      </a:lnTo>
                      <a:lnTo>
                        <a:pt x="160" y="187"/>
                      </a:lnTo>
                      <a:lnTo>
                        <a:pt x="160" y="190"/>
                      </a:lnTo>
                      <a:lnTo>
                        <a:pt x="164" y="194"/>
                      </a:lnTo>
                      <a:lnTo>
                        <a:pt x="166" y="198"/>
                      </a:lnTo>
                      <a:lnTo>
                        <a:pt x="170" y="198"/>
                      </a:lnTo>
                      <a:lnTo>
                        <a:pt x="171" y="201"/>
                      </a:lnTo>
                      <a:lnTo>
                        <a:pt x="174" y="201"/>
                      </a:lnTo>
                      <a:lnTo>
                        <a:pt x="176" y="203"/>
                      </a:lnTo>
                      <a:lnTo>
                        <a:pt x="179" y="203"/>
                      </a:lnTo>
                      <a:lnTo>
                        <a:pt x="179" y="203"/>
                      </a:lnTo>
                      <a:lnTo>
                        <a:pt x="184" y="203"/>
                      </a:lnTo>
                      <a:lnTo>
                        <a:pt x="185" y="203"/>
                      </a:lnTo>
                      <a:lnTo>
                        <a:pt x="187" y="201"/>
                      </a:lnTo>
                      <a:lnTo>
                        <a:pt x="191" y="201"/>
                      </a:lnTo>
                      <a:lnTo>
                        <a:pt x="192" y="198"/>
                      </a:lnTo>
                      <a:lnTo>
                        <a:pt x="195" y="198"/>
                      </a:lnTo>
                      <a:lnTo>
                        <a:pt x="198" y="194"/>
                      </a:lnTo>
                      <a:lnTo>
                        <a:pt x="201" y="190"/>
                      </a:lnTo>
                      <a:lnTo>
                        <a:pt x="202" y="187"/>
                      </a:lnTo>
                      <a:lnTo>
                        <a:pt x="204" y="184"/>
                      </a:lnTo>
                      <a:lnTo>
                        <a:pt x="206" y="179"/>
                      </a:lnTo>
                      <a:lnTo>
                        <a:pt x="211" y="176"/>
                      </a:lnTo>
                      <a:lnTo>
                        <a:pt x="212" y="172"/>
                      </a:lnTo>
                      <a:lnTo>
                        <a:pt x="214" y="168"/>
                      </a:lnTo>
                      <a:lnTo>
                        <a:pt x="217" y="162"/>
                      </a:lnTo>
                      <a:lnTo>
                        <a:pt x="220" y="156"/>
                      </a:lnTo>
                      <a:lnTo>
                        <a:pt x="220" y="151"/>
                      </a:lnTo>
                      <a:lnTo>
                        <a:pt x="226" y="146"/>
                      </a:lnTo>
                      <a:lnTo>
                        <a:pt x="226" y="140"/>
                      </a:lnTo>
                      <a:lnTo>
                        <a:pt x="229" y="132"/>
                      </a:lnTo>
                      <a:lnTo>
                        <a:pt x="230" y="126"/>
                      </a:lnTo>
                      <a:lnTo>
                        <a:pt x="235" y="121"/>
                      </a:lnTo>
                      <a:lnTo>
                        <a:pt x="236" y="114"/>
                      </a:lnTo>
                      <a:lnTo>
                        <a:pt x="238" y="110"/>
                      </a:lnTo>
                      <a:lnTo>
                        <a:pt x="240" y="104"/>
                      </a:lnTo>
                    </a:path>
                  </a:pathLst>
                </a:custGeom>
                <a:solidFill>
                  <a:srgbClr val="FF6600">
                    <a:alpha val="50000"/>
                  </a:srgbClr>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7" name="Freeform 23"/>
                <p:cNvSpPr>
                  <a:spLocks/>
                </p:cNvSpPr>
                <p:nvPr/>
              </p:nvSpPr>
              <p:spPr bwMode="auto">
                <a:xfrm>
                  <a:off x="1016" y="2729"/>
                  <a:ext cx="528" cy="515"/>
                </a:xfrm>
                <a:custGeom>
                  <a:avLst/>
                  <a:gdLst>
                    <a:gd name="T0" fmla="*/ 527 w 528"/>
                    <a:gd name="T1" fmla="*/ 239 h 515"/>
                    <a:gd name="T2" fmla="*/ 521 w 528"/>
                    <a:gd name="T3" fmla="*/ 199 h 515"/>
                    <a:gd name="T4" fmla="*/ 509 w 528"/>
                    <a:gd name="T5" fmla="*/ 164 h 515"/>
                    <a:gd name="T6" fmla="*/ 492 w 528"/>
                    <a:gd name="T7" fmla="*/ 129 h 515"/>
                    <a:gd name="T8" fmla="*/ 469 w 528"/>
                    <a:gd name="T9" fmla="*/ 98 h 515"/>
                    <a:gd name="T10" fmla="*/ 442 w 528"/>
                    <a:gd name="T11" fmla="*/ 69 h 515"/>
                    <a:gd name="T12" fmla="*/ 412 w 528"/>
                    <a:gd name="T13" fmla="*/ 47 h 515"/>
                    <a:gd name="T14" fmla="*/ 378 w 528"/>
                    <a:gd name="T15" fmla="*/ 28 h 515"/>
                    <a:gd name="T16" fmla="*/ 340 w 528"/>
                    <a:gd name="T17" fmla="*/ 13 h 515"/>
                    <a:gd name="T18" fmla="*/ 302 w 528"/>
                    <a:gd name="T19" fmla="*/ 4 h 515"/>
                    <a:gd name="T20" fmla="*/ 262 w 528"/>
                    <a:gd name="T21" fmla="*/ 0 h 515"/>
                    <a:gd name="T22" fmla="*/ 226 w 528"/>
                    <a:gd name="T23" fmla="*/ 4 h 515"/>
                    <a:gd name="T24" fmla="*/ 186 w 528"/>
                    <a:gd name="T25" fmla="*/ 13 h 515"/>
                    <a:gd name="T26" fmla="*/ 150 w 528"/>
                    <a:gd name="T27" fmla="*/ 28 h 515"/>
                    <a:gd name="T28" fmla="*/ 116 w 528"/>
                    <a:gd name="T29" fmla="*/ 47 h 515"/>
                    <a:gd name="T30" fmla="*/ 84 w 528"/>
                    <a:gd name="T31" fmla="*/ 69 h 515"/>
                    <a:gd name="T32" fmla="*/ 58 w 528"/>
                    <a:gd name="T33" fmla="*/ 98 h 515"/>
                    <a:gd name="T34" fmla="*/ 35 w 528"/>
                    <a:gd name="T35" fmla="*/ 129 h 515"/>
                    <a:gd name="T36" fmla="*/ 18 w 528"/>
                    <a:gd name="T37" fmla="*/ 164 h 515"/>
                    <a:gd name="T38" fmla="*/ 6 w 528"/>
                    <a:gd name="T39" fmla="*/ 199 h 515"/>
                    <a:gd name="T40" fmla="*/ 0 w 528"/>
                    <a:gd name="T41" fmla="*/ 239 h 515"/>
                    <a:gd name="T42" fmla="*/ 0 w 528"/>
                    <a:gd name="T43" fmla="*/ 277 h 515"/>
                    <a:gd name="T44" fmla="*/ 6 w 528"/>
                    <a:gd name="T45" fmla="*/ 313 h 515"/>
                    <a:gd name="T46" fmla="*/ 18 w 528"/>
                    <a:gd name="T47" fmla="*/ 351 h 515"/>
                    <a:gd name="T48" fmla="*/ 35 w 528"/>
                    <a:gd name="T49" fmla="*/ 386 h 515"/>
                    <a:gd name="T50" fmla="*/ 58 w 528"/>
                    <a:gd name="T51" fmla="*/ 418 h 515"/>
                    <a:gd name="T52" fmla="*/ 84 w 528"/>
                    <a:gd name="T53" fmla="*/ 446 h 515"/>
                    <a:gd name="T54" fmla="*/ 116 w 528"/>
                    <a:gd name="T55" fmla="*/ 468 h 515"/>
                    <a:gd name="T56" fmla="*/ 150 w 528"/>
                    <a:gd name="T57" fmla="*/ 488 h 515"/>
                    <a:gd name="T58" fmla="*/ 186 w 528"/>
                    <a:gd name="T59" fmla="*/ 502 h 515"/>
                    <a:gd name="T60" fmla="*/ 226 w 528"/>
                    <a:gd name="T61" fmla="*/ 511 h 515"/>
                    <a:gd name="T62" fmla="*/ 262 w 528"/>
                    <a:gd name="T63" fmla="*/ 514 h 515"/>
                    <a:gd name="T64" fmla="*/ 302 w 528"/>
                    <a:gd name="T65" fmla="*/ 511 h 515"/>
                    <a:gd name="T66" fmla="*/ 340 w 528"/>
                    <a:gd name="T67" fmla="*/ 502 h 515"/>
                    <a:gd name="T68" fmla="*/ 378 w 528"/>
                    <a:gd name="T69" fmla="*/ 488 h 515"/>
                    <a:gd name="T70" fmla="*/ 412 w 528"/>
                    <a:gd name="T71" fmla="*/ 468 h 515"/>
                    <a:gd name="T72" fmla="*/ 442 w 528"/>
                    <a:gd name="T73" fmla="*/ 446 h 515"/>
                    <a:gd name="T74" fmla="*/ 469 w 528"/>
                    <a:gd name="T75" fmla="*/ 418 h 515"/>
                    <a:gd name="T76" fmla="*/ 492 w 528"/>
                    <a:gd name="T77" fmla="*/ 386 h 515"/>
                    <a:gd name="T78" fmla="*/ 509 w 528"/>
                    <a:gd name="T79" fmla="*/ 351 h 515"/>
                    <a:gd name="T80" fmla="*/ 521 w 528"/>
                    <a:gd name="T81" fmla="*/ 313 h 515"/>
                    <a:gd name="T82" fmla="*/ 527 w 528"/>
                    <a:gd name="T83" fmla="*/ 277 h 5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28" h="515">
                      <a:moveTo>
                        <a:pt x="527" y="258"/>
                      </a:moveTo>
                      <a:lnTo>
                        <a:pt x="527" y="239"/>
                      </a:lnTo>
                      <a:lnTo>
                        <a:pt x="525" y="219"/>
                      </a:lnTo>
                      <a:lnTo>
                        <a:pt x="521" y="199"/>
                      </a:lnTo>
                      <a:lnTo>
                        <a:pt x="516" y="182"/>
                      </a:lnTo>
                      <a:lnTo>
                        <a:pt x="509" y="164"/>
                      </a:lnTo>
                      <a:lnTo>
                        <a:pt x="500" y="147"/>
                      </a:lnTo>
                      <a:lnTo>
                        <a:pt x="492" y="129"/>
                      </a:lnTo>
                      <a:lnTo>
                        <a:pt x="482" y="114"/>
                      </a:lnTo>
                      <a:lnTo>
                        <a:pt x="469" y="98"/>
                      </a:lnTo>
                      <a:lnTo>
                        <a:pt x="456" y="83"/>
                      </a:lnTo>
                      <a:lnTo>
                        <a:pt x="442" y="69"/>
                      </a:lnTo>
                      <a:lnTo>
                        <a:pt x="428" y="59"/>
                      </a:lnTo>
                      <a:lnTo>
                        <a:pt x="412" y="47"/>
                      </a:lnTo>
                      <a:lnTo>
                        <a:pt x="395" y="35"/>
                      </a:lnTo>
                      <a:lnTo>
                        <a:pt x="378" y="28"/>
                      </a:lnTo>
                      <a:lnTo>
                        <a:pt x="362" y="20"/>
                      </a:lnTo>
                      <a:lnTo>
                        <a:pt x="340" y="13"/>
                      </a:lnTo>
                      <a:lnTo>
                        <a:pt x="321" y="7"/>
                      </a:lnTo>
                      <a:lnTo>
                        <a:pt x="302" y="4"/>
                      </a:lnTo>
                      <a:lnTo>
                        <a:pt x="285" y="2"/>
                      </a:lnTo>
                      <a:lnTo>
                        <a:pt x="262" y="0"/>
                      </a:lnTo>
                      <a:lnTo>
                        <a:pt x="244" y="2"/>
                      </a:lnTo>
                      <a:lnTo>
                        <a:pt x="226" y="4"/>
                      </a:lnTo>
                      <a:lnTo>
                        <a:pt x="204" y="7"/>
                      </a:lnTo>
                      <a:lnTo>
                        <a:pt x="186" y="13"/>
                      </a:lnTo>
                      <a:lnTo>
                        <a:pt x="166" y="20"/>
                      </a:lnTo>
                      <a:lnTo>
                        <a:pt x="150" y="28"/>
                      </a:lnTo>
                      <a:lnTo>
                        <a:pt x="131" y="35"/>
                      </a:lnTo>
                      <a:lnTo>
                        <a:pt x="116" y="47"/>
                      </a:lnTo>
                      <a:lnTo>
                        <a:pt x="98" y="59"/>
                      </a:lnTo>
                      <a:lnTo>
                        <a:pt x="84" y="69"/>
                      </a:lnTo>
                      <a:lnTo>
                        <a:pt x="71" y="83"/>
                      </a:lnTo>
                      <a:lnTo>
                        <a:pt x="58" y="98"/>
                      </a:lnTo>
                      <a:lnTo>
                        <a:pt x="46" y="114"/>
                      </a:lnTo>
                      <a:lnTo>
                        <a:pt x="35" y="129"/>
                      </a:lnTo>
                      <a:lnTo>
                        <a:pt x="26" y="147"/>
                      </a:lnTo>
                      <a:lnTo>
                        <a:pt x="18" y="164"/>
                      </a:lnTo>
                      <a:lnTo>
                        <a:pt x="11" y="182"/>
                      </a:lnTo>
                      <a:lnTo>
                        <a:pt x="6" y="199"/>
                      </a:lnTo>
                      <a:lnTo>
                        <a:pt x="3" y="219"/>
                      </a:lnTo>
                      <a:lnTo>
                        <a:pt x="0" y="239"/>
                      </a:lnTo>
                      <a:lnTo>
                        <a:pt x="0" y="258"/>
                      </a:lnTo>
                      <a:lnTo>
                        <a:pt x="0" y="277"/>
                      </a:lnTo>
                      <a:lnTo>
                        <a:pt x="3" y="296"/>
                      </a:lnTo>
                      <a:lnTo>
                        <a:pt x="6" y="313"/>
                      </a:lnTo>
                      <a:lnTo>
                        <a:pt x="11" y="333"/>
                      </a:lnTo>
                      <a:lnTo>
                        <a:pt x="18" y="351"/>
                      </a:lnTo>
                      <a:lnTo>
                        <a:pt x="26" y="367"/>
                      </a:lnTo>
                      <a:lnTo>
                        <a:pt x="35" y="386"/>
                      </a:lnTo>
                      <a:lnTo>
                        <a:pt x="46" y="403"/>
                      </a:lnTo>
                      <a:lnTo>
                        <a:pt x="58" y="418"/>
                      </a:lnTo>
                      <a:lnTo>
                        <a:pt x="71" y="433"/>
                      </a:lnTo>
                      <a:lnTo>
                        <a:pt x="84" y="446"/>
                      </a:lnTo>
                      <a:lnTo>
                        <a:pt x="98" y="459"/>
                      </a:lnTo>
                      <a:lnTo>
                        <a:pt x="116" y="468"/>
                      </a:lnTo>
                      <a:lnTo>
                        <a:pt x="131" y="479"/>
                      </a:lnTo>
                      <a:lnTo>
                        <a:pt x="150" y="488"/>
                      </a:lnTo>
                      <a:lnTo>
                        <a:pt x="166" y="497"/>
                      </a:lnTo>
                      <a:lnTo>
                        <a:pt x="186" y="502"/>
                      </a:lnTo>
                      <a:lnTo>
                        <a:pt x="204" y="507"/>
                      </a:lnTo>
                      <a:lnTo>
                        <a:pt x="226" y="511"/>
                      </a:lnTo>
                      <a:lnTo>
                        <a:pt x="244" y="513"/>
                      </a:lnTo>
                      <a:lnTo>
                        <a:pt x="262" y="514"/>
                      </a:lnTo>
                      <a:lnTo>
                        <a:pt x="285" y="513"/>
                      </a:lnTo>
                      <a:lnTo>
                        <a:pt x="302" y="511"/>
                      </a:lnTo>
                      <a:lnTo>
                        <a:pt x="321" y="507"/>
                      </a:lnTo>
                      <a:lnTo>
                        <a:pt x="340" y="502"/>
                      </a:lnTo>
                      <a:lnTo>
                        <a:pt x="362" y="497"/>
                      </a:lnTo>
                      <a:lnTo>
                        <a:pt x="378" y="488"/>
                      </a:lnTo>
                      <a:lnTo>
                        <a:pt x="395" y="479"/>
                      </a:lnTo>
                      <a:lnTo>
                        <a:pt x="412" y="468"/>
                      </a:lnTo>
                      <a:lnTo>
                        <a:pt x="428" y="459"/>
                      </a:lnTo>
                      <a:lnTo>
                        <a:pt x="442" y="446"/>
                      </a:lnTo>
                      <a:lnTo>
                        <a:pt x="456" y="433"/>
                      </a:lnTo>
                      <a:lnTo>
                        <a:pt x="469" y="418"/>
                      </a:lnTo>
                      <a:lnTo>
                        <a:pt x="482" y="403"/>
                      </a:lnTo>
                      <a:lnTo>
                        <a:pt x="492" y="386"/>
                      </a:lnTo>
                      <a:lnTo>
                        <a:pt x="500" y="367"/>
                      </a:lnTo>
                      <a:lnTo>
                        <a:pt x="509" y="351"/>
                      </a:lnTo>
                      <a:lnTo>
                        <a:pt x="516" y="333"/>
                      </a:lnTo>
                      <a:lnTo>
                        <a:pt x="521" y="313"/>
                      </a:lnTo>
                      <a:lnTo>
                        <a:pt x="525" y="296"/>
                      </a:lnTo>
                      <a:lnTo>
                        <a:pt x="527" y="277"/>
                      </a:lnTo>
                      <a:lnTo>
                        <a:pt x="527" y="258"/>
                      </a:lnTo>
                    </a:path>
                  </a:pathLst>
                </a:custGeom>
                <a:solidFill>
                  <a:srgbClr val="FF6600">
                    <a:alpha val="50000"/>
                  </a:srgbClr>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35" name="Freeform 24"/>
              <p:cNvSpPr>
                <a:spLocks/>
              </p:cNvSpPr>
              <p:nvPr/>
            </p:nvSpPr>
            <p:spPr bwMode="auto">
              <a:xfrm>
                <a:off x="4002" y="2628"/>
                <a:ext cx="130" cy="63"/>
              </a:xfrm>
              <a:custGeom>
                <a:avLst/>
                <a:gdLst>
                  <a:gd name="T0" fmla="*/ 142 w 143"/>
                  <a:gd name="T1" fmla="*/ 38 h 71"/>
                  <a:gd name="T2" fmla="*/ 0 w 143"/>
                  <a:gd name="T3" fmla="*/ 0 h 71"/>
                  <a:gd name="T4" fmla="*/ 32 w 143"/>
                  <a:gd name="T5" fmla="*/ 36 h 71"/>
                  <a:gd name="T6" fmla="*/ 2 w 143"/>
                  <a:gd name="T7" fmla="*/ 70 h 71"/>
                  <a:gd name="T8" fmla="*/ 142 w 143"/>
                  <a:gd name="T9" fmla="*/ 38 h 71"/>
                  <a:gd name="T10" fmla="*/ 142 w 143"/>
                  <a:gd name="T11" fmla="*/ 38 h 71"/>
                </a:gdLst>
                <a:ahLst/>
                <a:cxnLst>
                  <a:cxn ang="0">
                    <a:pos x="T0" y="T1"/>
                  </a:cxn>
                  <a:cxn ang="0">
                    <a:pos x="T2" y="T3"/>
                  </a:cxn>
                  <a:cxn ang="0">
                    <a:pos x="T4" y="T5"/>
                  </a:cxn>
                  <a:cxn ang="0">
                    <a:pos x="T6" y="T7"/>
                  </a:cxn>
                  <a:cxn ang="0">
                    <a:pos x="T8" y="T9"/>
                  </a:cxn>
                  <a:cxn ang="0">
                    <a:pos x="T10" y="T11"/>
                  </a:cxn>
                </a:cxnLst>
                <a:rect l="0" t="0" r="r" b="b"/>
                <a:pathLst>
                  <a:path w="143" h="71">
                    <a:moveTo>
                      <a:pt x="142" y="38"/>
                    </a:moveTo>
                    <a:lnTo>
                      <a:pt x="0" y="0"/>
                    </a:lnTo>
                    <a:lnTo>
                      <a:pt x="32" y="36"/>
                    </a:lnTo>
                    <a:lnTo>
                      <a:pt x="2" y="70"/>
                    </a:lnTo>
                    <a:lnTo>
                      <a:pt x="142" y="38"/>
                    </a:lnTo>
                    <a:lnTo>
                      <a:pt x="142" y="38"/>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7" name="Text Box 25"/>
            <p:cNvSpPr txBox="1">
              <a:spLocks noChangeArrowheads="1"/>
            </p:cNvSpPr>
            <p:nvPr/>
          </p:nvSpPr>
          <p:spPr bwMode="auto">
            <a:xfrm>
              <a:off x="4216401" y="1519239"/>
              <a:ext cx="1725613"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573088" indent="-163513" defTabSz="409575">
                <a:defRPr>
                  <a:solidFill>
                    <a:schemeClr val="tx1"/>
                  </a:solidFill>
                  <a:latin typeface="Arial" panose="020B0604020202020204" pitchFamily="34" charset="0"/>
                  <a:ea typeface="宋体" panose="02010600030101010101" pitchFamily="2" charset="-122"/>
                </a:defRPr>
              </a:lvl2pPr>
              <a:lvl3pPr marL="915988" indent="-95250"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500" b="1" i="1">
                  <a:solidFill>
                    <a:srgbClr val="FF0000"/>
                  </a:solidFill>
                  <a:latin typeface="微软雅黑" panose="020B0503020204020204" pitchFamily="34" charset="-122"/>
                  <a:ea typeface="微软雅黑" panose="020B0503020204020204" pitchFamily="34" charset="-122"/>
                </a:rPr>
                <a:t>(</a:t>
              </a:r>
              <a:r>
                <a:rPr lang="zh-CN" altLang="en-US" sz="1500" b="1" i="1">
                  <a:solidFill>
                    <a:srgbClr val="FF0000"/>
                  </a:solidFill>
                  <a:latin typeface="微软雅黑" panose="020B0503020204020204" pitchFamily="34" charset="-122"/>
                  <a:ea typeface="微软雅黑" panose="020B0503020204020204" pitchFamily="34" charset="-122"/>
                </a:rPr>
                <a:t>入射信号泄漏</a:t>
              </a:r>
              <a:r>
                <a:rPr lang="en-US" altLang="zh-CN" sz="1500" b="1" i="1">
                  <a:solidFill>
                    <a:srgbClr val="FF0000"/>
                  </a:solidFill>
                  <a:latin typeface="微软雅黑" panose="020B0503020204020204" pitchFamily="34" charset="-122"/>
                  <a:ea typeface="微软雅黑" panose="020B0503020204020204" pitchFamily="34" charset="-122"/>
                </a:rPr>
                <a:t>)</a:t>
              </a:r>
              <a:endParaRPr lang="en-US" altLang="zh-CN" sz="1500" b="1">
                <a:latin typeface="微软雅黑" panose="020B0503020204020204" pitchFamily="34" charset="-122"/>
                <a:ea typeface="微软雅黑" panose="020B0503020204020204" pitchFamily="34" charset="-122"/>
              </a:endParaRPr>
            </a:p>
          </p:txBody>
        </p:sp>
        <p:sp>
          <p:nvSpPr>
            <p:cNvPr id="8" name="Text Box 26"/>
            <p:cNvSpPr txBox="1">
              <a:spLocks noChangeArrowheads="1"/>
            </p:cNvSpPr>
            <p:nvPr/>
          </p:nvSpPr>
          <p:spPr bwMode="auto">
            <a:xfrm>
              <a:off x="7678738" y="1519239"/>
              <a:ext cx="189865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573088" indent="-163513" defTabSz="409575">
                <a:defRPr>
                  <a:solidFill>
                    <a:schemeClr val="tx1"/>
                  </a:solidFill>
                  <a:latin typeface="Arial" panose="020B0604020202020204" pitchFamily="34" charset="0"/>
                  <a:ea typeface="宋体" panose="02010600030101010101" pitchFamily="2" charset="-122"/>
                </a:defRPr>
              </a:lvl2pPr>
              <a:lvl3pPr marL="915988" indent="-95250"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500" b="1" i="1">
                  <a:solidFill>
                    <a:srgbClr val="0000FF"/>
                  </a:solidFill>
                  <a:latin typeface="微软雅黑" panose="020B0503020204020204" pitchFamily="34" charset="-122"/>
                  <a:ea typeface="微软雅黑" panose="020B0503020204020204" pitchFamily="34" charset="-122"/>
                </a:rPr>
                <a:t>(</a:t>
              </a:r>
              <a:r>
                <a:rPr lang="zh-CN" altLang="en-US" sz="1500" b="1" i="1">
                  <a:solidFill>
                    <a:srgbClr val="0000FF"/>
                  </a:solidFill>
                  <a:latin typeface="微软雅黑" panose="020B0503020204020204" pitchFamily="34" charset="-122"/>
                  <a:ea typeface="微软雅黑" panose="020B0503020204020204" pitchFamily="34" charset="-122"/>
                </a:rPr>
                <a:t>被测件反射方向</a:t>
              </a:r>
              <a:r>
                <a:rPr lang="en-US" altLang="zh-CN" sz="1500" b="1" i="1">
                  <a:solidFill>
                    <a:srgbClr val="0000FF"/>
                  </a:solidFill>
                  <a:latin typeface="微软雅黑" panose="020B0503020204020204" pitchFamily="34" charset="-122"/>
                  <a:ea typeface="微软雅黑" panose="020B0503020204020204" pitchFamily="34" charset="-122"/>
                </a:rPr>
                <a:t>)</a:t>
              </a:r>
              <a:endParaRPr lang="en-US" altLang="zh-CN" sz="1500" b="1">
                <a:latin typeface="微软雅黑" panose="020B0503020204020204" pitchFamily="34" charset="-122"/>
                <a:ea typeface="微软雅黑" panose="020B0503020204020204" pitchFamily="34" charset="-122"/>
              </a:endParaRPr>
            </a:p>
          </p:txBody>
        </p:sp>
        <p:sp>
          <p:nvSpPr>
            <p:cNvPr id="9" name="Text Box 27"/>
            <p:cNvSpPr txBox="1">
              <a:spLocks noChangeArrowheads="1"/>
            </p:cNvSpPr>
            <p:nvPr/>
          </p:nvSpPr>
          <p:spPr bwMode="auto">
            <a:xfrm>
              <a:off x="6616700" y="2828925"/>
              <a:ext cx="1098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573088" indent="-163513" defTabSz="409575">
                <a:defRPr>
                  <a:solidFill>
                    <a:schemeClr val="tx1"/>
                  </a:solidFill>
                  <a:latin typeface="Arial" panose="020B0604020202020204" pitchFamily="34" charset="0"/>
                  <a:ea typeface="宋体" panose="02010600030101010101" pitchFamily="2" charset="-122"/>
                </a:defRPr>
              </a:lvl2pPr>
              <a:lvl3pPr marL="915988" indent="-95250"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zh-CN" altLang="en-US" sz="1500" b="1">
                  <a:solidFill>
                    <a:srgbClr val="990099"/>
                  </a:solidFill>
                  <a:latin typeface="微软雅黑" panose="020B0503020204020204" pitchFamily="34" charset="-122"/>
                  <a:ea typeface="微软雅黑" panose="020B0503020204020204" pitchFamily="34" charset="-122"/>
                </a:rPr>
                <a:t>定向耦合器</a:t>
              </a:r>
              <a:endParaRPr lang="zh-CN" altLang="en-US" sz="1500">
                <a:solidFill>
                  <a:srgbClr val="990099"/>
                </a:solidFill>
                <a:latin typeface="微软雅黑" panose="020B0503020204020204" pitchFamily="34" charset="-122"/>
                <a:ea typeface="微软雅黑" panose="020B0503020204020204" pitchFamily="34" charset="-122"/>
              </a:endParaRPr>
            </a:p>
          </p:txBody>
        </p:sp>
        <p:sp>
          <p:nvSpPr>
            <p:cNvPr id="10" name="Freeform 28"/>
            <p:cNvSpPr>
              <a:spLocks/>
            </p:cNvSpPr>
            <p:nvPr/>
          </p:nvSpPr>
          <p:spPr bwMode="auto">
            <a:xfrm>
              <a:off x="6240464" y="3221039"/>
              <a:ext cx="2143125" cy="217487"/>
            </a:xfrm>
            <a:custGeom>
              <a:avLst/>
              <a:gdLst>
                <a:gd name="T0" fmla="*/ 1461 w 1485"/>
                <a:gd name="T1" fmla="*/ 126 h 155"/>
                <a:gd name="T2" fmla="*/ 1436 w 1485"/>
                <a:gd name="T3" fmla="*/ 150 h 155"/>
                <a:gd name="T4" fmla="*/ 1412 w 1485"/>
                <a:gd name="T5" fmla="*/ 126 h 155"/>
                <a:gd name="T6" fmla="*/ 1392 w 1485"/>
                <a:gd name="T7" fmla="*/ 76 h 155"/>
                <a:gd name="T8" fmla="*/ 1370 w 1485"/>
                <a:gd name="T9" fmla="*/ 22 h 155"/>
                <a:gd name="T10" fmla="*/ 1346 w 1485"/>
                <a:gd name="T11" fmla="*/ 0 h 155"/>
                <a:gd name="T12" fmla="*/ 1321 w 1485"/>
                <a:gd name="T13" fmla="*/ 27 h 155"/>
                <a:gd name="T14" fmla="*/ 1297 w 1485"/>
                <a:gd name="T15" fmla="*/ 81 h 155"/>
                <a:gd name="T16" fmla="*/ 1272 w 1485"/>
                <a:gd name="T17" fmla="*/ 133 h 155"/>
                <a:gd name="T18" fmla="*/ 1247 w 1485"/>
                <a:gd name="T19" fmla="*/ 148 h 155"/>
                <a:gd name="T20" fmla="*/ 1224 w 1485"/>
                <a:gd name="T21" fmla="*/ 117 h 155"/>
                <a:gd name="T22" fmla="*/ 1204 w 1485"/>
                <a:gd name="T23" fmla="*/ 65 h 155"/>
                <a:gd name="T24" fmla="*/ 1182 w 1485"/>
                <a:gd name="T25" fmla="*/ 14 h 155"/>
                <a:gd name="T26" fmla="*/ 1158 w 1485"/>
                <a:gd name="T27" fmla="*/ 1 h 155"/>
                <a:gd name="T28" fmla="*/ 1132 w 1485"/>
                <a:gd name="T29" fmla="*/ 33 h 155"/>
                <a:gd name="T30" fmla="*/ 1107 w 1485"/>
                <a:gd name="T31" fmla="*/ 92 h 155"/>
                <a:gd name="T32" fmla="*/ 1081 w 1485"/>
                <a:gd name="T33" fmla="*/ 140 h 155"/>
                <a:gd name="T34" fmla="*/ 1058 w 1485"/>
                <a:gd name="T35" fmla="*/ 148 h 155"/>
                <a:gd name="T36" fmla="*/ 1034 w 1485"/>
                <a:gd name="T37" fmla="*/ 112 h 155"/>
                <a:gd name="T38" fmla="*/ 1014 w 1485"/>
                <a:gd name="T39" fmla="*/ 57 h 155"/>
                <a:gd name="T40" fmla="*/ 992 w 1485"/>
                <a:gd name="T41" fmla="*/ 11 h 155"/>
                <a:gd name="T42" fmla="*/ 968 w 1485"/>
                <a:gd name="T43" fmla="*/ 5 h 155"/>
                <a:gd name="T44" fmla="*/ 942 w 1485"/>
                <a:gd name="T45" fmla="*/ 43 h 155"/>
                <a:gd name="T46" fmla="*/ 918 w 1485"/>
                <a:gd name="T47" fmla="*/ 100 h 155"/>
                <a:gd name="T48" fmla="*/ 894 w 1485"/>
                <a:gd name="T49" fmla="*/ 143 h 155"/>
                <a:gd name="T50" fmla="*/ 870 w 1485"/>
                <a:gd name="T51" fmla="*/ 144 h 155"/>
                <a:gd name="T52" fmla="*/ 846 w 1485"/>
                <a:gd name="T53" fmla="*/ 102 h 155"/>
                <a:gd name="T54" fmla="*/ 826 w 1485"/>
                <a:gd name="T55" fmla="*/ 48 h 155"/>
                <a:gd name="T56" fmla="*/ 803 w 1485"/>
                <a:gd name="T57" fmla="*/ 6 h 155"/>
                <a:gd name="T58" fmla="*/ 778 w 1485"/>
                <a:gd name="T59" fmla="*/ 6 h 155"/>
                <a:gd name="T60" fmla="*/ 755 w 1485"/>
                <a:gd name="T61" fmla="*/ 50 h 155"/>
                <a:gd name="T62" fmla="*/ 727 w 1485"/>
                <a:gd name="T63" fmla="*/ 112 h 155"/>
                <a:gd name="T64" fmla="*/ 701 w 1485"/>
                <a:gd name="T65" fmla="*/ 150 h 155"/>
                <a:gd name="T66" fmla="*/ 678 w 1485"/>
                <a:gd name="T67" fmla="*/ 144 h 155"/>
                <a:gd name="T68" fmla="*/ 655 w 1485"/>
                <a:gd name="T69" fmla="*/ 96 h 155"/>
                <a:gd name="T70" fmla="*/ 634 w 1485"/>
                <a:gd name="T71" fmla="*/ 43 h 155"/>
                <a:gd name="T72" fmla="*/ 611 w 1485"/>
                <a:gd name="T73" fmla="*/ 6 h 155"/>
                <a:gd name="T74" fmla="*/ 586 w 1485"/>
                <a:gd name="T75" fmla="*/ 14 h 155"/>
                <a:gd name="T76" fmla="*/ 562 w 1485"/>
                <a:gd name="T77" fmla="*/ 63 h 155"/>
                <a:gd name="T78" fmla="*/ 537 w 1485"/>
                <a:gd name="T79" fmla="*/ 118 h 155"/>
                <a:gd name="T80" fmla="*/ 512 w 1485"/>
                <a:gd name="T81" fmla="*/ 151 h 155"/>
                <a:gd name="T82" fmla="*/ 488 w 1485"/>
                <a:gd name="T83" fmla="*/ 136 h 155"/>
                <a:gd name="T84" fmla="*/ 466 w 1485"/>
                <a:gd name="T85" fmla="*/ 87 h 155"/>
                <a:gd name="T86" fmla="*/ 446 w 1485"/>
                <a:gd name="T87" fmla="*/ 34 h 155"/>
                <a:gd name="T88" fmla="*/ 423 w 1485"/>
                <a:gd name="T89" fmla="*/ 3 h 155"/>
                <a:gd name="T90" fmla="*/ 398 w 1485"/>
                <a:gd name="T91" fmla="*/ 19 h 155"/>
                <a:gd name="T92" fmla="*/ 373 w 1485"/>
                <a:gd name="T93" fmla="*/ 70 h 155"/>
                <a:gd name="T94" fmla="*/ 348 w 1485"/>
                <a:gd name="T95" fmla="*/ 128 h 155"/>
                <a:gd name="T96" fmla="*/ 322 w 1485"/>
                <a:gd name="T97" fmla="*/ 154 h 155"/>
                <a:gd name="T98" fmla="*/ 298 w 1485"/>
                <a:gd name="T99" fmla="*/ 132 h 155"/>
                <a:gd name="T100" fmla="*/ 278 w 1485"/>
                <a:gd name="T101" fmla="*/ 79 h 155"/>
                <a:gd name="T102" fmla="*/ 256 w 1485"/>
                <a:gd name="T103" fmla="*/ 28 h 155"/>
                <a:gd name="T104" fmla="*/ 232 w 1485"/>
                <a:gd name="T105" fmla="*/ 5 h 155"/>
                <a:gd name="T106" fmla="*/ 208 w 1485"/>
                <a:gd name="T107" fmla="*/ 27 h 155"/>
                <a:gd name="T108" fmla="*/ 184 w 1485"/>
                <a:gd name="T109" fmla="*/ 80 h 155"/>
                <a:gd name="T110" fmla="*/ 158 w 1485"/>
                <a:gd name="T111" fmla="*/ 133 h 155"/>
                <a:gd name="T112" fmla="*/ 134 w 1485"/>
                <a:gd name="T113" fmla="*/ 153 h 155"/>
                <a:gd name="T114" fmla="*/ 110 w 1485"/>
                <a:gd name="T115" fmla="*/ 125 h 155"/>
                <a:gd name="T116" fmla="*/ 89 w 1485"/>
                <a:gd name="T117" fmla="*/ 74 h 155"/>
                <a:gd name="T118" fmla="*/ 68 w 1485"/>
                <a:gd name="T119" fmla="*/ 20 h 155"/>
                <a:gd name="T120" fmla="*/ 44 w 1485"/>
                <a:gd name="T121" fmla="*/ 3 h 155"/>
                <a:gd name="T122" fmla="*/ 19 w 1485"/>
                <a:gd name="T123" fmla="*/ 33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85" h="155">
                  <a:moveTo>
                    <a:pt x="1484" y="78"/>
                  </a:moveTo>
                  <a:lnTo>
                    <a:pt x="1482" y="82"/>
                  </a:lnTo>
                  <a:lnTo>
                    <a:pt x="1481" y="87"/>
                  </a:lnTo>
                  <a:lnTo>
                    <a:pt x="1479" y="90"/>
                  </a:lnTo>
                  <a:lnTo>
                    <a:pt x="1476" y="95"/>
                  </a:lnTo>
                  <a:lnTo>
                    <a:pt x="1474" y="100"/>
                  </a:lnTo>
                  <a:lnTo>
                    <a:pt x="1472" y="104"/>
                  </a:lnTo>
                  <a:lnTo>
                    <a:pt x="1470" y="109"/>
                  </a:lnTo>
                  <a:lnTo>
                    <a:pt x="1468" y="112"/>
                  </a:lnTo>
                  <a:lnTo>
                    <a:pt x="1467" y="117"/>
                  </a:lnTo>
                  <a:lnTo>
                    <a:pt x="1464" y="120"/>
                  </a:lnTo>
                  <a:lnTo>
                    <a:pt x="1463" y="124"/>
                  </a:lnTo>
                  <a:lnTo>
                    <a:pt x="1461" y="126"/>
                  </a:lnTo>
                  <a:lnTo>
                    <a:pt x="1460" y="130"/>
                  </a:lnTo>
                  <a:lnTo>
                    <a:pt x="1457" y="133"/>
                  </a:lnTo>
                  <a:lnTo>
                    <a:pt x="1455" y="136"/>
                  </a:lnTo>
                  <a:lnTo>
                    <a:pt x="1453" y="139"/>
                  </a:lnTo>
                  <a:lnTo>
                    <a:pt x="1451" y="142"/>
                  </a:lnTo>
                  <a:lnTo>
                    <a:pt x="1449" y="144"/>
                  </a:lnTo>
                  <a:lnTo>
                    <a:pt x="1448" y="145"/>
                  </a:lnTo>
                  <a:lnTo>
                    <a:pt x="1446" y="147"/>
                  </a:lnTo>
                  <a:lnTo>
                    <a:pt x="1444" y="148"/>
                  </a:lnTo>
                  <a:lnTo>
                    <a:pt x="1443" y="149"/>
                  </a:lnTo>
                  <a:lnTo>
                    <a:pt x="1439" y="150"/>
                  </a:lnTo>
                  <a:lnTo>
                    <a:pt x="1438" y="150"/>
                  </a:lnTo>
                  <a:lnTo>
                    <a:pt x="1436" y="150"/>
                  </a:lnTo>
                  <a:lnTo>
                    <a:pt x="1434" y="150"/>
                  </a:lnTo>
                  <a:lnTo>
                    <a:pt x="1432" y="150"/>
                  </a:lnTo>
                  <a:lnTo>
                    <a:pt x="1431" y="149"/>
                  </a:lnTo>
                  <a:lnTo>
                    <a:pt x="1429" y="148"/>
                  </a:lnTo>
                  <a:lnTo>
                    <a:pt x="1428" y="147"/>
                  </a:lnTo>
                  <a:lnTo>
                    <a:pt x="1426" y="145"/>
                  </a:lnTo>
                  <a:lnTo>
                    <a:pt x="1424" y="143"/>
                  </a:lnTo>
                  <a:lnTo>
                    <a:pt x="1421" y="141"/>
                  </a:lnTo>
                  <a:lnTo>
                    <a:pt x="1420" y="139"/>
                  </a:lnTo>
                  <a:lnTo>
                    <a:pt x="1418" y="136"/>
                  </a:lnTo>
                  <a:lnTo>
                    <a:pt x="1417" y="133"/>
                  </a:lnTo>
                  <a:lnTo>
                    <a:pt x="1414" y="128"/>
                  </a:lnTo>
                  <a:lnTo>
                    <a:pt x="1412" y="126"/>
                  </a:lnTo>
                  <a:lnTo>
                    <a:pt x="1412" y="123"/>
                  </a:lnTo>
                  <a:lnTo>
                    <a:pt x="1410" y="119"/>
                  </a:lnTo>
                  <a:lnTo>
                    <a:pt x="1408" y="115"/>
                  </a:lnTo>
                  <a:lnTo>
                    <a:pt x="1407" y="110"/>
                  </a:lnTo>
                  <a:lnTo>
                    <a:pt x="1405" y="107"/>
                  </a:lnTo>
                  <a:lnTo>
                    <a:pt x="1403" y="102"/>
                  </a:lnTo>
                  <a:lnTo>
                    <a:pt x="1401" y="98"/>
                  </a:lnTo>
                  <a:lnTo>
                    <a:pt x="1399" y="93"/>
                  </a:lnTo>
                  <a:lnTo>
                    <a:pt x="1397" y="90"/>
                  </a:lnTo>
                  <a:lnTo>
                    <a:pt x="1395" y="84"/>
                  </a:lnTo>
                  <a:lnTo>
                    <a:pt x="1393" y="80"/>
                  </a:lnTo>
                  <a:lnTo>
                    <a:pt x="1392" y="76"/>
                  </a:lnTo>
                  <a:lnTo>
                    <a:pt x="1392" y="76"/>
                  </a:lnTo>
                  <a:lnTo>
                    <a:pt x="1390" y="72"/>
                  </a:lnTo>
                  <a:lnTo>
                    <a:pt x="1389" y="66"/>
                  </a:lnTo>
                  <a:lnTo>
                    <a:pt x="1387" y="62"/>
                  </a:lnTo>
                  <a:lnTo>
                    <a:pt x="1385" y="57"/>
                  </a:lnTo>
                  <a:lnTo>
                    <a:pt x="1383" y="52"/>
                  </a:lnTo>
                  <a:lnTo>
                    <a:pt x="1382" y="49"/>
                  </a:lnTo>
                  <a:lnTo>
                    <a:pt x="1380" y="45"/>
                  </a:lnTo>
                  <a:lnTo>
                    <a:pt x="1378" y="40"/>
                  </a:lnTo>
                  <a:lnTo>
                    <a:pt x="1376" y="36"/>
                  </a:lnTo>
                  <a:lnTo>
                    <a:pt x="1375" y="31"/>
                  </a:lnTo>
                  <a:lnTo>
                    <a:pt x="1373" y="28"/>
                  </a:lnTo>
                  <a:lnTo>
                    <a:pt x="1372" y="24"/>
                  </a:lnTo>
                  <a:lnTo>
                    <a:pt x="1370" y="22"/>
                  </a:lnTo>
                  <a:lnTo>
                    <a:pt x="1368" y="17"/>
                  </a:lnTo>
                  <a:lnTo>
                    <a:pt x="1366" y="14"/>
                  </a:lnTo>
                  <a:lnTo>
                    <a:pt x="1364" y="12"/>
                  </a:lnTo>
                  <a:lnTo>
                    <a:pt x="1362" y="9"/>
                  </a:lnTo>
                  <a:lnTo>
                    <a:pt x="1361" y="8"/>
                  </a:lnTo>
                  <a:lnTo>
                    <a:pt x="1359" y="6"/>
                  </a:lnTo>
                  <a:lnTo>
                    <a:pt x="1358" y="5"/>
                  </a:lnTo>
                  <a:lnTo>
                    <a:pt x="1356" y="3"/>
                  </a:lnTo>
                  <a:lnTo>
                    <a:pt x="1355" y="1"/>
                  </a:lnTo>
                  <a:lnTo>
                    <a:pt x="1352" y="1"/>
                  </a:lnTo>
                  <a:lnTo>
                    <a:pt x="1350" y="0"/>
                  </a:lnTo>
                  <a:lnTo>
                    <a:pt x="1348" y="0"/>
                  </a:lnTo>
                  <a:lnTo>
                    <a:pt x="1346" y="0"/>
                  </a:lnTo>
                  <a:lnTo>
                    <a:pt x="1345" y="1"/>
                  </a:lnTo>
                  <a:lnTo>
                    <a:pt x="1343" y="1"/>
                  </a:lnTo>
                  <a:lnTo>
                    <a:pt x="1341" y="3"/>
                  </a:lnTo>
                  <a:lnTo>
                    <a:pt x="1339" y="4"/>
                  </a:lnTo>
                  <a:lnTo>
                    <a:pt x="1338" y="5"/>
                  </a:lnTo>
                  <a:lnTo>
                    <a:pt x="1335" y="7"/>
                  </a:lnTo>
                  <a:lnTo>
                    <a:pt x="1334" y="8"/>
                  </a:lnTo>
                  <a:lnTo>
                    <a:pt x="1331" y="11"/>
                  </a:lnTo>
                  <a:lnTo>
                    <a:pt x="1329" y="14"/>
                  </a:lnTo>
                  <a:lnTo>
                    <a:pt x="1328" y="16"/>
                  </a:lnTo>
                  <a:lnTo>
                    <a:pt x="1325" y="19"/>
                  </a:lnTo>
                  <a:lnTo>
                    <a:pt x="1324" y="22"/>
                  </a:lnTo>
                  <a:lnTo>
                    <a:pt x="1321" y="27"/>
                  </a:lnTo>
                  <a:lnTo>
                    <a:pt x="1320" y="30"/>
                  </a:lnTo>
                  <a:lnTo>
                    <a:pt x="1317" y="34"/>
                  </a:lnTo>
                  <a:lnTo>
                    <a:pt x="1317" y="38"/>
                  </a:lnTo>
                  <a:lnTo>
                    <a:pt x="1315" y="42"/>
                  </a:lnTo>
                  <a:lnTo>
                    <a:pt x="1312" y="46"/>
                  </a:lnTo>
                  <a:lnTo>
                    <a:pt x="1311" y="50"/>
                  </a:lnTo>
                  <a:lnTo>
                    <a:pt x="1308" y="54"/>
                  </a:lnTo>
                  <a:lnTo>
                    <a:pt x="1307" y="60"/>
                  </a:lnTo>
                  <a:lnTo>
                    <a:pt x="1305" y="64"/>
                  </a:lnTo>
                  <a:lnTo>
                    <a:pt x="1302" y="69"/>
                  </a:lnTo>
                  <a:lnTo>
                    <a:pt x="1300" y="73"/>
                  </a:lnTo>
                  <a:lnTo>
                    <a:pt x="1298" y="77"/>
                  </a:lnTo>
                  <a:lnTo>
                    <a:pt x="1297" y="81"/>
                  </a:lnTo>
                  <a:lnTo>
                    <a:pt x="1295" y="85"/>
                  </a:lnTo>
                  <a:lnTo>
                    <a:pt x="1294" y="90"/>
                  </a:lnTo>
                  <a:lnTo>
                    <a:pt x="1292" y="95"/>
                  </a:lnTo>
                  <a:lnTo>
                    <a:pt x="1288" y="98"/>
                  </a:lnTo>
                  <a:lnTo>
                    <a:pt x="1287" y="104"/>
                  </a:lnTo>
                  <a:lnTo>
                    <a:pt x="1285" y="108"/>
                  </a:lnTo>
                  <a:lnTo>
                    <a:pt x="1283" y="112"/>
                  </a:lnTo>
                  <a:lnTo>
                    <a:pt x="1282" y="116"/>
                  </a:lnTo>
                  <a:lnTo>
                    <a:pt x="1278" y="119"/>
                  </a:lnTo>
                  <a:lnTo>
                    <a:pt x="1277" y="123"/>
                  </a:lnTo>
                  <a:lnTo>
                    <a:pt x="1276" y="126"/>
                  </a:lnTo>
                  <a:lnTo>
                    <a:pt x="1275" y="128"/>
                  </a:lnTo>
                  <a:lnTo>
                    <a:pt x="1272" y="133"/>
                  </a:lnTo>
                  <a:lnTo>
                    <a:pt x="1270" y="136"/>
                  </a:lnTo>
                  <a:lnTo>
                    <a:pt x="1268" y="139"/>
                  </a:lnTo>
                  <a:lnTo>
                    <a:pt x="1266" y="140"/>
                  </a:lnTo>
                  <a:lnTo>
                    <a:pt x="1264" y="143"/>
                  </a:lnTo>
                  <a:lnTo>
                    <a:pt x="1262" y="144"/>
                  </a:lnTo>
                  <a:lnTo>
                    <a:pt x="1261" y="146"/>
                  </a:lnTo>
                  <a:lnTo>
                    <a:pt x="1259" y="147"/>
                  </a:lnTo>
                  <a:lnTo>
                    <a:pt x="1257" y="148"/>
                  </a:lnTo>
                  <a:lnTo>
                    <a:pt x="1255" y="148"/>
                  </a:lnTo>
                  <a:lnTo>
                    <a:pt x="1253" y="149"/>
                  </a:lnTo>
                  <a:lnTo>
                    <a:pt x="1251" y="150"/>
                  </a:lnTo>
                  <a:lnTo>
                    <a:pt x="1249" y="149"/>
                  </a:lnTo>
                  <a:lnTo>
                    <a:pt x="1247" y="148"/>
                  </a:lnTo>
                  <a:lnTo>
                    <a:pt x="1246" y="148"/>
                  </a:lnTo>
                  <a:lnTo>
                    <a:pt x="1244" y="147"/>
                  </a:lnTo>
                  <a:lnTo>
                    <a:pt x="1242" y="145"/>
                  </a:lnTo>
                  <a:lnTo>
                    <a:pt x="1240" y="144"/>
                  </a:lnTo>
                  <a:lnTo>
                    <a:pt x="1239" y="142"/>
                  </a:lnTo>
                  <a:lnTo>
                    <a:pt x="1237" y="140"/>
                  </a:lnTo>
                  <a:lnTo>
                    <a:pt x="1236" y="136"/>
                  </a:lnTo>
                  <a:lnTo>
                    <a:pt x="1234" y="134"/>
                  </a:lnTo>
                  <a:lnTo>
                    <a:pt x="1231" y="132"/>
                  </a:lnTo>
                  <a:lnTo>
                    <a:pt x="1229" y="126"/>
                  </a:lnTo>
                  <a:lnTo>
                    <a:pt x="1227" y="124"/>
                  </a:lnTo>
                  <a:lnTo>
                    <a:pt x="1226" y="122"/>
                  </a:lnTo>
                  <a:lnTo>
                    <a:pt x="1224" y="117"/>
                  </a:lnTo>
                  <a:lnTo>
                    <a:pt x="1222" y="114"/>
                  </a:lnTo>
                  <a:lnTo>
                    <a:pt x="1220" y="109"/>
                  </a:lnTo>
                  <a:lnTo>
                    <a:pt x="1219" y="106"/>
                  </a:lnTo>
                  <a:lnTo>
                    <a:pt x="1217" y="101"/>
                  </a:lnTo>
                  <a:lnTo>
                    <a:pt x="1216" y="96"/>
                  </a:lnTo>
                  <a:lnTo>
                    <a:pt x="1214" y="92"/>
                  </a:lnTo>
                  <a:lnTo>
                    <a:pt x="1212" y="88"/>
                  </a:lnTo>
                  <a:lnTo>
                    <a:pt x="1210" y="84"/>
                  </a:lnTo>
                  <a:lnTo>
                    <a:pt x="1209" y="79"/>
                  </a:lnTo>
                  <a:lnTo>
                    <a:pt x="1207" y="74"/>
                  </a:lnTo>
                  <a:lnTo>
                    <a:pt x="1207" y="74"/>
                  </a:lnTo>
                  <a:lnTo>
                    <a:pt x="1206" y="70"/>
                  </a:lnTo>
                  <a:lnTo>
                    <a:pt x="1204" y="65"/>
                  </a:lnTo>
                  <a:lnTo>
                    <a:pt x="1202" y="60"/>
                  </a:lnTo>
                  <a:lnTo>
                    <a:pt x="1200" y="55"/>
                  </a:lnTo>
                  <a:lnTo>
                    <a:pt x="1199" y="52"/>
                  </a:lnTo>
                  <a:lnTo>
                    <a:pt x="1198" y="47"/>
                  </a:lnTo>
                  <a:lnTo>
                    <a:pt x="1195" y="43"/>
                  </a:lnTo>
                  <a:lnTo>
                    <a:pt x="1193" y="39"/>
                  </a:lnTo>
                  <a:lnTo>
                    <a:pt x="1191" y="35"/>
                  </a:lnTo>
                  <a:lnTo>
                    <a:pt x="1190" y="30"/>
                  </a:lnTo>
                  <a:lnTo>
                    <a:pt x="1187" y="27"/>
                  </a:lnTo>
                  <a:lnTo>
                    <a:pt x="1186" y="22"/>
                  </a:lnTo>
                  <a:lnTo>
                    <a:pt x="1185" y="19"/>
                  </a:lnTo>
                  <a:lnTo>
                    <a:pt x="1182" y="16"/>
                  </a:lnTo>
                  <a:lnTo>
                    <a:pt x="1182" y="14"/>
                  </a:lnTo>
                  <a:lnTo>
                    <a:pt x="1179" y="11"/>
                  </a:lnTo>
                  <a:lnTo>
                    <a:pt x="1178" y="9"/>
                  </a:lnTo>
                  <a:lnTo>
                    <a:pt x="1175" y="6"/>
                  </a:lnTo>
                  <a:lnTo>
                    <a:pt x="1173" y="6"/>
                  </a:lnTo>
                  <a:lnTo>
                    <a:pt x="1171" y="3"/>
                  </a:lnTo>
                  <a:lnTo>
                    <a:pt x="1171" y="1"/>
                  </a:lnTo>
                  <a:lnTo>
                    <a:pt x="1169" y="1"/>
                  </a:lnTo>
                  <a:lnTo>
                    <a:pt x="1168" y="0"/>
                  </a:lnTo>
                  <a:lnTo>
                    <a:pt x="1165" y="0"/>
                  </a:lnTo>
                  <a:lnTo>
                    <a:pt x="1163" y="0"/>
                  </a:lnTo>
                  <a:lnTo>
                    <a:pt x="1162" y="0"/>
                  </a:lnTo>
                  <a:lnTo>
                    <a:pt x="1159" y="0"/>
                  </a:lnTo>
                  <a:lnTo>
                    <a:pt x="1158" y="1"/>
                  </a:lnTo>
                  <a:lnTo>
                    <a:pt x="1156" y="1"/>
                  </a:lnTo>
                  <a:lnTo>
                    <a:pt x="1154" y="3"/>
                  </a:lnTo>
                  <a:lnTo>
                    <a:pt x="1152" y="4"/>
                  </a:lnTo>
                  <a:lnTo>
                    <a:pt x="1149" y="6"/>
                  </a:lnTo>
                  <a:lnTo>
                    <a:pt x="1148" y="8"/>
                  </a:lnTo>
                  <a:lnTo>
                    <a:pt x="1146" y="10"/>
                  </a:lnTo>
                  <a:lnTo>
                    <a:pt x="1144" y="14"/>
                  </a:lnTo>
                  <a:lnTo>
                    <a:pt x="1143" y="16"/>
                  </a:lnTo>
                  <a:lnTo>
                    <a:pt x="1141" y="19"/>
                  </a:lnTo>
                  <a:lnTo>
                    <a:pt x="1138" y="22"/>
                  </a:lnTo>
                  <a:lnTo>
                    <a:pt x="1136" y="25"/>
                  </a:lnTo>
                  <a:lnTo>
                    <a:pt x="1134" y="28"/>
                  </a:lnTo>
                  <a:lnTo>
                    <a:pt x="1132" y="33"/>
                  </a:lnTo>
                  <a:lnTo>
                    <a:pt x="1131" y="37"/>
                  </a:lnTo>
                  <a:lnTo>
                    <a:pt x="1129" y="41"/>
                  </a:lnTo>
                  <a:lnTo>
                    <a:pt x="1127" y="45"/>
                  </a:lnTo>
                  <a:lnTo>
                    <a:pt x="1126" y="49"/>
                  </a:lnTo>
                  <a:lnTo>
                    <a:pt x="1124" y="54"/>
                  </a:lnTo>
                  <a:lnTo>
                    <a:pt x="1121" y="60"/>
                  </a:lnTo>
                  <a:lnTo>
                    <a:pt x="1119" y="63"/>
                  </a:lnTo>
                  <a:lnTo>
                    <a:pt x="1117" y="68"/>
                  </a:lnTo>
                  <a:lnTo>
                    <a:pt x="1116" y="72"/>
                  </a:lnTo>
                  <a:lnTo>
                    <a:pt x="1112" y="79"/>
                  </a:lnTo>
                  <a:lnTo>
                    <a:pt x="1111" y="82"/>
                  </a:lnTo>
                  <a:lnTo>
                    <a:pt x="1109" y="87"/>
                  </a:lnTo>
                  <a:lnTo>
                    <a:pt x="1107" y="92"/>
                  </a:lnTo>
                  <a:lnTo>
                    <a:pt x="1104" y="96"/>
                  </a:lnTo>
                  <a:lnTo>
                    <a:pt x="1103" y="101"/>
                  </a:lnTo>
                  <a:lnTo>
                    <a:pt x="1100" y="106"/>
                  </a:lnTo>
                  <a:lnTo>
                    <a:pt x="1098" y="109"/>
                  </a:lnTo>
                  <a:lnTo>
                    <a:pt x="1097" y="114"/>
                  </a:lnTo>
                  <a:lnTo>
                    <a:pt x="1095" y="117"/>
                  </a:lnTo>
                  <a:lnTo>
                    <a:pt x="1094" y="120"/>
                  </a:lnTo>
                  <a:lnTo>
                    <a:pt x="1092" y="124"/>
                  </a:lnTo>
                  <a:lnTo>
                    <a:pt x="1090" y="128"/>
                  </a:lnTo>
                  <a:lnTo>
                    <a:pt x="1088" y="130"/>
                  </a:lnTo>
                  <a:lnTo>
                    <a:pt x="1086" y="133"/>
                  </a:lnTo>
                  <a:lnTo>
                    <a:pt x="1084" y="136"/>
                  </a:lnTo>
                  <a:lnTo>
                    <a:pt x="1081" y="140"/>
                  </a:lnTo>
                  <a:lnTo>
                    <a:pt x="1080" y="142"/>
                  </a:lnTo>
                  <a:lnTo>
                    <a:pt x="1078" y="144"/>
                  </a:lnTo>
                  <a:lnTo>
                    <a:pt x="1076" y="146"/>
                  </a:lnTo>
                  <a:lnTo>
                    <a:pt x="1074" y="147"/>
                  </a:lnTo>
                  <a:lnTo>
                    <a:pt x="1073" y="148"/>
                  </a:lnTo>
                  <a:lnTo>
                    <a:pt x="1071" y="150"/>
                  </a:lnTo>
                  <a:lnTo>
                    <a:pt x="1069" y="150"/>
                  </a:lnTo>
                  <a:lnTo>
                    <a:pt x="1066" y="151"/>
                  </a:lnTo>
                  <a:lnTo>
                    <a:pt x="1065" y="151"/>
                  </a:lnTo>
                  <a:lnTo>
                    <a:pt x="1063" y="151"/>
                  </a:lnTo>
                  <a:lnTo>
                    <a:pt x="1061" y="150"/>
                  </a:lnTo>
                  <a:lnTo>
                    <a:pt x="1060" y="150"/>
                  </a:lnTo>
                  <a:lnTo>
                    <a:pt x="1058" y="148"/>
                  </a:lnTo>
                  <a:lnTo>
                    <a:pt x="1056" y="147"/>
                  </a:lnTo>
                  <a:lnTo>
                    <a:pt x="1054" y="145"/>
                  </a:lnTo>
                  <a:lnTo>
                    <a:pt x="1053" y="144"/>
                  </a:lnTo>
                  <a:lnTo>
                    <a:pt x="1050" y="142"/>
                  </a:lnTo>
                  <a:lnTo>
                    <a:pt x="1049" y="139"/>
                  </a:lnTo>
                  <a:lnTo>
                    <a:pt x="1046" y="136"/>
                  </a:lnTo>
                  <a:lnTo>
                    <a:pt x="1044" y="133"/>
                  </a:lnTo>
                  <a:lnTo>
                    <a:pt x="1043" y="128"/>
                  </a:lnTo>
                  <a:lnTo>
                    <a:pt x="1042" y="126"/>
                  </a:lnTo>
                  <a:lnTo>
                    <a:pt x="1040" y="123"/>
                  </a:lnTo>
                  <a:lnTo>
                    <a:pt x="1038" y="119"/>
                  </a:lnTo>
                  <a:lnTo>
                    <a:pt x="1036" y="116"/>
                  </a:lnTo>
                  <a:lnTo>
                    <a:pt x="1034" y="112"/>
                  </a:lnTo>
                  <a:lnTo>
                    <a:pt x="1033" y="108"/>
                  </a:lnTo>
                  <a:lnTo>
                    <a:pt x="1032" y="104"/>
                  </a:lnTo>
                  <a:lnTo>
                    <a:pt x="1030" y="98"/>
                  </a:lnTo>
                  <a:lnTo>
                    <a:pt x="1027" y="95"/>
                  </a:lnTo>
                  <a:lnTo>
                    <a:pt x="1027" y="90"/>
                  </a:lnTo>
                  <a:lnTo>
                    <a:pt x="1024" y="85"/>
                  </a:lnTo>
                  <a:lnTo>
                    <a:pt x="1023" y="80"/>
                  </a:lnTo>
                  <a:lnTo>
                    <a:pt x="1021" y="77"/>
                  </a:lnTo>
                  <a:lnTo>
                    <a:pt x="1021" y="76"/>
                  </a:lnTo>
                  <a:lnTo>
                    <a:pt x="1020" y="72"/>
                  </a:lnTo>
                  <a:lnTo>
                    <a:pt x="1017" y="68"/>
                  </a:lnTo>
                  <a:lnTo>
                    <a:pt x="1016" y="63"/>
                  </a:lnTo>
                  <a:lnTo>
                    <a:pt x="1014" y="57"/>
                  </a:lnTo>
                  <a:lnTo>
                    <a:pt x="1013" y="54"/>
                  </a:lnTo>
                  <a:lnTo>
                    <a:pt x="1012" y="49"/>
                  </a:lnTo>
                  <a:lnTo>
                    <a:pt x="1010" y="45"/>
                  </a:lnTo>
                  <a:lnTo>
                    <a:pt x="1008" y="40"/>
                  </a:lnTo>
                  <a:lnTo>
                    <a:pt x="1005" y="36"/>
                  </a:lnTo>
                  <a:lnTo>
                    <a:pt x="1003" y="33"/>
                  </a:lnTo>
                  <a:lnTo>
                    <a:pt x="1002" y="28"/>
                  </a:lnTo>
                  <a:lnTo>
                    <a:pt x="1000" y="25"/>
                  </a:lnTo>
                  <a:lnTo>
                    <a:pt x="998" y="22"/>
                  </a:lnTo>
                  <a:lnTo>
                    <a:pt x="997" y="19"/>
                  </a:lnTo>
                  <a:lnTo>
                    <a:pt x="995" y="16"/>
                  </a:lnTo>
                  <a:lnTo>
                    <a:pt x="993" y="14"/>
                  </a:lnTo>
                  <a:lnTo>
                    <a:pt x="992" y="11"/>
                  </a:lnTo>
                  <a:lnTo>
                    <a:pt x="990" y="8"/>
                  </a:lnTo>
                  <a:lnTo>
                    <a:pt x="988" y="7"/>
                  </a:lnTo>
                  <a:lnTo>
                    <a:pt x="986" y="5"/>
                  </a:lnTo>
                  <a:lnTo>
                    <a:pt x="984" y="4"/>
                  </a:lnTo>
                  <a:lnTo>
                    <a:pt x="982" y="3"/>
                  </a:lnTo>
                  <a:lnTo>
                    <a:pt x="980" y="2"/>
                  </a:lnTo>
                  <a:lnTo>
                    <a:pt x="978" y="1"/>
                  </a:lnTo>
                  <a:lnTo>
                    <a:pt x="976" y="1"/>
                  </a:lnTo>
                  <a:lnTo>
                    <a:pt x="976" y="1"/>
                  </a:lnTo>
                  <a:lnTo>
                    <a:pt x="974" y="1"/>
                  </a:lnTo>
                  <a:lnTo>
                    <a:pt x="972" y="3"/>
                  </a:lnTo>
                  <a:lnTo>
                    <a:pt x="970" y="3"/>
                  </a:lnTo>
                  <a:lnTo>
                    <a:pt x="968" y="5"/>
                  </a:lnTo>
                  <a:lnTo>
                    <a:pt x="965" y="6"/>
                  </a:lnTo>
                  <a:lnTo>
                    <a:pt x="964" y="8"/>
                  </a:lnTo>
                  <a:lnTo>
                    <a:pt x="962" y="9"/>
                  </a:lnTo>
                  <a:lnTo>
                    <a:pt x="960" y="14"/>
                  </a:lnTo>
                  <a:lnTo>
                    <a:pt x="958" y="15"/>
                  </a:lnTo>
                  <a:lnTo>
                    <a:pt x="956" y="18"/>
                  </a:lnTo>
                  <a:lnTo>
                    <a:pt x="954" y="19"/>
                  </a:lnTo>
                  <a:lnTo>
                    <a:pt x="952" y="22"/>
                  </a:lnTo>
                  <a:lnTo>
                    <a:pt x="950" y="27"/>
                  </a:lnTo>
                  <a:lnTo>
                    <a:pt x="950" y="31"/>
                  </a:lnTo>
                  <a:lnTo>
                    <a:pt x="946" y="34"/>
                  </a:lnTo>
                  <a:lnTo>
                    <a:pt x="945" y="38"/>
                  </a:lnTo>
                  <a:lnTo>
                    <a:pt x="942" y="43"/>
                  </a:lnTo>
                  <a:lnTo>
                    <a:pt x="941" y="47"/>
                  </a:lnTo>
                  <a:lnTo>
                    <a:pt x="939" y="52"/>
                  </a:lnTo>
                  <a:lnTo>
                    <a:pt x="937" y="55"/>
                  </a:lnTo>
                  <a:lnTo>
                    <a:pt x="935" y="60"/>
                  </a:lnTo>
                  <a:lnTo>
                    <a:pt x="933" y="64"/>
                  </a:lnTo>
                  <a:lnTo>
                    <a:pt x="930" y="69"/>
                  </a:lnTo>
                  <a:lnTo>
                    <a:pt x="928" y="74"/>
                  </a:lnTo>
                  <a:lnTo>
                    <a:pt x="927" y="77"/>
                  </a:lnTo>
                  <a:lnTo>
                    <a:pt x="925" y="81"/>
                  </a:lnTo>
                  <a:lnTo>
                    <a:pt x="923" y="86"/>
                  </a:lnTo>
                  <a:lnTo>
                    <a:pt x="921" y="90"/>
                  </a:lnTo>
                  <a:lnTo>
                    <a:pt x="920" y="95"/>
                  </a:lnTo>
                  <a:lnTo>
                    <a:pt x="918" y="100"/>
                  </a:lnTo>
                  <a:lnTo>
                    <a:pt x="916" y="104"/>
                  </a:lnTo>
                  <a:lnTo>
                    <a:pt x="914" y="108"/>
                  </a:lnTo>
                  <a:lnTo>
                    <a:pt x="911" y="112"/>
                  </a:lnTo>
                  <a:lnTo>
                    <a:pt x="909" y="116"/>
                  </a:lnTo>
                  <a:lnTo>
                    <a:pt x="908" y="120"/>
                  </a:lnTo>
                  <a:lnTo>
                    <a:pt x="906" y="123"/>
                  </a:lnTo>
                  <a:lnTo>
                    <a:pt x="904" y="126"/>
                  </a:lnTo>
                  <a:lnTo>
                    <a:pt x="903" y="128"/>
                  </a:lnTo>
                  <a:lnTo>
                    <a:pt x="901" y="133"/>
                  </a:lnTo>
                  <a:lnTo>
                    <a:pt x="899" y="136"/>
                  </a:lnTo>
                  <a:lnTo>
                    <a:pt x="897" y="139"/>
                  </a:lnTo>
                  <a:lnTo>
                    <a:pt x="896" y="141"/>
                  </a:lnTo>
                  <a:lnTo>
                    <a:pt x="894" y="143"/>
                  </a:lnTo>
                  <a:lnTo>
                    <a:pt x="890" y="145"/>
                  </a:lnTo>
                  <a:lnTo>
                    <a:pt x="889" y="146"/>
                  </a:lnTo>
                  <a:lnTo>
                    <a:pt x="887" y="148"/>
                  </a:lnTo>
                  <a:lnTo>
                    <a:pt x="886" y="148"/>
                  </a:lnTo>
                  <a:lnTo>
                    <a:pt x="883" y="150"/>
                  </a:lnTo>
                  <a:lnTo>
                    <a:pt x="881" y="150"/>
                  </a:lnTo>
                  <a:lnTo>
                    <a:pt x="879" y="150"/>
                  </a:lnTo>
                  <a:lnTo>
                    <a:pt x="879" y="150"/>
                  </a:lnTo>
                  <a:lnTo>
                    <a:pt x="876" y="149"/>
                  </a:lnTo>
                  <a:lnTo>
                    <a:pt x="874" y="148"/>
                  </a:lnTo>
                  <a:lnTo>
                    <a:pt x="872" y="147"/>
                  </a:lnTo>
                  <a:lnTo>
                    <a:pt x="871" y="146"/>
                  </a:lnTo>
                  <a:lnTo>
                    <a:pt x="870" y="144"/>
                  </a:lnTo>
                  <a:lnTo>
                    <a:pt x="867" y="143"/>
                  </a:lnTo>
                  <a:lnTo>
                    <a:pt x="866" y="141"/>
                  </a:lnTo>
                  <a:lnTo>
                    <a:pt x="864" y="139"/>
                  </a:lnTo>
                  <a:lnTo>
                    <a:pt x="862" y="134"/>
                  </a:lnTo>
                  <a:lnTo>
                    <a:pt x="860" y="132"/>
                  </a:lnTo>
                  <a:lnTo>
                    <a:pt x="857" y="128"/>
                  </a:lnTo>
                  <a:lnTo>
                    <a:pt x="856" y="125"/>
                  </a:lnTo>
                  <a:lnTo>
                    <a:pt x="855" y="122"/>
                  </a:lnTo>
                  <a:lnTo>
                    <a:pt x="853" y="118"/>
                  </a:lnTo>
                  <a:lnTo>
                    <a:pt x="851" y="115"/>
                  </a:lnTo>
                  <a:lnTo>
                    <a:pt x="849" y="110"/>
                  </a:lnTo>
                  <a:lnTo>
                    <a:pt x="849" y="107"/>
                  </a:lnTo>
                  <a:lnTo>
                    <a:pt x="846" y="102"/>
                  </a:lnTo>
                  <a:lnTo>
                    <a:pt x="844" y="98"/>
                  </a:lnTo>
                  <a:lnTo>
                    <a:pt x="842" y="93"/>
                  </a:lnTo>
                  <a:lnTo>
                    <a:pt x="842" y="88"/>
                  </a:lnTo>
                  <a:lnTo>
                    <a:pt x="840" y="84"/>
                  </a:lnTo>
                  <a:lnTo>
                    <a:pt x="836" y="80"/>
                  </a:lnTo>
                  <a:lnTo>
                    <a:pt x="835" y="76"/>
                  </a:lnTo>
                  <a:lnTo>
                    <a:pt x="835" y="76"/>
                  </a:lnTo>
                  <a:lnTo>
                    <a:pt x="833" y="71"/>
                  </a:lnTo>
                  <a:lnTo>
                    <a:pt x="832" y="66"/>
                  </a:lnTo>
                  <a:lnTo>
                    <a:pt x="830" y="62"/>
                  </a:lnTo>
                  <a:lnTo>
                    <a:pt x="829" y="57"/>
                  </a:lnTo>
                  <a:lnTo>
                    <a:pt x="828" y="52"/>
                  </a:lnTo>
                  <a:lnTo>
                    <a:pt x="826" y="48"/>
                  </a:lnTo>
                  <a:lnTo>
                    <a:pt x="824" y="44"/>
                  </a:lnTo>
                  <a:lnTo>
                    <a:pt x="822" y="39"/>
                  </a:lnTo>
                  <a:lnTo>
                    <a:pt x="820" y="35"/>
                  </a:lnTo>
                  <a:lnTo>
                    <a:pt x="818" y="31"/>
                  </a:lnTo>
                  <a:lnTo>
                    <a:pt x="816" y="28"/>
                  </a:lnTo>
                  <a:lnTo>
                    <a:pt x="814" y="24"/>
                  </a:lnTo>
                  <a:lnTo>
                    <a:pt x="813" y="20"/>
                  </a:lnTo>
                  <a:lnTo>
                    <a:pt x="810" y="17"/>
                  </a:lnTo>
                  <a:lnTo>
                    <a:pt x="810" y="14"/>
                  </a:lnTo>
                  <a:lnTo>
                    <a:pt x="808" y="11"/>
                  </a:lnTo>
                  <a:lnTo>
                    <a:pt x="806" y="9"/>
                  </a:lnTo>
                  <a:lnTo>
                    <a:pt x="804" y="7"/>
                  </a:lnTo>
                  <a:lnTo>
                    <a:pt x="803" y="6"/>
                  </a:lnTo>
                  <a:lnTo>
                    <a:pt x="801" y="4"/>
                  </a:lnTo>
                  <a:lnTo>
                    <a:pt x="799" y="3"/>
                  </a:lnTo>
                  <a:lnTo>
                    <a:pt x="798" y="1"/>
                  </a:lnTo>
                  <a:lnTo>
                    <a:pt x="796" y="1"/>
                  </a:lnTo>
                  <a:lnTo>
                    <a:pt x="794" y="0"/>
                  </a:lnTo>
                  <a:lnTo>
                    <a:pt x="792" y="0"/>
                  </a:lnTo>
                  <a:lnTo>
                    <a:pt x="789" y="0"/>
                  </a:lnTo>
                  <a:lnTo>
                    <a:pt x="788" y="0"/>
                  </a:lnTo>
                  <a:lnTo>
                    <a:pt x="786" y="1"/>
                  </a:lnTo>
                  <a:lnTo>
                    <a:pt x="784" y="1"/>
                  </a:lnTo>
                  <a:lnTo>
                    <a:pt x="783" y="3"/>
                  </a:lnTo>
                  <a:lnTo>
                    <a:pt x="780" y="5"/>
                  </a:lnTo>
                  <a:lnTo>
                    <a:pt x="778" y="6"/>
                  </a:lnTo>
                  <a:lnTo>
                    <a:pt x="776" y="8"/>
                  </a:lnTo>
                  <a:lnTo>
                    <a:pt x="774" y="11"/>
                  </a:lnTo>
                  <a:lnTo>
                    <a:pt x="772" y="14"/>
                  </a:lnTo>
                  <a:lnTo>
                    <a:pt x="771" y="16"/>
                  </a:lnTo>
                  <a:lnTo>
                    <a:pt x="769" y="19"/>
                  </a:lnTo>
                  <a:lnTo>
                    <a:pt x="767" y="22"/>
                  </a:lnTo>
                  <a:lnTo>
                    <a:pt x="766" y="25"/>
                  </a:lnTo>
                  <a:lnTo>
                    <a:pt x="764" y="30"/>
                  </a:lnTo>
                  <a:lnTo>
                    <a:pt x="761" y="34"/>
                  </a:lnTo>
                  <a:lnTo>
                    <a:pt x="759" y="38"/>
                  </a:lnTo>
                  <a:lnTo>
                    <a:pt x="757" y="42"/>
                  </a:lnTo>
                  <a:lnTo>
                    <a:pt x="755" y="45"/>
                  </a:lnTo>
                  <a:lnTo>
                    <a:pt x="755" y="50"/>
                  </a:lnTo>
                  <a:lnTo>
                    <a:pt x="752" y="54"/>
                  </a:lnTo>
                  <a:lnTo>
                    <a:pt x="750" y="60"/>
                  </a:lnTo>
                  <a:lnTo>
                    <a:pt x="749" y="64"/>
                  </a:lnTo>
                  <a:lnTo>
                    <a:pt x="746" y="68"/>
                  </a:lnTo>
                  <a:lnTo>
                    <a:pt x="745" y="73"/>
                  </a:lnTo>
                  <a:lnTo>
                    <a:pt x="740" y="80"/>
                  </a:lnTo>
                  <a:lnTo>
                    <a:pt x="738" y="85"/>
                  </a:lnTo>
                  <a:lnTo>
                    <a:pt x="736" y="90"/>
                  </a:lnTo>
                  <a:lnTo>
                    <a:pt x="734" y="93"/>
                  </a:lnTo>
                  <a:lnTo>
                    <a:pt x="731" y="98"/>
                  </a:lnTo>
                  <a:lnTo>
                    <a:pt x="730" y="104"/>
                  </a:lnTo>
                  <a:lnTo>
                    <a:pt x="728" y="107"/>
                  </a:lnTo>
                  <a:lnTo>
                    <a:pt x="727" y="112"/>
                  </a:lnTo>
                  <a:lnTo>
                    <a:pt x="723" y="116"/>
                  </a:lnTo>
                  <a:lnTo>
                    <a:pt x="722" y="120"/>
                  </a:lnTo>
                  <a:lnTo>
                    <a:pt x="720" y="123"/>
                  </a:lnTo>
                  <a:lnTo>
                    <a:pt x="718" y="126"/>
                  </a:lnTo>
                  <a:lnTo>
                    <a:pt x="716" y="130"/>
                  </a:lnTo>
                  <a:lnTo>
                    <a:pt x="716" y="133"/>
                  </a:lnTo>
                  <a:lnTo>
                    <a:pt x="713" y="136"/>
                  </a:lnTo>
                  <a:lnTo>
                    <a:pt x="711" y="140"/>
                  </a:lnTo>
                  <a:lnTo>
                    <a:pt x="710" y="143"/>
                  </a:lnTo>
                  <a:lnTo>
                    <a:pt x="707" y="145"/>
                  </a:lnTo>
                  <a:lnTo>
                    <a:pt x="704" y="147"/>
                  </a:lnTo>
                  <a:lnTo>
                    <a:pt x="703" y="148"/>
                  </a:lnTo>
                  <a:lnTo>
                    <a:pt x="701" y="150"/>
                  </a:lnTo>
                  <a:lnTo>
                    <a:pt x="699" y="151"/>
                  </a:lnTo>
                  <a:lnTo>
                    <a:pt x="697" y="152"/>
                  </a:lnTo>
                  <a:lnTo>
                    <a:pt x="696" y="153"/>
                  </a:lnTo>
                  <a:lnTo>
                    <a:pt x="694" y="153"/>
                  </a:lnTo>
                  <a:lnTo>
                    <a:pt x="693" y="153"/>
                  </a:lnTo>
                  <a:lnTo>
                    <a:pt x="691" y="153"/>
                  </a:lnTo>
                  <a:lnTo>
                    <a:pt x="687" y="153"/>
                  </a:lnTo>
                  <a:lnTo>
                    <a:pt x="687" y="152"/>
                  </a:lnTo>
                  <a:lnTo>
                    <a:pt x="685" y="151"/>
                  </a:lnTo>
                  <a:lnTo>
                    <a:pt x="683" y="150"/>
                  </a:lnTo>
                  <a:lnTo>
                    <a:pt x="681" y="148"/>
                  </a:lnTo>
                  <a:lnTo>
                    <a:pt x="679" y="146"/>
                  </a:lnTo>
                  <a:lnTo>
                    <a:pt x="678" y="144"/>
                  </a:lnTo>
                  <a:lnTo>
                    <a:pt x="676" y="142"/>
                  </a:lnTo>
                  <a:lnTo>
                    <a:pt x="674" y="139"/>
                  </a:lnTo>
                  <a:lnTo>
                    <a:pt x="673" y="136"/>
                  </a:lnTo>
                  <a:lnTo>
                    <a:pt x="669" y="130"/>
                  </a:lnTo>
                  <a:lnTo>
                    <a:pt x="669" y="128"/>
                  </a:lnTo>
                  <a:lnTo>
                    <a:pt x="667" y="125"/>
                  </a:lnTo>
                  <a:lnTo>
                    <a:pt x="665" y="122"/>
                  </a:lnTo>
                  <a:lnTo>
                    <a:pt x="664" y="118"/>
                  </a:lnTo>
                  <a:lnTo>
                    <a:pt x="662" y="114"/>
                  </a:lnTo>
                  <a:lnTo>
                    <a:pt x="660" y="110"/>
                  </a:lnTo>
                  <a:lnTo>
                    <a:pt x="658" y="106"/>
                  </a:lnTo>
                  <a:lnTo>
                    <a:pt x="657" y="101"/>
                  </a:lnTo>
                  <a:lnTo>
                    <a:pt x="655" y="96"/>
                  </a:lnTo>
                  <a:lnTo>
                    <a:pt x="654" y="92"/>
                  </a:lnTo>
                  <a:lnTo>
                    <a:pt x="652" y="87"/>
                  </a:lnTo>
                  <a:lnTo>
                    <a:pt x="650" y="82"/>
                  </a:lnTo>
                  <a:lnTo>
                    <a:pt x="648" y="79"/>
                  </a:lnTo>
                  <a:lnTo>
                    <a:pt x="648" y="79"/>
                  </a:lnTo>
                  <a:lnTo>
                    <a:pt x="646" y="74"/>
                  </a:lnTo>
                  <a:lnTo>
                    <a:pt x="644" y="69"/>
                  </a:lnTo>
                  <a:lnTo>
                    <a:pt x="643" y="64"/>
                  </a:lnTo>
                  <a:lnTo>
                    <a:pt x="641" y="60"/>
                  </a:lnTo>
                  <a:lnTo>
                    <a:pt x="640" y="55"/>
                  </a:lnTo>
                  <a:lnTo>
                    <a:pt x="638" y="52"/>
                  </a:lnTo>
                  <a:lnTo>
                    <a:pt x="637" y="47"/>
                  </a:lnTo>
                  <a:lnTo>
                    <a:pt x="634" y="43"/>
                  </a:lnTo>
                  <a:lnTo>
                    <a:pt x="633" y="39"/>
                  </a:lnTo>
                  <a:lnTo>
                    <a:pt x="630" y="35"/>
                  </a:lnTo>
                  <a:lnTo>
                    <a:pt x="630" y="31"/>
                  </a:lnTo>
                  <a:lnTo>
                    <a:pt x="628" y="27"/>
                  </a:lnTo>
                  <a:lnTo>
                    <a:pt x="625" y="24"/>
                  </a:lnTo>
                  <a:lnTo>
                    <a:pt x="623" y="22"/>
                  </a:lnTo>
                  <a:lnTo>
                    <a:pt x="622" y="18"/>
                  </a:lnTo>
                  <a:lnTo>
                    <a:pt x="620" y="15"/>
                  </a:lnTo>
                  <a:lnTo>
                    <a:pt x="618" y="14"/>
                  </a:lnTo>
                  <a:lnTo>
                    <a:pt x="618" y="11"/>
                  </a:lnTo>
                  <a:lnTo>
                    <a:pt x="615" y="9"/>
                  </a:lnTo>
                  <a:lnTo>
                    <a:pt x="613" y="8"/>
                  </a:lnTo>
                  <a:lnTo>
                    <a:pt x="611" y="6"/>
                  </a:lnTo>
                  <a:lnTo>
                    <a:pt x="609" y="5"/>
                  </a:lnTo>
                  <a:lnTo>
                    <a:pt x="608" y="5"/>
                  </a:lnTo>
                  <a:lnTo>
                    <a:pt x="606" y="3"/>
                  </a:lnTo>
                  <a:lnTo>
                    <a:pt x="604" y="3"/>
                  </a:lnTo>
                  <a:lnTo>
                    <a:pt x="603" y="3"/>
                  </a:lnTo>
                  <a:lnTo>
                    <a:pt x="601" y="5"/>
                  </a:lnTo>
                  <a:lnTo>
                    <a:pt x="599" y="5"/>
                  </a:lnTo>
                  <a:lnTo>
                    <a:pt x="598" y="6"/>
                  </a:lnTo>
                  <a:lnTo>
                    <a:pt x="595" y="7"/>
                  </a:lnTo>
                  <a:lnTo>
                    <a:pt x="592" y="8"/>
                  </a:lnTo>
                  <a:lnTo>
                    <a:pt x="591" y="9"/>
                  </a:lnTo>
                  <a:lnTo>
                    <a:pt x="589" y="12"/>
                  </a:lnTo>
                  <a:lnTo>
                    <a:pt x="586" y="14"/>
                  </a:lnTo>
                  <a:lnTo>
                    <a:pt x="585" y="17"/>
                  </a:lnTo>
                  <a:lnTo>
                    <a:pt x="583" y="19"/>
                  </a:lnTo>
                  <a:lnTo>
                    <a:pt x="581" y="22"/>
                  </a:lnTo>
                  <a:lnTo>
                    <a:pt x="580" y="25"/>
                  </a:lnTo>
                  <a:lnTo>
                    <a:pt x="578" y="30"/>
                  </a:lnTo>
                  <a:lnTo>
                    <a:pt x="576" y="34"/>
                  </a:lnTo>
                  <a:lnTo>
                    <a:pt x="574" y="37"/>
                  </a:lnTo>
                  <a:lnTo>
                    <a:pt x="572" y="41"/>
                  </a:lnTo>
                  <a:lnTo>
                    <a:pt x="571" y="45"/>
                  </a:lnTo>
                  <a:lnTo>
                    <a:pt x="568" y="49"/>
                  </a:lnTo>
                  <a:lnTo>
                    <a:pt x="566" y="54"/>
                  </a:lnTo>
                  <a:lnTo>
                    <a:pt x="564" y="57"/>
                  </a:lnTo>
                  <a:lnTo>
                    <a:pt x="562" y="63"/>
                  </a:lnTo>
                  <a:lnTo>
                    <a:pt x="560" y="68"/>
                  </a:lnTo>
                  <a:lnTo>
                    <a:pt x="558" y="72"/>
                  </a:lnTo>
                  <a:lnTo>
                    <a:pt x="556" y="76"/>
                  </a:lnTo>
                  <a:lnTo>
                    <a:pt x="554" y="80"/>
                  </a:lnTo>
                  <a:lnTo>
                    <a:pt x="552" y="84"/>
                  </a:lnTo>
                  <a:lnTo>
                    <a:pt x="550" y="90"/>
                  </a:lnTo>
                  <a:lnTo>
                    <a:pt x="548" y="93"/>
                  </a:lnTo>
                  <a:lnTo>
                    <a:pt x="546" y="98"/>
                  </a:lnTo>
                  <a:lnTo>
                    <a:pt x="544" y="102"/>
                  </a:lnTo>
                  <a:lnTo>
                    <a:pt x="543" y="107"/>
                  </a:lnTo>
                  <a:lnTo>
                    <a:pt x="541" y="111"/>
                  </a:lnTo>
                  <a:lnTo>
                    <a:pt x="540" y="115"/>
                  </a:lnTo>
                  <a:lnTo>
                    <a:pt x="537" y="118"/>
                  </a:lnTo>
                  <a:lnTo>
                    <a:pt x="535" y="122"/>
                  </a:lnTo>
                  <a:lnTo>
                    <a:pt x="533" y="126"/>
                  </a:lnTo>
                  <a:lnTo>
                    <a:pt x="531" y="130"/>
                  </a:lnTo>
                  <a:lnTo>
                    <a:pt x="530" y="132"/>
                  </a:lnTo>
                  <a:lnTo>
                    <a:pt x="527" y="136"/>
                  </a:lnTo>
                  <a:lnTo>
                    <a:pt x="527" y="139"/>
                  </a:lnTo>
                  <a:lnTo>
                    <a:pt x="523" y="142"/>
                  </a:lnTo>
                  <a:lnTo>
                    <a:pt x="522" y="144"/>
                  </a:lnTo>
                  <a:lnTo>
                    <a:pt x="520" y="146"/>
                  </a:lnTo>
                  <a:lnTo>
                    <a:pt x="518" y="147"/>
                  </a:lnTo>
                  <a:lnTo>
                    <a:pt x="516" y="148"/>
                  </a:lnTo>
                  <a:lnTo>
                    <a:pt x="514" y="150"/>
                  </a:lnTo>
                  <a:lnTo>
                    <a:pt x="512" y="151"/>
                  </a:lnTo>
                  <a:lnTo>
                    <a:pt x="510" y="152"/>
                  </a:lnTo>
                  <a:lnTo>
                    <a:pt x="508" y="152"/>
                  </a:lnTo>
                  <a:lnTo>
                    <a:pt x="507" y="152"/>
                  </a:lnTo>
                  <a:lnTo>
                    <a:pt x="506" y="152"/>
                  </a:lnTo>
                  <a:lnTo>
                    <a:pt x="504" y="152"/>
                  </a:lnTo>
                  <a:lnTo>
                    <a:pt x="500" y="150"/>
                  </a:lnTo>
                  <a:lnTo>
                    <a:pt x="500" y="150"/>
                  </a:lnTo>
                  <a:lnTo>
                    <a:pt x="498" y="148"/>
                  </a:lnTo>
                  <a:lnTo>
                    <a:pt x="496" y="147"/>
                  </a:lnTo>
                  <a:lnTo>
                    <a:pt x="493" y="145"/>
                  </a:lnTo>
                  <a:lnTo>
                    <a:pt x="493" y="143"/>
                  </a:lnTo>
                  <a:lnTo>
                    <a:pt x="491" y="140"/>
                  </a:lnTo>
                  <a:lnTo>
                    <a:pt x="488" y="136"/>
                  </a:lnTo>
                  <a:lnTo>
                    <a:pt x="487" y="134"/>
                  </a:lnTo>
                  <a:lnTo>
                    <a:pt x="485" y="130"/>
                  </a:lnTo>
                  <a:lnTo>
                    <a:pt x="484" y="128"/>
                  </a:lnTo>
                  <a:lnTo>
                    <a:pt x="482" y="124"/>
                  </a:lnTo>
                  <a:lnTo>
                    <a:pt x="480" y="120"/>
                  </a:lnTo>
                  <a:lnTo>
                    <a:pt x="478" y="117"/>
                  </a:lnTo>
                  <a:lnTo>
                    <a:pt x="477" y="112"/>
                  </a:lnTo>
                  <a:lnTo>
                    <a:pt x="475" y="109"/>
                  </a:lnTo>
                  <a:lnTo>
                    <a:pt x="472" y="105"/>
                  </a:lnTo>
                  <a:lnTo>
                    <a:pt x="471" y="101"/>
                  </a:lnTo>
                  <a:lnTo>
                    <a:pt x="470" y="95"/>
                  </a:lnTo>
                  <a:lnTo>
                    <a:pt x="468" y="90"/>
                  </a:lnTo>
                  <a:lnTo>
                    <a:pt x="466" y="87"/>
                  </a:lnTo>
                  <a:lnTo>
                    <a:pt x="464" y="81"/>
                  </a:lnTo>
                  <a:lnTo>
                    <a:pt x="463" y="77"/>
                  </a:lnTo>
                  <a:lnTo>
                    <a:pt x="463" y="77"/>
                  </a:lnTo>
                  <a:lnTo>
                    <a:pt x="460" y="73"/>
                  </a:lnTo>
                  <a:lnTo>
                    <a:pt x="459" y="69"/>
                  </a:lnTo>
                  <a:lnTo>
                    <a:pt x="457" y="64"/>
                  </a:lnTo>
                  <a:lnTo>
                    <a:pt x="456" y="60"/>
                  </a:lnTo>
                  <a:lnTo>
                    <a:pt x="454" y="54"/>
                  </a:lnTo>
                  <a:lnTo>
                    <a:pt x="452" y="52"/>
                  </a:lnTo>
                  <a:lnTo>
                    <a:pt x="451" y="46"/>
                  </a:lnTo>
                  <a:lnTo>
                    <a:pt x="449" y="42"/>
                  </a:lnTo>
                  <a:lnTo>
                    <a:pt x="447" y="38"/>
                  </a:lnTo>
                  <a:lnTo>
                    <a:pt x="446" y="34"/>
                  </a:lnTo>
                  <a:lnTo>
                    <a:pt x="444" y="30"/>
                  </a:lnTo>
                  <a:lnTo>
                    <a:pt x="443" y="25"/>
                  </a:lnTo>
                  <a:lnTo>
                    <a:pt x="440" y="22"/>
                  </a:lnTo>
                  <a:lnTo>
                    <a:pt x="439" y="19"/>
                  </a:lnTo>
                  <a:lnTo>
                    <a:pt x="436" y="16"/>
                  </a:lnTo>
                  <a:lnTo>
                    <a:pt x="435" y="14"/>
                  </a:lnTo>
                  <a:lnTo>
                    <a:pt x="432" y="14"/>
                  </a:lnTo>
                  <a:lnTo>
                    <a:pt x="432" y="9"/>
                  </a:lnTo>
                  <a:lnTo>
                    <a:pt x="429" y="8"/>
                  </a:lnTo>
                  <a:lnTo>
                    <a:pt x="428" y="6"/>
                  </a:lnTo>
                  <a:lnTo>
                    <a:pt x="426" y="5"/>
                  </a:lnTo>
                  <a:lnTo>
                    <a:pt x="426" y="5"/>
                  </a:lnTo>
                  <a:lnTo>
                    <a:pt x="423" y="3"/>
                  </a:lnTo>
                  <a:lnTo>
                    <a:pt x="420" y="3"/>
                  </a:lnTo>
                  <a:lnTo>
                    <a:pt x="419" y="3"/>
                  </a:lnTo>
                  <a:lnTo>
                    <a:pt x="417" y="3"/>
                  </a:lnTo>
                  <a:lnTo>
                    <a:pt x="416" y="3"/>
                  </a:lnTo>
                  <a:lnTo>
                    <a:pt x="414" y="5"/>
                  </a:lnTo>
                  <a:lnTo>
                    <a:pt x="412" y="5"/>
                  </a:lnTo>
                  <a:lnTo>
                    <a:pt x="409" y="6"/>
                  </a:lnTo>
                  <a:lnTo>
                    <a:pt x="408" y="7"/>
                  </a:lnTo>
                  <a:lnTo>
                    <a:pt x="406" y="9"/>
                  </a:lnTo>
                  <a:lnTo>
                    <a:pt x="404" y="11"/>
                  </a:lnTo>
                  <a:lnTo>
                    <a:pt x="402" y="14"/>
                  </a:lnTo>
                  <a:lnTo>
                    <a:pt x="399" y="16"/>
                  </a:lnTo>
                  <a:lnTo>
                    <a:pt x="398" y="19"/>
                  </a:lnTo>
                  <a:lnTo>
                    <a:pt x="397" y="22"/>
                  </a:lnTo>
                  <a:lnTo>
                    <a:pt x="394" y="25"/>
                  </a:lnTo>
                  <a:lnTo>
                    <a:pt x="393" y="28"/>
                  </a:lnTo>
                  <a:lnTo>
                    <a:pt x="391" y="33"/>
                  </a:lnTo>
                  <a:lnTo>
                    <a:pt x="388" y="35"/>
                  </a:lnTo>
                  <a:lnTo>
                    <a:pt x="388" y="39"/>
                  </a:lnTo>
                  <a:lnTo>
                    <a:pt x="384" y="44"/>
                  </a:lnTo>
                  <a:lnTo>
                    <a:pt x="382" y="47"/>
                  </a:lnTo>
                  <a:lnTo>
                    <a:pt x="381" y="52"/>
                  </a:lnTo>
                  <a:lnTo>
                    <a:pt x="378" y="56"/>
                  </a:lnTo>
                  <a:lnTo>
                    <a:pt x="378" y="62"/>
                  </a:lnTo>
                  <a:lnTo>
                    <a:pt x="374" y="66"/>
                  </a:lnTo>
                  <a:lnTo>
                    <a:pt x="373" y="70"/>
                  </a:lnTo>
                  <a:lnTo>
                    <a:pt x="371" y="75"/>
                  </a:lnTo>
                  <a:lnTo>
                    <a:pt x="369" y="81"/>
                  </a:lnTo>
                  <a:lnTo>
                    <a:pt x="366" y="85"/>
                  </a:lnTo>
                  <a:lnTo>
                    <a:pt x="364" y="90"/>
                  </a:lnTo>
                  <a:lnTo>
                    <a:pt x="362" y="95"/>
                  </a:lnTo>
                  <a:lnTo>
                    <a:pt x="361" y="100"/>
                  </a:lnTo>
                  <a:lnTo>
                    <a:pt x="358" y="104"/>
                  </a:lnTo>
                  <a:lnTo>
                    <a:pt x="356" y="108"/>
                  </a:lnTo>
                  <a:lnTo>
                    <a:pt x="354" y="112"/>
                  </a:lnTo>
                  <a:lnTo>
                    <a:pt x="353" y="116"/>
                  </a:lnTo>
                  <a:lnTo>
                    <a:pt x="351" y="120"/>
                  </a:lnTo>
                  <a:lnTo>
                    <a:pt x="350" y="124"/>
                  </a:lnTo>
                  <a:lnTo>
                    <a:pt x="348" y="128"/>
                  </a:lnTo>
                  <a:lnTo>
                    <a:pt x="346" y="132"/>
                  </a:lnTo>
                  <a:lnTo>
                    <a:pt x="344" y="133"/>
                  </a:lnTo>
                  <a:lnTo>
                    <a:pt x="341" y="136"/>
                  </a:lnTo>
                  <a:lnTo>
                    <a:pt x="340" y="140"/>
                  </a:lnTo>
                  <a:lnTo>
                    <a:pt x="338" y="143"/>
                  </a:lnTo>
                  <a:lnTo>
                    <a:pt x="336" y="145"/>
                  </a:lnTo>
                  <a:lnTo>
                    <a:pt x="334" y="147"/>
                  </a:lnTo>
                  <a:lnTo>
                    <a:pt x="332" y="148"/>
                  </a:lnTo>
                  <a:lnTo>
                    <a:pt x="330" y="150"/>
                  </a:lnTo>
                  <a:lnTo>
                    <a:pt x="328" y="152"/>
                  </a:lnTo>
                  <a:lnTo>
                    <a:pt x="326" y="153"/>
                  </a:lnTo>
                  <a:lnTo>
                    <a:pt x="324" y="153"/>
                  </a:lnTo>
                  <a:lnTo>
                    <a:pt x="322" y="154"/>
                  </a:lnTo>
                  <a:lnTo>
                    <a:pt x="320" y="154"/>
                  </a:lnTo>
                  <a:lnTo>
                    <a:pt x="320" y="153"/>
                  </a:lnTo>
                  <a:lnTo>
                    <a:pt x="317" y="153"/>
                  </a:lnTo>
                  <a:lnTo>
                    <a:pt x="315" y="153"/>
                  </a:lnTo>
                  <a:lnTo>
                    <a:pt x="314" y="151"/>
                  </a:lnTo>
                  <a:lnTo>
                    <a:pt x="312" y="150"/>
                  </a:lnTo>
                  <a:lnTo>
                    <a:pt x="310" y="148"/>
                  </a:lnTo>
                  <a:lnTo>
                    <a:pt x="308" y="147"/>
                  </a:lnTo>
                  <a:lnTo>
                    <a:pt x="306" y="145"/>
                  </a:lnTo>
                  <a:lnTo>
                    <a:pt x="304" y="143"/>
                  </a:lnTo>
                  <a:lnTo>
                    <a:pt x="303" y="140"/>
                  </a:lnTo>
                  <a:lnTo>
                    <a:pt x="301" y="136"/>
                  </a:lnTo>
                  <a:lnTo>
                    <a:pt x="298" y="132"/>
                  </a:lnTo>
                  <a:lnTo>
                    <a:pt x="298" y="130"/>
                  </a:lnTo>
                  <a:lnTo>
                    <a:pt x="296" y="126"/>
                  </a:lnTo>
                  <a:lnTo>
                    <a:pt x="294" y="123"/>
                  </a:lnTo>
                  <a:lnTo>
                    <a:pt x="291" y="119"/>
                  </a:lnTo>
                  <a:lnTo>
                    <a:pt x="290" y="115"/>
                  </a:lnTo>
                  <a:lnTo>
                    <a:pt x="288" y="110"/>
                  </a:lnTo>
                  <a:lnTo>
                    <a:pt x="286" y="107"/>
                  </a:lnTo>
                  <a:lnTo>
                    <a:pt x="285" y="102"/>
                  </a:lnTo>
                  <a:lnTo>
                    <a:pt x="283" y="98"/>
                  </a:lnTo>
                  <a:lnTo>
                    <a:pt x="281" y="92"/>
                  </a:lnTo>
                  <a:lnTo>
                    <a:pt x="280" y="88"/>
                  </a:lnTo>
                  <a:lnTo>
                    <a:pt x="278" y="84"/>
                  </a:lnTo>
                  <a:lnTo>
                    <a:pt x="278" y="79"/>
                  </a:lnTo>
                  <a:lnTo>
                    <a:pt x="278" y="79"/>
                  </a:lnTo>
                  <a:lnTo>
                    <a:pt x="276" y="75"/>
                  </a:lnTo>
                  <a:lnTo>
                    <a:pt x="273" y="70"/>
                  </a:lnTo>
                  <a:lnTo>
                    <a:pt x="271" y="66"/>
                  </a:lnTo>
                  <a:lnTo>
                    <a:pt x="270" y="62"/>
                  </a:lnTo>
                  <a:lnTo>
                    <a:pt x="268" y="56"/>
                  </a:lnTo>
                  <a:lnTo>
                    <a:pt x="266" y="52"/>
                  </a:lnTo>
                  <a:lnTo>
                    <a:pt x="264" y="48"/>
                  </a:lnTo>
                  <a:lnTo>
                    <a:pt x="263" y="43"/>
                  </a:lnTo>
                  <a:lnTo>
                    <a:pt x="262" y="39"/>
                  </a:lnTo>
                  <a:lnTo>
                    <a:pt x="259" y="35"/>
                  </a:lnTo>
                  <a:lnTo>
                    <a:pt x="258" y="33"/>
                  </a:lnTo>
                  <a:lnTo>
                    <a:pt x="256" y="28"/>
                  </a:lnTo>
                  <a:lnTo>
                    <a:pt x="254" y="25"/>
                  </a:lnTo>
                  <a:lnTo>
                    <a:pt x="253" y="22"/>
                  </a:lnTo>
                  <a:lnTo>
                    <a:pt x="251" y="19"/>
                  </a:lnTo>
                  <a:lnTo>
                    <a:pt x="249" y="16"/>
                  </a:lnTo>
                  <a:lnTo>
                    <a:pt x="247" y="14"/>
                  </a:lnTo>
                  <a:lnTo>
                    <a:pt x="245" y="11"/>
                  </a:lnTo>
                  <a:lnTo>
                    <a:pt x="243" y="9"/>
                  </a:lnTo>
                  <a:lnTo>
                    <a:pt x="242" y="8"/>
                  </a:lnTo>
                  <a:lnTo>
                    <a:pt x="240" y="7"/>
                  </a:lnTo>
                  <a:lnTo>
                    <a:pt x="238" y="6"/>
                  </a:lnTo>
                  <a:lnTo>
                    <a:pt x="235" y="5"/>
                  </a:lnTo>
                  <a:lnTo>
                    <a:pt x="234" y="5"/>
                  </a:lnTo>
                  <a:lnTo>
                    <a:pt x="232" y="5"/>
                  </a:lnTo>
                  <a:lnTo>
                    <a:pt x="232" y="4"/>
                  </a:lnTo>
                  <a:lnTo>
                    <a:pt x="228" y="5"/>
                  </a:lnTo>
                  <a:lnTo>
                    <a:pt x="227" y="5"/>
                  </a:lnTo>
                  <a:lnTo>
                    <a:pt x="225" y="6"/>
                  </a:lnTo>
                  <a:lnTo>
                    <a:pt x="222" y="7"/>
                  </a:lnTo>
                  <a:lnTo>
                    <a:pt x="221" y="9"/>
                  </a:lnTo>
                  <a:lnTo>
                    <a:pt x="219" y="11"/>
                  </a:lnTo>
                  <a:lnTo>
                    <a:pt x="218" y="14"/>
                  </a:lnTo>
                  <a:lnTo>
                    <a:pt x="215" y="15"/>
                  </a:lnTo>
                  <a:lnTo>
                    <a:pt x="213" y="17"/>
                  </a:lnTo>
                  <a:lnTo>
                    <a:pt x="212" y="20"/>
                  </a:lnTo>
                  <a:lnTo>
                    <a:pt x="210" y="24"/>
                  </a:lnTo>
                  <a:lnTo>
                    <a:pt x="208" y="27"/>
                  </a:lnTo>
                  <a:lnTo>
                    <a:pt x="206" y="31"/>
                  </a:lnTo>
                  <a:lnTo>
                    <a:pt x="205" y="34"/>
                  </a:lnTo>
                  <a:lnTo>
                    <a:pt x="202" y="38"/>
                  </a:lnTo>
                  <a:lnTo>
                    <a:pt x="200" y="42"/>
                  </a:lnTo>
                  <a:lnTo>
                    <a:pt x="198" y="46"/>
                  </a:lnTo>
                  <a:lnTo>
                    <a:pt x="196" y="50"/>
                  </a:lnTo>
                  <a:lnTo>
                    <a:pt x="195" y="54"/>
                  </a:lnTo>
                  <a:lnTo>
                    <a:pt x="194" y="58"/>
                  </a:lnTo>
                  <a:lnTo>
                    <a:pt x="190" y="63"/>
                  </a:lnTo>
                  <a:lnTo>
                    <a:pt x="188" y="68"/>
                  </a:lnTo>
                  <a:lnTo>
                    <a:pt x="186" y="72"/>
                  </a:lnTo>
                  <a:lnTo>
                    <a:pt x="185" y="77"/>
                  </a:lnTo>
                  <a:lnTo>
                    <a:pt x="184" y="80"/>
                  </a:lnTo>
                  <a:lnTo>
                    <a:pt x="181" y="84"/>
                  </a:lnTo>
                  <a:lnTo>
                    <a:pt x="178" y="90"/>
                  </a:lnTo>
                  <a:lnTo>
                    <a:pt x="176" y="93"/>
                  </a:lnTo>
                  <a:lnTo>
                    <a:pt x="175" y="98"/>
                  </a:lnTo>
                  <a:lnTo>
                    <a:pt x="174" y="102"/>
                  </a:lnTo>
                  <a:lnTo>
                    <a:pt x="172" y="107"/>
                  </a:lnTo>
                  <a:lnTo>
                    <a:pt x="169" y="111"/>
                  </a:lnTo>
                  <a:lnTo>
                    <a:pt x="168" y="115"/>
                  </a:lnTo>
                  <a:lnTo>
                    <a:pt x="166" y="119"/>
                  </a:lnTo>
                  <a:lnTo>
                    <a:pt x="164" y="123"/>
                  </a:lnTo>
                  <a:lnTo>
                    <a:pt x="162" y="126"/>
                  </a:lnTo>
                  <a:lnTo>
                    <a:pt x="159" y="130"/>
                  </a:lnTo>
                  <a:lnTo>
                    <a:pt x="158" y="133"/>
                  </a:lnTo>
                  <a:lnTo>
                    <a:pt x="155" y="136"/>
                  </a:lnTo>
                  <a:lnTo>
                    <a:pt x="154" y="139"/>
                  </a:lnTo>
                  <a:lnTo>
                    <a:pt x="152" y="142"/>
                  </a:lnTo>
                  <a:lnTo>
                    <a:pt x="151" y="144"/>
                  </a:lnTo>
                  <a:lnTo>
                    <a:pt x="149" y="146"/>
                  </a:lnTo>
                  <a:lnTo>
                    <a:pt x="146" y="148"/>
                  </a:lnTo>
                  <a:lnTo>
                    <a:pt x="145" y="150"/>
                  </a:lnTo>
                  <a:lnTo>
                    <a:pt x="143" y="151"/>
                  </a:lnTo>
                  <a:lnTo>
                    <a:pt x="141" y="152"/>
                  </a:lnTo>
                  <a:lnTo>
                    <a:pt x="138" y="152"/>
                  </a:lnTo>
                  <a:lnTo>
                    <a:pt x="137" y="153"/>
                  </a:lnTo>
                  <a:lnTo>
                    <a:pt x="135" y="153"/>
                  </a:lnTo>
                  <a:lnTo>
                    <a:pt x="134" y="153"/>
                  </a:lnTo>
                  <a:lnTo>
                    <a:pt x="131" y="152"/>
                  </a:lnTo>
                  <a:lnTo>
                    <a:pt x="130" y="152"/>
                  </a:lnTo>
                  <a:lnTo>
                    <a:pt x="127" y="150"/>
                  </a:lnTo>
                  <a:lnTo>
                    <a:pt x="127" y="149"/>
                  </a:lnTo>
                  <a:lnTo>
                    <a:pt x="125" y="147"/>
                  </a:lnTo>
                  <a:lnTo>
                    <a:pt x="122" y="146"/>
                  </a:lnTo>
                  <a:lnTo>
                    <a:pt x="120" y="144"/>
                  </a:lnTo>
                  <a:lnTo>
                    <a:pt x="118" y="142"/>
                  </a:lnTo>
                  <a:lnTo>
                    <a:pt x="117" y="139"/>
                  </a:lnTo>
                  <a:lnTo>
                    <a:pt x="116" y="136"/>
                  </a:lnTo>
                  <a:lnTo>
                    <a:pt x="114" y="130"/>
                  </a:lnTo>
                  <a:lnTo>
                    <a:pt x="112" y="128"/>
                  </a:lnTo>
                  <a:lnTo>
                    <a:pt x="110" y="125"/>
                  </a:lnTo>
                  <a:lnTo>
                    <a:pt x="109" y="122"/>
                  </a:lnTo>
                  <a:lnTo>
                    <a:pt x="106" y="118"/>
                  </a:lnTo>
                  <a:lnTo>
                    <a:pt x="106" y="114"/>
                  </a:lnTo>
                  <a:lnTo>
                    <a:pt x="104" y="109"/>
                  </a:lnTo>
                  <a:lnTo>
                    <a:pt x="101" y="106"/>
                  </a:lnTo>
                  <a:lnTo>
                    <a:pt x="99" y="101"/>
                  </a:lnTo>
                  <a:lnTo>
                    <a:pt x="98" y="96"/>
                  </a:lnTo>
                  <a:lnTo>
                    <a:pt x="96" y="92"/>
                  </a:lnTo>
                  <a:lnTo>
                    <a:pt x="96" y="87"/>
                  </a:lnTo>
                  <a:lnTo>
                    <a:pt x="93" y="82"/>
                  </a:lnTo>
                  <a:lnTo>
                    <a:pt x="92" y="78"/>
                  </a:lnTo>
                  <a:lnTo>
                    <a:pt x="92" y="78"/>
                  </a:lnTo>
                  <a:lnTo>
                    <a:pt x="89" y="74"/>
                  </a:lnTo>
                  <a:lnTo>
                    <a:pt x="88" y="69"/>
                  </a:lnTo>
                  <a:lnTo>
                    <a:pt x="86" y="64"/>
                  </a:lnTo>
                  <a:lnTo>
                    <a:pt x="84" y="60"/>
                  </a:lnTo>
                  <a:lnTo>
                    <a:pt x="83" y="54"/>
                  </a:lnTo>
                  <a:lnTo>
                    <a:pt x="81" y="52"/>
                  </a:lnTo>
                  <a:lnTo>
                    <a:pt x="79" y="47"/>
                  </a:lnTo>
                  <a:lnTo>
                    <a:pt x="78" y="42"/>
                  </a:lnTo>
                  <a:lnTo>
                    <a:pt x="76" y="38"/>
                  </a:lnTo>
                  <a:lnTo>
                    <a:pt x="73" y="34"/>
                  </a:lnTo>
                  <a:lnTo>
                    <a:pt x="73" y="31"/>
                  </a:lnTo>
                  <a:lnTo>
                    <a:pt x="71" y="27"/>
                  </a:lnTo>
                  <a:lnTo>
                    <a:pt x="69" y="24"/>
                  </a:lnTo>
                  <a:lnTo>
                    <a:pt x="68" y="20"/>
                  </a:lnTo>
                  <a:lnTo>
                    <a:pt x="65" y="17"/>
                  </a:lnTo>
                  <a:lnTo>
                    <a:pt x="63" y="14"/>
                  </a:lnTo>
                  <a:lnTo>
                    <a:pt x="62" y="14"/>
                  </a:lnTo>
                  <a:lnTo>
                    <a:pt x="60" y="10"/>
                  </a:lnTo>
                  <a:lnTo>
                    <a:pt x="58" y="9"/>
                  </a:lnTo>
                  <a:lnTo>
                    <a:pt x="57" y="7"/>
                  </a:lnTo>
                  <a:lnTo>
                    <a:pt x="54" y="6"/>
                  </a:lnTo>
                  <a:lnTo>
                    <a:pt x="54" y="5"/>
                  </a:lnTo>
                  <a:lnTo>
                    <a:pt x="52" y="4"/>
                  </a:lnTo>
                  <a:lnTo>
                    <a:pt x="50" y="3"/>
                  </a:lnTo>
                  <a:lnTo>
                    <a:pt x="48" y="3"/>
                  </a:lnTo>
                  <a:lnTo>
                    <a:pt x="46" y="3"/>
                  </a:lnTo>
                  <a:lnTo>
                    <a:pt x="44" y="3"/>
                  </a:lnTo>
                  <a:lnTo>
                    <a:pt x="41" y="5"/>
                  </a:lnTo>
                  <a:lnTo>
                    <a:pt x="40" y="5"/>
                  </a:lnTo>
                  <a:lnTo>
                    <a:pt x="38" y="6"/>
                  </a:lnTo>
                  <a:lnTo>
                    <a:pt x="37" y="8"/>
                  </a:lnTo>
                  <a:lnTo>
                    <a:pt x="34" y="9"/>
                  </a:lnTo>
                  <a:lnTo>
                    <a:pt x="32" y="12"/>
                  </a:lnTo>
                  <a:lnTo>
                    <a:pt x="30" y="14"/>
                  </a:lnTo>
                  <a:lnTo>
                    <a:pt x="28" y="16"/>
                  </a:lnTo>
                  <a:lnTo>
                    <a:pt x="27" y="19"/>
                  </a:lnTo>
                  <a:lnTo>
                    <a:pt x="25" y="22"/>
                  </a:lnTo>
                  <a:lnTo>
                    <a:pt x="22" y="25"/>
                  </a:lnTo>
                  <a:lnTo>
                    <a:pt x="20" y="30"/>
                  </a:lnTo>
                  <a:lnTo>
                    <a:pt x="19" y="33"/>
                  </a:lnTo>
                  <a:lnTo>
                    <a:pt x="17" y="36"/>
                  </a:lnTo>
                  <a:lnTo>
                    <a:pt x="16" y="41"/>
                  </a:lnTo>
                  <a:lnTo>
                    <a:pt x="13" y="44"/>
                  </a:lnTo>
                  <a:lnTo>
                    <a:pt x="11" y="49"/>
                  </a:lnTo>
                  <a:lnTo>
                    <a:pt x="9" y="54"/>
                  </a:lnTo>
                  <a:lnTo>
                    <a:pt x="8" y="57"/>
                  </a:lnTo>
                  <a:lnTo>
                    <a:pt x="6" y="63"/>
                  </a:lnTo>
                  <a:lnTo>
                    <a:pt x="5" y="66"/>
                  </a:lnTo>
                  <a:lnTo>
                    <a:pt x="2" y="72"/>
                  </a:lnTo>
                  <a:lnTo>
                    <a:pt x="0" y="76"/>
                  </a:lnTo>
                </a:path>
              </a:pathLst>
            </a:custGeom>
            <a:noFill/>
            <a:ln w="9525" cap="flat">
              <a:solidFill>
                <a:srgbClr val="9933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 name="Freeform 29"/>
            <p:cNvSpPr>
              <a:spLocks/>
            </p:cNvSpPr>
            <p:nvPr/>
          </p:nvSpPr>
          <p:spPr bwMode="auto">
            <a:xfrm>
              <a:off x="8588375" y="3221038"/>
              <a:ext cx="374650" cy="233362"/>
            </a:xfrm>
            <a:custGeom>
              <a:avLst/>
              <a:gdLst>
                <a:gd name="T0" fmla="*/ 258 w 259"/>
                <a:gd name="T1" fmla="*/ 81 h 167"/>
                <a:gd name="T2" fmla="*/ 258 w 259"/>
                <a:gd name="T3" fmla="*/ 81 h 167"/>
                <a:gd name="T4" fmla="*/ 106 w 259"/>
                <a:gd name="T5" fmla="*/ 0 h 167"/>
                <a:gd name="T6" fmla="*/ 124 w 259"/>
                <a:gd name="T7" fmla="*/ 41 h 167"/>
                <a:gd name="T8" fmla="*/ 0 w 259"/>
                <a:gd name="T9" fmla="*/ 41 h 167"/>
                <a:gd name="T10" fmla="*/ 0 w 259"/>
                <a:gd name="T11" fmla="*/ 128 h 167"/>
                <a:gd name="T12" fmla="*/ 124 w 259"/>
                <a:gd name="T13" fmla="*/ 128 h 167"/>
                <a:gd name="T14" fmla="*/ 106 w 259"/>
                <a:gd name="T15" fmla="*/ 166 h 167"/>
                <a:gd name="T16" fmla="*/ 258 w 259"/>
                <a:gd name="T17" fmla="*/ 81 h 167"/>
                <a:gd name="T18" fmla="*/ 258 w 259"/>
                <a:gd name="T19" fmla="*/ 81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9" h="167">
                  <a:moveTo>
                    <a:pt x="258" y="81"/>
                  </a:moveTo>
                  <a:lnTo>
                    <a:pt x="258" y="81"/>
                  </a:lnTo>
                  <a:lnTo>
                    <a:pt x="106" y="0"/>
                  </a:lnTo>
                  <a:lnTo>
                    <a:pt x="124" y="41"/>
                  </a:lnTo>
                  <a:lnTo>
                    <a:pt x="0" y="41"/>
                  </a:lnTo>
                  <a:lnTo>
                    <a:pt x="0" y="128"/>
                  </a:lnTo>
                  <a:lnTo>
                    <a:pt x="124" y="128"/>
                  </a:lnTo>
                  <a:lnTo>
                    <a:pt x="106" y="166"/>
                  </a:lnTo>
                  <a:lnTo>
                    <a:pt x="258" y="81"/>
                  </a:lnTo>
                  <a:lnTo>
                    <a:pt x="258" y="81"/>
                  </a:lnTo>
                </a:path>
              </a:pathLst>
            </a:custGeom>
            <a:solidFill>
              <a:srgbClr val="FFFFFF"/>
            </a:solidFill>
            <a:ln w="9525" cap="flat" cmpd="sng">
              <a:solidFill>
                <a:srgbClr val="CC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nvGrpSpPr>
            <p:cNvPr id="12" name="Group 30"/>
            <p:cNvGrpSpPr>
              <a:grpSpLocks/>
            </p:cNvGrpSpPr>
            <p:nvPr/>
          </p:nvGrpSpPr>
          <p:grpSpPr bwMode="auto">
            <a:xfrm>
              <a:off x="5694363" y="3455988"/>
              <a:ext cx="2506662" cy="234950"/>
              <a:chOff x="2502" y="4321"/>
              <a:chExt cx="1737" cy="168"/>
            </a:xfrm>
          </p:grpSpPr>
          <p:sp>
            <p:nvSpPr>
              <p:cNvPr id="16" name="Freeform 31"/>
              <p:cNvSpPr>
                <a:spLocks/>
              </p:cNvSpPr>
              <p:nvPr/>
            </p:nvSpPr>
            <p:spPr bwMode="auto">
              <a:xfrm>
                <a:off x="2755" y="4334"/>
                <a:ext cx="1484" cy="155"/>
              </a:xfrm>
              <a:custGeom>
                <a:avLst/>
                <a:gdLst>
                  <a:gd name="T0" fmla="*/ 1461 w 1484"/>
                  <a:gd name="T1" fmla="*/ 127 h 155"/>
                  <a:gd name="T2" fmla="*/ 1435 w 1484"/>
                  <a:gd name="T3" fmla="*/ 150 h 155"/>
                  <a:gd name="T4" fmla="*/ 1411 w 1484"/>
                  <a:gd name="T5" fmla="*/ 127 h 155"/>
                  <a:gd name="T6" fmla="*/ 1391 w 1484"/>
                  <a:gd name="T7" fmla="*/ 76 h 155"/>
                  <a:gd name="T8" fmla="*/ 1369 w 1484"/>
                  <a:gd name="T9" fmla="*/ 22 h 155"/>
                  <a:gd name="T10" fmla="*/ 1346 w 1484"/>
                  <a:gd name="T11" fmla="*/ 0 h 155"/>
                  <a:gd name="T12" fmla="*/ 1320 w 1484"/>
                  <a:gd name="T13" fmla="*/ 27 h 155"/>
                  <a:gd name="T14" fmla="*/ 1296 w 1484"/>
                  <a:gd name="T15" fmla="*/ 81 h 155"/>
                  <a:gd name="T16" fmla="*/ 1271 w 1484"/>
                  <a:gd name="T17" fmla="*/ 133 h 155"/>
                  <a:gd name="T18" fmla="*/ 1247 w 1484"/>
                  <a:gd name="T19" fmla="*/ 148 h 155"/>
                  <a:gd name="T20" fmla="*/ 1223 w 1484"/>
                  <a:gd name="T21" fmla="*/ 118 h 155"/>
                  <a:gd name="T22" fmla="*/ 1203 w 1484"/>
                  <a:gd name="T23" fmla="*/ 65 h 155"/>
                  <a:gd name="T24" fmla="*/ 1181 w 1484"/>
                  <a:gd name="T25" fmla="*/ 14 h 155"/>
                  <a:gd name="T26" fmla="*/ 1157 w 1484"/>
                  <a:gd name="T27" fmla="*/ 2 h 155"/>
                  <a:gd name="T28" fmla="*/ 1132 w 1484"/>
                  <a:gd name="T29" fmla="*/ 33 h 155"/>
                  <a:gd name="T30" fmla="*/ 1106 w 1484"/>
                  <a:gd name="T31" fmla="*/ 92 h 155"/>
                  <a:gd name="T32" fmla="*/ 1081 w 1484"/>
                  <a:gd name="T33" fmla="*/ 140 h 155"/>
                  <a:gd name="T34" fmla="*/ 1057 w 1484"/>
                  <a:gd name="T35" fmla="*/ 148 h 155"/>
                  <a:gd name="T36" fmla="*/ 1034 w 1484"/>
                  <a:gd name="T37" fmla="*/ 112 h 155"/>
                  <a:gd name="T38" fmla="*/ 1013 w 1484"/>
                  <a:gd name="T39" fmla="*/ 58 h 155"/>
                  <a:gd name="T40" fmla="*/ 991 w 1484"/>
                  <a:gd name="T41" fmla="*/ 12 h 155"/>
                  <a:gd name="T42" fmla="*/ 967 w 1484"/>
                  <a:gd name="T43" fmla="*/ 5 h 155"/>
                  <a:gd name="T44" fmla="*/ 941 w 1484"/>
                  <a:gd name="T45" fmla="*/ 43 h 155"/>
                  <a:gd name="T46" fmla="*/ 917 w 1484"/>
                  <a:gd name="T47" fmla="*/ 100 h 155"/>
                  <a:gd name="T48" fmla="*/ 893 w 1484"/>
                  <a:gd name="T49" fmla="*/ 143 h 155"/>
                  <a:gd name="T50" fmla="*/ 869 w 1484"/>
                  <a:gd name="T51" fmla="*/ 144 h 155"/>
                  <a:gd name="T52" fmla="*/ 845 w 1484"/>
                  <a:gd name="T53" fmla="*/ 102 h 155"/>
                  <a:gd name="T54" fmla="*/ 825 w 1484"/>
                  <a:gd name="T55" fmla="*/ 49 h 155"/>
                  <a:gd name="T56" fmla="*/ 802 w 1484"/>
                  <a:gd name="T57" fmla="*/ 6 h 155"/>
                  <a:gd name="T58" fmla="*/ 777 w 1484"/>
                  <a:gd name="T59" fmla="*/ 6 h 155"/>
                  <a:gd name="T60" fmla="*/ 754 w 1484"/>
                  <a:gd name="T61" fmla="*/ 51 h 155"/>
                  <a:gd name="T62" fmla="*/ 726 w 1484"/>
                  <a:gd name="T63" fmla="*/ 112 h 155"/>
                  <a:gd name="T64" fmla="*/ 701 w 1484"/>
                  <a:gd name="T65" fmla="*/ 150 h 155"/>
                  <a:gd name="T66" fmla="*/ 677 w 1484"/>
                  <a:gd name="T67" fmla="*/ 144 h 155"/>
                  <a:gd name="T68" fmla="*/ 654 w 1484"/>
                  <a:gd name="T69" fmla="*/ 97 h 155"/>
                  <a:gd name="T70" fmla="*/ 633 w 1484"/>
                  <a:gd name="T71" fmla="*/ 43 h 155"/>
                  <a:gd name="T72" fmla="*/ 610 w 1484"/>
                  <a:gd name="T73" fmla="*/ 6 h 155"/>
                  <a:gd name="T74" fmla="*/ 586 w 1484"/>
                  <a:gd name="T75" fmla="*/ 14 h 155"/>
                  <a:gd name="T76" fmla="*/ 561 w 1484"/>
                  <a:gd name="T77" fmla="*/ 63 h 155"/>
                  <a:gd name="T78" fmla="*/ 537 w 1484"/>
                  <a:gd name="T79" fmla="*/ 119 h 155"/>
                  <a:gd name="T80" fmla="*/ 511 w 1484"/>
                  <a:gd name="T81" fmla="*/ 151 h 155"/>
                  <a:gd name="T82" fmla="*/ 488 w 1484"/>
                  <a:gd name="T83" fmla="*/ 137 h 155"/>
                  <a:gd name="T84" fmla="*/ 465 w 1484"/>
                  <a:gd name="T85" fmla="*/ 88 h 155"/>
                  <a:gd name="T86" fmla="*/ 445 w 1484"/>
                  <a:gd name="T87" fmla="*/ 34 h 155"/>
                  <a:gd name="T88" fmla="*/ 422 w 1484"/>
                  <a:gd name="T89" fmla="*/ 3 h 155"/>
                  <a:gd name="T90" fmla="*/ 397 w 1484"/>
                  <a:gd name="T91" fmla="*/ 20 h 155"/>
                  <a:gd name="T92" fmla="*/ 372 w 1484"/>
                  <a:gd name="T93" fmla="*/ 70 h 155"/>
                  <a:gd name="T94" fmla="*/ 347 w 1484"/>
                  <a:gd name="T95" fmla="*/ 128 h 155"/>
                  <a:gd name="T96" fmla="*/ 321 w 1484"/>
                  <a:gd name="T97" fmla="*/ 154 h 155"/>
                  <a:gd name="T98" fmla="*/ 297 w 1484"/>
                  <a:gd name="T99" fmla="*/ 132 h 155"/>
                  <a:gd name="T100" fmla="*/ 277 w 1484"/>
                  <a:gd name="T101" fmla="*/ 80 h 155"/>
                  <a:gd name="T102" fmla="*/ 256 w 1484"/>
                  <a:gd name="T103" fmla="*/ 28 h 155"/>
                  <a:gd name="T104" fmla="*/ 231 w 1484"/>
                  <a:gd name="T105" fmla="*/ 5 h 155"/>
                  <a:gd name="T106" fmla="*/ 207 w 1484"/>
                  <a:gd name="T107" fmla="*/ 27 h 155"/>
                  <a:gd name="T108" fmla="*/ 183 w 1484"/>
                  <a:gd name="T109" fmla="*/ 81 h 155"/>
                  <a:gd name="T110" fmla="*/ 158 w 1484"/>
                  <a:gd name="T111" fmla="*/ 133 h 155"/>
                  <a:gd name="T112" fmla="*/ 133 w 1484"/>
                  <a:gd name="T113" fmla="*/ 154 h 155"/>
                  <a:gd name="T114" fmla="*/ 109 w 1484"/>
                  <a:gd name="T115" fmla="*/ 126 h 155"/>
                  <a:gd name="T116" fmla="*/ 88 w 1484"/>
                  <a:gd name="T117" fmla="*/ 74 h 155"/>
                  <a:gd name="T118" fmla="*/ 67 w 1484"/>
                  <a:gd name="T119" fmla="*/ 21 h 155"/>
                  <a:gd name="T120" fmla="*/ 43 w 1484"/>
                  <a:gd name="T121" fmla="*/ 3 h 155"/>
                  <a:gd name="T122" fmla="*/ 18 w 1484"/>
                  <a:gd name="T123" fmla="*/ 33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84" h="155">
                    <a:moveTo>
                      <a:pt x="1483" y="78"/>
                    </a:moveTo>
                    <a:lnTo>
                      <a:pt x="1481" y="82"/>
                    </a:lnTo>
                    <a:lnTo>
                      <a:pt x="1480" y="88"/>
                    </a:lnTo>
                    <a:lnTo>
                      <a:pt x="1478" y="91"/>
                    </a:lnTo>
                    <a:lnTo>
                      <a:pt x="1475" y="96"/>
                    </a:lnTo>
                    <a:lnTo>
                      <a:pt x="1473" y="100"/>
                    </a:lnTo>
                    <a:lnTo>
                      <a:pt x="1471" y="104"/>
                    </a:lnTo>
                    <a:lnTo>
                      <a:pt x="1469" y="110"/>
                    </a:lnTo>
                    <a:lnTo>
                      <a:pt x="1467" y="112"/>
                    </a:lnTo>
                    <a:lnTo>
                      <a:pt x="1466" y="118"/>
                    </a:lnTo>
                    <a:lnTo>
                      <a:pt x="1463" y="121"/>
                    </a:lnTo>
                    <a:lnTo>
                      <a:pt x="1462" y="125"/>
                    </a:lnTo>
                    <a:lnTo>
                      <a:pt x="1461" y="127"/>
                    </a:lnTo>
                    <a:lnTo>
                      <a:pt x="1459" y="130"/>
                    </a:lnTo>
                    <a:lnTo>
                      <a:pt x="1456" y="134"/>
                    </a:lnTo>
                    <a:lnTo>
                      <a:pt x="1454" y="137"/>
                    </a:lnTo>
                    <a:lnTo>
                      <a:pt x="1452" y="139"/>
                    </a:lnTo>
                    <a:lnTo>
                      <a:pt x="1450" y="142"/>
                    </a:lnTo>
                    <a:lnTo>
                      <a:pt x="1448" y="144"/>
                    </a:lnTo>
                    <a:lnTo>
                      <a:pt x="1447" y="146"/>
                    </a:lnTo>
                    <a:lnTo>
                      <a:pt x="1445" y="148"/>
                    </a:lnTo>
                    <a:lnTo>
                      <a:pt x="1443" y="148"/>
                    </a:lnTo>
                    <a:lnTo>
                      <a:pt x="1442" y="149"/>
                    </a:lnTo>
                    <a:lnTo>
                      <a:pt x="1438" y="150"/>
                    </a:lnTo>
                    <a:lnTo>
                      <a:pt x="1437" y="150"/>
                    </a:lnTo>
                    <a:lnTo>
                      <a:pt x="1435" y="150"/>
                    </a:lnTo>
                    <a:lnTo>
                      <a:pt x="1433" y="150"/>
                    </a:lnTo>
                    <a:lnTo>
                      <a:pt x="1431" y="150"/>
                    </a:lnTo>
                    <a:lnTo>
                      <a:pt x="1430" y="149"/>
                    </a:lnTo>
                    <a:lnTo>
                      <a:pt x="1428" y="148"/>
                    </a:lnTo>
                    <a:lnTo>
                      <a:pt x="1427" y="148"/>
                    </a:lnTo>
                    <a:lnTo>
                      <a:pt x="1425" y="146"/>
                    </a:lnTo>
                    <a:lnTo>
                      <a:pt x="1423" y="143"/>
                    </a:lnTo>
                    <a:lnTo>
                      <a:pt x="1420" y="141"/>
                    </a:lnTo>
                    <a:lnTo>
                      <a:pt x="1419" y="139"/>
                    </a:lnTo>
                    <a:lnTo>
                      <a:pt x="1417" y="136"/>
                    </a:lnTo>
                    <a:lnTo>
                      <a:pt x="1416" y="133"/>
                    </a:lnTo>
                    <a:lnTo>
                      <a:pt x="1413" y="128"/>
                    </a:lnTo>
                    <a:lnTo>
                      <a:pt x="1411" y="127"/>
                    </a:lnTo>
                    <a:lnTo>
                      <a:pt x="1411" y="124"/>
                    </a:lnTo>
                    <a:lnTo>
                      <a:pt x="1409" y="119"/>
                    </a:lnTo>
                    <a:lnTo>
                      <a:pt x="1407" y="116"/>
                    </a:lnTo>
                    <a:lnTo>
                      <a:pt x="1406" y="110"/>
                    </a:lnTo>
                    <a:lnTo>
                      <a:pt x="1404" y="108"/>
                    </a:lnTo>
                    <a:lnTo>
                      <a:pt x="1403" y="102"/>
                    </a:lnTo>
                    <a:lnTo>
                      <a:pt x="1400" y="98"/>
                    </a:lnTo>
                    <a:lnTo>
                      <a:pt x="1398" y="94"/>
                    </a:lnTo>
                    <a:lnTo>
                      <a:pt x="1396" y="90"/>
                    </a:lnTo>
                    <a:lnTo>
                      <a:pt x="1395" y="84"/>
                    </a:lnTo>
                    <a:lnTo>
                      <a:pt x="1393" y="81"/>
                    </a:lnTo>
                    <a:lnTo>
                      <a:pt x="1391" y="76"/>
                    </a:lnTo>
                    <a:lnTo>
                      <a:pt x="1391" y="76"/>
                    </a:lnTo>
                    <a:lnTo>
                      <a:pt x="1389" y="72"/>
                    </a:lnTo>
                    <a:lnTo>
                      <a:pt x="1388" y="66"/>
                    </a:lnTo>
                    <a:lnTo>
                      <a:pt x="1386" y="62"/>
                    </a:lnTo>
                    <a:lnTo>
                      <a:pt x="1385" y="58"/>
                    </a:lnTo>
                    <a:lnTo>
                      <a:pt x="1383" y="53"/>
                    </a:lnTo>
                    <a:lnTo>
                      <a:pt x="1381" y="50"/>
                    </a:lnTo>
                    <a:lnTo>
                      <a:pt x="1379" y="46"/>
                    </a:lnTo>
                    <a:lnTo>
                      <a:pt x="1377" y="40"/>
                    </a:lnTo>
                    <a:lnTo>
                      <a:pt x="1375" y="36"/>
                    </a:lnTo>
                    <a:lnTo>
                      <a:pt x="1374" y="32"/>
                    </a:lnTo>
                    <a:lnTo>
                      <a:pt x="1372" y="28"/>
                    </a:lnTo>
                    <a:lnTo>
                      <a:pt x="1371" y="24"/>
                    </a:lnTo>
                    <a:lnTo>
                      <a:pt x="1369" y="22"/>
                    </a:lnTo>
                    <a:lnTo>
                      <a:pt x="1367" y="18"/>
                    </a:lnTo>
                    <a:lnTo>
                      <a:pt x="1365" y="14"/>
                    </a:lnTo>
                    <a:lnTo>
                      <a:pt x="1363" y="13"/>
                    </a:lnTo>
                    <a:lnTo>
                      <a:pt x="1361" y="10"/>
                    </a:lnTo>
                    <a:lnTo>
                      <a:pt x="1360" y="8"/>
                    </a:lnTo>
                    <a:lnTo>
                      <a:pt x="1358" y="6"/>
                    </a:lnTo>
                    <a:lnTo>
                      <a:pt x="1357" y="5"/>
                    </a:lnTo>
                    <a:lnTo>
                      <a:pt x="1355" y="3"/>
                    </a:lnTo>
                    <a:lnTo>
                      <a:pt x="1354" y="2"/>
                    </a:lnTo>
                    <a:lnTo>
                      <a:pt x="1351" y="2"/>
                    </a:lnTo>
                    <a:lnTo>
                      <a:pt x="1349" y="0"/>
                    </a:lnTo>
                    <a:lnTo>
                      <a:pt x="1348" y="0"/>
                    </a:lnTo>
                    <a:lnTo>
                      <a:pt x="1346" y="0"/>
                    </a:lnTo>
                    <a:lnTo>
                      <a:pt x="1344" y="2"/>
                    </a:lnTo>
                    <a:lnTo>
                      <a:pt x="1342" y="2"/>
                    </a:lnTo>
                    <a:lnTo>
                      <a:pt x="1340" y="3"/>
                    </a:lnTo>
                    <a:lnTo>
                      <a:pt x="1338" y="4"/>
                    </a:lnTo>
                    <a:lnTo>
                      <a:pt x="1337" y="5"/>
                    </a:lnTo>
                    <a:lnTo>
                      <a:pt x="1335" y="8"/>
                    </a:lnTo>
                    <a:lnTo>
                      <a:pt x="1333" y="8"/>
                    </a:lnTo>
                    <a:lnTo>
                      <a:pt x="1330" y="12"/>
                    </a:lnTo>
                    <a:lnTo>
                      <a:pt x="1328" y="14"/>
                    </a:lnTo>
                    <a:lnTo>
                      <a:pt x="1327" y="16"/>
                    </a:lnTo>
                    <a:lnTo>
                      <a:pt x="1325" y="20"/>
                    </a:lnTo>
                    <a:lnTo>
                      <a:pt x="1323" y="23"/>
                    </a:lnTo>
                    <a:lnTo>
                      <a:pt x="1320" y="27"/>
                    </a:lnTo>
                    <a:lnTo>
                      <a:pt x="1319" y="30"/>
                    </a:lnTo>
                    <a:lnTo>
                      <a:pt x="1317" y="34"/>
                    </a:lnTo>
                    <a:lnTo>
                      <a:pt x="1317" y="38"/>
                    </a:lnTo>
                    <a:lnTo>
                      <a:pt x="1315" y="43"/>
                    </a:lnTo>
                    <a:lnTo>
                      <a:pt x="1311" y="46"/>
                    </a:lnTo>
                    <a:lnTo>
                      <a:pt x="1310" y="51"/>
                    </a:lnTo>
                    <a:lnTo>
                      <a:pt x="1307" y="54"/>
                    </a:lnTo>
                    <a:lnTo>
                      <a:pt x="1306" y="60"/>
                    </a:lnTo>
                    <a:lnTo>
                      <a:pt x="1304" y="64"/>
                    </a:lnTo>
                    <a:lnTo>
                      <a:pt x="1301" y="70"/>
                    </a:lnTo>
                    <a:lnTo>
                      <a:pt x="1299" y="73"/>
                    </a:lnTo>
                    <a:lnTo>
                      <a:pt x="1298" y="78"/>
                    </a:lnTo>
                    <a:lnTo>
                      <a:pt x="1296" y="81"/>
                    </a:lnTo>
                    <a:lnTo>
                      <a:pt x="1294" y="86"/>
                    </a:lnTo>
                    <a:lnTo>
                      <a:pt x="1293" y="91"/>
                    </a:lnTo>
                    <a:lnTo>
                      <a:pt x="1291" y="95"/>
                    </a:lnTo>
                    <a:lnTo>
                      <a:pt x="1287" y="99"/>
                    </a:lnTo>
                    <a:lnTo>
                      <a:pt x="1286" y="104"/>
                    </a:lnTo>
                    <a:lnTo>
                      <a:pt x="1284" y="108"/>
                    </a:lnTo>
                    <a:lnTo>
                      <a:pt x="1282" y="112"/>
                    </a:lnTo>
                    <a:lnTo>
                      <a:pt x="1281" y="116"/>
                    </a:lnTo>
                    <a:lnTo>
                      <a:pt x="1278" y="119"/>
                    </a:lnTo>
                    <a:lnTo>
                      <a:pt x="1276" y="124"/>
                    </a:lnTo>
                    <a:lnTo>
                      <a:pt x="1275" y="127"/>
                    </a:lnTo>
                    <a:lnTo>
                      <a:pt x="1274" y="129"/>
                    </a:lnTo>
                    <a:lnTo>
                      <a:pt x="1271" y="133"/>
                    </a:lnTo>
                    <a:lnTo>
                      <a:pt x="1269" y="136"/>
                    </a:lnTo>
                    <a:lnTo>
                      <a:pt x="1267" y="139"/>
                    </a:lnTo>
                    <a:lnTo>
                      <a:pt x="1265" y="140"/>
                    </a:lnTo>
                    <a:lnTo>
                      <a:pt x="1263" y="143"/>
                    </a:lnTo>
                    <a:lnTo>
                      <a:pt x="1261" y="144"/>
                    </a:lnTo>
                    <a:lnTo>
                      <a:pt x="1260" y="146"/>
                    </a:lnTo>
                    <a:lnTo>
                      <a:pt x="1258" y="148"/>
                    </a:lnTo>
                    <a:lnTo>
                      <a:pt x="1256" y="148"/>
                    </a:lnTo>
                    <a:lnTo>
                      <a:pt x="1254" y="148"/>
                    </a:lnTo>
                    <a:lnTo>
                      <a:pt x="1252" y="149"/>
                    </a:lnTo>
                    <a:lnTo>
                      <a:pt x="1250" y="150"/>
                    </a:lnTo>
                    <a:lnTo>
                      <a:pt x="1248" y="149"/>
                    </a:lnTo>
                    <a:lnTo>
                      <a:pt x="1247" y="148"/>
                    </a:lnTo>
                    <a:lnTo>
                      <a:pt x="1245" y="148"/>
                    </a:lnTo>
                    <a:lnTo>
                      <a:pt x="1243" y="148"/>
                    </a:lnTo>
                    <a:lnTo>
                      <a:pt x="1241" y="146"/>
                    </a:lnTo>
                    <a:lnTo>
                      <a:pt x="1240" y="144"/>
                    </a:lnTo>
                    <a:lnTo>
                      <a:pt x="1238" y="142"/>
                    </a:lnTo>
                    <a:lnTo>
                      <a:pt x="1237" y="140"/>
                    </a:lnTo>
                    <a:lnTo>
                      <a:pt x="1235" y="137"/>
                    </a:lnTo>
                    <a:lnTo>
                      <a:pt x="1233" y="135"/>
                    </a:lnTo>
                    <a:lnTo>
                      <a:pt x="1230" y="132"/>
                    </a:lnTo>
                    <a:lnTo>
                      <a:pt x="1228" y="127"/>
                    </a:lnTo>
                    <a:lnTo>
                      <a:pt x="1227" y="125"/>
                    </a:lnTo>
                    <a:lnTo>
                      <a:pt x="1225" y="122"/>
                    </a:lnTo>
                    <a:lnTo>
                      <a:pt x="1223" y="118"/>
                    </a:lnTo>
                    <a:lnTo>
                      <a:pt x="1221" y="114"/>
                    </a:lnTo>
                    <a:lnTo>
                      <a:pt x="1220" y="110"/>
                    </a:lnTo>
                    <a:lnTo>
                      <a:pt x="1219" y="106"/>
                    </a:lnTo>
                    <a:lnTo>
                      <a:pt x="1216" y="101"/>
                    </a:lnTo>
                    <a:lnTo>
                      <a:pt x="1215" y="97"/>
                    </a:lnTo>
                    <a:lnTo>
                      <a:pt x="1213" y="92"/>
                    </a:lnTo>
                    <a:lnTo>
                      <a:pt x="1211" y="89"/>
                    </a:lnTo>
                    <a:lnTo>
                      <a:pt x="1209" y="84"/>
                    </a:lnTo>
                    <a:lnTo>
                      <a:pt x="1208" y="80"/>
                    </a:lnTo>
                    <a:lnTo>
                      <a:pt x="1206" y="74"/>
                    </a:lnTo>
                    <a:lnTo>
                      <a:pt x="1206" y="74"/>
                    </a:lnTo>
                    <a:lnTo>
                      <a:pt x="1205" y="70"/>
                    </a:lnTo>
                    <a:lnTo>
                      <a:pt x="1203" y="65"/>
                    </a:lnTo>
                    <a:lnTo>
                      <a:pt x="1201" y="61"/>
                    </a:lnTo>
                    <a:lnTo>
                      <a:pt x="1200" y="56"/>
                    </a:lnTo>
                    <a:lnTo>
                      <a:pt x="1198" y="52"/>
                    </a:lnTo>
                    <a:lnTo>
                      <a:pt x="1197" y="48"/>
                    </a:lnTo>
                    <a:lnTo>
                      <a:pt x="1194" y="43"/>
                    </a:lnTo>
                    <a:lnTo>
                      <a:pt x="1192" y="40"/>
                    </a:lnTo>
                    <a:lnTo>
                      <a:pt x="1190" y="35"/>
                    </a:lnTo>
                    <a:lnTo>
                      <a:pt x="1189" y="30"/>
                    </a:lnTo>
                    <a:lnTo>
                      <a:pt x="1186" y="27"/>
                    </a:lnTo>
                    <a:lnTo>
                      <a:pt x="1185" y="23"/>
                    </a:lnTo>
                    <a:lnTo>
                      <a:pt x="1184" y="20"/>
                    </a:lnTo>
                    <a:lnTo>
                      <a:pt x="1181" y="16"/>
                    </a:lnTo>
                    <a:lnTo>
                      <a:pt x="1181" y="14"/>
                    </a:lnTo>
                    <a:lnTo>
                      <a:pt x="1178" y="12"/>
                    </a:lnTo>
                    <a:lnTo>
                      <a:pt x="1177" y="10"/>
                    </a:lnTo>
                    <a:lnTo>
                      <a:pt x="1174" y="6"/>
                    </a:lnTo>
                    <a:lnTo>
                      <a:pt x="1172" y="6"/>
                    </a:lnTo>
                    <a:lnTo>
                      <a:pt x="1170" y="3"/>
                    </a:lnTo>
                    <a:lnTo>
                      <a:pt x="1170" y="2"/>
                    </a:lnTo>
                    <a:lnTo>
                      <a:pt x="1169" y="2"/>
                    </a:lnTo>
                    <a:lnTo>
                      <a:pt x="1167" y="0"/>
                    </a:lnTo>
                    <a:lnTo>
                      <a:pt x="1164" y="0"/>
                    </a:lnTo>
                    <a:lnTo>
                      <a:pt x="1162" y="0"/>
                    </a:lnTo>
                    <a:lnTo>
                      <a:pt x="1162" y="0"/>
                    </a:lnTo>
                    <a:lnTo>
                      <a:pt x="1159" y="0"/>
                    </a:lnTo>
                    <a:lnTo>
                      <a:pt x="1157" y="2"/>
                    </a:lnTo>
                    <a:lnTo>
                      <a:pt x="1155" y="2"/>
                    </a:lnTo>
                    <a:lnTo>
                      <a:pt x="1153" y="3"/>
                    </a:lnTo>
                    <a:lnTo>
                      <a:pt x="1152" y="4"/>
                    </a:lnTo>
                    <a:lnTo>
                      <a:pt x="1149" y="6"/>
                    </a:lnTo>
                    <a:lnTo>
                      <a:pt x="1147" y="8"/>
                    </a:lnTo>
                    <a:lnTo>
                      <a:pt x="1145" y="11"/>
                    </a:lnTo>
                    <a:lnTo>
                      <a:pt x="1143" y="14"/>
                    </a:lnTo>
                    <a:lnTo>
                      <a:pt x="1142" y="16"/>
                    </a:lnTo>
                    <a:lnTo>
                      <a:pt x="1141" y="20"/>
                    </a:lnTo>
                    <a:lnTo>
                      <a:pt x="1137" y="23"/>
                    </a:lnTo>
                    <a:lnTo>
                      <a:pt x="1135" y="26"/>
                    </a:lnTo>
                    <a:lnTo>
                      <a:pt x="1133" y="29"/>
                    </a:lnTo>
                    <a:lnTo>
                      <a:pt x="1132" y="33"/>
                    </a:lnTo>
                    <a:lnTo>
                      <a:pt x="1130" y="37"/>
                    </a:lnTo>
                    <a:lnTo>
                      <a:pt x="1128" y="41"/>
                    </a:lnTo>
                    <a:lnTo>
                      <a:pt x="1126" y="46"/>
                    </a:lnTo>
                    <a:lnTo>
                      <a:pt x="1125" y="50"/>
                    </a:lnTo>
                    <a:lnTo>
                      <a:pt x="1123" y="54"/>
                    </a:lnTo>
                    <a:lnTo>
                      <a:pt x="1120" y="60"/>
                    </a:lnTo>
                    <a:lnTo>
                      <a:pt x="1118" y="63"/>
                    </a:lnTo>
                    <a:lnTo>
                      <a:pt x="1116" y="68"/>
                    </a:lnTo>
                    <a:lnTo>
                      <a:pt x="1115" y="72"/>
                    </a:lnTo>
                    <a:lnTo>
                      <a:pt x="1112" y="80"/>
                    </a:lnTo>
                    <a:lnTo>
                      <a:pt x="1110" y="82"/>
                    </a:lnTo>
                    <a:lnTo>
                      <a:pt x="1108" y="88"/>
                    </a:lnTo>
                    <a:lnTo>
                      <a:pt x="1106" y="92"/>
                    </a:lnTo>
                    <a:lnTo>
                      <a:pt x="1104" y="97"/>
                    </a:lnTo>
                    <a:lnTo>
                      <a:pt x="1102" y="101"/>
                    </a:lnTo>
                    <a:lnTo>
                      <a:pt x="1099" y="106"/>
                    </a:lnTo>
                    <a:lnTo>
                      <a:pt x="1097" y="110"/>
                    </a:lnTo>
                    <a:lnTo>
                      <a:pt x="1096" y="114"/>
                    </a:lnTo>
                    <a:lnTo>
                      <a:pt x="1094" y="118"/>
                    </a:lnTo>
                    <a:lnTo>
                      <a:pt x="1093" y="121"/>
                    </a:lnTo>
                    <a:lnTo>
                      <a:pt x="1091" y="125"/>
                    </a:lnTo>
                    <a:lnTo>
                      <a:pt x="1089" y="128"/>
                    </a:lnTo>
                    <a:lnTo>
                      <a:pt x="1087" y="131"/>
                    </a:lnTo>
                    <a:lnTo>
                      <a:pt x="1085" y="134"/>
                    </a:lnTo>
                    <a:lnTo>
                      <a:pt x="1084" y="137"/>
                    </a:lnTo>
                    <a:lnTo>
                      <a:pt x="1081" y="140"/>
                    </a:lnTo>
                    <a:lnTo>
                      <a:pt x="1079" y="142"/>
                    </a:lnTo>
                    <a:lnTo>
                      <a:pt x="1077" y="144"/>
                    </a:lnTo>
                    <a:lnTo>
                      <a:pt x="1075" y="146"/>
                    </a:lnTo>
                    <a:lnTo>
                      <a:pt x="1074" y="148"/>
                    </a:lnTo>
                    <a:lnTo>
                      <a:pt x="1072" y="148"/>
                    </a:lnTo>
                    <a:lnTo>
                      <a:pt x="1070" y="150"/>
                    </a:lnTo>
                    <a:lnTo>
                      <a:pt x="1068" y="150"/>
                    </a:lnTo>
                    <a:lnTo>
                      <a:pt x="1065" y="151"/>
                    </a:lnTo>
                    <a:lnTo>
                      <a:pt x="1064" y="151"/>
                    </a:lnTo>
                    <a:lnTo>
                      <a:pt x="1063" y="151"/>
                    </a:lnTo>
                    <a:lnTo>
                      <a:pt x="1061" y="150"/>
                    </a:lnTo>
                    <a:lnTo>
                      <a:pt x="1059" y="150"/>
                    </a:lnTo>
                    <a:lnTo>
                      <a:pt x="1057" y="148"/>
                    </a:lnTo>
                    <a:lnTo>
                      <a:pt x="1055" y="148"/>
                    </a:lnTo>
                    <a:lnTo>
                      <a:pt x="1053" y="146"/>
                    </a:lnTo>
                    <a:lnTo>
                      <a:pt x="1052" y="144"/>
                    </a:lnTo>
                    <a:lnTo>
                      <a:pt x="1049" y="142"/>
                    </a:lnTo>
                    <a:lnTo>
                      <a:pt x="1048" y="139"/>
                    </a:lnTo>
                    <a:lnTo>
                      <a:pt x="1045" y="136"/>
                    </a:lnTo>
                    <a:lnTo>
                      <a:pt x="1044" y="134"/>
                    </a:lnTo>
                    <a:lnTo>
                      <a:pt x="1042" y="129"/>
                    </a:lnTo>
                    <a:lnTo>
                      <a:pt x="1041" y="127"/>
                    </a:lnTo>
                    <a:lnTo>
                      <a:pt x="1039" y="124"/>
                    </a:lnTo>
                    <a:lnTo>
                      <a:pt x="1037" y="119"/>
                    </a:lnTo>
                    <a:lnTo>
                      <a:pt x="1036" y="116"/>
                    </a:lnTo>
                    <a:lnTo>
                      <a:pt x="1034" y="112"/>
                    </a:lnTo>
                    <a:lnTo>
                      <a:pt x="1033" y="108"/>
                    </a:lnTo>
                    <a:lnTo>
                      <a:pt x="1031" y="104"/>
                    </a:lnTo>
                    <a:lnTo>
                      <a:pt x="1029" y="99"/>
                    </a:lnTo>
                    <a:lnTo>
                      <a:pt x="1026" y="95"/>
                    </a:lnTo>
                    <a:lnTo>
                      <a:pt x="1026" y="90"/>
                    </a:lnTo>
                    <a:lnTo>
                      <a:pt x="1024" y="86"/>
                    </a:lnTo>
                    <a:lnTo>
                      <a:pt x="1022" y="81"/>
                    </a:lnTo>
                    <a:lnTo>
                      <a:pt x="1020" y="78"/>
                    </a:lnTo>
                    <a:lnTo>
                      <a:pt x="1020" y="76"/>
                    </a:lnTo>
                    <a:lnTo>
                      <a:pt x="1019" y="72"/>
                    </a:lnTo>
                    <a:lnTo>
                      <a:pt x="1016" y="68"/>
                    </a:lnTo>
                    <a:lnTo>
                      <a:pt x="1016" y="63"/>
                    </a:lnTo>
                    <a:lnTo>
                      <a:pt x="1013" y="58"/>
                    </a:lnTo>
                    <a:lnTo>
                      <a:pt x="1012" y="54"/>
                    </a:lnTo>
                    <a:lnTo>
                      <a:pt x="1011" y="50"/>
                    </a:lnTo>
                    <a:lnTo>
                      <a:pt x="1009" y="46"/>
                    </a:lnTo>
                    <a:lnTo>
                      <a:pt x="1007" y="40"/>
                    </a:lnTo>
                    <a:lnTo>
                      <a:pt x="1005" y="36"/>
                    </a:lnTo>
                    <a:lnTo>
                      <a:pt x="1002" y="33"/>
                    </a:lnTo>
                    <a:lnTo>
                      <a:pt x="1001" y="29"/>
                    </a:lnTo>
                    <a:lnTo>
                      <a:pt x="999" y="25"/>
                    </a:lnTo>
                    <a:lnTo>
                      <a:pt x="997" y="22"/>
                    </a:lnTo>
                    <a:lnTo>
                      <a:pt x="996" y="20"/>
                    </a:lnTo>
                    <a:lnTo>
                      <a:pt x="995" y="16"/>
                    </a:lnTo>
                    <a:lnTo>
                      <a:pt x="993" y="14"/>
                    </a:lnTo>
                    <a:lnTo>
                      <a:pt x="991" y="12"/>
                    </a:lnTo>
                    <a:lnTo>
                      <a:pt x="989" y="8"/>
                    </a:lnTo>
                    <a:lnTo>
                      <a:pt x="987" y="8"/>
                    </a:lnTo>
                    <a:lnTo>
                      <a:pt x="986" y="5"/>
                    </a:lnTo>
                    <a:lnTo>
                      <a:pt x="983" y="4"/>
                    </a:lnTo>
                    <a:lnTo>
                      <a:pt x="981" y="3"/>
                    </a:lnTo>
                    <a:lnTo>
                      <a:pt x="979" y="2"/>
                    </a:lnTo>
                    <a:lnTo>
                      <a:pt x="977" y="2"/>
                    </a:lnTo>
                    <a:lnTo>
                      <a:pt x="976" y="2"/>
                    </a:lnTo>
                    <a:lnTo>
                      <a:pt x="975" y="2"/>
                    </a:lnTo>
                    <a:lnTo>
                      <a:pt x="973" y="2"/>
                    </a:lnTo>
                    <a:lnTo>
                      <a:pt x="971" y="3"/>
                    </a:lnTo>
                    <a:lnTo>
                      <a:pt x="969" y="3"/>
                    </a:lnTo>
                    <a:lnTo>
                      <a:pt x="967" y="5"/>
                    </a:lnTo>
                    <a:lnTo>
                      <a:pt x="965" y="6"/>
                    </a:lnTo>
                    <a:lnTo>
                      <a:pt x="963" y="8"/>
                    </a:lnTo>
                    <a:lnTo>
                      <a:pt x="961" y="10"/>
                    </a:lnTo>
                    <a:lnTo>
                      <a:pt x="959" y="14"/>
                    </a:lnTo>
                    <a:lnTo>
                      <a:pt x="958" y="16"/>
                    </a:lnTo>
                    <a:lnTo>
                      <a:pt x="956" y="19"/>
                    </a:lnTo>
                    <a:lnTo>
                      <a:pt x="953" y="20"/>
                    </a:lnTo>
                    <a:lnTo>
                      <a:pt x="951" y="23"/>
                    </a:lnTo>
                    <a:lnTo>
                      <a:pt x="949" y="27"/>
                    </a:lnTo>
                    <a:lnTo>
                      <a:pt x="949" y="32"/>
                    </a:lnTo>
                    <a:lnTo>
                      <a:pt x="946" y="34"/>
                    </a:lnTo>
                    <a:lnTo>
                      <a:pt x="945" y="38"/>
                    </a:lnTo>
                    <a:lnTo>
                      <a:pt x="941" y="43"/>
                    </a:lnTo>
                    <a:lnTo>
                      <a:pt x="940" y="48"/>
                    </a:lnTo>
                    <a:lnTo>
                      <a:pt x="938" y="52"/>
                    </a:lnTo>
                    <a:lnTo>
                      <a:pt x="936" y="56"/>
                    </a:lnTo>
                    <a:lnTo>
                      <a:pt x="934" y="60"/>
                    </a:lnTo>
                    <a:lnTo>
                      <a:pt x="932" y="64"/>
                    </a:lnTo>
                    <a:lnTo>
                      <a:pt x="929" y="70"/>
                    </a:lnTo>
                    <a:lnTo>
                      <a:pt x="928" y="74"/>
                    </a:lnTo>
                    <a:lnTo>
                      <a:pt x="927" y="78"/>
                    </a:lnTo>
                    <a:lnTo>
                      <a:pt x="924" y="81"/>
                    </a:lnTo>
                    <a:lnTo>
                      <a:pt x="922" y="87"/>
                    </a:lnTo>
                    <a:lnTo>
                      <a:pt x="920" y="91"/>
                    </a:lnTo>
                    <a:lnTo>
                      <a:pt x="919" y="96"/>
                    </a:lnTo>
                    <a:lnTo>
                      <a:pt x="917" y="100"/>
                    </a:lnTo>
                    <a:lnTo>
                      <a:pt x="915" y="104"/>
                    </a:lnTo>
                    <a:lnTo>
                      <a:pt x="913" y="108"/>
                    </a:lnTo>
                    <a:lnTo>
                      <a:pt x="910" y="112"/>
                    </a:lnTo>
                    <a:lnTo>
                      <a:pt x="908" y="116"/>
                    </a:lnTo>
                    <a:lnTo>
                      <a:pt x="907" y="121"/>
                    </a:lnTo>
                    <a:lnTo>
                      <a:pt x="905" y="124"/>
                    </a:lnTo>
                    <a:lnTo>
                      <a:pt x="903" y="127"/>
                    </a:lnTo>
                    <a:lnTo>
                      <a:pt x="902" y="129"/>
                    </a:lnTo>
                    <a:lnTo>
                      <a:pt x="900" y="134"/>
                    </a:lnTo>
                    <a:lnTo>
                      <a:pt x="898" y="136"/>
                    </a:lnTo>
                    <a:lnTo>
                      <a:pt x="897" y="139"/>
                    </a:lnTo>
                    <a:lnTo>
                      <a:pt x="895" y="141"/>
                    </a:lnTo>
                    <a:lnTo>
                      <a:pt x="893" y="143"/>
                    </a:lnTo>
                    <a:lnTo>
                      <a:pt x="889" y="146"/>
                    </a:lnTo>
                    <a:lnTo>
                      <a:pt x="888" y="146"/>
                    </a:lnTo>
                    <a:lnTo>
                      <a:pt x="887" y="148"/>
                    </a:lnTo>
                    <a:lnTo>
                      <a:pt x="885" y="148"/>
                    </a:lnTo>
                    <a:lnTo>
                      <a:pt x="882" y="150"/>
                    </a:lnTo>
                    <a:lnTo>
                      <a:pt x="880" y="150"/>
                    </a:lnTo>
                    <a:lnTo>
                      <a:pt x="878" y="150"/>
                    </a:lnTo>
                    <a:lnTo>
                      <a:pt x="878" y="150"/>
                    </a:lnTo>
                    <a:lnTo>
                      <a:pt x="875" y="149"/>
                    </a:lnTo>
                    <a:lnTo>
                      <a:pt x="873" y="148"/>
                    </a:lnTo>
                    <a:lnTo>
                      <a:pt x="871" y="148"/>
                    </a:lnTo>
                    <a:lnTo>
                      <a:pt x="870" y="146"/>
                    </a:lnTo>
                    <a:lnTo>
                      <a:pt x="869" y="144"/>
                    </a:lnTo>
                    <a:lnTo>
                      <a:pt x="866" y="143"/>
                    </a:lnTo>
                    <a:lnTo>
                      <a:pt x="865" y="141"/>
                    </a:lnTo>
                    <a:lnTo>
                      <a:pt x="863" y="139"/>
                    </a:lnTo>
                    <a:lnTo>
                      <a:pt x="861" y="135"/>
                    </a:lnTo>
                    <a:lnTo>
                      <a:pt x="859" y="132"/>
                    </a:lnTo>
                    <a:lnTo>
                      <a:pt x="857" y="128"/>
                    </a:lnTo>
                    <a:lnTo>
                      <a:pt x="855" y="126"/>
                    </a:lnTo>
                    <a:lnTo>
                      <a:pt x="854" y="122"/>
                    </a:lnTo>
                    <a:lnTo>
                      <a:pt x="852" y="119"/>
                    </a:lnTo>
                    <a:lnTo>
                      <a:pt x="850" y="116"/>
                    </a:lnTo>
                    <a:lnTo>
                      <a:pt x="849" y="110"/>
                    </a:lnTo>
                    <a:lnTo>
                      <a:pt x="848" y="108"/>
                    </a:lnTo>
                    <a:lnTo>
                      <a:pt x="845" y="102"/>
                    </a:lnTo>
                    <a:lnTo>
                      <a:pt x="843" y="98"/>
                    </a:lnTo>
                    <a:lnTo>
                      <a:pt x="841" y="94"/>
                    </a:lnTo>
                    <a:lnTo>
                      <a:pt x="841" y="89"/>
                    </a:lnTo>
                    <a:lnTo>
                      <a:pt x="839" y="84"/>
                    </a:lnTo>
                    <a:lnTo>
                      <a:pt x="835" y="81"/>
                    </a:lnTo>
                    <a:lnTo>
                      <a:pt x="834" y="76"/>
                    </a:lnTo>
                    <a:lnTo>
                      <a:pt x="834" y="76"/>
                    </a:lnTo>
                    <a:lnTo>
                      <a:pt x="832" y="71"/>
                    </a:lnTo>
                    <a:lnTo>
                      <a:pt x="831" y="66"/>
                    </a:lnTo>
                    <a:lnTo>
                      <a:pt x="829" y="62"/>
                    </a:lnTo>
                    <a:lnTo>
                      <a:pt x="829" y="58"/>
                    </a:lnTo>
                    <a:lnTo>
                      <a:pt x="827" y="53"/>
                    </a:lnTo>
                    <a:lnTo>
                      <a:pt x="825" y="49"/>
                    </a:lnTo>
                    <a:lnTo>
                      <a:pt x="823" y="44"/>
                    </a:lnTo>
                    <a:lnTo>
                      <a:pt x="821" y="40"/>
                    </a:lnTo>
                    <a:lnTo>
                      <a:pt x="819" y="35"/>
                    </a:lnTo>
                    <a:lnTo>
                      <a:pt x="817" y="32"/>
                    </a:lnTo>
                    <a:lnTo>
                      <a:pt x="815" y="28"/>
                    </a:lnTo>
                    <a:lnTo>
                      <a:pt x="813" y="24"/>
                    </a:lnTo>
                    <a:lnTo>
                      <a:pt x="812" y="21"/>
                    </a:lnTo>
                    <a:lnTo>
                      <a:pt x="810" y="18"/>
                    </a:lnTo>
                    <a:lnTo>
                      <a:pt x="809" y="14"/>
                    </a:lnTo>
                    <a:lnTo>
                      <a:pt x="807" y="12"/>
                    </a:lnTo>
                    <a:lnTo>
                      <a:pt x="805" y="10"/>
                    </a:lnTo>
                    <a:lnTo>
                      <a:pt x="803" y="8"/>
                    </a:lnTo>
                    <a:lnTo>
                      <a:pt x="802" y="6"/>
                    </a:lnTo>
                    <a:lnTo>
                      <a:pt x="800" y="4"/>
                    </a:lnTo>
                    <a:lnTo>
                      <a:pt x="799" y="3"/>
                    </a:lnTo>
                    <a:lnTo>
                      <a:pt x="797" y="2"/>
                    </a:lnTo>
                    <a:lnTo>
                      <a:pt x="795" y="2"/>
                    </a:lnTo>
                    <a:lnTo>
                      <a:pt x="793" y="0"/>
                    </a:lnTo>
                    <a:lnTo>
                      <a:pt x="792" y="0"/>
                    </a:lnTo>
                    <a:lnTo>
                      <a:pt x="789" y="0"/>
                    </a:lnTo>
                    <a:lnTo>
                      <a:pt x="787" y="0"/>
                    </a:lnTo>
                    <a:lnTo>
                      <a:pt x="785" y="2"/>
                    </a:lnTo>
                    <a:lnTo>
                      <a:pt x="783" y="2"/>
                    </a:lnTo>
                    <a:lnTo>
                      <a:pt x="782" y="3"/>
                    </a:lnTo>
                    <a:lnTo>
                      <a:pt x="780" y="5"/>
                    </a:lnTo>
                    <a:lnTo>
                      <a:pt x="777" y="6"/>
                    </a:lnTo>
                    <a:lnTo>
                      <a:pt x="775" y="8"/>
                    </a:lnTo>
                    <a:lnTo>
                      <a:pt x="773" y="12"/>
                    </a:lnTo>
                    <a:lnTo>
                      <a:pt x="772" y="14"/>
                    </a:lnTo>
                    <a:lnTo>
                      <a:pt x="771" y="16"/>
                    </a:lnTo>
                    <a:lnTo>
                      <a:pt x="769" y="20"/>
                    </a:lnTo>
                    <a:lnTo>
                      <a:pt x="766" y="23"/>
                    </a:lnTo>
                    <a:lnTo>
                      <a:pt x="765" y="26"/>
                    </a:lnTo>
                    <a:lnTo>
                      <a:pt x="763" y="30"/>
                    </a:lnTo>
                    <a:lnTo>
                      <a:pt x="761" y="34"/>
                    </a:lnTo>
                    <a:lnTo>
                      <a:pt x="759" y="38"/>
                    </a:lnTo>
                    <a:lnTo>
                      <a:pt x="756" y="43"/>
                    </a:lnTo>
                    <a:lnTo>
                      <a:pt x="754" y="46"/>
                    </a:lnTo>
                    <a:lnTo>
                      <a:pt x="754" y="51"/>
                    </a:lnTo>
                    <a:lnTo>
                      <a:pt x="751" y="54"/>
                    </a:lnTo>
                    <a:lnTo>
                      <a:pt x="749" y="60"/>
                    </a:lnTo>
                    <a:lnTo>
                      <a:pt x="748" y="64"/>
                    </a:lnTo>
                    <a:lnTo>
                      <a:pt x="745" y="68"/>
                    </a:lnTo>
                    <a:lnTo>
                      <a:pt x="744" y="73"/>
                    </a:lnTo>
                    <a:lnTo>
                      <a:pt x="739" y="81"/>
                    </a:lnTo>
                    <a:lnTo>
                      <a:pt x="737" y="86"/>
                    </a:lnTo>
                    <a:lnTo>
                      <a:pt x="735" y="90"/>
                    </a:lnTo>
                    <a:lnTo>
                      <a:pt x="733" y="94"/>
                    </a:lnTo>
                    <a:lnTo>
                      <a:pt x="731" y="99"/>
                    </a:lnTo>
                    <a:lnTo>
                      <a:pt x="729" y="104"/>
                    </a:lnTo>
                    <a:lnTo>
                      <a:pt x="727" y="108"/>
                    </a:lnTo>
                    <a:lnTo>
                      <a:pt x="726" y="112"/>
                    </a:lnTo>
                    <a:lnTo>
                      <a:pt x="722" y="116"/>
                    </a:lnTo>
                    <a:lnTo>
                      <a:pt x="722" y="121"/>
                    </a:lnTo>
                    <a:lnTo>
                      <a:pt x="719" y="124"/>
                    </a:lnTo>
                    <a:lnTo>
                      <a:pt x="717" y="127"/>
                    </a:lnTo>
                    <a:lnTo>
                      <a:pt x="715" y="131"/>
                    </a:lnTo>
                    <a:lnTo>
                      <a:pt x="715" y="133"/>
                    </a:lnTo>
                    <a:lnTo>
                      <a:pt x="712" y="137"/>
                    </a:lnTo>
                    <a:lnTo>
                      <a:pt x="711" y="140"/>
                    </a:lnTo>
                    <a:lnTo>
                      <a:pt x="709" y="143"/>
                    </a:lnTo>
                    <a:lnTo>
                      <a:pt x="706" y="146"/>
                    </a:lnTo>
                    <a:lnTo>
                      <a:pt x="704" y="148"/>
                    </a:lnTo>
                    <a:lnTo>
                      <a:pt x="702" y="148"/>
                    </a:lnTo>
                    <a:lnTo>
                      <a:pt x="701" y="150"/>
                    </a:lnTo>
                    <a:lnTo>
                      <a:pt x="698" y="151"/>
                    </a:lnTo>
                    <a:lnTo>
                      <a:pt x="696" y="152"/>
                    </a:lnTo>
                    <a:lnTo>
                      <a:pt x="695" y="154"/>
                    </a:lnTo>
                    <a:lnTo>
                      <a:pt x="693" y="154"/>
                    </a:lnTo>
                    <a:lnTo>
                      <a:pt x="692" y="154"/>
                    </a:lnTo>
                    <a:lnTo>
                      <a:pt x="690" y="154"/>
                    </a:lnTo>
                    <a:lnTo>
                      <a:pt x="686" y="154"/>
                    </a:lnTo>
                    <a:lnTo>
                      <a:pt x="686" y="152"/>
                    </a:lnTo>
                    <a:lnTo>
                      <a:pt x="684" y="151"/>
                    </a:lnTo>
                    <a:lnTo>
                      <a:pt x="682" y="150"/>
                    </a:lnTo>
                    <a:lnTo>
                      <a:pt x="680" y="148"/>
                    </a:lnTo>
                    <a:lnTo>
                      <a:pt x="678" y="146"/>
                    </a:lnTo>
                    <a:lnTo>
                      <a:pt x="677" y="144"/>
                    </a:lnTo>
                    <a:lnTo>
                      <a:pt x="675" y="142"/>
                    </a:lnTo>
                    <a:lnTo>
                      <a:pt x="673" y="139"/>
                    </a:lnTo>
                    <a:lnTo>
                      <a:pt x="672" y="136"/>
                    </a:lnTo>
                    <a:lnTo>
                      <a:pt x="668" y="131"/>
                    </a:lnTo>
                    <a:lnTo>
                      <a:pt x="668" y="129"/>
                    </a:lnTo>
                    <a:lnTo>
                      <a:pt x="666" y="126"/>
                    </a:lnTo>
                    <a:lnTo>
                      <a:pt x="664" y="122"/>
                    </a:lnTo>
                    <a:lnTo>
                      <a:pt x="663" y="119"/>
                    </a:lnTo>
                    <a:lnTo>
                      <a:pt x="661" y="114"/>
                    </a:lnTo>
                    <a:lnTo>
                      <a:pt x="659" y="110"/>
                    </a:lnTo>
                    <a:lnTo>
                      <a:pt x="657" y="106"/>
                    </a:lnTo>
                    <a:lnTo>
                      <a:pt x="656" y="101"/>
                    </a:lnTo>
                    <a:lnTo>
                      <a:pt x="654" y="97"/>
                    </a:lnTo>
                    <a:lnTo>
                      <a:pt x="653" y="92"/>
                    </a:lnTo>
                    <a:lnTo>
                      <a:pt x="651" y="88"/>
                    </a:lnTo>
                    <a:lnTo>
                      <a:pt x="649" y="82"/>
                    </a:lnTo>
                    <a:lnTo>
                      <a:pt x="647" y="80"/>
                    </a:lnTo>
                    <a:lnTo>
                      <a:pt x="647" y="80"/>
                    </a:lnTo>
                    <a:lnTo>
                      <a:pt x="646" y="74"/>
                    </a:lnTo>
                    <a:lnTo>
                      <a:pt x="644" y="70"/>
                    </a:lnTo>
                    <a:lnTo>
                      <a:pt x="642" y="64"/>
                    </a:lnTo>
                    <a:lnTo>
                      <a:pt x="640" y="61"/>
                    </a:lnTo>
                    <a:lnTo>
                      <a:pt x="639" y="56"/>
                    </a:lnTo>
                    <a:lnTo>
                      <a:pt x="637" y="53"/>
                    </a:lnTo>
                    <a:lnTo>
                      <a:pt x="636" y="48"/>
                    </a:lnTo>
                    <a:lnTo>
                      <a:pt x="633" y="43"/>
                    </a:lnTo>
                    <a:lnTo>
                      <a:pt x="632" y="40"/>
                    </a:lnTo>
                    <a:lnTo>
                      <a:pt x="629" y="35"/>
                    </a:lnTo>
                    <a:lnTo>
                      <a:pt x="629" y="32"/>
                    </a:lnTo>
                    <a:lnTo>
                      <a:pt x="627" y="27"/>
                    </a:lnTo>
                    <a:lnTo>
                      <a:pt x="624" y="24"/>
                    </a:lnTo>
                    <a:lnTo>
                      <a:pt x="623" y="22"/>
                    </a:lnTo>
                    <a:lnTo>
                      <a:pt x="621" y="19"/>
                    </a:lnTo>
                    <a:lnTo>
                      <a:pt x="619" y="16"/>
                    </a:lnTo>
                    <a:lnTo>
                      <a:pt x="617" y="14"/>
                    </a:lnTo>
                    <a:lnTo>
                      <a:pt x="617" y="12"/>
                    </a:lnTo>
                    <a:lnTo>
                      <a:pt x="614" y="10"/>
                    </a:lnTo>
                    <a:lnTo>
                      <a:pt x="613" y="8"/>
                    </a:lnTo>
                    <a:lnTo>
                      <a:pt x="610" y="6"/>
                    </a:lnTo>
                    <a:lnTo>
                      <a:pt x="608" y="5"/>
                    </a:lnTo>
                    <a:lnTo>
                      <a:pt x="607" y="5"/>
                    </a:lnTo>
                    <a:lnTo>
                      <a:pt x="605" y="3"/>
                    </a:lnTo>
                    <a:lnTo>
                      <a:pt x="603" y="3"/>
                    </a:lnTo>
                    <a:lnTo>
                      <a:pt x="602" y="3"/>
                    </a:lnTo>
                    <a:lnTo>
                      <a:pt x="600" y="5"/>
                    </a:lnTo>
                    <a:lnTo>
                      <a:pt x="598" y="5"/>
                    </a:lnTo>
                    <a:lnTo>
                      <a:pt x="597" y="6"/>
                    </a:lnTo>
                    <a:lnTo>
                      <a:pt x="594" y="8"/>
                    </a:lnTo>
                    <a:lnTo>
                      <a:pt x="591" y="8"/>
                    </a:lnTo>
                    <a:lnTo>
                      <a:pt x="590" y="10"/>
                    </a:lnTo>
                    <a:lnTo>
                      <a:pt x="588" y="13"/>
                    </a:lnTo>
                    <a:lnTo>
                      <a:pt x="586" y="14"/>
                    </a:lnTo>
                    <a:lnTo>
                      <a:pt x="584" y="18"/>
                    </a:lnTo>
                    <a:lnTo>
                      <a:pt x="582" y="20"/>
                    </a:lnTo>
                    <a:lnTo>
                      <a:pt x="580" y="23"/>
                    </a:lnTo>
                    <a:lnTo>
                      <a:pt x="579" y="26"/>
                    </a:lnTo>
                    <a:lnTo>
                      <a:pt x="577" y="30"/>
                    </a:lnTo>
                    <a:lnTo>
                      <a:pt x="576" y="34"/>
                    </a:lnTo>
                    <a:lnTo>
                      <a:pt x="573" y="37"/>
                    </a:lnTo>
                    <a:lnTo>
                      <a:pt x="571" y="41"/>
                    </a:lnTo>
                    <a:lnTo>
                      <a:pt x="570" y="46"/>
                    </a:lnTo>
                    <a:lnTo>
                      <a:pt x="567" y="50"/>
                    </a:lnTo>
                    <a:lnTo>
                      <a:pt x="565" y="54"/>
                    </a:lnTo>
                    <a:lnTo>
                      <a:pt x="563" y="58"/>
                    </a:lnTo>
                    <a:lnTo>
                      <a:pt x="561" y="63"/>
                    </a:lnTo>
                    <a:lnTo>
                      <a:pt x="559" y="68"/>
                    </a:lnTo>
                    <a:lnTo>
                      <a:pt x="558" y="72"/>
                    </a:lnTo>
                    <a:lnTo>
                      <a:pt x="556" y="76"/>
                    </a:lnTo>
                    <a:lnTo>
                      <a:pt x="553" y="81"/>
                    </a:lnTo>
                    <a:lnTo>
                      <a:pt x="551" y="84"/>
                    </a:lnTo>
                    <a:lnTo>
                      <a:pt x="549" y="90"/>
                    </a:lnTo>
                    <a:lnTo>
                      <a:pt x="548" y="94"/>
                    </a:lnTo>
                    <a:lnTo>
                      <a:pt x="546" y="98"/>
                    </a:lnTo>
                    <a:lnTo>
                      <a:pt x="543" y="102"/>
                    </a:lnTo>
                    <a:lnTo>
                      <a:pt x="542" y="108"/>
                    </a:lnTo>
                    <a:lnTo>
                      <a:pt x="540" y="111"/>
                    </a:lnTo>
                    <a:lnTo>
                      <a:pt x="539" y="116"/>
                    </a:lnTo>
                    <a:lnTo>
                      <a:pt x="537" y="119"/>
                    </a:lnTo>
                    <a:lnTo>
                      <a:pt x="534" y="122"/>
                    </a:lnTo>
                    <a:lnTo>
                      <a:pt x="532" y="127"/>
                    </a:lnTo>
                    <a:lnTo>
                      <a:pt x="530" y="130"/>
                    </a:lnTo>
                    <a:lnTo>
                      <a:pt x="529" y="132"/>
                    </a:lnTo>
                    <a:lnTo>
                      <a:pt x="526" y="136"/>
                    </a:lnTo>
                    <a:lnTo>
                      <a:pt x="526" y="139"/>
                    </a:lnTo>
                    <a:lnTo>
                      <a:pt x="522" y="142"/>
                    </a:lnTo>
                    <a:lnTo>
                      <a:pt x="521" y="144"/>
                    </a:lnTo>
                    <a:lnTo>
                      <a:pt x="519" y="146"/>
                    </a:lnTo>
                    <a:lnTo>
                      <a:pt x="518" y="148"/>
                    </a:lnTo>
                    <a:lnTo>
                      <a:pt x="515" y="148"/>
                    </a:lnTo>
                    <a:lnTo>
                      <a:pt x="513" y="150"/>
                    </a:lnTo>
                    <a:lnTo>
                      <a:pt x="511" y="151"/>
                    </a:lnTo>
                    <a:lnTo>
                      <a:pt x="509" y="152"/>
                    </a:lnTo>
                    <a:lnTo>
                      <a:pt x="508" y="152"/>
                    </a:lnTo>
                    <a:lnTo>
                      <a:pt x="506" y="152"/>
                    </a:lnTo>
                    <a:lnTo>
                      <a:pt x="505" y="152"/>
                    </a:lnTo>
                    <a:lnTo>
                      <a:pt x="503" y="152"/>
                    </a:lnTo>
                    <a:lnTo>
                      <a:pt x="499" y="150"/>
                    </a:lnTo>
                    <a:lnTo>
                      <a:pt x="499" y="150"/>
                    </a:lnTo>
                    <a:lnTo>
                      <a:pt x="497" y="148"/>
                    </a:lnTo>
                    <a:lnTo>
                      <a:pt x="495" y="148"/>
                    </a:lnTo>
                    <a:lnTo>
                      <a:pt x="492" y="146"/>
                    </a:lnTo>
                    <a:lnTo>
                      <a:pt x="492" y="143"/>
                    </a:lnTo>
                    <a:lnTo>
                      <a:pt x="490" y="140"/>
                    </a:lnTo>
                    <a:lnTo>
                      <a:pt x="488" y="137"/>
                    </a:lnTo>
                    <a:lnTo>
                      <a:pt x="487" y="135"/>
                    </a:lnTo>
                    <a:lnTo>
                      <a:pt x="484" y="131"/>
                    </a:lnTo>
                    <a:lnTo>
                      <a:pt x="483" y="128"/>
                    </a:lnTo>
                    <a:lnTo>
                      <a:pt x="481" y="125"/>
                    </a:lnTo>
                    <a:lnTo>
                      <a:pt x="479" y="121"/>
                    </a:lnTo>
                    <a:lnTo>
                      <a:pt x="477" y="118"/>
                    </a:lnTo>
                    <a:lnTo>
                      <a:pt x="476" y="112"/>
                    </a:lnTo>
                    <a:lnTo>
                      <a:pt x="474" y="110"/>
                    </a:lnTo>
                    <a:lnTo>
                      <a:pt x="471" y="105"/>
                    </a:lnTo>
                    <a:lnTo>
                      <a:pt x="470" y="101"/>
                    </a:lnTo>
                    <a:lnTo>
                      <a:pt x="469" y="96"/>
                    </a:lnTo>
                    <a:lnTo>
                      <a:pt x="467" y="91"/>
                    </a:lnTo>
                    <a:lnTo>
                      <a:pt x="465" y="88"/>
                    </a:lnTo>
                    <a:lnTo>
                      <a:pt x="463" y="81"/>
                    </a:lnTo>
                    <a:lnTo>
                      <a:pt x="462" y="78"/>
                    </a:lnTo>
                    <a:lnTo>
                      <a:pt x="462" y="78"/>
                    </a:lnTo>
                    <a:lnTo>
                      <a:pt x="460" y="73"/>
                    </a:lnTo>
                    <a:lnTo>
                      <a:pt x="458" y="70"/>
                    </a:lnTo>
                    <a:lnTo>
                      <a:pt x="457" y="64"/>
                    </a:lnTo>
                    <a:lnTo>
                      <a:pt x="455" y="60"/>
                    </a:lnTo>
                    <a:lnTo>
                      <a:pt x="453" y="54"/>
                    </a:lnTo>
                    <a:lnTo>
                      <a:pt x="451" y="52"/>
                    </a:lnTo>
                    <a:lnTo>
                      <a:pt x="450" y="46"/>
                    </a:lnTo>
                    <a:lnTo>
                      <a:pt x="449" y="43"/>
                    </a:lnTo>
                    <a:lnTo>
                      <a:pt x="447" y="38"/>
                    </a:lnTo>
                    <a:lnTo>
                      <a:pt x="445" y="34"/>
                    </a:lnTo>
                    <a:lnTo>
                      <a:pt x="443" y="30"/>
                    </a:lnTo>
                    <a:lnTo>
                      <a:pt x="442" y="26"/>
                    </a:lnTo>
                    <a:lnTo>
                      <a:pt x="440" y="23"/>
                    </a:lnTo>
                    <a:lnTo>
                      <a:pt x="438" y="20"/>
                    </a:lnTo>
                    <a:lnTo>
                      <a:pt x="435" y="16"/>
                    </a:lnTo>
                    <a:lnTo>
                      <a:pt x="434" y="14"/>
                    </a:lnTo>
                    <a:lnTo>
                      <a:pt x="431" y="14"/>
                    </a:lnTo>
                    <a:lnTo>
                      <a:pt x="431" y="10"/>
                    </a:lnTo>
                    <a:lnTo>
                      <a:pt x="429" y="8"/>
                    </a:lnTo>
                    <a:lnTo>
                      <a:pt x="427" y="6"/>
                    </a:lnTo>
                    <a:lnTo>
                      <a:pt x="425" y="5"/>
                    </a:lnTo>
                    <a:lnTo>
                      <a:pt x="425" y="5"/>
                    </a:lnTo>
                    <a:lnTo>
                      <a:pt x="422" y="3"/>
                    </a:lnTo>
                    <a:lnTo>
                      <a:pt x="420" y="3"/>
                    </a:lnTo>
                    <a:lnTo>
                      <a:pt x="418" y="3"/>
                    </a:lnTo>
                    <a:lnTo>
                      <a:pt x="416" y="3"/>
                    </a:lnTo>
                    <a:lnTo>
                      <a:pt x="415" y="3"/>
                    </a:lnTo>
                    <a:lnTo>
                      <a:pt x="413" y="5"/>
                    </a:lnTo>
                    <a:lnTo>
                      <a:pt x="411" y="5"/>
                    </a:lnTo>
                    <a:lnTo>
                      <a:pt x="408" y="6"/>
                    </a:lnTo>
                    <a:lnTo>
                      <a:pt x="407" y="8"/>
                    </a:lnTo>
                    <a:lnTo>
                      <a:pt x="405" y="10"/>
                    </a:lnTo>
                    <a:lnTo>
                      <a:pt x="403" y="12"/>
                    </a:lnTo>
                    <a:lnTo>
                      <a:pt x="401" y="14"/>
                    </a:lnTo>
                    <a:lnTo>
                      <a:pt x="399" y="16"/>
                    </a:lnTo>
                    <a:lnTo>
                      <a:pt x="397" y="20"/>
                    </a:lnTo>
                    <a:lnTo>
                      <a:pt x="396" y="23"/>
                    </a:lnTo>
                    <a:lnTo>
                      <a:pt x="393" y="25"/>
                    </a:lnTo>
                    <a:lnTo>
                      <a:pt x="392" y="29"/>
                    </a:lnTo>
                    <a:lnTo>
                      <a:pt x="390" y="33"/>
                    </a:lnTo>
                    <a:lnTo>
                      <a:pt x="387" y="35"/>
                    </a:lnTo>
                    <a:lnTo>
                      <a:pt x="387" y="40"/>
                    </a:lnTo>
                    <a:lnTo>
                      <a:pt x="383" y="44"/>
                    </a:lnTo>
                    <a:lnTo>
                      <a:pt x="382" y="48"/>
                    </a:lnTo>
                    <a:lnTo>
                      <a:pt x="380" y="53"/>
                    </a:lnTo>
                    <a:lnTo>
                      <a:pt x="377" y="57"/>
                    </a:lnTo>
                    <a:lnTo>
                      <a:pt x="377" y="62"/>
                    </a:lnTo>
                    <a:lnTo>
                      <a:pt x="373" y="66"/>
                    </a:lnTo>
                    <a:lnTo>
                      <a:pt x="372" y="70"/>
                    </a:lnTo>
                    <a:lnTo>
                      <a:pt x="371" y="75"/>
                    </a:lnTo>
                    <a:lnTo>
                      <a:pt x="369" y="81"/>
                    </a:lnTo>
                    <a:lnTo>
                      <a:pt x="365" y="86"/>
                    </a:lnTo>
                    <a:lnTo>
                      <a:pt x="363" y="91"/>
                    </a:lnTo>
                    <a:lnTo>
                      <a:pt x="362" y="96"/>
                    </a:lnTo>
                    <a:lnTo>
                      <a:pt x="360" y="100"/>
                    </a:lnTo>
                    <a:lnTo>
                      <a:pt x="357" y="104"/>
                    </a:lnTo>
                    <a:lnTo>
                      <a:pt x="355" y="108"/>
                    </a:lnTo>
                    <a:lnTo>
                      <a:pt x="353" y="112"/>
                    </a:lnTo>
                    <a:lnTo>
                      <a:pt x="352" y="116"/>
                    </a:lnTo>
                    <a:lnTo>
                      <a:pt x="351" y="121"/>
                    </a:lnTo>
                    <a:lnTo>
                      <a:pt x="349" y="125"/>
                    </a:lnTo>
                    <a:lnTo>
                      <a:pt x="347" y="128"/>
                    </a:lnTo>
                    <a:lnTo>
                      <a:pt x="345" y="132"/>
                    </a:lnTo>
                    <a:lnTo>
                      <a:pt x="343" y="134"/>
                    </a:lnTo>
                    <a:lnTo>
                      <a:pt x="341" y="137"/>
                    </a:lnTo>
                    <a:lnTo>
                      <a:pt x="339" y="140"/>
                    </a:lnTo>
                    <a:lnTo>
                      <a:pt x="337" y="143"/>
                    </a:lnTo>
                    <a:lnTo>
                      <a:pt x="335" y="146"/>
                    </a:lnTo>
                    <a:lnTo>
                      <a:pt x="333" y="148"/>
                    </a:lnTo>
                    <a:lnTo>
                      <a:pt x="331" y="148"/>
                    </a:lnTo>
                    <a:lnTo>
                      <a:pt x="329" y="150"/>
                    </a:lnTo>
                    <a:lnTo>
                      <a:pt x="327" y="152"/>
                    </a:lnTo>
                    <a:lnTo>
                      <a:pt x="325" y="154"/>
                    </a:lnTo>
                    <a:lnTo>
                      <a:pt x="323" y="154"/>
                    </a:lnTo>
                    <a:lnTo>
                      <a:pt x="321" y="154"/>
                    </a:lnTo>
                    <a:lnTo>
                      <a:pt x="319" y="154"/>
                    </a:lnTo>
                    <a:lnTo>
                      <a:pt x="319" y="154"/>
                    </a:lnTo>
                    <a:lnTo>
                      <a:pt x="316" y="154"/>
                    </a:lnTo>
                    <a:lnTo>
                      <a:pt x="314" y="154"/>
                    </a:lnTo>
                    <a:lnTo>
                      <a:pt x="313" y="151"/>
                    </a:lnTo>
                    <a:lnTo>
                      <a:pt x="311" y="150"/>
                    </a:lnTo>
                    <a:lnTo>
                      <a:pt x="309" y="148"/>
                    </a:lnTo>
                    <a:lnTo>
                      <a:pt x="307" y="148"/>
                    </a:lnTo>
                    <a:lnTo>
                      <a:pt x="305" y="146"/>
                    </a:lnTo>
                    <a:lnTo>
                      <a:pt x="304" y="143"/>
                    </a:lnTo>
                    <a:lnTo>
                      <a:pt x="303" y="140"/>
                    </a:lnTo>
                    <a:lnTo>
                      <a:pt x="301" y="137"/>
                    </a:lnTo>
                    <a:lnTo>
                      <a:pt x="297" y="132"/>
                    </a:lnTo>
                    <a:lnTo>
                      <a:pt x="297" y="131"/>
                    </a:lnTo>
                    <a:lnTo>
                      <a:pt x="295" y="127"/>
                    </a:lnTo>
                    <a:lnTo>
                      <a:pt x="293" y="124"/>
                    </a:lnTo>
                    <a:lnTo>
                      <a:pt x="291" y="119"/>
                    </a:lnTo>
                    <a:lnTo>
                      <a:pt x="289" y="116"/>
                    </a:lnTo>
                    <a:lnTo>
                      <a:pt x="287" y="110"/>
                    </a:lnTo>
                    <a:lnTo>
                      <a:pt x="285" y="108"/>
                    </a:lnTo>
                    <a:lnTo>
                      <a:pt x="284" y="102"/>
                    </a:lnTo>
                    <a:lnTo>
                      <a:pt x="283" y="98"/>
                    </a:lnTo>
                    <a:lnTo>
                      <a:pt x="281" y="92"/>
                    </a:lnTo>
                    <a:lnTo>
                      <a:pt x="279" y="89"/>
                    </a:lnTo>
                    <a:lnTo>
                      <a:pt x="277" y="84"/>
                    </a:lnTo>
                    <a:lnTo>
                      <a:pt x="277" y="80"/>
                    </a:lnTo>
                    <a:lnTo>
                      <a:pt x="277" y="80"/>
                    </a:lnTo>
                    <a:lnTo>
                      <a:pt x="275" y="75"/>
                    </a:lnTo>
                    <a:lnTo>
                      <a:pt x="272" y="70"/>
                    </a:lnTo>
                    <a:lnTo>
                      <a:pt x="270" y="66"/>
                    </a:lnTo>
                    <a:lnTo>
                      <a:pt x="269" y="62"/>
                    </a:lnTo>
                    <a:lnTo>
                      <a:pt x="267" y="57"/>
                    </a:lnTo>
                    <a:lnTo>
                      <a:pt x="265" y="53"/>
                    </a:lnTo>
                    <a:lnTo>
                      <a:pt x="264" y="49"/>
                    </a:lnTo>
                    <a:lnTo>
                      <a:pt x="262" y="43"/>
                    </a:lnTo>
                    <a:lnTo>
                      <a:pt x="261" y="40"/>
                    </a:lnTo>
                    <a:lnTo>
                      <a:pt x="258" y="35"/>
                    </a:lnTo>
                    <a:lnTo>
                      <a:pt x="257" y="33"/>
                    </a:lnTo>
                    <a:lnTo>
                      <a:pt x="256" y="28"/>
                    </a:lnTo>
                    <a:lnTo>
                      <a:pt x="253" y="26"/>
                    </a:lnTo>
                    <a:lnTo>
                      <a:pt x="252" y="23"/>
                    </a:lnTo>
                    <a:lnTo>
                      <a:pt x="250" y="20"/>
                    </a:lnTo>
                    <a:lnTo>
                      <a:pt x="248" y="16"/>
                    </a:lnTo>
                    <a:lnTo>
                      <a:pt x="246" y="14"/>
                    </a:lnTo>
                    <a:lnTo>
                      <a:pt x="244" y="12"/>
                    </a:lnTo>
                    <a:lnTo>
                      <a:pt x="242" y="10"/>
                    </a:lnTo>
                    <a:lnTo>
                      <a:pt x="241" y="8"/>
                    </a:lnTo>
                    <a:lnTo>
                      <a:pt x="239" y="8"/>
                    </a:lnTo>
                    <a:lnTo>
                      <a:pt x="237" y="6"/>
                    </a:lnTo>
                    <a:lnTo>
                      <a:pt x="234" y="5"/>
                    </a:lnTo>
                    <a:lnTo>
                      <a:pt x="233" y="5"/>
                    </a:lnTo>
                    <a:lnTo>
                      <a:pt x="231" y="5"/>
                    </a:lnTo>
                    <a:lnTo>
                      <a:pt x="231" y="4"/>
                    </a:lnTo>
                    <a:lnTo>
                      <a:pt x="227" y="5"/>
                    </a:lnTo>
                    <a:lnTo>
                      <a:pt x="226" y="5"/>
                    </a:lnTo>
                    <a:lnTo>
                      <a:pt x="225" y="6"/>
                    </a:lnTo>
                    <a:lnTo>
                      <a:pt x="221" y="8"/>
                    </a:lnTo>
                    <a:lnTo>
                      <a:pt x="220" y="10"/>
                    </a:lnTo>
                    <a:lnTo>
                      <a:pt x="218" y="12"/>
                    </a:lnTo>
                    <a:lnTo>
                      <a:pt x="217" y="14"/>
                    </a:lnTo>
                    <a:lnTo>
                      <a:pt x="215" y="16"/>
                    </a:lnTo>
                    <a:lnTo>
                      <a:pt x="213" y="18"/>
                    </a:lnTo>
                    <a:lnTo>
                      <a:pt x="211" y="21"/>
                    </a:lnTo>
                    <a:lnTo>
                      <a:pt x="209" y="24"/>
                    </a:lnTo>
                    <a:lnTo>
                      <a:pt x="207" y="27"/>
                    </a:lnTo>
                    <a:lnTo>
                      <a:pt x="206" y="32"/>
                    </a:lnTo>
                    <a:lnTo>
                      <a:pt x="204" y="34"/>
                    </a:lnTo>
                    <a:lnTo>
                      <a:pt x="201" y="38"/>
                    </a:lnTo>
                    <a:lnTo>
                      <a:pt x="199" y="43"/>
                    </a:lnTo>
                    <a:lnTo>
                      <a:pt x="197" y="46"/>
                    </a:lnTo>
                    <a:lnTo>
                      <a:pt x="196" y="51"/>
                    </a:lnTo>
                    <a:lnTo>
                      <a:pt x="194" y="54"/>
                    </a:lnTo>
                    <a:lnTo>
                      <a:pt x="193" y="59"/>
                    </a:lnTo>
                    <a:lnTo>
                      <a:pt x="189" y="63"/>
                    </a:lnTo>
                    <a:lnTo>
                      <a:pt x="187" y="68"/>
                    </a:lnTo>
                    <a:lnTo>
                      <a:pt x="186" y="72"/>
                    </a:lnTo>
                    <a:lnTo>
                      <a:pt x="185" y="78"/>
                    </a:lnTo>
                    <a:lnTo>
                      <a:pt x="183" y="81"/>
                    </a:lnTo>
                    <a:lnTo>
                      <a:pt x="180" y="84"/>
                    </a:lnTo>
                    <a:lnTo>
                      <a:pt x="178" y="90"/>
                    </a:lnTo>
                    <a:lnTo>
                      <a:pt x="176" y="94"/>
                    </a:lnTo>
                    <a:lnTo>
                      <a:pt x="174" y="98"/>
                    </a:lnTo>
                    <a:lnTo>
                      <a:pt x="173" y="102"/>
                    </a:lnTo>
                    <a:lnTo>
                      <a:pt x="171" y="108"/>
                    </a:lnTo>
                    <a:lnTo>
                      <a:pt x="168" y="111"/>
                    </a:lnTo>
                    <a:lnTo>
                      <a:pt x="167" y="116"/>
                    </a:lnTo>
                    <a:lnTo>
                      <a:pt x="165" y="119"/>
                    </a:lnTo>
                    <a:lnTo>
                      <a:pt x="163" y="124"/>
                    </a:lnTo>
                    <a:lnTo>
                      <a:pt x="161" y="127"/>
                    </a:lnTo>
                    <a:lnTo>
                      <a:pt x="158" y="131"/>
                    </a:lnTo>
                    <a:lnTo>
                      <a:pt x="158" y="133"/>
                    </a:lnTo>
                    <a:lnTo>
                      <a:pt x="155" y="136"/>
                    </a:lnTo>
                    <a:lnTo>
                      <a:pt x="153" y="139"/>
                    </a:lnTo>
                    <a:lnTo>
                      <a:pt x="151" y="142"/>
                    </a:lnTo>
                    <a:lnTo>
                      <a:pt x="150" y="144"/>
                    </a:lnTo>
                    <a:lnTo>
                      <a:pt x="148" y="146"/>
                    </a:lnTo>
                    <a:lnTo>
                      <a:pt x="145" y="148"/>
                    </a:lnTo>
                    <a:lnTo>
                      <a:pt x="144" y="150"/>
                    </a:lnTo>
                    <a:lnTo>
                      <a:pt x="142" y="151"/>
                    </a:lnTo>
                    <a:lnTo>
                      <a:pt x="140" y="152"/>
                    </a:lnTo>
                    <a:lnTo>
                      <a:pt x="138" y="152"/>
                    </a:lnTo>
                    <a:lnTo>
                      <a:pt x="137" y="154"/>
                    </a:lnTo>
                    <a:lnTo>
                      <a:pt x="134" y="154"/>
                    </a:lnTo>
                    <a:lnTo>
                      <a:pt x="133" y="154"/>
                    </a:lnTo>
                    <a:lnTo>
                      <a:pt x="130" y="152"/>
                    </a:lnTo>
                    <a:lnTo>
                      <a:pt x="129" y="152"/>
                    </a:lnTo>
                    <a:lnTo>
                      <a:pt x="127" y="150"/>
                    </a:lnTo>
                    <a:lnTo>
                      <a:pt x="126" y="149"/>
                    </a:lnTo>
                    <a:lnTo>
                      <a:pt x="125" y="148"/>
                    </a:lnTo>
                    <a:lnTo>
                      <a:pt x="121" y="146"/>
                    </a:lnTo>
                    <a:lnTo>
                      <a:pt x="119" y="144"/>
                    </a:lnTo>
                    <a:lnTo>
                      <a:pt x="118" y="142"/>
                    </a:lnTo>
                    <a:lnTo>
                      <a:pt x="117" y="139"/>
                    </a:lnTo>
                    <a:lnTo>
                      <a:pt x="115" y="136"/>
                    </a:lnTo>
                    <a:lnTo>
                      <a:pt x="113" y="131"/>
                    </a:lnTo>
                    <a:lnTo>
                      <a:pt x="111" y="129"/>
                    </a:lnTo>
                    <a:lnTo>
                      <a:pt x="109" y="126"/>
                    </a:lnTo>
                    <a:lnTo>
                      <a:pt x="108" y="122"/>
                    </a:lnTo>
                    <a:lnTo>
                      <a:pt x="105" y="119"/>
                    </a:lnTo>
                    <a:lnTo>
                      <a:pt x="105" y="114"/>
                    </a:lnTo>
                    <a:lnTo>
                      <a:pt x="103" y="110"/>
                    </a:lnTo>
                    <a:lnTo>
                      <a:pt x="100" y="106"/>
                    </a:lnTo>
                    <a:lnTo>
                      <a:pt x="98" y="101"/>
                    </a:lnTo>
                    <a:lnTo>
                      <a:pt x="97" y="97"/>
                    </a:lnTo>
                    <a:lnTo>
                      <a:pt x="95" y="92"/>
                    </a:lnTo>
                    <a:lnTo>
                      <a:pt x="95" y="88"/>
                    </a:lnTo>
                    <a:lnTo>
                      <a:pt x="92" y="82"/>
                    </a:lnTo>
                    <a:lnTo>
                      <a:pt x="91" y="78"/>
                    </a:lnTo>
                    <a:lnTo>
                      <a:pt x="91" y="78"/>
                    </a:lnTo>
                    <a:lnTo>
                      <a:pt x="88" y="74"/>
                    </a:lnTo>
                    <a:lnTo>
                      <a:pt x="87" y="70"/>
                    </a:lnTo>
                    <a:lnTo>
                      <a:pt x="85" y="64"/>
                    </a:lnTo>
                    <a:lnTo>
                      <a:pt x="83" y="60"/>
                    </a:lnTo>
                    <a:lnTo>
                      <a:pt x="82" y="54"/>
                    </a:lnTo>
                    <a:lnTo>
                      <a:pt x="80" y="52"/>
                    </a:lnTo>
                    <a:lnTo>
                      <a:pt x="78" y="48"/>
                    </a:lnTo>
                    <a:lnTo>
                      <a:pt x="77" y="43"/>
                    </a:lnTo>
                    <a:lnTo>
                      <a:pt x="75" y="38"/>
                    </a:lnTo>
                    <a:lnTo>
                      <a:pt x="72" y="34"/>
                    </a:lnTo>
                    <a:lnTo>
                      <a:pt x="72" y="32"/>
                    </a:lnTo>
                    <a:lnTo>
                      <a:pt x="70" y="27"/>
                    </a:lnTo>
                    <a:lnTo>
                      <a:pt x="68" y="24"/>
                    </a:lnTo>
                    <a:lnTo>
                      <a:pt x="67" y="21"/>
                    </a:lnTo>
                    <a:lnTo>
                      <a:pt x="64" y="18"/>
                    </a:lnTo>
                    <a:lnTo>
                      <a:pt x="62" y="14"/>
                    </a:lnTo>
                    <a:lnTo>
                      <a:pt x="61" y="14"/>
                    </a:lnTo>
                    <a:lnTo>
                      <a:pt x="59" y="11"/>
                    </a:lnTo>
                    <a:lnTo>
                      <a:pt x="57" y="10"/>
                    </a:lnTo>
                    <a:lnTo>
                      <a:pt x="56" y="8"/>
                    </a:lnTo>
                    <a:lnTo>
                      <a:pt x="53" y="6"/>
                    </a:lnTo>
                    <a:lnTo>
                      <a:pt x="53" y="5"/>
                    </a:lnTo>
                    <a:lnTo>
                      <a:pt x="51" y="4"/>
                    </a:lnTo>
                    <a:lnTo>
                      <a:pt x="49" y="3"/>
                    </a:lnTo>
                    <a:lnTo>
                      <a:pt x="47" y="3"/>
                    </a:lnTo>
                    <a:lnTo>
                      <a:pt x="45" y="3"/>
                    </a:lnTo>
                    <a:lnTo>
                      <a:pt x="43" y="3"/>
                    </a:lnTo>
                    <a:lnTo>
                      <a:pt x="40" y="5"/>
                    </a:lnTo>
                    <a:lnTo>
                      <a:pt x="39" y="5"/>
                    </a:lnTo>
                    <a:lnTo>
                      <a:pt x="37" y="6"/>
                    </a:lnTo>
                    <a:lnTo>
                      <a:pt x="36" y="8"/>
                    </a:lnTo>
                    <a:lnTo>
                      <a:pt x="33" y="10"/>
                    </a:lnTo>
                    <a:lnTo>
                      <a:pt x="31" y="13"/>
                    </a:lnTo>
                    <a:lnTo>
                      <a:pt x="30" y="14"/>
                    </a:lnTo>
                    <a:lnTo>
                      <a:pt x="27" y="16"/>
                    </a:lnTo>
                    <a:lnTo>
                      <a:pt x="26" y="20"/>
                    </a:lnTo>
                    <a:lnTo>
                      <a:pt x="24" y="23"/>
                    </a:lnTo>
                    <a:lnTo>
                      <a:pt x="22" y="26"/>
                    </a:lnTo>
                    <a:lnTo>
                      <a:pt x="19" y="30"/>
                    </a:lnTo>
                    <a:lnTo>
                      <a:pt x="18" y="33"/>
                    </a:lnTo>
                    <a:lnTo>
                      <a:pt x="16" y="36"/>
                    </a:lnTo>
                    <a:lnTo>
                      <a:pt x="15" y="41"/>
                    </a:lnTo>
                    <a:lnTo>
                      <a:pt x="12" y="44"/>
                    </a:lnTo>
                    <a:lnTo>
                      <a:pt x="10" y="50"/>
                    </a:lnTo>
                    <a:lnTo>
                      <a:pt x="8" y="54"/>
                    </a:lnTo>
                    <a:lnTo>
                      <a:pt x="7" y="58"/>
                    </a:lnTo>
                    <a:lnTo>
                      <a:pt x="5" y="63"/>
                    </a:lnTo>
                    <a:lnTo>
                      <a:pt x="4" y="67"/>
                    </a:lnTo>
                    <a:lnTo>
                      <a:pt x="2" y="72"/>
                    </a:lnTo>
                    <a:lnTo>
                      <a:pt x="0" y="76"/>
                    </a:lnTo>
                  </a:path>
                </a:pathLst>
              </a:custGeom>
              <a:noFill/>
              <a:ln w="9525" cap="flat">
                <a:solidFill>
                  <a:srgbClr val="0000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 name="Freeform 32"/>
              <p:cNvSpPr>
                <a:spLocks/>
              </p:cNvSpPr>
              <p:nvPr/>
            </p:nvSpPr>
            <p:spPr bwMode="auto">
              <a:xfrm>
                <a:off x="2502" y="4321"/>
                <a:ext cx="258" cy="166"/>
              </a:xfrm>
              <a:custGeom>
                <a:avLst/>
                <a:gdLst>
                  <a:gd name="T0" fmla="*/ 0 w 258"/>
                  <a:gd name="T1" fmla="*/ 81 h 166"/>
                  <a:gd name="T2" fmla="*/ 0 w 258"/>
                  <a:gd name="T3" fmla="*/ 81 h 166"/>
                  <a:gd name="T4" fmla="*/ 152 w 258"/>
                  <a:gd name="T5" fmla="*/ 0 h 166"/>
                  <a:gd name="T6" fmla="*/ 134 w 258"/>
                  <a:gd name="T7" fmla="*/ 41 h 166"/>
                  <a:gd name="T8" fmla="*/ 257 w 258"/>
                  <a:gd name="T9" fmla="*/ 41 h 166"/>
                  <a:gd name="T10" fmla="*/ 257 w 258"/>
                  <a:gd name="T11" fmla="*/ 127 h 166"/>
                  <a:gd name="T12" fmla="*/ 134 w 258"/>
                  <a:gd name="T13" fmla="*/ 127 h 166"/>
                  <a:gd name="T14" fmla="*/ 152 w 258"/>
                  <a:gd name="T15" fmla="*/ 165 h 166"/>
                  <a:gd name="T16" fmla="*/ 0 w 258"/>
                  <a:gd name="T17" fmla="*/ 81 h 166"/>
                  <a:gd name="T18" fmla="*/ 0 w 258"/>
                  <a:gd name="T19" fmla="*/ 8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8" h="166">
                    <a:moveTo>
                      <a:pt x="0" y="81"/>
                    </a:moveTo>
                    <a:lnTo>
                      <a:pt x="0" y="81"/>
                    </a:lnTo>
                    <a:lnTo>
                      <a:pt x="152" y="0"/>
                    </a:lnTo>
                    <a:lnTo>
                      <a:pt x="134" y="41"/>
                    </a:lnTo>
                    <a:lnTo>
                      <a:pt x="257" y="41"/>
                    </a:lnTo>
                    <a:lnTo>
                      <a:pt x="257" y="127"/>
                    </a:lnTo>
                    <a:lnTo>
                      <a:pt x="134" y="127"/>
                    </a:lnTo>
                    <a:lnTo>
                      <a:pt x="152" y="165"/>
                    </a:lnTo>
                    <a:lnTo>
                      <a:pt x="0" y="81"/>
                    </a:lnTo>
                    <a:lnTo>
                      <a:pt x="0" y="81"/>
                    </a:lnTo>
                  </a:path>
                </a:pathLst>
              </a:custGeom>
              <a:solidFill>
                <a:srgbClr val="FFFFFF"/>
              </a:solidFill>
              <a:ln w="9525" cap="flat"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13" name="Text Box 33"/>
            <p:cNvSpPr txBox="1">
              <a:spLocks noChangeArrowheads="1"/>
            </p:cNvSpPr>
            <p:nvPr/>
          </p:nvSpPr>
          <p:spPr bwMode="auto">
            <a:xfrm>
              <a:off x="9120189" y="3225800"/>
              <a:ext cx="1355725"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573088" indent="-163513" defTabSz="409575">
                <a:defRPr>
                  <a:solidFill>
                    <a:schemeClr val="tx1"/>
                  </a:solidFill>
                  <a:latin typeface="Arial" panose="020B0604020202020204" pitchFamily="34" charset="0"/>
                  <a:ea typeface="宋体" panose="02010600030101010101" pitchFamily="2" charset="-122"/>
                </a:defRPr>
              </a:lvl2pPr>
              <a:lvl3pPr marL="915988" indent="-95250"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zh-CN" altLang="en-US" sz="1500" b="1">
                  <a:solidFill>
                    <a:srgbClr val="990099"/>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输入方向</a:t>
              </a:r>
              <a:endParaRPr lang="zh-CN" altLang="en-US" sz="2200" b="1">
                <a:solidFill>
                  <a:srgbClr val="990099"/>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14" name="Text Box 34"/>
            <p:cNvSpPr txBox="1">
              <a:spLocks noChangeArrowheads="1"/>
            </p:cNvSpPr>
            <p:nvPr/>
          </p:nvSpPr>
          <p:spPr bwMode="auto">
            <a:xfrm>
              <a:off x="4619626" y="3341688"/>
              <a:ext cx="142557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573088" indent="-163513" defTabSz="409575">
                <a:defRPr>
                  <a:solidFill>
                    <a:schemeClr val="tx1"/>
                  </a:solidFill>
                  <a:latin typeface="Arial" panose="020B0604020202020204" pitchFamily="34" charset="0"/>
                  <a:ea typeface="宋体" panose="02010600030101010101" pitchFamily="2" charset="-122"/>
                </a:defRPr>
              </a:lvl2pPr>
              <a:lvl3pPr marL="915988" indent="-95250"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zh-CN" altLang="en-US" sz="1500" b="1">
                  <a:solidFill>
                    <a:srgbClr val="333399"/>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反射方向</a:t>
              </a:r>
              <a:endParaRPr lang="zh-CN" altLang="en-US" sz="2200" b="1">
                <a:solidFill>
                  <a:srgbClr val="333399"/>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15" name="Text Box 36"/>
            <p:cNvSpPr txBox="1">
              <a:spLocks noChangeArrowheads="1"/>
            </p:cNvSpPr>
            <p:nvPr/>
          </p:nvSpPr>
          <p:spPr bwMode="auto">
            <a:xfrm>
              <a:off x="8497889" y="2251075"/>
              <a:ext cx="1689565"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0" hangingPunct="0">
                <a:lnSpc>
                  <a:spcPct val="150000"/>
                </a:lnSpc>
              </a:pPr>
              <a:r>
                <a:rPr lang="en-US" altLang="zh-CN" sz="1500" b="1">
                  <a:latin typeface="微软雅黑" panose="020B0503020204020204" pitchFamily="34" charset="-122"/>
                  <a:ea typeface="微软雅黑" panose="020B0503020204020204" pitchFamily="34" charset="-122"/>
                </a:rPr>
                <a:t>(</a:t>
              </a:r>
              <a:r>
                <a:rPr lang="zh-CN" altLang="en-US" sz="1500" b="1">
                  <a:latin typeface="微软雅黑" panose="020B0503020204020204" pitchFamily="34" charset="-122"/>
                  <a:ea typeface="微软雅黑" panose="020B0503020204020204" pitchFamily="34" charset="-122"/>
                </a:rPr>
                <a:t>定向耦合器输入端</a:t>
              </a:r>
              <a:r>
                <a:rPr lang="en-US" altLang="zh-CN" sz="1500" b="1">
                  <a:latin typeface="微软雅黑" panose="020B0503020204020204" pitchFamily="34" charset="-122"/>
                  <a:ea typeface="微软雅黑" panose="020B0503020204020204" pitchFamily="34" charset="-122"/>
                </a:rPr>
                <a:t>)</a:t>
              </a:r>
            </a:p>
          </p:txBody>
        </p:sp>
      </p:grpSp>
      <p:grpSp>
        <p:nvGrpSpPr>
          <p:cNvPr id="102" name="组合 101"/>
          <p:cNvGrpSpPr/>
          <p:nvPr/>
        </p:nvGrpSpPr>
        <p:grpSpPr>
          <a:xfrm>
            <a:off x="4789704" y="4407374"/>
            <a:ext cx="5629275" cy="2068513"/>
            <a:chOff x="4789704" y="4407374"/>
            <a:chExt cx="5629275" cy="2068513"/>
          </a:xfrm>
        </p:grpSpPr>
        <p:sp>
          <p:nvSpPr>
            <p:cNvPr id="39" name="Freeform 37"/>
            <p:cNvSpPr>
              <a:spLocks/>
            </p:cNvSpPr>
            <p:nvPr/>
          </p:nvSpPr>
          <p:spPr bwMode="auto">
            <a:xfrm>
              <a:off x="5167529" y="4975699"/>
              <a:ext cx="385763" cy="454025"/>
            </a:xfrm>
            <a:custGeom>
              <a:avLst/>
              <a:gdLst>
                <a:gd name="T0" fmla="*/ 0 w 381"/>
                <a:gd name="T1" fmla="*/ 5 h 590"/>
                <a:gd name="T2" fmla="*/ 0 w 381"/>
                <a:gd name="T3" fmla="*/ 5 h 590"/>
                <a:gd name="T4" fmla="*/ 1 w 381"/>
                <a:gd name="T5" fmla="*/ 4 h 590"/>
                <a:gd name="T6" fmla="*/ 2 w 381"/>
                <a:gd name="T7" fmla="*/ 4 h 590"/>
                <a:gd name="T8" fmla="*/ 5 w 381"/>
                <a:gd name="T9" fmla="*/ 2 h 590"/>
                <a:gd name="T10" fmla="*/ 8 w 381"/>
                <a:gd name="T11" fmla="*/ 2 h 590"/>
                <a:gd name="T12" fmla="*/ 12 w 381"/>
                <a:gd name="T13" fmla="*/ 0 h 590"/>
                <a:gd name="T14" fmla="*/ 18 w 381"/>
                <a:gd name="T15" fmla="*/ 0 h 590"/>
                <a:gd name="T16" fmla="*/ 24 w 381"/>
                <a:gd name="T17" fmla="*/ 0 h 590"/>
                <a:gd name="T18" fmla="*/ 31 w 381"/>
                <a:gd name="T19" fmla="*/ 2 h 590"/>
                <a:gd name="T20" fmla="*/ 39 w 381"/>
                <a:gd name="T21" fmla="*/ 5 h 590"/>
                <a:gd name="T22" fmla="*/ 49 w 381"/>
                <a:gd name="T23" fmla="*/ 9 h 590"/>
                <a:gd name="T24" fmla="*/ 60 w 381"/>
                <a:gd name="T25" fmla="*/ 14 h 590"/>
                <a:gd name="T26" fmla="*/ 73 w 381"/>
                <a:gd name="T27" fmla="*/ 22 h 590"/>
                <a:gd name="T28" fmla="*/ 87 w 381"/>
                <a:gd name="T29" fmla="*/ 31 h 590"/>
                <a:gd name="T30" fmla="*/ 103 w 381"/>
                <a:gd name="T31" fmla="*/ 42 h 590"/>
                <a:gd name="T32" fmla="*/ 120 w 381"/>
                <a:gd name="T33" fmla="*/ 55 h 590"/>
                <a:gd name="T34" fmla="*/ 137 w 381"/>
                <a:gd name="T35" fmla="*/ 73 h 590"/>
                <a:gd name="T36" fmla="*/ 156 w 381"/>
                <a:gd name="T37" fmla="*/ 93 h 590"/>
                <a:gd name="T38" fmla="*/ 174 w 381"/>
                <a:gd name="T39" fmla="*/ 117 h 590"/>
                <a:gd name="T40" fmla="*/ 192 w 381"/>
                <a:gd name="T41" fmla="*/ 143 h 590"/>
                <a:gd name="T42" fmla="*/ 209 w 381"/>
                <a:gd name="T43" fmla="*/ 172 h 590"/>
                <a:gd name="T44" fmla="*/ 228 w 381"/>
                <a:gd name="T45" fmla="*/ 202 h 590"/>
                <a:gd name="T46" fmla="*/ 245 w 381"/>
                <a:gd name="T47" fmla="*/ 234 h 590"/>
                <a:gd name="T48" fmla="*/ 263 w 381"/>
                <a:gd name="T49" fmla="*/ 265 h 590"/>
                <a:gd name="T50" fmla="*/ 278 w 381"/>
                <a:gd name="T51" fmla="*/ 298 h 590"/>
                <a:gd name="T52" fmla="*/ 293 w 381"/>
                <a:gd name="T53" fmla="*/ 330 h 590"/>
                <a:gd name="T54" fmla="*/ 307 w 381"/>
                <a:gd name="T55" fmla="*/ 361 h 590"/>
                <a:gd name="T56" fmla="*/ 321 w 381"/>
                <a:gd name="T57" fmla="*/ 390 h 590"/>
                <a:gd name="T58" fmla="*/ 331 w 381"/>
                <a:gd name="T59" fmla="*/ 419 h 590"/>
                <a:gd name="T60" fmla="*/ 342 w 381"/>
                <a:gd name="T61" fmla="*/ 444 h 590"/>
                <a:gd name="T62" fmla="*/ 350 w 381"/>
                <a:gd name="T63" fmla="*/ 466 h 590"/>
                <a:gd name="T64" fmla="*/ 358 w 381"/>
                <a:gd name="T65" fmla="*/ 485 h 590"/>
                <a:gd name="T66" fmla="*/ 358 w 381"/>
                <a:gd name="T67" fmla="*/ 491 h 590"/>
                <a:gd name="T68" fmla="*/ 360 w 381"/>
                <a:gd name="T69" fmla="*/ 497 h 590"/>
                <a:gd name="T70" fmla="*/ 362 w 381"/>
                <a:gd name="T71" fmla="*/ 505 h 590"/>
                <a:gd name="T72" fmla="*/ 364 w 381"/>
                <a:gd name="T73" fmla="*/ 512 h 590"/>
                <a:gd name="T74" fmla="*/ 366 w 381"/>
                <a:gd name="T75" fmla="*/ 522 h 590"/>
                <a:gd name="T76" fmla="*/ 368 w 381"/>
                <a:gd name="T77" fmla="*/ 530 h 590"/>
                <a:gd name="T78" fmla="*/ 370 w 381"/>
                <a:gd name="T79" fmla="*/ 539 h 590"/>
                <a:gd name="T80" fmla="*/ 371 w 381"/>
                <a:gd name="T81" fmla="*/ 547 h 590"/>
                <a:gd name="T82" fmla="*/ 371 w 381"/>
                <a:gd name="T83" fmla="*/ 556 h 590"/>
                <a:gd name="T84" fmla="*/ 373 w 381"/>
                <a:gd name="T85" fmla="*/ 563 h 590"/>
                <a:gd name="T86" fmla="*/ 374 w 381"/>
                <a:gd name="T87" fmla="*/ 571 h 590"/>
                <a:gd name="T88" fmla="*/ 376 w 381"/>
                <a:gd name="T89" fmla="*/ 577 h 590"/>
                <a:gd name="T90" fmla="*/ 376 w 381"/>
                <a:gd name="T91" fmla="*/ 582 h 590"/>
                <a:gd name="T92" fmla="*/ 378 w 381"/>
                <a:gd name="T93" fmla="*/ 586 h 590"/>
                <a:gd name="T94" fmla="*/ 378 w 381"/>
                <a:gd name="T95" fmla="*/ 589 h 590"/>
                <a:gd name="T96" fmla="*/ 380 w 381"/>
                <a:gd name="T97" fmla="*/ 589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1" h="590">
                  <a:moveTo>
                    <a:pt x="0" y="5"/>
                  </a:moveTo>
                  <a:lnTo>
                    <a:pt x="0" y="5"/>
                  </a:lnTo>
                  <a:lnTo>
                    <a:pt x="1" y="4"/>
                  </a:lnTo>
                  <a:lnTo>
                    <a:pt x="2" y="4"/>
                  </a:lnTo>
                  <a:lnTo>
                    <a:pt x="5" y="2"/>
                  </a:lnTo>
                  <a:lnTo>
                    <a:pt x="8" y="2"/>
                  </a:lnTo>
                  <a:lnTo>
                    <a:pt x="12" y="0"/>
                  </a:lnTo>
                  <a:lnTo>
                    <a:pt x="18" y="0"/>
                  </a:lnTo>
                  <a:lnTo>
                    <a:pt x="24" y="0"/>
                  </a:lnTo>
                  <a:lnTo>
                    <a:pt x="31" y="2"/>
                  </a:lnTo>
                  <a:lnTo>
                    <a:pt x="39" y="5"/>
                  </a:lnTo>
                  <a:lnTo>
                    <a:pt x="49" y="9"/>
                  </a:lnTo>
                  <a:lnTo>
                    <a:pt x="60" y="14"/>
                  </a:lnTo>
                  <a:lnTo>
                    <a:pt x="73" y="22"/>
                  </a:lnTo>
                  <a:lnTo>
                    <a:pt x="87" y="31"/>
                  </a:lnTo>
                  <a:lnTo>
                    <a:pt x="103" y="42"/>
                  </a:lnTo>
                  <a:lnTo>
                    <a:pt x="120" y="55"/>
                  </a:lnTo>
                  <a:lnTo>
                    <a:pt x="137" y="73"/>
                  </a:lnTo>
                  <a:lnTo>
                    <a:pt x="156" y="93"/>
                  </a:lnTo>
                  <a:lnTo>
                    <a:pt x="174" y="117"/>
                  </a:lnTo>
                  <a:lnTo>
                    <a:pt x="192" y="143"/>
                  </a:lnTo>
                  <a:lnTo>
                    <a:pt x="209" y="172"/>
                  </a:lnTo>
                  <a:lnTo>
                    <a:pt x="228" y="202"/>
                  </a:lnTo>
                  <a:lnTo>
                    <a:pt x="245" y="234"/>
                  </a:lnTo>
                  <a:lnTo>
                    <a:pt x="263" y="265"/>
                  </a:lnTo>
                  <a:lnTo>
                    <a:pt x="278" y="298"/>
                  </a:lnTo>
                  <a:lnTo>
                    <a:pt x="293" y="330"/>
                  </a:lnTo>
                  <a:lnTo>
                    <a:pt x="307" y="361"/>
                  </a:lnTo>
                  <a:lnTo>
                    <a:pt x="321" y="390"/>
                  </a:lnTo>
                  <a:lnTo>
                    <a:pt x="331" y="419"/>
                  </a:lnTo>
                  <a:lnTo>
                    <a:pt x="342" y="444"/>
                  </a:lnTo>
                  <a:lnTo>
                    <a:pt x="350" y="466"/>
                  </a:lnTo>
                  <a:lnTo>
                    <a:pt x="358" y="485"/>
                  </a:lnTo>
                  <a:lnTo>
                    <a:pt x="358" y="491"/>
                  </a:lnTo>
                  <a:lnTo>
                    <a:pt x="360" y="497"/>
                  </a:lnTo>
                  <a:lnTo>
                    <a:pt x="362" y="505"/>
                  </a:lnTo>
                  <a:lnTo>
                    <a:pt x="364" y="512"/>
                  </a:lnTo>
                  <a:lnTo>
                    <a:pt x="366" y="522"/>
                  </a:lnTo>
                  <a:lnTo>
                    <a:pt x="368" y="530"/>
                  </a:lnTo>
                  <a:lnTo>
                    <a:pt x="370" y="539"/>
                  </a:lnTo>
                  <a:lnTo>
                    <a:pt x="371" y="547"/>
                  </a:lnTo>
                  <a:lnTo>
                    <a:pt x="371" y="556"/>
                  </a:lnTo>
                  <a:lnTo>
                    <a:pt x="373" y="563"/>
                  </a:lnTo>
                  <a:lnTo>
                    <a:pt x="374" y="571"/>
                  </a:lnTo>
                  <a:lnTo>
                    <a:pt x="376" y="577"/>
                  </a:lnTo>
                  <a:lnTo>
                    <a:pt x="376" y="582"/>
                  </a:lnTo>
                  <a:lnTo>
                    <a:pt x="378" y="586"/>
                  </a:lnTo>
                  <a:lnTo>
                    <a:pt x="378" y="589"/>
                  </a:lnTo>
                  <a:lnTo>
                    <a:pt x="380" y="589"/>
                  </a:lnTo>
                </a:path>
              </a:pathLst>
            </a:custGeom>
            <a:noFill/>
            <a:ln w="3175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40" name="Freeform 38"/>
            <p:cNvSpPr>
              <a:spLocks/>
            </p:cNvSpPr>
            <p:nvPr/>
          </p:nvSpPr>
          <p:spPr bwMode="auto">
            <a:xfrm>
              <a:off x="5161179" y="4447062"/>
              <a:ext cx="1851025" cy="1157287"/>
            </a:xfrm>
            <a:custGeom>
              <a:avLst/>
              <a:gdLst>
                <a:gd name="T0" fmla="*/ 1815 w 1816"/>
                <a:gd name="T1" fmla="*/ 0 h 1501"/>
                <a:gd name="T2" fmla="*/ 1815 w 1816"/>
                <a:gd name="T3" fmla="*/ 1500 h 1501"/>
                <a:gd name="T4" fmla="*/ 0 w 1816"/>
                <a:gd name="T5" fmla="*/ 1500 h 1501"/>
                <a:gd name="T6" fmla="*/ 0 w 1816"/>
                <a:gd name="T7" fmla="*/ 0 h 1501"/>
                <a:gd name="T8" fmla="*/ 1815 w 1816"/>
                <a:gd name="T9" fmla="*/ 0 h 1501"/>
              </a:gdLst>
              <a:ahLst/>
              <a:cxnLst>
                <a:cxn ang="0">
                  <a:pos x="T0" y="T1"/>
                </a:cxn>
                <a:cxn ang="0">
                  <a:pos x="T2" y="T3"/>
                </a:cxn>
                <a:cxn ang="0">
                  <a:pos x="T4" y="T5"/>
                </a:cxn>
                <a:cxn ang="0">
                  <a:pos x="T6" y="T7"/>
                </a:cxn>
                <a:cxn ang="0">
                  <a:pos x="T8" y="T9"/>
                </a:cxn>
              </a:cxnLst>
              <a:rect l="0" t="0" r="r" b="b"/>
              <a:pathLst>
                <a:path w="1816" h="1501">
                  <a:moveTo>
                    <a:pt x="1815" y="0"/>
                  </a:moveTo>
                  <a:lnTo>
                    <a:pt x="1815" y="1500"/>
                  </a:lnTo>
                  <a:lnTo>
                    <a:pt x="0" y="1500"/>
                  </a:lnTo>
                  <a:lnTo>
                    <a:pt x="0" y="0"/>
                  </a:lnTo>
                  <a:lnTo>
                    <a:pt x="1815"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41" name="Freeform 39"/>
            <p:cNvSpPr>
              <a:spLocks/>
            </p:cNvSpPr>
            <p:nvPr/>
          </p:nvSpPr>
          <p:spPr bwMode="auto">
            <a:xfrm>
              <a:off x="5556467" y="5005862"/>
              <a:ext cx="369887" cy="428625"/>
            </a:xfrm>
            <a:custGeom>
              <a:avLst/>
              <a:gdLst>
                <a:gd name="T0" fmla="*/ 363 w 364"/>
                <a:gd name="T1" fmla="*/ 0 h 556"/>
                <a:gd name="T2" fmla="*/ 363 w 364"/>
                <a:gd name="T3" fmla="*/ 0 h 556"/>
                <a:gd name="T4" fmla="*/ 340 w 364"/>
                <a:gd name="T5" fmla="*/ 2 h 556"/>
                <a:gd name="T6" fmla="*/ 317 w 364"/>
                <a:gd name="T7" fmla="*/ 5 h 556"/>
                <a:gd name="T8" fmla="*/ 295 w 364"/>
                <a:gd name="T9" fmla="*/ 11 h 556"/>
                <a:gd name="T10" fmla="*/ 273 w 364"/>
                <a:gd name="T11" fmla="*/ 18 h 556"/>
                <a:gd name="T12" fmla="*/ 251 w 364"/>
                <a:gd name="T13" fmla="*/ 28 h 556"/>
                <a:gd name="T14" fmla="*/ 229 w 364"/>
                <a:gd name="T15" fmla="*/ 40 h 556"/>
                <a:gd name="T16" fmla="*/ 208 w 364"/>
                <a:gd name="T17" fmla="*/ 54 h 556"/>
                <a:gd name="T18" fmla="*/ 188 w 364"/>
                <a:gd name="T19" fmla="*/ 68 h 556"/>
                <a:gd name="T20" fmla="*/ 168 w 364"/>
                <a:gd name="T21" fmla="*/ 88 h 556"/>
                <a:gd name="T22" fmla="*/ 150 w 364"/>
                <a:gd name="T23" fmla="*/ 106 h 556"/>
                <a:gd name="T24" fmla="*/ 131 w 364"/>
                <a:gd name="T25" fmla="*/ 128 h 556"/>
                <a:gd name="T26" fmla="*/ 114 w 364"/>
                <a:gd name="T27" fmla="*/ 151 h 556"/>
                <a:gd name="T28" fmla="*/ 99 w 364"/>
                <a:gd name="T29" fmla="*/ 176 h 556"/>
                <a:gd name="T30" fmla="*/ 83 w 364"/>
                <a:gd name="T31" fmla="*/ 201 h 556"/>
                <a:gd name="T32" fmla="*/ 69 w 364"/>
                <a:gd name="T33" fmla="*/ 230 h 556"/>
                <a:gd name="T34" fmla="*/ 57 w 364"/>
                <a:gd name="T35" fmla="*/ 258 h 556"/>
                <a:gd name="T36" fmla="*/ 45 w 364"/>
                <a:gd name="T37" fmla="*/ 288 h 556"/>
                <a:gd name="T38" fmla="*/ 35 w 364"/>
                <a:gd name="T39" fmla="*/ 318 h 556"/>
                <a:gd name="T40" fmla="*/ 25 w 364"/>
                <a:gd name="T41" fmla="*/ 352 h 556"/>
                <a:gd name="T42" fmla="*/ 18 w 364"/>
                <a:gd name="T43" fmla="*/ 384 h 556"/>
                <a:gd name="T44" fmla="*/ 11 w 364"/>
                <a:gd name="T45" fmla="*/ 417 h 556"/>
                <a:gd name="T46" fmla="*/ 7 w 364"/>
                <a:gd name="T47" fmla="*/ 452 h 556"/>
                <a:gd name="T48" fmla="*/ 3 w 364"/>
                <a:gd name="T49" fmla="*/ 486 h 556"/>
                <a:gd name="T50" fmla="*/ 1 w 364"/>
                <a:gd name="T51" fmla="*/ 521 h 556"/>
                <a:gd name="T52" fmla="*/ 0 w 364"/>
                <a:gd name="T53" fmla="*/ 555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4" h="556">
                  <a:moveTo>
                    <a:pt x="363" y="0"/>
                  </a:moveTo>
                  <a:lnTo>
                    <a:pt x="363" y="0"/>
                  </a:lnTo>
                  <a:lnTo>
                    <a:pt x="340" y="2"/>
                  </a:lnTo>
                  <a:lnTo>
                    <a:pt x="317" y="5"/>
                  </a:lnTo>
                  <a:lnTo>
                    <a:pt x="295" y="11"/>
                  </a:lnTo>
                  <a:lnTo>
                    <a:pt x="273" y="18"/>
                  </a:lnTo>
                  <a:lnTo>
                    <a:pt x="251" y="28"/>
                  </a:lnTo>
                  <a:lnTo>
                    <a:pt x="229" y="40"/>
                  </a:lnTo>
                  <a:lnTo>
                    <a:pt x="208" y="54"/>
                  </a:lnTo>
                  <a:lnTo>
                    <a:pt x="188" y="68"/>
                  </a:lnTo>
                  <a:lnTo>
                    <a:pt x="168" y="88"/>
                  </a:lnTo>
                  <a:lnTo>
                    <a:pt x="150" y="106"/>
                  </a:lnTo>
                  <a:lnTo>
                    <a:pt x="131" y="128"/>
                  </a:lnTo>
                  <a:lnTo>
                    <a:pt x="114" y="151"/>
                  </a:lnTo>
                  <a:lnTo>
                    <a:pt x="99" y="176"/>
                  </a:lnTo>
                  <a:lnTo>
                    <a:pt x="83" y="201"/>
                  </a:lnTo>
                  <a:lnTo>
                    <a:pt x="69" y="230"/>
                  </a:lnTo>
                  <a:lnTo>
                    <a:pt x="57" y="258"/>
                  </a:lnTo>
                  <a:lnTo>
                    <a:pt x="45" y="288"/>
                  </a:lnTo>
                  <a:lnTo>
                    <a:pt x="35" y="318"/>
                  </a:lnTo>
                  <a:lnTo>
                    <a:pt x="25" y="352"/>
                  </a:lnTo>
                  <a:lnTo>
                    <a:pt x="18" y="384"/>
                  </a:lnTo>
                  <a:lnTo>
                    <a:pt x="11" y="417"/>
                  </a:lnTo>
                  <a:lnTo>
                    <a:pt x="7" y="452"/>
                  </a:lnTo>
                  <a:lnTo>
                    <a:pt x="3" y="486"/>
                  </a:lnTo>
                  <a:lnTo>
                    <a:pt x="1" y="521"/>
                  </a:lnTo>
                  <a:lnTo>
                    <a:pt x="0" y="555"/>
                  </a:lnTo>
                </a:path>
              </a:pathLst>
            </a:custGeom>
            <a:noFill/>
            <a:ln w="3175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42" name="Freeform 40"/>
            <p:cNvSpPr>
              <a:spLocks/>
            </p:cNvSpPr>
            <p:nvPr/>
          </p:nvSpPr>
          <p:spPr bwMode="auto">
            <a:xfrm>
              <a:off x="6437528" y="4932836"/>
              <a:ext cx="342900" cy="290512"/>
            </a:xfrm>
            <a:custGeom>
              <a:avLst/>
              <a:gdLst>
                <a:gd name="T0" fmla="*/ 6 w 337"/>
                <a:gd name="T1" fmla="*/ 357 h 376"/>
                <a:gd name="T2" fmla="*/ 14 w 337"/>
                <a:gd name="T3" fmla="*/ 322 h 376"/>
                <a:gd name="T4" fmla="*/ 23 w 337"/>
                <a:gd name="T5" fmla="*/ 289 h 376"/>
                <a:gd name="T6" fmla="*/ 31 w 337"/>
                <a:gd name="T7" fmla="*/ 256 h 376"/>
                <a:gd name="T8" fmla="*/ 39 w 337"/>
                <a:gd name="T9" fmla="*/ 226 h 376"/>
                <a:gd name="T10" fmla="*/ 48 w 337"/>
                <a:gd name="T11" fmla="*/ 197 h 376"/>
                <a:gd name="T12" fmla="*/ 57 w 337"/>
                <a:gd name="T13" fmla="*/ 172 h 376"/>
                <a:gd name="T14" fmla="*/ 65 w 337"/>
                <a:gd name="T15" fmla="*/ 147 h 376"/>
                <a:gd name="T16" fmla="*/ 73 w 337"/>
                <a:gd name="T17" fmla="*/ 123 h 376"/>
                <a:gd name="T18" fmla="*/ 82 w 337"/>
                <a:gd name="T19" fmla="*/ 104 h 376"/>
                <a:gd name="T20" fmla="*/ 90 w 337"/>
                <a:gd name="T21" fmla="*/ 84 h 376"/>
                <a:gd name="T22" fmla="*/ 100 w 337"/>
                <a:gd name="T23" fmla="*/ 67 h 376"/>
                <a:gd name="T24" fmla="*/ 108 w 337"/>
                <a:gd name="T25" fmla="*/ 53 h 376"/>
                <a:gd name="T26" fmla="*/ 116 w 337"/>
                <a:gd name="T27" fmla="*/ 38 h 376"/>
                <a:gd name="T28" fmla="*/ 124 w 337"/>
                <a:gd name="T29" fmla="*/ 28 h 376"/>
                <a:gd name="T30" fmla="*/ 133 w 337"/>
                <a:gd name="T31" fmla="*/ 18 h 376"/>
                <a:gd name="T32" fmla="*/ 141 w 337"/>
                <a:gd name="T33" fmla="*/ 12 h 376"/>
                <a:gd name="T34" fmla="*/ 151 w 337"/>
                <a:gd name="T35" fmla="*/ 5 h 376"/>
                <a:gd name="T36" fmla="*/ 159 w 337"/>
                <a:gd name="T37" fmla="*/ 2 h 376"/>
                <a:gd name="T38" fmla="*/ 167 w 337"/>
                <a:gd name="T39" fmla="*/ 1 h 376"/>
                <a:gd name="T40" fmla="*/ 175 w 337"/>
                <a:gd name="T41" fmla="*/ 1 h 376"/>
                <a:gd name="T42" fmla="*/ 184 w 337"/>
                <a:gd name="T43" fmla="*/ 2 h 376"/>
                <a:gd name="T44" fmla="*/ 193 w 337"/>
                <a:gd name="T45" fmla="*/ 5 h 376"/>
                <a:gd name="T46" fmla="*/ 201 w 337"/>
                <a:gd name="T47" fmla="*/ 12 h 376"/>
                <a:gd name="T48" fmla="*/ 210 w 337"/>
                <a:gd name="T49" fmla="*/ 18 h 376"/>
                <a:gd name="T50" fmla="*/ 217 w 337"/>
                <a:gd name="T51" fmla="*/ 28 h 376"/>
                <a:gd name="T52" fmla="*/ 225 w 337"/>
                <a:gd name="T53" fmla="*/ 37 h 376"/>
                <a:gd name="T54" fmla="*/ 235 w 337"/>
                <a:gd name="T55" fmla="*/ 53 h 376"/>
                <a:gd name="T56" fmla="*/ 242 w 337"/>
                <a:gd name="T57" fmla="*/ 67 h 376"/>
                <a:gd name="T58" fmla="*/ 252 w 337"/>
                <a:gd name="T59" fmla="*/ 84 h 376"/>
                <a:gd name="T60" fmla="*/ 261 w 337"/>
                <a:gd name="T61" fmla="*/ 104 h 376"/>
                <a:gd name="T62" fmla="*/ 268 w 337"/>
                <a:gd name="T63" fmla="*/ 123 h 376"/>
                <a:gd name="T64" fmla="*/ 277 w 337"/>
                <a:gd name="T65" fmla="*/ 147 h 376"/>
                <a:gd name="T66" fmla="*/ 286 w 337"/>
                <a:gd name="T67" fmla="*/ 172 h 376"/>
                <a:gd name="T68" fmla="*/ 295 w 337"/>
                <a:gd name="T69" fmla="*/ 197 h 376"/>
                <a:gd name="T70" fmla="*/ 303 w 337"/>
                <a:gd name="T71" fmla="*/ 226 h 376"/>
                <a:gd name="T72" fmla="*/ 312 w 337"/>
                <a:gd name="T73" fmla="*/ 2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37" h="376">
                  <a:moveTo>
                    <a:pt x="0" y="375"/>
                  </a:moveTo>
                  <a:lnTo>
                    <a:pt x="6" y="357"/>
                  </a:lnTo>
                  <a:lnTo>
                    <a:pt x="10" y="340"/>
                  </a:lnTo>
                  <a:lnTo>
                    <a:pt x="14" y="322"/>
                  </a:lnTo>
                  <a:lnTo>
                    <a:pt x="18" y="304"/>
                  </a:lnTo>
                  <a:lnTo>
                    <a:pt x="23" y="289"/>
                  </a:lnTo>
                  <a:lnTo>
                    <a:pt x="27" y="272"/>
                  </a:lnTo>
                  <a:lnTo>
                    <a:pt x="31" y="256"/>
                  </a:lnTo>
                  <a:lnTo>
                    <a:pt x="35" y="239"/>
                  </a:lnTo>
                  <a:lnTo>
                    <a:pt x="39" y="226"/>
                  </a:lnTo>
                  <a:lnTo>
                    <a:pt x="44" y="211"/>
                  </a:lnTo>
                  <a:lnTo>
                    <a:pt x="48" y="197"/>
                  </a:lnTo>
                  <a:lnTo>
                    <a:pt x="52" y="184"/>
                  </a:lnTo>
                  <a:lnTo>
                    <a:pt x="57" y="172"/>
                  </a:lnTo>
                  <a:lnTo>
                    <a:pt x="61" y="160"/>
                  </a:lnTo>
                  <a:lnTo>
                    <a:pt x="65" y="147"/>
                  </a:lnTo>
                  <a:lnTo>
                    <a:pt x="69" y="135"/>
                  </a:lnTo>
                  <a:lnTo>
                    <a:pt x="73" y="123"/>
                  </a:lnTo>
                  <a:lnTo>
                    <a:pt x="78" y="113"/>
                  </a:lnTo>
                  <a:lnTo>
                    <a:pt x="82" y="104"/>
                  </a:lnTo>
                  <a:lnTo>
                    <a:pt x="86" y="93"/>
                  </a:lnTo>
                  <a:lnTo>
                    <a:pt x="90" y="84"/>
                  </a:lnTo>
                  <a:lnTo>
                    <a:pt x="95" y="76"/>
                  </a:lnTo>
                  <a:lnTo>
                    <a:pt x="100" y="67"/>
                  </a:lnTo>
                  <a:lnTo>
                    <a:pt x="103" y="61"/>
                  </a:lnTo>
                  <a:lnTo>
                    <a:pt x="108" y="53"/>
                  </a:lnTo>
                  <a:lnTo>
                    <a:pt x="113" y="45"/>
                  </a:lnTo>
                  <a:lnTo>
                    <a:pt x="116" y="38"/>
                  </a:lnTo>
                  <a:lnTo>
                    <a:pt x="120" y="33"/>
                  </a:lnTo>
                  <a:lnTo>
                    <a:pt x="124" y="28"/>
                  </a:lnTo>
                  <a:lnTo>
                    <a:pt x="129" y="23"/>
                  </a:lnTo>
                  <a:lnTo>
                    <a:pt x="133" y="18"/>
                  </a:lnTo>
                  <a:lnTo>
                    <a:pt x="137" y="14"/>
                  </a:lnTo>
                  <a:lnTo>
                    <a:pt x="141" y="12"/>
                  </a:lnTo>
                  <a:lnTo>
                    <a:pt x="145" y="8"/>
                  </a:lnTo>
                  <a:lnTo>
                    <a:pt x="151" y="5"/>
                  </a:lnTo>
                  <a:lnTo>
                    <a:pt x="155" y="4"/>
                  </a:lnTo>
                  <a:lnTo>
                    <a:pt x="159" y="2"/>
                  </a:lnTo>
                  <a:lnTo>
                    <a:pt x="162" y="1"/>
                  </a:lnTo>
                  <a:lnTo>
                    <a:pt x="167" y="1"/>
                  </a:lnTo>
                  <a:lnTo>
                    <a:pt x="172" y="0"/>
                  </a:lnTo>
                  <a:lnTo>
                    <a:pt x="175" y="1"/>
                  </a:lnTo>
                  <a:lnTo>
                    <a:pt x="180" y="1"/>
                  </a:lnTo>
                  <a:lnTo>
                    <a:pt x="184" y="2"/>
                  </a:lnTo>
                  <a:lnTo>
                    <a:pt x="189" y="4"/>
                  </a:lnTo>
                  <a:lnTo>
                    <a:pt x="193" y="5"/>
                  </a:lnTo>
                  <a:lnTo>
                    <a:pt x="196" y="8"/>
                  </a:lnTo>
                  <a:lnTo>
                    <a:pt x="201" y="12"/>
                  </a:lnTo>
                  <a:lnTo>
                    <a:pt x="205" y="14"/>
                  </a:lnTo>
                  <a:lnTo>
                    <a:pt x="210" y="18"/>
                  </a:lnTo>
                  <a:lnTo>
                    <a:pt x="213" y="23"/>
                  </a:lnTo>
                  <a:lnTo>
                    <a:pt x="217" y="28"/>
                  </a:lnTo>
                  <a:lnTo>
                    <a:pt x="223" y="32"/>
                  </a:lnTo>
                  <a:lnTo>
                    <a:pt x="225" y="37"/>
                  </a:lnTo>
                  <a:lnTo>
                    <a:pt x="230" y="45"/>
                  </a:lnTo>
                  <a:lnTo>
                    <a:pt x="235" y="53"/>
                  </a:lnTo>
                  <a:lnTo>
                    <a:pt x="241" y="62"/>
                  </a:lnTo>
                  <a:lnTo>
                    <a:pt x="242" y="67"/>
                  </a:lnTo>
                  <a:lnTo>
                    <a:pt x="247" y="76"/>
                  </a:lnTo>
                  <a:lnTo>
                    <a:pt x="252" y="84"/>
                  </a:lnTo>
                  <a:lnTo>
                    <a:pt x="257" y="93"/>
                  </a:lnTo>
                  <a:lnTo>
                    <a:pt x="261" y="104"/>
                  </a:lnTo>
                  <a:lnTo>
                    <a:pt x="265" y="113"/>
                  </a:lnTo>
                  <a:lnTo>
                    <a:pt x="268" y="123"/>
                  </a:lnTo>
                  <a:lnTo>
                    <a:pt x="273" y="135"/>
                  </a:lnTo>
                  <a:lnTo>
                    <a:pt x="277" y="147"/>
                  </a:lnTo>
                  <a:lnTo>
                    <a:pt x="282" y="160"/>
                  </a:lnTo>
                  <a:lnTo>
                    <a:pt x="286" y="172"/>
                  </a:lnTo>
                  <a:lnTo>
                    <a:pt x="289" y="184"/>
                  </a:lnTo>
                  <a:lnTo>
                    <a:pt x="295" y="197"/>
                  </a:lnTo>
                  <a:lnTo>
                    <a:pt x="299" y="211"/>
                  </a:lnTo>
                  <a:lnTo>
                    <a:pt x="303" y="226"/>
                  </a:lnTo>
                  <a:lnTo>
                    <a:pt x="307" y="239"/>
                  </a:lnTo>
                  <a:lnTo>
                    <a:pt x="312" y="256"/>
                  </a:lnTo>
                  <a:lnTo>
                    <a:pt x="336" y="332"/>
                  </a:lnTo>
                </a:path>
              </a:pathLst>
            </a:custGeom>
            <a:noFill/>
            <a:ln w="3175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43" name="Freeform 41"/>
            <p:cNvSpPr>
              <a:spLocks/>
            </p:cNvSpPr>
            <p:nvPr/>
          </p:nvSpPr>
          <p:spPr bwMode="auto">
            <a:xfrm>
              <a:off x="6280367" y="5028087"/>
              <a:ext cx="160337" cy="198437"/>
            </a:xfrm>
            <a:custGeom>
              <a:avLst/>
              <a:gdLst>
                <a:gd name="T0" fmla="*/ 0 w 158"/>
                <a:gd name="T1" fmla="*/ 0 h 259"/>
                <a:gd name="T2" fmla="*/ 0 w 158"/>
                <a:gd name="T3" fmla="*/ 0 h 259"/>
                <a:gd name="T4" fmla="*/ 10 w 158"/>
                <a:gd name="T5" fmla="*/ 1 h 259"/>
                <a:gd name="T6" fmla="*/ 20 w 158"/>
                <a:gd name="T7" fmla="*/ 4 h 259"/>
                <a:gd name="T8" fmla="*/ 30 w 158"/>
                <a:gd name="T9" fmla="*/ 6 h 259"/>
                <a:gd name="T10" fmla="*/ 39 w 158"/>
                <a:gd name="T11" fmla="*/ 9 h 259"/>
                <a:gd name="T12" fmla="*/ 49 w 158"/>
                <a:gd name="T13" fmla="*/ 14 h 259"/>
                <a:gd name="T14" fmla="*/ 58 w 158"/>
                <a:gd name="T15" fmla="*/ 20 h 259"/>
                <a:gd name="T16" fmla="*/ 67 w 158"/>
                <a:gd name="T17" fmla="*/ 26 h 259"/>
                <a:gd name="T18" fmla="*/ 76 w 158"/>
                <a:gd name="T19" fmla="*/ 32 h 259"/>
                <a:gd name="T20" fmla="*/ 83 w 158"/>
                <a:gd name="T21" fmla="*/ 42 h 259"/>
                <a:gd name="T22" fmla="*/ 93 w 158"/>
                <a:gd name="T23" fmla="*/ 50 h 259"/>
                <a:gd name="T24" fmla="*/ 101 w 158"/>
                <a:gd name="T25" fmla="*/ 59 h 259"/>
                <a:gd name="T26" fmla="*/ 108 w 158"/>
                <a:gd name="T27" fmla="*/ 70 h 259"/>
                <a:gd name="T28" fmla="*/ 113 w 158"/>
                <a:gd name="T29" fmla="*/ 82 h 259"/>
                <a:gd name="T30" fmla="*/ 121 w 158"/>
                <a:gd name="T31" fmla="*/ 95 h 259"/>
                <a:gd name="T32" fmla="*/ 127 w 158"/>
                <a:gd name="T33" fmla="*/ 106 h 259"/>
                <a:gd name="T34" fmla="*/ 132 w 158"/>
                <a:gd name="T35" fmla="*/ 120 h 259"/>
                <a:gd name="T36" fmla="*/ 137 w 158"/>
                <a:gd name="T37" fmla="*/ 133 h 259"/>
                <a:gd name="T38" fmla="*/ 141 w 158"/>
                <a:gd name="T39" fmla="*/ 148 h 259"/>
                <a:gd name="T40" fmla="*/ 146 w 158"/>
                <a:gd name="T41" fmla="*/ 162 h 259"/>
                <a:gd name="T42" fmla="*/ 149 w 158"/>
                <a:gd name="T43" fmla="*/ 178 h 259"/>
                <a:gd name="T44" fmla="*/ 151 w 158"/>
                <a:gd name="T45" fmla="*/ 194 h 259"/>
                <a:gd name="T46" fmla="*/ 155 w 158"/>
                <a:gd name="T47" fmla="*/ 210 h 259"/>
                <a:gd name="T48" fmla="*/ 156 w 158"/>
                <a:gd name="T49" fmla="*/ 226 h 259"/>
                <a:gd name="T50" fmla="*/ 156 w 158"/>
                <a:gd name="T51" fmla="*/ 241 h 259"/>
                <a:gd name="T52" fmla="*/ 157 w 158"/>
                <a:gd name="T53" fmla="*/ 258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8" h="259">
                  <a:moveTo>
                    <a:pt x="0" y="0"/>
                  </a:moveTo>
                  <a:lnTo>
                    <a:pt x="0" y="0"/>
                  </a:lnTo>
                  <a:lnTo>
                    <a:pt x="10" y="1"/>
                  </a:lnTo>
                  <a:lnTo>
                    <a:pt x="20" y="4"/>
                  </a:lnTo>
                  <a:lnTo>
                    <a:pt x="30" y="6"/>
                  </a:lnTo>
                  <a:lnTo>
                    <a:pt x="39" y="9"/>
                  </a:lnTo>
                  <a:lnTo>
                    <a:pt x="49" y="14"/>
                  </a:lnTo>
                  <a:lnTo>
                    <a:pt x="58" y="20"/>
                  </a:lnTo>
                  <a:lnTo>
                    <a:pt x="67" y="26"/>
                  </a:lnTo>
                  <a:lnTo>
                    <a:pt x="76" y="32"/>
                  </a:lnTo>
                  <a:lnTo>
                    <a:pt x="83" y="42"/>
                  </a:lnTo>
                  <a:lnTo>
                    <a:pt x="93" y="50"/>
                  </a:lnTo>
                  <a:lnTo>
                    <a:pt x="101" y="59"/>
                  </a:lnTo>
                  <a:lnTo>
                    <a:pt x="108" y="70"/>
                  </a:lnTo>
                  <a:lnTo>
                    <a:pt x="113" y="82"/>
                  </a:lnTo>
                  <a:lnTo>
                    <a:pt x="121" y="95"/>
                  </a:lnTo>
                  <a:lnTo>
                    <a:pt x="127" y="106"/>
                  </a:lnTo>
                  <a:lnTo>
                    <a:pt x="132" y="120"/>
                  </a:lnTo>
                  <a:lnTo>
                    <a:pt x="137" y="133"/>
                  </a:lnTo>
                  <a:lnTo>
                    <a:pt x="141" y="148"/>
                  </a:lnTo>
                  <a:lnTo>
                    <a:pt x="146" y="162"/>
                  </a:lnTo>
                  <a:lnTo>
                    <a:pt x="149" y="178"/>
                  </a:lnTo>
                  <a:lnTo>
                    <a:pt x="151" y="194"/>
                  </a:lnTo>
                  <a:lnTo>
                    <a:pt x="155" y="210"/>
                  </a:lnTo>
                  <a:lnTo>
                    <a:pt x="156" y="226"/>
                  </a:lnTo>
                  <a:lnTo>
                    <a:pt x="156" y="241"/>
                  </a:lnTo>
                  <a:lnTo>
                    <a:pt x="157" y="258"/>
                  </a:lnTo>
                </a:path>
              </a:pathLst>
            </a:custGeom>
            <a:noFill/>
            <a:ln w="3175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44" name="Freeform 42"/>
            <p:cNvSpPr>
              <a:spLocks/>
            </p:cNvSpPr>
            <p:nvPr/>
          </p:nvSpPr>
          <p:spPr bwMode="auto">
            <a:xfrm>
              <a:off x="6786778" y="4899498"/>
              <a:ext cx="217488" cy="292100"/>
            </a:xfrm>
            <a:custGeom>
              <a:avLst/>
              <a:gdLst>
                <a:gd name="T0" fmla="*/ 213 w 214"/>
                <a:gd name="T1" fmla="*/ 0 h 380"/>
                <a:gd name="T2" fmla="*/ 212 w 214"/>
                <a:gd name="T3" fmla="*/ 1 h 380"/>
                <a:gd name="T4" fmla="*/ 194 w 214"/>
                <a:gd name="T5" fmla="*/ 13 h 380"/>
                <a:gd name="T6" fmla="*/ 169 w 214"/>
                <a:gd name="T7" fmla="*/ 33 h 380"/>
                <a:gd name="T8" fmla="*/ 145 w 214"/>
                <a:gd name="T9" fmla="*/ 53 h 380"/>
                <a:gd name="T10" fmla="*/ 124 w 214"/>
                <a:gd name="T11" fmla="*/ 75 h 380"/>
                <a:gd name="T12" fmla="*/ 105 w 214"/>
                <a:gd name="T13" fmla="*/ 97 h 380"/>
                <a:gd name="T14" fmla="*/ 87 w 214"/>
                <a:gd name="T15" fmla="*/ 121 h 380"/>
                <a:gd name="T16" fmla="*/ 70 w 214"/>
                <a:gd name="T17" fmla="*/ 145 h 380"/>
                <a:gd name="T18" fmla="*/ 55 w 214"/>
                <a:gd name="T19" fmla="*/ 172 h 380"/>
                <a:gd name="T20" fmla="*/ 42 w 214"/>
                <a:gd name="T21" fmla="*/ 197 h 380"/>
                <a:gd name="T22" fmla="*/ 31 w 214"/>
                <a:gd name="T23" fmla="*/ 224 h 380"/>
                <a:gd name="T24" fmla="*/ 22 w 214"/>
                <a:gd name="T25" fmla="*/ 251 h 380"/>
                <a:gd name="T26" fmla="*/ 15 w 214"/>
                <a:gd name="T27" fmla="*/ 280 h 380"/>
                <a:gd name="T28" fmla="*/ 7 w 214"/>
                <a:gd name="T29" fmla="*/ 309 h 380"/>
                <a:gd name="T30" fmla="*/ 4 w 214"/>
                <a:gd name="T31" fmla="*/ 337 h 380"/>
                <a:gd name="T32" fmla="*/ 0 w 214"/>
                <a:gd name="T33" fmla="*/ 379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4" h="380">
                  <a:moveTo>
                    <a:pt x="213" y="0"/>
                  </a:moveTo>
                  <a:lnTo>
                    <a:pt x="212" y="1"/>
                  </a:lnTo>
                  <a:lnTo>
                    <a:pt x="194" y="13"/>
                  </a:lnTo>
                  <a:lnTo>
                    <a:pt x="169" y="33"/>
                  </a:lnTo>
                  <a:lnTo>
                    <a:pt x="145" y="53"/>
                  </a:lnTo>
                  <a:lnTo>
                    <a:pt x="124" y="75"/>
                  </a:lnTo>
                  <a:lnTo>
                    <a:pt x="105" y="97"/>
                  </a:lnTo>
                  <a:lnTo>
                    <a:pt x="87" y="121"/>
                  </a:lnTo>
                  <a:lnTo>
                    <a:pt x="70" y="145"/>
                  </a:lnTo>
                  <a:lnTo>
                    <a:pt x="55" y="172"/>
                  </a:lnTo>
                  <a:lnTo>
                    <a:pt x="42" y="197"/>
                  </a:lnTo>
                  <a:lnTo>
                    <a:pt x="31" y="224"/>
                  </a:lnTo>
                  <a:lnTo>
                    <a:pt x="22" y="251"/>
                  </a:lnTo>
                  <a:lnTo>
                    <a:pt x="15" y="280"/>
                  </a:lnTo>
                  <a:lnTo>
                    <a:pt x="7" y="309"/>
                  </a:lnTo>
                  <a:lnTo>
                    <a:pt x="4" y="337"/>
                  </a:lnTo>
                  <a:lnTo>
                    <a:pt x="0" y="379"/>
                  </a:lnTo>
                </a:path>
              </a:pathLst>
            </a:custGeom>
            <a:noFill/>
            <a:ln w="3175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45" name="Text Box 43"/>
            <p:cNvSpPr txBox="1">
              <a:spLocks noChangeArrowheads="1"/>
            </p:cNvSpPr>
            <p:nvPr/>
          </p:nvSpPr>
          <p:spPr bwMode="auto">
            <a:xfrm>
              <a:off x="9216692" y="4591329"/>
              <a:ext cx="639762" cy="10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1200" b="1" dirty="0">
                  <a:solidFill>
                    <a:srgbClr val="000000"/>
                  </a:solidFill>
                </a:rPr>
                <a:t>Data Max</a:t>
              </a:r>
              <a:endParaRPr lang="en-US" altLang="zh-CN" sz="2200" dirty="0">
                <a:latin typeface="Times New Roman" panose="02020603050405020304" pitchFamily="18" charset="0"/>
              </a:endParaRPr>
            </a:p>
          </p:txBody>
        </p:sp>
        <p:sp>
          <p:nvSpPr>
            <p:cNvPr id="46" name="Text Box 44"/>
            <p:cNvSpPr txBox="1">
              <a:spLocks noChangeArrowheads="1"/>
            </p:cNvSpPr>
            <p:nvPr/>
          </p:nvSpPr>
          <p:spPr bwMode="auto">
            <a:xfrm>
              <a:off x="9472828" y="5047136"/>
              <a:ext cx="706438" cy="10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1200">
                  <a:solidFill>
                    <a:srgbClr val="000000"/>
                  </a:solidFill>
                </a:rPr>
                <a:t>Add in Phase</a:t>
              </a:r>
              <a:endParaRPr lang="en-US" altLang="zh-CN" sz="2200">
                <a:latin typeface="Times New Roman" panose="02020603050405020304" pitchFamily="18" charset="0"/>
              </a:endParaRPr>
            </a:p>
          </p:txBody>
        </p:sp>
        <p:sp>
          <p:nvSpPr>
            <p:cNvPr id="47" name="Text Box 45"/>
            <p:cNvSpPr txBox="1">
              <a:spLocks noChangeArrowheads="1"/>
            </p:cNvSpPr>
            <p:nvPr/>
          </p:nvSpPr>
          <p:spPr bwMode="auto">
            <a:xfrm rot="16200000">
              <a:off x="8369516" y="4812186"/>
              <a:ext cx="482600" cy="16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1200">
                  <a:solidFill>
                    <a:srgbClr val="000000"/>
                  </a:solidFill>
                </a:rPr>
                <a:t>Device</a:t>
              </a:r>
              <a:endParaRPr lang="en-US" altLang="zh-CN" sz="2200">
                <a:latin typeface="Times New Roman" panose="02020603050405020304" pitchFamily="18" charset="0"/>
              </a:endParaRPr>
            </a:p>
          </p:txBody>
        </p:sp>
        <p:sp>
          <p:nvSpPr>
            <p:cNvPr id="48" name="Text Box 46"/>
            <p:cNvSpPr txBox="1">
              <a:spLocks noChangeArrowheads="1"/>
            </p:cNvSpPr>
            <p:nvPr/>
          </p:nvSpPr>
          <p:spPr bwMode="auto">
            <a:xfrm rot="16200000">
              <a:off x="8756072" y="4744717"/>
              <a:ext cx="560388"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900">
                  <a:solidFill>
                    <a:srgbClr val="000000"/>
                  </a:solidFill>
                </a:rPr>
                <a:t>Directivity</a:t>
              </a:r>
              <a:endParaRPr lang="en-US" altLang="zh-CN" sz="900">
                <a:latin typeface="Times New Roman" panose="02020603050405020304" pitchFamily="18" charset="0"/>
              </a:endParaRPr>
            </a:p>
          </p:txBody>
        </p:sp>
        <p:sp>
          <p:nvSpPr>
            <p:cNvPr id="49" name="Line 47"/>
            <p:cNvSpPr>
              <a:spLocks noChangeShapeType="1"/>
            </p:cNvSpPr>
            <p:nvPr/>
          </p:nvSpPr>
          <p:spPr bwMode="auto">
            <a:xfrm flipV="1">
              <a:off x="8844178" y="4953474"/>
              <a:ext cx="0" cy="1698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0" name="Freeform 48"/>
            <p:cNvSpPr>
              <a:spLocks/>
            </p:cNvSpPr>
            <p:nvPr/>
          </p:nvSpPr>
          <p:spPr bwMode="auto">
            <a:xfrm>
              <a:off x="8820366" y="4897911"/>
              <a:ext cx="50800" cy="76200"/>
            </a:xfrm>
            <a:custGeom>
              <a:avLst/>
              <a:gdLst>
                <a:gd name="T0" fmla="*/ 23 w 49"/>
                <a:gd name="T1" fmla="*/ 0 h 98"/>
                <a:gd name="T2" fmla="*/ 0 w 49"/>
                <a:gd name="T3" fmla="*/ 97 h 98"/>
                <a:gd name="T4" fmla="*/ 23 w 49"/>
                <a:gd name="T5" fmla="*/ 72 h 98"/>
                <a:gd name="T6" fmla="*/ 48 w 49"/>
                <a:gd name="T7" fmla="*/ 97 h 98"/>
                <a:gd name="T8" fmla="*/ 23 w 49"/>
                <a:gd name="T9" fmla="*/ 0 h 98"/>
                <a:gd name="T10" fmla="*/ 23 w 49"/>
                <a:gd name="T11" fmla="*/ 0 h 98"/>
              </a:gdLst>
              <a:ahLst/>
              <a:cxnLst>
                <a:cxn ang="0">
                  <a:pos x="T0" y="T1"/>
                </a:cxn>
                <a:cxn ang="0">
                  <a:pos x="T2" y="T3"/>
                </a:cxn>
                <a:cxn ang="0">
                  <a:pos x="T4" y="T5"/>
                </a:cxn>
                <a:cxn ang="0">
                  <a:pos x="T6" y="T7"/>
                </a:cxn>
                <a:cxn ang="0">
                  <a:pos x="T8" y="T9"/>
                </a:cxn>
                <a:cxn ang="0">
                  <a:pos x="T10" y="T11"/>
                </a:cxn>
              </a:cxnLst>
              <a:rect l="0" t="0" r="r" b="b"/>
              <a:pathLst>
                <a:path w="49" h="98">
                  <a:moveTo>
                    <a:pt x="23" y="0"/>
                  </a:moveTo>
                  <a:lnTo>
                    <a:pt x="0" y="97"/>
                  </a:lnTo>
                  <a:lnTo>
                    <a:pt x="23" y="72"/>
                  </a:lnTo>
                  <a:lnTo>
                    <a:pt x="48" y="97"/>
                  </a:lnTo>
                  <a:lnTo>
                    <a:pt x="23" y="0"/>
                  </a:lnTo>
                  <a:lnTo>
                    <a:pt x="23" y="0"/>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51" name="Line 49"/>
            <p:cNvSpPr>
              <a:spLocks noChangeShapeType="1"/>
            </p:cNvSpPr>
            <p:nvPr/>
          </p:nvSpPr>
          <p:spPr bwMode="auto">
            <a:xfrm flipV="1">
              <a:off x="9002928" y="4950298"/>
              <a:ext cx="0" cy="1730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2" name="Freeform 50"/>
            <p:cNvSpPr>
              <a:spLocks/>
            </p:cNvSpPr>
            <p:nvPr/>
          </p:nvSpPr>
          <p:spPr bwMode="auto">
            <a:xfrm>
              <a:off x="8979117" y="4893148"/>
              <a:ext cx="47625" cy="77788"/>
            </a:xfrm>
            <a:custGeom>
              <a:avLst/>
              <a:gdLst>
                <a:gd name="T0" fmla="*/ 24 w 48"/>
                <a:gd name="T1" fmla="*/ 0 h 98"/>
                <a:gd name="T2" fmla="*/ 0 w 48"/>
                <a:gd name="T3" fmla="*/ 97 h 98"/>
                <a:gd name="T4" fmla="*/ 24 w 48"/>
                <a:gd name="T5" fmla="*/ 73 h 98"/>
                <a:gd name="T6" fmla="*/ 47 w 48"/>
                <a:gd name="T7" fmla="*/ 97 h 98"/>
                <a:gd name="T8" fmla="*/ 24 w 48"/>
                <a:gd name="T9" fmla="*/ 0 h 98"/>
                <a:gd name="T10" fmla="*/ 24 w 48"/>
                <a:gd name="T11" fmla="*/ 0 h 98"/>
              </a:gdLst>
              <a:ahLst/>
              <a:cxnLst>
                <a:cxn ang="0">
                  <a:pos x="T0" y="T1"/>
                </a:cxn>
                <a:cxn ang="0">
                  <a:pos x="T2" y="T3"/>
                </a:cxn>
                <a:cxn ang="0">
                  <a:pos x="T4" y="T5"/>
                </a:cxn>
                <a:cxn ang="0">
                  <a:pos x="T6" y="T7"/>
                </a:cxn>
                <a:cxn ang="0">
                  <a:pos x="T8" y="T9"/>
                </a:cxn>
                <a:cxn ang="0">
                  <a:pos x="T10" y="T11"/>
                </a:cxn>
              </a:cxnLst>
              <a:rect l="0" t="0" r="r" b="b"/>
              <a:pathLst>
                <a:path w="48" h="98">
                  <a:moveTo>
                    <a:pt x="24" y="0"/>
                  </a:moveTo>
                  <a:lnTo>
                    <a:pt x="0" y="97"/>
                  </a:lnTo>
                  <a:lnTo>
                    <a:pt x="24" y="73"/>
                  </a:lnTo>
                  <a:lnTo>
                    <a:pt x="47" y="97"/>
                  </a:lnTo>
                  <a:lnTo>
                    <a:pt x="24" y="0"/>
                  </a:lnTo>
                  <a:lnTo>
                    <a:pt x="24" y="0"/>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grpSp>
          <p:nvGrpSpPr>
            <p:cNvPr id="53" name="Group 51"/>
            <p:cNvGrpSpPr>
              <a:grpSpLocks/>
            </p:cNvGrpSpPr>
            <p:nvPr/>
          </p:nvGrpSpPr>
          <p:grpSpPr bwMode="auto">
            <a:xfrm>
              <a:off x="8898153" y="4670898"/>
              <a:ext cx="50800" cy="452438"/>
              <a:chOff x="4458" y="1859"/>
              <a:chExt cx="50" cy="587"/>
            </a:xfrm>
          </p:grpSpPr>
          <p:sp>
            <p:nvSpPr>
              <p:cNvPr id="98" name="Line 52"/>
              <p:cNvSpPr>
                <a:spLocks noChangeShapeType="1"/>
              </p:cNvSpPr>
              <p:nvPr/>
            </p:nvSpPr>
            <p:spPr bwMode="auto">
              <a:xfrm flipV="1">
                <a:off x="4483" y="1931"/>
                <a:ext cx="0" cy="51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99" name="Freeform 53"/>
              <p:cNvSpPr>
                <a:spLocks/>
              </p:cNvSpPr>
              <p:nvPr/>
            </p:nvSpPr>
            <p:spPr bwMode="auto">
              <a:xfrm>
                <a:off x="4458" y="1859"/>
                <a:ext cx="50" cy="97"/>
              </a:xfrm>
              <a:custGeom>
                <a:avLst/>
                <a:gdLst>
                  <a:gd name="T0" fmla="*/ 25 w 50"/>
                  <a:gd name="T1" fmla="*/ 0 h 97"/>
                  <a:gd name="T2" fmla="*/ 0 w 50"/>
                  <a:gd name="T3" fmla="*/ 96 h 97"/>
                  <a:gd name="T4" fmla="*/ 25 w 50"/>
                  <a:gd name="T5" fmla="*/ 72 h 97"/>
                  <a:gd name="T6" fmla="*/ 49 w 50"/>
                  <a:gd name="T7" fmla="*/ 96 h 97"/>
                  <a:gd name="T8" fmla="*/ 25 w 50"/>
                  <a:gd name="T9" fmla="*/ 0 h 97"/>
                  <a:gd name="T10" fmla="*/ 25 w 50"/>
                  <a:gd name="T11" fmla="*/ 0 h 97"/>
                </a:gdLst>
                <a:ahLst/>
                <a:cxnLst>
                  <a:cxn ang="0">
                    <a:pos x="T0" y="T1"/>
                  </a:cxn>
                  <a:cxn ang="0">
                    <a:pos x="T2" y="T3"/>
                  </a:cxn>
                  <a:cxn ang="0">
                    <a:pos x="T4" y="T5"/>
                  </a:cxn>
                  <a:cxn ang="0">
                    <a:pos x="T6" y="T7"/>
                  </a:cxn>
                  <a:cxn ang="0">
                    <a:pos x="T8" y="T9"/>
                  </a:cxn>
                  <a:cxn ang="0">
                    <a:pos x="T10" y="T11"/>
                  </a:cxn>
                </a:cxnLst>
                <a:rect l="0" t="0" r="r" b="b"/>
                <a:pathLst>
                  <a:path w="50" h="97">
                    <a:moveTo>
                      <a:pt x="25" y="0"/>
                    </a:moveTo>
                    <a:lnTo>
                      <a:pt x="0" y="96"/>
                    </a:lnTo>
                    <a:lnTo>
                      <a:pt x="25" y="72"/>
                    </a:lnTo>
                    <a:lnTo>
                      <a:pt x="49" y="96"/>
                    </a:lnTo>
                    <a:lnTo>
                      <a:pt x="25" y="0"/>
                    </a:lnTo>
                    <a:lnTo>
                      <a:pt x="25" y="0"/>
                    </a:lnTo>
                  </a:path>
                </a:pathLst>
              </a:custGeom>
              <a:solidFill>
                <a:srgbClr val="FF0000"/>
              </a:solidFill>
              <a:ln w="9525" cap="flat" cmpd="sng">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grpSp>
        <p:sp>
          <p:nvSpPr>
            <p:cNvPr id="54" name="Freeform 54"/>
            <p:cNvSpPr>
              <a:spLocks/>
            </p:cNvSpPr>
            <p:nvPr/>
          </p:nvSpPr>
          <p:spPr bwMode="auto">
            <a:xfrm>
              <a:off x="4923053" y="5639274"/>
              <a:ext cx="2254250" cy="836613"/>
            </a:xfrm>
            <a:custGeom>
              <a:avLst/>
              <a:gdLst>
                <a:gd name="T0" fmla="*/ 2209 w 2212"/>
                <a:gd name="T1" fmla="*/ 503 h 1087"/>
                <a:gd name="T2" fmla="*/ 2184 w 2212"/>
                <a:gd name="T3" fmla="*/ 422 h 1087"/>
                <a:gd name="T4" fmla="*/ 2135 w 2212"/>
                <a:gd name="T5" fmla="*/ 344 h 1087"/>
                <a:gd name="T6" fmla="*/ 2063 w 2212"/>
                <a:gd name="T7" fmla="*/ 272 h 1087"/>
                <a:gd name="T8" fmla="*/ 1969 w 2212"/>
                <a:gd name="T9" fmla="*/ 205 h 1087"/>
                <a:gd name="T10" fmla="*/ 1857 w 2212"/>
                <a:gd name="T11" fmla="*/ 145 h 1087"/>
                <a:gd name="T12" fmla="*/ 1729 w 2212"/>
                <a:gd name="T13" fmla="*/ 95 h 1087"/>
                <a:gd name="T14" fmla="*/ 1586 w 2212"/>
                <a:gd name="T15" fmla="*/ 54 h 1087"/>
                <a:gd name="T16" fmla="*/ 1431 w 2212"/>
                <a:gd name="T17" fmla="*/ 24 h 1087"/>
                <a:gd name="T18" fmla="*/ 1269 w 2212"/>
                <a:gd name="T19" fmla="*/ 6 h 1087"/>
                <a:gd name="T20" fmla="*/ 1106 w 2212"/>
                <a:gd name="T21" fmla="*/ 0 h 1087"/>
                <a:gd name="T22" fmla="*/ 942 w 2212"/>
                <a:gd name="T23" fmla="*/ 6 h 1087"/>
                <a:gd name="T24" fmla="*/ 781 w 2212"/>
                <a:gd name="T25" fmla="*/ 24 h 1087"/>
                <a:gd name="T26" fmla="*/ 626 w 2212"/>
                <a:gd name="T27" fmla="*/ 54 h 1087"/>
                <a:gd name="T28" fmla="*/ 483 w 2212"/>
                <a:gd name="T29" fmla="*/ 95 h 1087"/>
                <a:gd name="T30" fmla="*/ 355 w 2212"/>
                <a:gd name="T31" fmla="*/ 145 h 1087"/>
                <a:gd name="T32" fmla="*/ 241 w 2212"/>
                <a:gd name="T33" fmla="*/ 205 h 1087"/>
                <a:gd name="T34" fmla="*/ 149 w 2212"/>
                <a:gd name="T35" fmla="*/ 272 h 1087"/>
                <a:gd name="T36" fmla="*/ 76 w 2212"/>
                <a:gd name="T37" fmla="*/ 344 h 1087"/>
                <a:gd name="T38" fmla="*/ 27 w 2212"/>
                <a:gd name="T39" fmla="*/ 422 h 1087"/>
                <a:gd name="T40" fmla="*/ 3 w 2212"/>
                <a:gd name="T41" fmla="*/ 503 h 1087"/>
                <a:gd name="T42" fmla="*/ 3 w 2212"/>
                <a:gd name="T43" fmla="*/ 583 h 1087"/>
                <a:gd name="T44" fmla="*/ 27 w 2212"/>
                <a:gd name="T45" fmla="*/ 664 h 1087"/>
                <a:gd name="T46" fmla="*/ 76 w 2212"/>
                <a:gd name="T47" fmla="*/ 742 h 1087"/>
                <a:gd name="T48" fmla="*/ 149 w 2212"/>
                <a:gd name="T49" fmla="*/ 814 h 1087"/>
                <a:gd name="T50" fmla="*/ 241 w 2212"/>
                <a:gd name="T51" fmla="*/ 882 h 1087"/>
                <a:gd name="T52" fmla="*/ 355 w 2212"/>
                <a:gd name="T53" fmla="*/ 942 h 1087"/>
                <a:gd name="T54" fmla="*/ 483 w 2212"/>
                <a:gd name="T55" fmla="*/ 992 h 1087"/>
                <a:gd name="T56" fmla="*/ 626 w 2212"/>
                <a:gd name="T57" fmla="*/ 1033 h 1087"/>
                <a:gd name="T58" fmla="*/ 781 w 2212"/>
                <a:gd name="T59" fmla="*/ 1062 h 1087"/>
                <a:gd name="T60" fmla="*/ 942 w 2212"/>
                <a:gd name="T61" fmla="*/ 1080 h 1087"/>
                <a:gd name="T62" fmla="*/ 1106 w 2212"/>
                <a:gd name="T63" fmla="*/ 1086 h 1087"/>
                <a:gd name="T64" fmla="*/ 1269 w 2212"/>
                <a:gd name="T65" fmla="*/ 1080 h 1087"/>
                <a:gd name="T66" fmla="*/ 1431 w 2212"/>
                <a:gd name="T67" fmla="*/ 1062 h 1087"/>
                <a:gd name="T68" fmla="*/ 1586 w 2212"/>
                <a:gd name="T69" fmla="*/ 1033 h 1087"/>
                <a:gd name="T70" fmla="*/ 1729 w 2212"/>
                <a:gd name="T71" fmla="*/ 992 h 1087"/>
                <a:gd name="T72" fmla="*/ 1857 w 2212"/>
                <a:gd name="T73" fmla="*/ 942 h 1087"/>
                <a:gd name="T74" fmla="*/ 1969 w 2212"/>
                <a:gd name="T75" fmla="*/ 882 h 1087"/>
                <a:gd name="T76" fmla="*/ 2063 w 2212"/>
                <a:gd name="T77" fmla="*/ 814 h 1087"/>
                <a:gd name="T78" fmla="*/ 2135 w 2212"/>
                <a:gd name="T79" fmla="*/ 742 h 1087"/>
                <a:gd name="T80" fmla="*/ 2184 w 2212"/>
                <a:gd name="T81" fmla="*/ 664 h 1087"/>
                <a:gd name="T82" fmla="*/ 2209 w 2212"/>
                <a:gd name="T83" fmla="*/ 583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12" h="1087">
                  <a:moveTo>
                    <a:pt x="2211" y="544"/>
                  </a:moveTo>
                  <a:lnTo>
                    <a:pt x="2209" y="503"/>
                  </a:lnTo>
                  <a:lnTo>
                    <a:pt x="2199" y="463"/>
                  </a:lnTo>
                  <a:lnTo>
                    <a:pt x="2184" y="422"/>
                  </a:lnTo>
                  <a:lnTo>
                    <a:pt x="2163" y="384"/>
                  </a:lnTo>
                  <a:lnTo>
                    <a:pt x="2135" y="344"/>
                  </a:lnTo>
                  <a:lnTo>
                    <a:pt x="2102" y="308"/>
                  </a:lnTo>
                  <a:lnTo>
                    <a:pt x="2063" y="272"/>
                  </a:lnTo>
                  <a:lnTo>
                    <a:pt x="2021" y="237"/>
                  </a:lnTo>
                  <a:lnTo>
                    <a:pt x="1969" y="205"/>
                  </a:lnTo>
                  <a:lnTo>
                    <a:pt x="1916" y="174"/>
                  </a:lnTo>
                  <a:lnTo>
                    <a:pt x="1857" y="145"/>
                  </a:lnTo>
                  <a:lnTo>
                    <a:pt x="1795" y="119"/>
                  </a:lnTo>
                  <a:lnTo>
                    <a:pt x="1729" y="95"/>
                  </a:lnTo>
                  <a:lnTo>
                    <a:pt x="1659" y="74"/>
                  </a:lnTo>
                  <a:lnTo>
                    <a:pt x="1586" y="54"/>
                  </a:lnTo>
                  <a:lnTo>
                    <a:pt x="1511" y="38"/>
                  </a:lnTo>
                  <a:lnTo>
                    <a:pt x="1431" y="24"/>
                  </a:lnTo>
                  <a:lnTo>
                    <a:pt x="1352" y="14"/>
                  </a:lnTo>
                  <a:lnTo>
                    <a:pt x="1269" y="6"/>
                  </a:lnTo>
                  <a:lnTo>
                    <a:pt x="1187" y="1"/>
                  </a:lnTo>
                  <a:lnTo>
                    <a:pt x="1106" y="0"/>
                  </a:lnTo>
                  <a:lnTo>
                    <a:pt x="1024" y="1"/>
                  </a:lnTo>
                  <a:lnTo>
                    <a:pt x="942" y="6"/>
                  </a:lnTo>
                  <a:lnTo>
                    <a:pt x="859" y="14"/>
                  </a:lnTo>
                  <a:lnTo>
                    <a:pt x="781" y="24"/>
                  </a:lnTo>
                  <a:lnTo>
                    <a:pt x="701" y="38"/>
                  </a:lnTo>
                  <a:lnTo>
                    <a:pt x="626" y="54"/>
                  </a:lnTo>
                  <a:lnTo>
                    <a:pt x="553" y="74"/>
                  </a:lnTo>
                  <a:lnTo>
                    <a:pt x="483" y="95"/>
                  </a:lnTo>
                  <a:lnTo>
                    <a:pt x="416" y="119"/>
                  </a:lnTo>
                  <a:lnTo>
                    <a:pt x="355" y="145"/>
                  </a:lnTo>
                  <a:lnTo>
                    <a:pt x="295" y="174"/>
                  </a:lnTo>
                  <a:lnTo>
                    <a:pt x="241" y="205"/>
                  </a:lnTo>
                  <a:lnTo>
                    <a:pt x="191" y="237"/>
                  </a:lnTo>
                  <a:lnTo>
                    <a:pt x="149" y="272"/>
                  </a:lnTo>
                  <a:lnTo>
                    <a:pt x="109" y="308"/>
                  </a:lnTo>
                  <a:lnTo>
                    <a:pt x="76" y="344"/>
                  </a:lnTo>
                  <a:lnTo>
                    <a:pt x="49" y="384"/>
                  </a:lnTo>
                  <a:lnTo>
                    <a:pt x="27" y="422"/>
                  </a:lnTo>
                  <a:lnTo>
                    <a:pt x="13" y="463"/>
                  </a:lnTo>
                  <a:lnTo>
                    <a:pt x="3" y="503"/>
                  </a:lnTo>
                  <a:lnTo>
                    <a:pt x="0" y="544"/>
                  </a:lnTo>
                  <a:lnTo>
                    <a:pt x="3" y="583"/>
                  </a:lnTo>
                  <a:lnTo>
                    <a:pt x="13" y="623"/>
                  </a:lnTo>
                  <a:lnTo>
                    <a:pt x="27" y="664"/>
                  </a:lnTo>
                  <a:lnTo>
                    <a:pt x="49" y="702"/>
                  </a:lnTo>
                  <a:lnTo>
                    <a:pt x="76" y="742"/>
                  </a:lnTo>
                  <a:lnTo>
                    <a:pt x="109" y="778"/>
                  </a:lnTo>
                  <a:lnTo>
                    <a:pt x="149" y="814"/>
                  </a:lnTo>
                  <a:lnTo>
                    <a:pt x="191" y="849"/>
                  </a:lnTo>
                  <a:lnTo>
                    <a:pt x="241" y="882"/>
                  </a:lnTo>
                  <a:lnTo>
                    <a:pt x="295" y="912"/>
                  </a:lnTo>
                  <a:lnTo>
                    <a:pt x="355" y="942"/>
                  </a:lnTo>
                  <a:lnTo>
                    <a:pt x="416" y="967"/>
                  </a:lnTo>
                  <a:lnTo>
                    <a:pt x="483" y="992"/>
                  </a:lnTo>
                  <a:lnTo>
                    <a:pt x="553" y="1013"/>
                  </a:lnTo>
                  <a:lnTo>
                    <a:pt x="626" y="1033"/>
                  </a:lnTo>
                  <a:lnTo>
                    <a:pt x="701" y="1048"/>
                  </a:lnTo>
                  <a:lnTo>
                    <a:pt x="781" y="1062"/>
                  </a:lnTo>
                  <a:lnTo>
                    <a:pt x="859" y="1072"/>
                  </a:lnTo>
                  <a:lnTo>
                    <a:pt x="942" y="1080"/>
                  </a:lnTo>
                  <a:lnTo>
                    <a:pt x="1024" y="1085"/>
                  </a:lnTo>
                  <a:lnTo>
                    <a:pt x="1106" y="1086"/>
                  </a:lnTo>
                  <a:lnTo>
                    <a:pt x="1187" y="1085"/>
                  </a:lnTo>
                  <a:lnTo>
                    <a:pt x="1269" y="1080"/>
                  </a:lnTo>
                  <a:lnTo>
                    <a:pt x="1352" y="1072"/>
                  </a:lnTo>
                  <a:lnTo>
                    <a:pt x="1431" y="1062"/>
                  </a:lnTo>
                  <a:lnTo>
                    <a:pt x="1511" y="1048"/>
                  </a:lnTo>
                  <a:lnTo>
                    <a:pt x="1586" y="1033"/>
                  </a:lnTo>
                  <a:lnTo>
                    <a:pt x="1659" y="1013"/>
                  </a:lnTo>
                  <a:lnTo>
                    <a:pt x="1729" y="992"/>
                  </a:lnTo>
                  <a:lnTo>
                    <a:pt x="1795" y="967"/>
                  </a:lnTo>
                  <a:lnTo>
                    <a:pt x="1857" y="942"/>
                  </a:lnTo>
                  <a:lnTo>
                    <a:pt x="1916" y="912"/>
                  </a:lnTo>
                  <a:lnTo>
                    <a:pt x="1969" y="882"/>
                  </a:lnTo>
                  <a:lnTo>
                    <a:pt x="2021" y="849"/>
                  </a:lnTo>
                  <a:lnTo>
                    <a:pt x="2063" y="814"/>
                  </a:lnTo>
                  <a:lnTo>
                    <a:pt x="2102" y="778"/>
                  </a:lnTo>
                  <a:lnTo>
                    <a:pt x="2135" y="742"/>
                  </a:lnTo>
                  <a:lnTo>
                    <a:pt x="2163" y="702"/>
                  </a:lnTo>
                  <a:lnTo>
                    <a:pt x="2184" y="664"/>
                  </a:lnTo>
                  <a:lnTo>
                    <a:pt x="2199" y="623"/>
                  </a:lnTo>
                  <a:lnTo>
                    <a:pt x="2209" y="583"/>
                  </a:lnTo>
                  <a:lnTo>
                    <a:pt x="2211" y="544"/>
                  </a:lnTo>
                </a:path>
              </a:pathLst>
            </a:custGeom>
            <a:noFill/>
            <a:ln w="317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55" name="Text Box 55"/>
            <p:cNvSpPr txBox="1">
              <a:spLocks noChangeArrowheads="1"/>
            </p:cNvSpPr>
            <p:nvPr/>
          </p:nvSpPr>
          <p:spPr bwMode="auto">
            <a:xfrm rot="16200000">
              <a:off x="4615872" y="5006655"/>
              <a:ext cx="481013" cy="13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1200">
                  <a:solidFill>
                    <a:srgbClr val="000000"/>
                  </a:solidFill>
                </a:rPr>
                <a:t>Return Loss</a:t>
              </a:r>
              <a:endParaRPr lang="en-US" altLang="zh-CN" sz="2200">
                <a:latin typeface="Times New Roman" panose="02020603050405020304" pitchFamily="18" charset="0"/>
              </a:endParaRPr>
            </a:p>
          </p:txBody>
        </p:sp>
        <p:sp>
          <p:nvSpPr>
            <p:cNvPr id="56" name="Text Box 56"/>
            <p:cNvSpPr txBox="1">
              <a:spLocks noChangeArrowheads="1"/>
            </p:cNvSpPr>
            <p:nvPr/>
          </p:nvSpPr>
          <p:spPr bwMode="auto">
            <a:xfrm>
              <a:off x="5786653" y="5288436"/>
              <a:ext cx="927100" cy="19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1200">
                  <a:solidFill>
                    <a:srgbClr val="000000"/>
                  </a:solidFill>
                </a:rPr>
                <a:t>Frequency</a:t>
              </a:r>
              <a:endParaRPr lang="en-US" altLang="zh-CN" sz="2200">
                <a:latin typeface="Times New Roman" panose="02020603050405020304" pitchFamily="18" charset="0"/>
              </a:endParaRPr>
            </a:p>
          </p:txBody>
        </p:sp>
        <p:sp>
          <p:nvSpPr>
            <p:cNvPr id="57" name="Text Box 57"/>
            <p:cNvSpPr txBox="1">
              <a:spLocks noChangeArrowheads="1"/>
            </p:cNvSpPr>
            <p:nvPr/>
          </p:nvSpPr>
          <p:spPr bwMode="auto">
            <a:xfrm>
              <a:off x="5040528" y="4407374"/>
              <a:ext cx="65088" cy="10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1200">
                  <a:solidFill>
                    <a:srgbClr val="000000"/>
                  </a:solidFill>
                </a:rPr>
                <a:t>0</a:t>
              </a:r>
              <a:endParaRPr lang="en-US" altLang="zh-CN" sz="2200">
                <a:latin typeface="Times New Roman" panose="02020603050405020304" pitchFamily="18" charset="0"/>
              </a:endParaRPr>
            </a:p>
          </p:txBody>
        </p:sp>
        <p:sp>
          <p:nvSpPr>
            <p:cNvPr id="58" name="Text Box 58"/>
            <p:cNvSpPr txBox="1">
              <a:spLocks noChangeArrowheads="1"/>
            </p:cNvSpPr>
            <p:nvPr/>
          </p:nvSpPr>
          <p:spPr bwMode="auto">
            <a:xfrm>
              <a:off x="4961154" y="4943949"/>
              <a:ext cx="130175" cy="10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1200">
                  <a:solidFill>
                    <a:srgbClr val="000000"/>
                  </a:solidFill>
                </a:rPr>
                <a:t>30</a:t>
              </a:r>
              <a:endParaRPr lang="en-US" altLang="zh-CN" sz="2200">
                <a:latin typeface="Times New Roman" panose="02020603050405020304" pitchFamily="18" charset="0"/>
              </a:endParaRPr>
            </a:p>
          </p:txBody>
        </p:sp>
        <p:sp>
          <p:nvSpPr>
            <p:cNvPr id="59" name="Text Box 59"/>
            <p:cNvSpPr txBox="1">
              <a:spLocks noChangeArrowheads="1"/>
            </p:cNvSpPr>
            <p:nvPr/>
          </p:nvSpPr>
          <p:spPr bwMode="auto">
            <a:xfrm>
              <a:off x="4959567" y="5524973"/>
              <a:ext cx="130175" cy="10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1200">
                  <a:solidFill>
                    <a:srgbClr val="000000"/>
                  </a:solidFill>
                </a:rPr>
                <a:t>60</a:t>
              </a:r>
              <a:endParaRPr lang="en-US" altLang="zh-CN" sz="2200">
                <a:latin typeface="Times New Roman" panose="02020603050405020304" pitchFamily="18" charset="0"/>
              </a:endParaRPr>
            </a:p>
          </p:txBody>
        </p:sp>
        <p:sp>
          <p:nvSpPr>
            <p:cNvPr id="60" name="Text Box 60"/>
            <p:cNvSpPr txBox="1">
              <a:spLocks noChangeArrowheads="1"/>
            </p:cNvSpPr>
            <p:nvPr/>
          </p:nvSpPr>
          <p:spPr bwMode="auto">
            <a:xfrm>
              <a:off x="5548528" y="4556598"/>
              <a:ext cx="1238250" cy="11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1200">
                  <a:solidFill>
                    <a:srgbClr val="000000"/>
                  </a:solidFill>
                </a:rPr>
                <a:t>DUT RL = 40 dB</a:t>
              </a:r>
              <a:endParaRPr lang="en-US" altLang="zh-CN" sz="2200">
                <a:latin typeface="Times New Roman" panose="02020603050405020304" pitchFamily="18" charset="0"/>
              </a:endParaRPr>
            </a:p>
          </p:txBody>
        </p:sp>
        <p:sp>
          <p:nvSpPr>
            <p:cNvPr id="61" name="Freeform 61"/>
            <p:cNvSpPr>
              <a:spLocks/>
            </p:cNvSpPr>
            <p:nvPr/>
          </p:nvSpPr>
          <p:spPr bwMode="auto">
            <a:xfrm>
              <a:off x="6542303" y="4920137"/>
              <a:ext cx="127000" cy="47625"/>
            </a:xfrm>
            <a:custGeom>
              <a:avLst/>
              <a:gdLst>
                <a:gd name="T0" fmla="*/ 124 w 125"/>
                <a:gd name="T1" fmla="*/ 28 h 62"/>
                <a:gd name="T2" fmla="*/ 122 w 125"/>
                <a:gd name="T3" fmla="*/ 24 h 62"/>
                <a:gd name="T4" fmla="*/ 120 w 125"/>
                <a:gd name="T5" fmla="*/ 19 h 62"/>
                <a:gd name="T6" fmla="*/ 115 w 125"/>
                <a:gd name="T7" fmla="*/ 15 h 62"/>
                <a:gd name="T8" fmla="*/ 111 w 125"/>
                <a:gd name="T9" fmla="*/ 11 h 62"/>
                <a:gd name="T10" fmla="*/ 104 w 125"/>
                <a:gd name="T11" fmla="*/ 8 h 62"/>
                <a:gd name="T12" fmla="*/ 97 w 125"/>
                <a:gd name="T13" fmla="*/ 5 h 62"/>
                <a:gd name="T14" fmla="*/ 89 w 125"/>
                <a:gd name="T15" fmla="*/ 3 h 62"/>
                <a:gd name="T16" fmla="*/ 80 w 125"/>
                <a:gd name="T17" fmla="*/ 1 h 62"/>
                <a:gd name="T18" fmla="*/ 72 w 125"/>
                <a:gd name="T19" fmla="*/ 0 h 62"/>
                <a:gd name="T20" fmla="*/ 62 w 125"/>
                <a:gd name="T21" fmla="*/ 0 h 62"/>
                <a:gd name="T22" fmla="*/ 52 w 125"/>
                <a:gd name="T23" fmla="*/ 0 h 62"/>
                <a:gd name="T24" fmla="*/ 44 w 125"/>
                <a:gd name="T25" fmla="*/ 1 h 62"/>
                <a:gd name="T26" fmla="*/ 35 w 125"/>
                <a:gd name="T27" fmla="*/ 3 h 62"/>
                <a:gd name="T28" fmla="*/ 27 w 125"/>
                <a:gd name="T29" fmla="*/ 5 h 62"/>
                <a:gd name="T30" fmla="*/ 20 w 125"/>
                <a:gd name="T31" fmla="*/ 8 h 62"/>
                <a:gd name="T32" fmla="*/ 14 w 125"/>
                <a:gd name="T33" fmla="*/ 11 h 62"/>
                <a:gd name="T34" fmla="*/ 8 w 125"/>
                <a:gd name="T35" fmla="*/ 15 h 62"/>
                <a:gd name="T36" fmla="*/ 4 w 125"/>
                <a:gd name="T37" fmla="*/ 19 h 62"/>
                <a:gd name="T38" fmla="*/ 1 w 125"/>
                <a:gd name="T39" fmla="*/ 24 h 62"/>
                <a:gd name="T40" fmla="*/ 0 w 125"/>
                <a:gd name="T41" fmla="*/ 28 h 62"/>
                <a:gd name="T42" fmla="*/ 0 w 125"/>
                <a:gd name="T43" fmla="*/ 33 h 62"/>
                <a:gd name="T44" fmla="*/ 1 w 125"/>
                <a:gd name="T45" fmla="*/ 38 h 62"/>
                <a:gd name="T46" fmla="*/ 4 w 125"/>
                <a:gd name="T47" fmla="*/ 41 h 62"/>
                <a:gd name="T48" fmla="*/ 8 w 125"/>
                <a:gd name="T49" fmla="*/ 46 h 62"/>
                <a:gd name="T50" fmla="*/ 14 w 125"/>
                <a:gd name="T51" fmla="*/ 49 h 62"/>
                <a:gd name="T52" fmla="*/ 20 w 125"/>
                <a:gd name="T53" fmla="*/ 53 h 62"/>
                <a:gd name="T54" fmla="*/ 27 w 125"/>
                <a:gd name="T55" fmla="*/ 55 h 62"/>
                <a:gd name="T56" fmla="*/ 35 w 125"/>
                <a:gd name="T57" fmla="*/ 58 h 62"/>
                <a:gd name="T58" fmla="*/ 44 w 125"/>
                <a:gd name="T59" fmla="*/ 60 h 62"/>
                <a:gd name="T60" fmla="*/ 52 w 125"/>
                <a:gd name="T61" fmla="*/ 61 h 62"/>
                <a:gd name="T62" fmla="*/ 62 w 125"/>
                <a:gd name="T63" fmla="*/ 61 h 62"/>
                <a:gd name="T64" fmla="*/ 72 w 125"/>
                <a:gd name="T65" fmla="*/ 61 h 62"/>
                <a:gd name="T66" fmla="*/ 80 w 125"/>
                <a:gd name="T67" fmla="*/ 60 h 62"/>
                <a:gd name="T68" fmla="*/ 89 w 125"/>
                <a:gd name="T69" fmla="*/ 58 h 62"/>
                <a:gd name="T70" fmla="*/ 97 w 125"/>
                <a:gd name="T71" fmla="*/ 55 h 62"/>
                <a:gd name="T72" fmla="*/ 104 w 125"/>
                <a:gd name="T73" fmla="*/ 53 h 62"/>
                <a:gd name="T74" fmla="*/ 111 w 125"/>
                <a:gd name="T75" fmla="*/ 49 h 62"/>
                <a:gd name="T76" fmla="*/ 115 w 125"/>
                <a:gd name="T77" fmla="*/ 46 h 62"/>
                <a:gd name="T78" fmla="*/ 120 w 125"/>
                <a:gd name="T79" fmla="*/ 41 h 62"/>
                <a:gd name="T80" fmla="*/ 122 w 125"/>
                <a:gd name="T81" fmla="*/ 38 h 62"/>
                <a:gd name="T82" fmla="*/ 124 w 125"/>
                <a:gd name="T83" fmla="*/ 33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5" h="62">
                  <a:moveTo>
                    <a:pt x="124" y="31"/>
                  </a:moveTo>
                  <a:lnTo>
                    <a:pt x="124" y="28"/>
                  </a:lnTo>
                  <a:lnTo>
                    <a:pt x="123" y="26"/>
                  </a:lnTo>
                  <a:lnTo>
                    <a:pt x="122" y="24"/>
                  </a:lnTo>
                  <a:lnTo>
                    <a:pt x="121" y="21"/>
                  </a:lnTo>
                  <a:lnTo>
                    <a:pt x="120" y="19"/>
                  </a:lnTo>
                  <a:lnTo>
                    <a:pt x="118" y="17"/>
                  </a:lnTo>
                  <a:lnTo>
                    <a:pt x="115" y="15"/>
                  </a:lnTo>
                  <a:lnTo>
                    <a:pt x="113" y="13"/>
                  </a:lnTo>
                  <a:lnTo>
                    <a:pt x="111" y="11"/>
                  </a:lnTo>
                  <a:lnTo>
                    <a:pt x="107" y="10"/>
                  </a:lnTo>
                  <a:lnTo>
                    <a:pt x="104" y="8"/>
                  </a:lnTo>
                  <a:lnTo>
                    <a:pt x="100" y="7"/>
                  </a:lnTo>
                  <a:lnTo>
                    <a:pt x="97" y="5"/>
                  </a:lnTo>
                  <a:lnTo>
                    <a:pt x="93" y="4"/>
                  </a:lnTo>
                  <a:lnTo>
                    <a:pt x="89" y="3"/>
                  </a:lnTo>
                  <a:lnTo>
                    <a:pt x="85" y="2"/>
                  </a:lnTo>
                  <a:lnTo>
                    <a:pt x="80" y="1"/>
                  </a:lnTo>
                  <a:lnTo>
                    <a:pt x="75" y="1"/>
                  </a:lnTo>
                  <a:lnTo>
                    <a:pt x="72" y="0"/>
                  </a:lnTo>
                  <a:lnTo>
                    <a:pt x="66" y="0"/>
                  </a:lnTo>
                  <a:lnTo>
                    <a:pt x="62" y="0"/>
                  </a:lnTo>
                  <a:lnTo>
                    <a:pt x="58" y="0"/>
                  </a:lnTo>
                  <a:lnTo>
                    <a:pt x="52" y="0"/>
                  </a:lnTo>
                  <a:lnTo>
                    <a:pt x="48" y="1"/>
                  </a:lnTo>
                  <a:lnTo>
                    <a:pt x="44" y="1"/>
                  </a:lnTo>
                  <a:lnTo>
                    <a:pt x="38" y="2"/>
                  </a:lnTo>
                  <a:lnTo>
                    <a:pt x="35" y="3"/>
                  </a:lnTo>
                  <a:lnTo>
                    <a:pt x="30" y="4"/>
                  </a:lnTo>
                  <a:lnTo>
                    <a:pt x="27" y="5"/>
                  </a:lnTo>
                  <a:lnTo>
                    <a:pt x="24" y="7"/>
                  </a:lnTo>
                  <a:lnTo>
                    <a:pt x="20" y="8"/>
                  </a:lnTo>
                  <a:lnTo>
                    <a:pt x="16" y="10"/>
                  </a:lnTo>
                  <a:lnTo>
                    <a:pt x="14" y="11"/>
                  </a:lnTo>
                  <a:lnTo>
                    <a:pt x="10" y="13"/>
                  </a:lnTo>
                  <a:lnTo>
                    <a:pt x="8" y="15"/>
                  </a:lnTo>
                  <a:lnTo>
                    <a:pt x="6" y="17"/>
                  </a:lnTo>
                  <a:lnTo>
                    <a:pt x="4" y="19"/>
                  </a:lnTo>
                  <a:lnTo>
                    <a:pt x="3" y="21"/>
                  </a:lnTo>
                  <a:lnTo>
                    <a:pt x="1" y="24"/>
                  </a:lnTo>
                  <a:lnTo>
                    <a:pt x="0" y="26"/>
                  </a:lnTo>
                  <a:lnTo>
                    <a:pt x="0" y="28"/>
                  </a:lnTo>
                  <a:lnTo>
                    <a:pt x="0" y="31"/>
                  </a:lnTo>
                  <a:lnTo>
                    <a:pt x="0" y="33"/>
                  </a:lnTo>
                  <a:lnTo>
                    <a:pt x="0" y="35"/>
                  </a:lnTo>
                  <a:lnTo>
                    <a:pt x="1" y="38"/>
                  </a:lnTo>
                  <a:lnTo>
                    <a:pt x="3" y="39"/>
                  </a:lnTo>
                  <a:lnTo>
                    <a:pt x="4" y="41"/>
                  </a:lnTo>
                  <a:lnTo>
                    <a:pt x="6" y="44"/>
                  </a:lnTo>
                  <a:lnTo>
                    <a:pt x="8" y="46"/>
                  </a:lnTo>
                  <a:lnTo>
                    <a:pt x="10" y="47"/>
                  </a:lnTo>
                  <a:lnTo>
                    <a:pt x="14" y="49"/>
                  </a:lnTo>
                  <a:lnTo>
                    <a:pt x="16" y="51"/>
                  </a:lnTo>
                  <a:lnTo>
                    <a:pt x="20" y="53"/>
                  </a:lnTo>
                  <a:lnTo>
                    <a:pt x="24" y="54"/>
                  </a:lnTo>
                  <a:lnTo>
                    <a:pt x="27" y="55"/>
                  </a:lnTo>
                  <a:lnTo>
                    <a:pt x="30" y="57"/>
                  </a:lnTo>
                  <a:lnTo>
                    <a:pt x="35" y="58"/>
                  </a:lnTo>
                  <a:lnTo>
                    <a:pt x="38" y="59"/>
                  </a:lnTo>
                  <a:lnTo>
                    <a:pt x="44" y="60"/>
                  </a:lnTo>
                  <a:lnTo>
                    <a:pt x="48" y="61"/>
                  </a:lnTo>
                  <a:lnTo>
                    <a:pt x="52" y="61"/>
                  </a:lnTo>
                  <a:lnTo>
                    <a:pt x="58" y="61"/>
                  </a:lnTo>
                  <a:lnTo>
                    <a:pt x="62" y="61"/>
                  </a:lnTo>
                  <a:lnTo>
                    <a:pt x="66" y="61"/>
                  </a:lnTo>
                  <a:lnTo>
                    <a:pt x="72" y="61"/>
                  </a:lnTo>
                  <a:lnTo>
                    <a:pt x="75" y="61"/>
                  </a:lnTo>
                  <a:lnTo>
                    <a:pt x="80" y="60"/>
                  </a:lnTo>
                  <a:lnTo>
                    <a:pt x="85" y="59"/>
                  </a:lnTo>
                  <a:lnTo>
                    <a:pt x="89" y="58"/>
                  </a:lnTo>
                  <a:lnTo>
                    <a:pt x="93" y="57"/>
                  </a:lnTo>
                  <a:lnTo>
                    <a:pt x="97" y="55"/>
                  </a:lnTo>
                  <a:lnTo>
                    <a:pt x="100" y="54"/>
                  </a:lnTo>
                  <a:lnTo>
                    <a:pt x="104" y="53"/>
                  </a:lnTo>
                  <a:lnTo>
                    <a:pt x="107" y="51"/>
                  </a:lnTo>
                  <a:lnTo>
                    <a:pt x="111" y="49"/>
                  </a:lnTo>
                  <a:lnTo>
                    <a:pt x="113" y="47"/>
                  </a:lnTo>
                  <a:lnTo>
                    <a:pt x="115" y="46"/>
                  </a:lnTo>
                  <a:lnTo>
                    <a:pt x="118" y="44"/>
                  </a:lnTo>
                  <a:lnTo>
                    <a:pt x="120" y="41"/>
                  </a:lnTo>
                  <a:lnTo>
                    <a:pt x="121" y="39"/>
                  </a:lnTo>
                  <a:lnTo>
                    <a:pt x="122" y="38"/>
                  </a:lnTo>
                  <a:lnTo>
                    <a:pt x="123" y="35"/>
                  </a:lnTo>
                  <a:lnTo>
                    <a:pt x="124" y="33"/>
                  </a:lnTo>
                  <a:lnTo>
                    <a:pt x="124" y="31"/>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62" name="Freeform 62"/>
            <p:cNvSpPr>
              <a:spLocks/>
            </p:cNvSpPr>
            <p:nvPr/>
          </p:nvSpPr>
          <p:spPr bwMode="auto">
            <a:xfrm>
              <a:off x="6077167" y="5074124"/>
              <a:ext cx="128587" cy="47625"/>
            </a:xfrm>
            <a:custGeom>
              <a:avLst/>
              <a:gdLst>
                <a:gd name="T0" fmla="*/ 125 w 126"/>
                <a:gd name="T1" fmla="*/ 29 h 63"/>
                <a:gd name="T2" fmla="*/ 124 w 126"/>
                <a:gd name="T3" fmla="*/ 25 h 63"/>
                <a:gd name="T4" fmla="*/ 121 w 126"/>
                <a:gd name="T5" fmla="*/ 21 h 63"/>
                <a:gd name="T6" fmla="*/ 117 w 126"/>
                <a:gd name="T7" fmla="*/ 16 h 63"/>
                <a:gd name="T8" fmla="*/ 111 w 126"/>
                <a:gd name="T9" fmla="*/ 13 h 63"/>
                <a:gd name="T10" fmla="*/ 105 w 126"/>
                <a:gd name="T11" fmla="*/ 9 h 63"/>
                <a:gd name="T12" fmla="*/ 98 w 126"/>
                <a:gd name="T13" fmla="*/ 6 h 63"/>
                <a:gd name="T14" fmla="*/ 90 w 126"/>
                <a:gd name="T15" fmla="*/ 4 h 63"/>
                <a:gd name="T16" fmla="*/ 81 w 126"/>
                <a:gd name="T17" fmla="*/ 2 h 63"/>
                <a:gd name="T18" fmla="*/ 72 w 126"/>
                <a:gd name="T19" fmla="*/ 1 h 63"/>
                <a:gd name="T20" fmla="*/ 63 w 126"/>
                <a:gd name="T21" fmla="*/ 0 h 63"/>
                <a:gd name="T22" fmla="*/ 54 w 126"/>
                <a:gd name="T23" fmla="*/ 1 h 63"/>
                <a:gd name="T24" fmla="*/ 44 w 126"/>
                <a:gd name="T25" fmla="*/ 2 h 63"/>
                <a:gd name="T26" fmla="*/ 36 w 126"/>
                <a:gd name="T27" fmla="*/ 4 h 63"/>
                <a:gd name="T28" fmla="*/ 28 w 126"/>
                <a:gd name="T29" fmla="*/ 6 h 63"/>
                <a:gd name="T30" fmla="*/ 21 w 126"/>
                <a:gd name="T31" fmla="*/ 9 h 63"/>
                <a:gd name="T32" fmla="*/ 14 w 126"/>
                <a:gd name="T33" fmla="*/ 13 h 63"/>
                <a:gd name="T34" fmla="*/ 10 w 126"/>
                <a:gd name="T35" fmla="*/ 16 h 63"/>
                <a:gd name="T36" fmla="*/ 5 w 126"/>
                <a:gd name="T37" fmla="*/ 21 h 63"/>
                <a:gd name="T38" fmla="*/ 3 w 126"/>
                <a:gd name="T39" fmla="*/ 25 h 63"/>
                <a:gd name="T40" fmla="*/ 1 w 126"/>
                <a:gd name="T41" fmla="*/ 29 h 63"/>
                <a:gd name="T42" fmla="*/ 1 w 126"/>
                <a:gd name="T43" fmla="*/ 34 h 63"/>
                <a:gd name="T44" fmla="*/ 3 w 126"/>
                <a:gd name="T45" fmla="*/ 38 h 63"/>
                <a:gd name="T46" fmla="*/ 5 w 126"/>
                <a:gd name="T47" fmla="*/ 43 h 63"/>
                <a:gd name="T48" fmla="*/ 10 w 126"/>
                <a:gd name="T49" fmla="*/ 46 h 63"/>
                <a:gd name="T50" fmla="*/ 14 w 126"/>
                <a:gd name="T51" fmla="*/ 50 h 63"/>
                <a:gd name="T52" fmla="*/ 21 w 126"/>
                <a:gd name="T53" fmla="*/ 54 h 63"/>
                <a:gd name="T54" fmla="*/ 28 w 126"/>
                <a:gd name="T55" fmla="*/ 56 h 63"/>
                <a:gd name="T56" fmla="*/ 36 w 126"/>
                <a:gd name="T57" fmla="*/ 59 h 63"/>
                <a:gd name="T58" fmla="*/ 44 w 126"/>
                <a:gd name="T59" fmla="*/ 61 h 63"/>
                <a:gd name="T60" fmla="*/ 54 w 126"/>
                <a:gd name="T61" fmla="*/ 62 h 63"/>
                <a:gd name="T62" fmla="*/ 63 w 126"/>
                <a:gd name="T63" fmla="*/ 62 h 63"/>
                <a:gd name="T64" fmla="*/ 72 w 126"/>
                <a:gd name="T65" fmla="*/ 62 h 63"/>
                <a:gd name="T66" fmla="*/ 81 w 126"/>
                <a:gd name="T67" fmla="*/ 61 h 63"/>
                <a:gd name="T68" fmla="*/ 90 w 126"/>
                <a:gd name="T69" fmla="*/ 59 h 63"/>
                <a:gd name="T70" fmla="*/ 98 w 126"/>
                <a:gd name="T71" fmla="*/ 56 h 63"/>
                <a:gd name="T72" fmla="*/ 105 w 126"/>
                <a:gd name="T73" fmla="*/ 54 h 63"/>
                <a:gd name="T74" fmla="*/ 111 w 126"/>
                <a:gd name="T75" fmla="*/ 50 h 63"/>
                <a:gd name="T76" fmla="*/ 117 w 126"/>
                <a:gd name="T77" fmla="*/ 46 h 63"/>
                <a:gd name="T78" fmla="*/ 121 w 126"/>
                <a:gd name="T79" fmla="*/ 43 h 63"/>
                <a:gd name="T80" fmla="*/ 124 w 126"/>
                <a:gd name="T81" fmla="*/ 38 h 63"/>
                <a:gd name="T82" fmla="*/ 125 w 126"/>
                <a:gd name="T83" fmla="*/ 34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6" h="63">
                  <a:moveTo>
                    <a:pt x="125" y="32"/>
                  </a:moveTo>
                  <a:lnTo>
                    <a:pt x="125" y="29"/>
                  </a:lnTo>
                  <a:lnTo>
                    <a:pt x="125" y="27"/>
                  </a:lnTo>
                  <a:lnTo>
                    <a:pt x="124" y="25"/>
                  </a:lnTo>
                  <a:lnTo>
                    <a:pt x="122" y="22"/>
                  </a:lnTo>
                  <a:lnTo>
                    <a:pt x="121" y="21"/>
                  </a:lnTo>
                  <a:lnTo>
                    <a:pt x="119" y="18"/>
                  </a:lnTo>
                  <a:lnTo>
                    <a:pt x="117" y="16"/>
                  </a:lnTo>
                  <a:lnTo>
                    <a:pt x="114" y="14"/>
                  </a:lnTo>
                  <a:lnTo>
                    <a:pt x="111" y="13"/>
                  </a:lnTo>
                  <a:lnTo>
                    <a:pt x="109" y="10"/>
                  </a:lnTo>
                  <a:lnTo>
                    <a:pt x="105" y="9"/>
                  </a:lnTo>
                  <a:lnTo>
                    <a:pt x="102" y="7"/>
                  </a:lnTo>
                  <a:lnTo>
                    <a:pt x="98" y="6"/>
                  </a:lnTo>
                  <a:lnTo>
                    <a:pt x="94" y="5"/>
                  </a:lnTo>
                  <a:lnTo>
                    <a:pt x="90" y="4"/>
                  </a:lnTo>
                  <a:lnTo>
                    <a:pt x="86" y="3"/>
                  </a:lnTo>
                  <a:lnTo>
                    <a:pt x="81" y="2"/>
                  </a:lnTo>
                  <a:lnTo>
                    <a:pt x="76" y="2"/>
                  </a:lnTo>
                  <a:lnTo>
                    <a:pt x="72" y="1"/>
                  </a:lnTo>
                  <a:lnTo>
                    <a:pt x="68" y="1"/>
                  </a:lnTo>
                  <a:lnTo>
                    <a:pt x="63" y="0"/>
                  </a:lnTo>
                  <a:lnTo>
                    <a:pt x="58" y="1"/>
                  </a:lnTo>
                  <a:lnTo>
                    <a:pt x="54" y="1"/>
                  </a:lnTo>
                  <a:lnTo>
                    <a:pt x="49" y="2"/>
                  </a:lnTo>
                  <a:lnTo>
                    <a:pt x="44" y="2"/>
                  </a:lnTo>
                  <a:lnTo>
                    <a:pt x="41" y="3"/>
                  </a:lnTo>
                  <a:lnTo>
                    <a:pt x="36" y="4"/>
                  </a:lnTo>
                  <a:lnTo>
                    <a:pt x="33" y="5"/>
                  </a:lnTo>
                  <a:lnTo>
                    <a:pt x="28" y="6"/>
                  </a:lnTo>
                  <a:lnTo>
                    <a:pt x="24" y="7"/>
                  </a:lnTo>
                  <a:lnTo>
                    <a:pt x="21" y="9"/>
                  </a:lnTo>
                  <a:lnTo>
                    <a:pt x="18" y="10"/>
                  </a:lnTo>
                  <a:lnTo>
                    <a:pt x="14" y="13"/>
                  </a:lnTo>
                  <a:lnTo>
                    <a:pt x="12" y="14"/>
                  </a:lnTo>
                  <a:lnTo>
                    <a:pt x="10" y="16"/>
                  </a:lnTo>
                  <a:lnTo>
                    <a:pt x="6" y="18"/>
                  </a:lnTo>
                  <a:lnTo>
                    <a:pt x="5" y="21"/>
                  </a:lnTo>
                  <a:lnTo>
                    <a:pt x="4" y="22"/>
                  </a:lnTo>
                  <a:lnTo>
                    <a:pt x="3" y="25"/>
                  </a:lnTo>
                  <a:lnTo>
                    <a:pt x="2" y="27"/>
                  </a:lnTo>
                  <a:lnTo>
                    <a:pt x="1" y="29"/>
                  </a:lnTo>
                  <a:lnTo>
                    <a:pt x="0" y="32"/>
                  </a:lnTo>
                  <a:lnTo>
                    <a:pt x="1" y="34"/>
                  </a:lnTo>
                  <a:lnTo>
                    <a:pt x="2" y="36"/>
                  </a:lnTo>
                  <a:lnTo>
                    <a:pt x="3" y="38"/>
                  </a:lnTo>
                  <a:lnTo>
                    <a:pt x="4" y="40"/>
                  </a:lnTo>
                  <a:lnTo>
                    <a:pt x="5" y="43"/>
                  </a:lnTo>
                  <a:lnTo>
                    <a:pt x="6" y="45"/>
                  </a:lnTo>
                  <a:lnTo>
                    <a:pt x="10" y="46"/>
                  </a:lnTo>
                  <a:lnTo>
                    <a:pt x="12" y="48"/>
                  </a:lnTo>
                  <a:lnTo>
                    <a:pt x="14" y="50"/>
                  </a:lnTo>
                  <a:lnTo>
                    <a:pt x="18" y="52"/>
                  </a:lnTo>
                  <a:lnTo>
                    <a:pt x="21" y="54"/>
                  </a:lnTo>
                  <a:lnTo>
                    <a:pt x="24" y="55"/>
                  </a:lnTo>
                  <a:lnTo>
                    <a:pt x="28" y="56"/>
                  </a:lnTo>
                  <a:lnTo>
                    <a:pt x="33" y="58"/>
                  </a:lnTo>
                  <a:lnTo>
                    <a:pt x="36" y="59"/>
                  </a:lnTo>
                  <a:lnTo>
                    <a:pt x="41" y="60"/>
                  </a:lnTo>
                  <a:lnTo>
                    <a:pt x="44" y="61"/>
                  </a:lnTo>
                  <a:lnTo>
                    <a:pt x="49" y="62"/>
                  </a:lnTo>
                  <a:lnTo>
                    <a:pt x="54" y="62"/>
                  </a:lnTo>
                  <a:lnTo>
                    <a:pt x="58" y="62"/>
                  </a:lnTo>
                  <a:lnTo>
                    <a:pt x="63" y="62"/>
                  </a:lnTo>
                  <a:lnTo>
                    <a:pt x="68" y="62"/>
                  </a:lnTo>
                  <a:lnTo>
                    <a:pt x="72" y="62"/>
                  </a:lnTo>
                  <a:lnTo>
                    <a:pt x="76" y="62"/>
                  </a:lnTo>
                  <a:lnTo>
                    <a:pt x="81" y="61"/>
                  </a:lnTo>
                  <a:lnTo>
                    <a:pt x="86" y="60"/>
                  </a:lnTo>
                  <a:lnTo>
                    <a:pt x="90" y="59"/>
                  </a:lnTo>
                  <a:lnTo>
                    <a:pt x="94" y="58"/>
                  </a:lnTo>
                  <a:lnTo>
                    <a:pt x="98" y="56"/>
                  </a:lnTo>
                  <a:lnTo>
                    <a:pt x="102" y="55"/>
                  </a:lnTo>
                  <a:lnTo>
                    <a:pt x="105" y="54"/>
                  </a:lnTo>
                  <a:lnTo>
                    <a:pt x="109" y="52"/>
                  </a:lnTo>
                  <a:lnTo>
                    <a:pt x="111" y="50"/>
                  </a:lnTo>
                  <a:lnTo>
                    <a:pt x="114" y="48"/>
                  </a:lnTo>
                  <a:lnTo>
                    <a:pt x="117" y="46"/>
                  </a:lnTo>
                  <a:lnTo>
                    <a:pt x="119" y="45"/>
                  </a:lnTo>
                  <a:lnTo>
                    <a:pt x="121" y="43"/>
                  </a:lnTo>
                  <a:lnTo>
                    <a:pt x="122" y="40"/>
                  </a:lnTo>
                  <a:lnTo>
                    <a:pt x="124" y="38"/>
                  </a:lnTo>
                  <a:lnTo>
                    <a:pt x="125" y="36"/>
                  </a:lnTo>
                  <a:lnTo>
                    <a:pt x="125" y="34"/>
                  </a:lnTo>
                  <a:lnTo>
                    <a:pt x="125" y="32"/>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63" name="Freeform 63"/>
            <p:cNvSpPr>
              <a:spLocks/>
            </p:cNvSpPr>
            <p:nvPr/>
          </p:nvSpPr>
          <p:spPr bwMode="auto">
            <a:xfrm>
              <a:off x="5499316" y="5396387"/>
              <a:ext cx="127000" cy="47625"/>
            </a:xfrm>
            <a:custGeom>
              <a:avLst/>
              <a:gdLst>
                <a:gd name="T0" fmla="*/ 124 w 125"/>
                <a:gd name="T1" fmla="*/ 28 h 62"/>
                <a:gd name="T2" fmla="*/ 123 w 125"/>
                <a:gd name="T3" fmla="*/ 24 h 62"/>
                <a:gd name="T4" fmla="*/ 120 w 125"/>
                <a:gd name="T5" fmla="*/ 20 h 62"/>
                <a:gd name="T6" fmla="*/ 116 w 125"/>
                <a:gd name="T7" fmla="*/ 15 h 62"/>
                <a:gd name="T8" fmla="*/ 111 w 125"/>
                <a:gd name="T9" fmla="*/ 12 h 62"/>
                <a:gd name="T10" fmla="*/ 104 w 125"/>
                <a:gd name="T11" fmla="*/ 8 h 62"/>
                <a:gd name="T12" fmla="*/ 97 w 125"/>
                <a:gd name="T13" fmla="*/ 5 h 62"/>
                <a:gd name="T14" fmla="*/ 89 w 125"/>
                <a:gd name="T15" fmla="*/ 4 h 62"/>
                <a:gd name="T16" fmla="*/ 80 w 125"/>
                <a:gd name="T17" fmla="*/ 2 h 62"/>
                <a:gd name="T18" fmla="*/ 72 w 125"/>
                <a:gd name="T19" fmla="*/ 0 h 62"/>
                <a:gd name="T20" fmla="*/ 62 w 125"/>
                <a:gd name="T21" fmla="*/ 0 h 62"/>
                <a:gd name="T22" fmla="*/ 54 w 125"/>
                <a:gd name="T23" fmla="*/ 0 h 62"/>
                <a:gd name="T24" fmla="*/ 44 w 125"/>
                <a:gd name="T25" fmla="*/ 2 h 62"/>
                <a:gd name="T26" fmla="*/ 35 w 125"/>
                <a:gd name="T27" fmla="*/ 4 h 62"/>
                <a:gd name="T28" fmla="*/ 27 w 125"/>
                <a:gd name="T29" fmla="*/ 5 h 62"/>
                <a:gd name="T30" fmla="*/ 20 w 125"/>
                <a:gd name="T31" fmla="*/ 8 h 62"/>
                <a:gd name="T32" fmla="*/ 14 w 125"/>
                <a:gd name="T33" fmla="*/ 12 h 62"/>
                <a:gd name="T34" fmla="*/ 9 w 125"/>
                <a:gd name="T35" fmla="*/ 15 h 62"/>
                <a:gd name="T36" fmla="*/ 4 w 125"/>
                <a:gd name="T37" fmla="*/ 20 h 62"/>
                <a:gd name="T38" fmla="*/ 2 w 125"/>
                <a:gd name="T39" fmla="*/ 24 h 62"/>
                <a:gd name="T40" fmla="*/ 1 w 125"/>
                <a:gd name="T41" fmla="*/ 28 h 62"/>
                <a:gd name="T42" fmla="*/ 1 w 125"/>
                <a:gd name="T43" fmla="*/ 33 h 62"/>
                <a:gd name="T44" fmla="*/ 2 w 125"/>
                <a:gd name="T45" fmla="*/ 38 h 62"/>
                <a:gd name="T46" fmla="*/ 4 w 125"/>
                <a:gd name="T47" fmla="*/ 42 h 62"/>
                <a:gd name="T48" fmla="*/ 9 w 125"/>
                <a:gd name="T49" fmla="*/ 46 h 62"/>
                <a:gd name="T50" fmla="*/ 14 w 125"/>
                <a:gd name="T51" fmla="*/ 50 h 62"/>
                <a:gd name="T52" fmla="*/ 20 w 125"/>
                <a:gd name="T53" fmla="*/ 53 h 62"/>
                <a:gd name="T54" fmla="*/ 27 w 125"/>
                <a:gd name="T55" fmla="*/ 56 h 62"/>
                <a:gd name="T56" fmla="*/ 35 w 125"/>
                <a:gd name="T57" fmla="*/ 58 h 62"/>
                <a:gd name="T58" fmla="*/ 44 w 125"/>
                <a:gd name="T59" fmla="*/ 60 h 62"/>
                <a:gd name="T60" fmla="*/ 54 w 125"/>
                <a:gd name="T61" fmla="*/ 61 h 62"/>
                <a:gd name="T62" fmla="*/ 62 w 125"/>
                <a:gd name="T63" fmla="*/ 61 h 62"/>
                <a:gd name="T64" fmla="*/ 72 w 125"/>
                <a:gd name="T65" fmla="*/ 61 h 62"/>
                <a:gd name="T66" fmla="*/ 80 w 125"/>
                <a:gd name="T67" fmla="*/ 60 h 62"/>
                <a:gd name="T68" fmla="*/ 89 w 125"/>
                <a:gd name="T69" fmla="*/ 58 h 62"/>
                <a:gd name="T70" fmla="*/ 97 w 125"/>
                <a:gd name="T71" fmla="*/ 56 h 62"/>
                <a:gd name="T72" fmla="*/ 104 w 125"/>
                <a:gd name="T73" fmla="*/ 53 h 62"/>
                <a:gd name="T74" fmla="*/ 111 w 125"/>
                <a:gd name="T75" fmla="*/ 50 h 62"/>
                <a:gd name="T76" fmla="*/ 116 w 125"/>
                <a:gd name="T77" fmla="*/ 46 h 62"/>
                <a:gd name="T78" fmla="*/ 120 w 125"/>
                <a:gd name="T79" fmla="*/ 42 h 62"/>
                <a:gd name="T80" fmla="*/ 123 w 125"/>
                <a:gd name="T81" fmla="*/ 38 h 62"/>
                <a:gd name="T82" fmla="*/ 124 w 125"/>
                <a:gd name="T83" fmla="*/ 33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5" h="62">
                  <a:moveTo>
                    <a:pt x="124" y="31"/>
                  </a:moveTo>
                  <a:lnTo>
                    <a:pt x="124" y="28"/>
                  </a:lnTo>
                  <a:lnTo>
                    <a:pt x="124" y="26"/>
                  </a:lnTo>
                  <a:lnTo>
                    <a:pt x="123" y="24"/>
                  </a:lnTo>
                  <a:lnTo>
                    <a:pt x="122" y="22"/>
                  </a:lnTo>
                  <a:lnTo>
                    <a:pt x="120" y="20"/>
                  </a:lnTo>
                  <a:lnTo>
                    <a:pt x="118" y="18"/>
                  </a:lnTo>
                  <a:lnTo>
                    <a:pt x="116" y="15"/>
                  </a:lnTo>
                  <a:lnTo>
                    <a:pt x="114" y="13"/>
                  </a:lnTo>
                  <a:lnTo>
                    <a:pt x="111" y="12"/>
                  </a:lnTo>
                  <a:lnTo>
                    <a:pt x="108" y="10"/>
                  </a:lnTo>
                  <a:lnTo>
                    <a:pt x="104" y="8"/>
                  </a:lnTo>
                  <a:lnTo>
                    <a:pt x="102" y="7"/>
                  </a:lnTo>
                  <a:lnTo>
                    <a:pt x="97" y="5"/>
                  </a:lnTo>
                  <a:lnTo>
                    <a:pt x="94" y="4"/>
                  </a:lnTo>
                  <a:lnTo>
                    <a:pt x="89" y="4"/>
                  </a:lnTo>
                  <a:lnTo>
                    <a:pt x="85" y="2"/>
                  </a:lnTo>
                  <a:lnTo>
                    <a:pt x="80" y="2"/>
                  </a:lnTo>
                  <a:lnTo>
                    <a:pt x="76" y="1"/>
                  </a:lnTo>
                  <a:lnTo>
                    <a:pt x="72" y="0"/>
                  </a:lnTo>
                  <a:lnTo>
                    <a:pt x="66" y="0"/>
                  </a:lnTo>
                  <a:lnTo>
                    <a:pt x="62" y="0"/>
                  </a:lnTo>
                  <a:lnTo>
                    <a:pt x="58" y="0"/>
                  </a:lnTo>
                  <a:lnTo>
                    <a:pt x="54" y="0"/>
                  </a:lnTo>
                  <a:lnTo>
                    <a:pt x="48" y="1"/>
                  </a:lnTo>
                  <a:lnTo>
                    <a:pt x="44" y="2"/>
                  </a:lnTo>
                  <a:lnTo>
                    <a:pt x="40" y="2"/>
                  </a:lnTo>
                  <a:lnTo>
                    <a:pt x="35" y="4"/>
                  </a:lnTo>
                  <a:lnTo>
                    <a:pt x="32" y="4"/>
                  </a:lnTo>
                  <a:lnTo>
                    <a:pt x="27" y="5"/>
                  </a:lnTo>
                  <a:lnTo>
                    <a:pt x="24" y="7"/>
                  </a:lnTo>
                  <a:lnTo>
                    <a:pt x="20" y="8"/>
                  </a:lnTo>
                  <a:lnTo>
                    <a:pt x="17" y="10"/>
                  </a:lnTo>
                  <a:lnTo>
                    <a:pt x="14" y="12"/>
                  </a:lnTo>
                  <a:lnTo>
                    <a:pt x="11" y="13"/>
                  </a:lnTo>
                  <a:lnTo>
                    <a:pt x="9" y="15"/>
                  </a:lnTo>
                  <a:lnTo>
                    <a:pt x="6" y="18"/>
                  </a:lnTo>
                  <a:lnTo>
                    <a:pt x="4" y="20"/>
                  </a:lnTo>
                  <a:lnTo>
                    <a:pt x="4" y="22"/>
                  </a:lnTo>
                  <a:lnTo>
                    <a:pt x="2" y="24"/>
                  </a:lnTo>
                  <a:lnTo>
                    <a:pt x="1" y="26"/>
                  </a:lnTo>
                  <a:lnTo>
                    <a:pt x="1" y="28"/>
                  </a:lnTo>
                  <a:lnTo>
                    <a:pt x="0" y="31"/>
                  </a:lnTo>
                  <a:lnTo>
                    <a:pt x="1" y="33"/>
                  </a:lnTo>
                  <a:lnTo>
                    <a:pt x="1" y="35"/>
                  </a:lnTo>
                  <a:lnTo>
                    <a:pt x="2" y="38"/>
                  </a:lnTo>
                  <a:lnTo>
                    <a:pt x="4" y="39"/>
                  </a:lnTo>
                  <a:lnTo>
                    <a:pt x="4" y="42"/>
                  </a:lnTo>
                  <a:lnTo>
                    <a:pt x="6" y="44"/>
                  </a:lnTo>
                  <a:lnTo>
                    <a:pt x="9" y="46"/>
                  </a:lnTo>
                  <a:lnTo>
                    <a:pt x="11" y="48"/>
                  </a:lnTo>
                  <a:lnTo>
                    <a:pt x="14" y="50"/>
                  </a:lnTo>
                  <a:lnTo>
                    <a:pt x="17" y="52"/>
                  </a:lnTo>
                  <a:lnTo>
                    <a:pt x="20" y="53"/>
                  </a:lnTo>
                  <a:lnTo>
                    <a:pt x="24" y="54"/>
                  </a:lnTo>
                  <a:lnTo>
                    <a:pt x="27" y="56"/>
                  </a:lnTo>
                  <a:lnTo>
                    <a:pt x="32" y="58"/>
                  </a:lnTo>
                  <a:lnTo>
                    <a:pt x="35" y="58"/>
                  </a:lnTo>
                  <a:lnTo>
                    <a:pt x="40" y="60"/>
                  </a:lnTo>
                  <a:lnTo>
                    <a:pt x="44" y="60"/>
                  </a:lnTo>
                  <a:lnTo>
                    <a:pt x="48" y="60"/>
                  </a:lnTo>
                  <a:lnTo>
                    <a:pt x="54" y="61"/>
                  </a:lnTo>
                  <a:lnTo>
                    <a:pt x="58" y="61"/>
                  </a:lnTo>
                  <a:lnTo>
                    <a:pt x="62" y="61"/>
                  </a:lnTo>
                  <a:lnTo>
                    <a:pt x="66" y="61"/>
                  </a:lnTo>
                  <a:lnTo>
                    <a:pt x="72" y="61"/>
                  </a:lnTo>
                  <a:lnTo>
                    <a:pt x="76" y="60"/>
                  </a:lnTo>
                  <a:lnTo>
                    <a:pt x="80" y="60"/>
                  </a:lnTo>
                  <a:lnTo>
                    <a:pt x="85" y="60"/>
                  </a:lnTo>
                  <a:lnTo>
                    <a:pt x="89" y="58"/>
                  </a:lnTo>
                  <a:lnTo>
                    <a:pt x="94" y="58"/>
                  </a:lnTo>
                  <a:lnTo>
                    <a:pt x="97" y="56"/>
                  </a:lnTo>
                  <a:lnTo>
                    <a:pt x="102" y="54"/>
                  </a:lnTo>
                  <a:lnTo>
                    <a:pt x="104" y="53"/>
                  </a:lnTo>
                  <a:lnTo>
                    <a:pt x="108" y="52"/>
                  </a:lnTo>
                  <a:lnTo>
                    <a:pt x="111" y="50"/>
                  </a:lnTo>
                  <a:lnTo>
                    <a:pt x="114" y="48"/>
                  </a:lnTo>
                  <a:lnTo>
                    <a:pt x="116" y="46"/>
                  </a:lnTo>
                  <a:lnTo>
                    <a:pt x="118" y="44"/>
                  </a:lnTo>
                  <a:lnTo>
                    <a:pt x="120" y="42"/>
                  </a:lnTo>
                  <a:lnTo>
                    <a:pt x="122" y="39"/>
                  </a:lnTo>
                  <a:lnTo>
                    <a:pt x="123" y="38"/>
                  </a:lnTo>
                  <a:lnTo>
                    <a:pt x="124" y="35"/>
                  </a:lnTo>
                  <a:lnTo>
                    <a:pt x="124" y="33"/>
                  </a:lnTo>
                  <a:lnTo>
                    <a:pt x="124" y="31"/>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64" name="Line 64"/>
            <p:cNvSpPr>
              <a:spLocks noChangeShapeType="1"/>
            </p:cNvSpPr>
            <p:nvPr/>
          </p:nvSpPr>
          <p:spPr bwMode="auto">
            <a:xfrm flipV="1">
              <a:off x="6713753" y="4764562"/>
              <a:ext cx="1519238" cy="1539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5" name="Freeform 65"/>
            <p:cNvSpPr>
              <a:spLocks/>
            </p:cNvSpPr>
            <p:nvPr/>
          </p:nvSpPr>
          <p:spPr bwMode="auto">
            <a:xfrm>
              <a:off x="6666129" y="4905848"/>
              <a:ext cx="68263" cy="25400"/>
            </a:xfrm>
            <a:custGeom>
              <a:avLst/>
              <a:gdLst>
                <a:gd name="T0" fmla="*/ 0 w 67"/>
                <a:gd name="T1" fmla="*/ 24 h 33"/>
                <a:gd name="T2" fmla="*/ 66 w 67"/>
                <a:gd name="T3" fmla="*/ 32 h 33"/>
                <a:gd name="T4" fmla="*/ 48 w 67"/>
                <a:gd name="T5" fmla="*/ 18 h 33"/>
                <a:gd name="T6" fmla="*/ 61 w 67"/>
                <a:gd name="T7" fmla="*/ 0 h 33"/>
                <a:gd name="T8" fmla="*/ 0 w 67"/>
                <a:gd name="T9" fmla="*/ 24 h 33"/>
                <a:gd name="T10" fmla="*/ 0 w 67"/>
                <a:gd name="T11" fmla="*/ 24 h 33"/>
              </a:gdLst>
              <a:ahLst/>
              <a:cxnLst>
                <a:cxn ang="0">
                  <a:pos x="T0" y="T1"/>
                </a:cxn>
                <a:cxn ang="0">
                  <a:pos x="T2" y="T3"/>
                </a:cxn>
                <a:cxn ang="0">
                  <a:pos x="T4" y="T5"/>
                </a:cxn>
                <a:cxn ang="0">
                  <a:pos x="T6" y="T7"/>
                </a:cxn>
                <a:cxn ang="0">
                  <a:pos x="T8" y="T9"/>
                </a:cxn>
                <a:cxn ang="0">
                  <a:pos x="T10" y="T11"/>
                </a:cxn>
              </a:cxnLst>
              <a:rect l="0" t="0" r="r" b="b"/>
              <a:pathLst>
                <a:path w="67" h="33">
                  <a:moveTo>
                    <a:pt x="0" y="24"/>
                  </a:moveTo>
                  <a:lnTo>
                    <a:pt x="66" y="32"/>
                  </a:lnTo>
                  <a:lnTo>
                    <a:pt x="48" y="18"/>
                  </a:lnTo>
                  <a:lnTo>
                    <a:pt x="61" y="0"/>
                  </a:lnTo>
                  <a:lnTo>
                    <a:pt x="0" y="24"/>
                  </a:lnTo>
                  <a:lnTo>
                    <a:pt x="0" y="24"/>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66" name="Line 66"/>
            <p:cNvSpPr>
              <a:spLocks noChangeShapeType="1"/>
            </p:cNvSpPr>
            <p:nvPr/>
          </p:nvSpPr>
          <p:spPr bwMode="auto">
            <a:xfrm>
              <a:off x="6240679" y="5131273"/>
              <a:ext cx="1800225" cy="7826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7" name="Freeform 67"/>
            <p:cNvSpPr>
              <a:spLocks/>
            </p:cNvSpPr>
            <p:nvPr/>
          </p:nvSpPr>
          <p:spPr bwMode="auto">
            <a:xfrm>
              <a:off x="6199403" y="5112224"/>
              <a:ext cx="65088" cy="36513"/>
            </a:xfrm>
            <a:custGeom>
              <a:avLst/>
              <a:gdLst>
                <a:gd name="T0" fmla="*/ 0 w 63"/>
                <a:gd name="T1" fmla="*/ 0 h 47"/>
                <a:gd name="T2" fmla="*/ 46 w 63"/>
                <a:gd name="T3" fmla="*/ 46 h 47"/>
                <a:gd name="T4" fmla="*/ 40 w 63"/>
                <a:gd name="T5" fmla="*/ 24 h 47"/>
                <a:gd name="T6" fmla="*/ 62 w 63"/>
                <a:gd name="T7" fmla="*/ 18 h 47"/>
                <a:gd name="T8" fmla="*/ 0 w 63"/>
                <a:gd name="T9" fmla="*/ 0 h 47"/>
                <a:gd name="T10" fmla="*/ 0 w 63"/>
                <a:gd name="T11" fmla="*/ 0 h 47"/>
              </a:gdLst>
              <a:ahLst/>
              <a:cxnLst>
                <a:cxn ang="0">
                  <a:pos x="T0" y="T1"/>
                </a:cxn>
                <a:cxn ang="0">
                  <a:pos x="T2" y="T3"/>
                </a:cxn>
                <a:cxn ang="0">
                  <a:pos x="T4" y="T5"/>
                </a:cxn>
                <a:cxn ang="0">
                  <a:pos x="T6" y="T7"/>
                </a:cxn>
                <a:cxn ang="0">
                  <a:pos x="T8" y="T9"/>
                </a:cxn>
                <a:cxn ang="0">
                  <a:pos x="T10" y="T11"/>
                </a:cxn>
              </a:cxnLst>
              <a:rect l="0" t="0" r="r" b="b"/>
              <a:pathLst>
                <a:path w="63" h="47">
                  <a:moveTo>
                    <a:pt x="0" y="0"/>
                  </a:moveTo>
                  <a:lnTo>
                    <a:pt x="46" y="46"/>
                  </a:lnTo>
                  <a:lnTo>
                    <a:pt x="40" y="24"/>
                  </a:lnTo>
                  <a:lnTo>
                    <a:pt x="62" y="18"/>
                  </a:lnTo>
                  <a:lnTo>
                    <a:pt x="0" y="0"/>
                  </a:lnTo>
                  <a:lnTo>
                    <a:pt x="0" y="0"/>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68" name="Line 68"/>
            <p:cNvSpPr>
              <a:spLocks noChangeShapeType="1"/>
            </p:cNvSpPr>
            <p:nvPr/>
          </p:nvSpPr>
          <p:spPr bwMode="auto">
            <a:xfrm>
              <a:off x="5602504" y="5478936"/>
              <a:ext cx="276225" cy="3873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9" name="Freeform 69"/>
            <p:cNvSpPr>
              <a:spLocks/>
            </p:cNvSpPr>
            <p:nvPr/>
          </p:nvSpPr>
          <p:spPr bwMode="auto">
            <a:xfrm>
              <a:off x="5578692" y="5444011"/>
              <a:ext cx="46037" cy="50800"/>
            </a:xfrm>
            <a:custGeom>
              <a:avLst/>
              <a:gdLst>
                <a:gd name="T0" fmla="*/ 0 w 45"/>
                <a:gd name="T1" fmla="*/ 0 h 66"/>
                <a:gd name="T2" fmla="*/ 16 w 45"/>
                <a:gd name="T3" fmla="*/ 65 h 66"/>
                <a:gd name="T4" fmla="*/ 23 w 45"/>
                <a:gd name="T5" fmla="*/ 43 h 66"/>
                <a:gd name="T6" fmla="*/ 44 w 45"/>
                <a:gd name="T7" fmla="*/ 49 h 66"/>
                <a:gd name="T8" fmla="*/ 0 w 45"/>
                <a:gd name="T9" fmla="*/ 0 h 66"/>
                <a:gd name="T10" fmla="*/ 0 w 45"/>
                <a:gd name="T11" fmla="*/ 0 h 66"/>
              </a:gdLst>
              <a:ahLst/>
              <a:cxnLst>
                <a:cxn ang="0">
                  <a:pos x="T0" y="T1"/>
                </a:cxn>
                <a:cxn ang="0">
                  <a:pos x="T2" y="T3"/>
                </a:cxn>
                <a:cxn ang="0">
                  <a:pos x="T4" y="T5"/>
                </a:cxn>
                <a:cxn ang="0">
                  <a:pos x="T6" y="T7"/>
                </a:cxn>
                <a:cxn ang="0">
                  <a:pos x="T8" y="T9"/>
                </a:cxn>
                <a:cxn ang="0">
                  <a:pos x="T10" y="T11"/>
                </a:cxn>
              </a:cxnLst>
              <a:rect l="0" t="0" r="r" b="b"/>
              <a:pathLst>
                <a:path w="45" h="66">
                  <a:moveTo>
                    <a:pt x="0" y="0"/>
                  </a:moveTo>
                  <a:lnTo>
                    <a:pt x="16" y="65"/>
                  </a:lnTo>
                  <a:lnTo>
                    <a:pt x="23" y="43"/>
                  </a:lnTo>
                  <a:lnTo>
                    <a:pt x="44" y="49"/>
                  </a:lnTo>
                  <a:lnTo>
                    <a:pt x="0" y="0"/>
                  </a:lnTo>
                  <a:lnTo>
                    <a:pt x="0" y="0"/>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70" name="Text Box 70"/>
            <p:cNvSpPr txBox="1">
              <a:spLocks noChangeArrowheads="1"/>
            </p:cNvSpPr>
            <p:nvPr/>
          </p:nvSpPr>
          <p:spPr bwMode="auto">
            <a:xfrm>
              <a:off x="5953341" y="5925023"/>
              <a:ext cx="1263650" cy="19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1200">
                  <a:solidFill>
                    <a:srgbClr val="000000"/>
                  </a:solidFill>
                </a:rPr>
                <a:t>Cancel Data </a:t>
              </a:r>
              <a:r>
                <a:rPr lang="en-US" altLang="zh-CN" sz="1200">
                  <a:solidFill>
                    <a:srgbClr val="000000"/>
                  </a:solidFill>
                  <a:latin typeface="Symbol" panose="05050102010706020507" pitchFamily="18" charset="2"/>
                </a:rPr>
                <a:t>»</a:t>
              </a:r>
              <a:r>
                <a:rPr lang="en-US" altLang="zh-CN" sz="1200">
                  <a:solidFill>
                    <a:srgbClr val="000000"/>
                  </a:solidFill>
                </a:rPr>
                <a:t> 0</a:t>
              </a:r>
              <a:endParaRPr lang="en-US" altLang="zh-CN" sz="2200">
                <a:latin typeface="Times New Roman" panose="02020603050405020304" pitchFamily="18" charset="0"/>
              </a:endParaRPr>
            </a:p>
          </p:txBody>
        </p:sp>
        <p:grpSp>
          <p:nvGrpSpPr>
            <p:cNvPr id="71" name="Group 71"/>
            <p:cNvGrpSpPr>
              <a:grpSpLocks/>
            </p:cNvGrpSpPr>
            <p:nvPr/>
          </p:nvGrpSpPr>
          <p:grpSpPr bwMode="auto">
            <a:xfrm>
              <a:off x="6385142" y="6044086"/>
              <a:ext cx="66675" cy="44450"/>
              <a:chOff x="2196" y="3940"/>
              <a:chExt cx="66" cy="56"/>
            </a:xfrm>
          </p:grpSpPr>
          <p:sp>
            <p:nvSpPr>
              <p:cNvPr id="95" name="Freeform 72"/>
              <p:cNvSpPr>
                <a:spLocks/>
              </p:cNvSpPr>
              <p:nvPr/>
            </p:nvSpPr>
            <p:spPr bwMode="auto">
              <a:xfrm>
                <a:off x="2224" y="3940"/>
                <a:ext cx="12" cy="11"/>
              </a:xfrm>
              <a:custGeom>
                <a:avLst/>
                <a:gdLst>
                  <a:gd name="T0" fmla="*/ 11 w 12"/>
                  <a:gd name="T1" fmla="*/ 6 h 11"/>
                  <a:gd name="T2" fmla="*/ 11 w 12"/>
                  <a:gd name="T3" fmla="*/ 5 h 11"/>
                  <a:gd name="T4" fmla="*/ 10 w 12"/>
                  <a:gd name="T5" fmla="*/ 4 h 11"/>
                  <a:gd name="T6" fmla="*/ 10 w 12"/>
                  <a:gd name="T7" fmla="*/ 4 h 11"/>
                  <a:gd name="T8" fmla="*/ 10 w 12"/>
                  <a:gd name="T9" fmla="*/ 2 h 11"/>
                  <a:gd name="T10" fmla="*/ 9 w 12"/>
                  <a:gd name="T11" fmla="*/ 2 h 11"/>
                  <a:gd name="T12" fmla="*/ 9 w 12"/>
                  <a:gd name="T13" fmla="*/ 1 h 11"/>
                  <a:gd name="T14" fmla="*/ 7 w 12"/>
                  <a:gd name="T15" fmla="*/ 0 h 11"/>
                  <a:gd name="T16" fmla="*/ 7 w 12"/>
                  <a:gd name="T17" fmla="*/ 0 h 11"/>
                  <a:gd name="T18" fmla="*/ 7 w 12"/>
                  <a:gd name="T19" fmla="*/ 0 h 11"/>
                  <a:gd name="T20" fmla="*/ 5 w 12"/>
                  <a:gd name="T21" fmla="*/ 0 h 11"/>
                  <a:gd name="T22" fmla="*/ 5 w 12"/>
                  <a:gd name="T23" fmla="*/ 0 h 11"/>
                  <a:gd name="T24" fmla="*/ 4 w 12"/>
                  <a:gd name="T25" fmla="*/ 0 h 11"/>
                  <a:gd name="T26" fmla="*/ 4 w 12"/>
                  <a:gd name="T27" fmla="*/ 0 h 11"/>
                  <a:gd name="T28" fmla="*/ 2 w 12"/>
                  <a:gd name="T29" fmla="*/ 1 h 11"/>
                  <a:gd name="T30" fmla="*/ 2 w 12"/>
                  <a:gd name="T31" fmla="*/ 2 h 11"/>
                  <a:gd name="T32" fmla="*/ 2 w 12"/>
                  <a:gd name="T33" fmla="*/ 2 h 11"/>
                  <a:gd name="T34" fmla="*/ 1 w 12"/>
                  <a:gd name="T35" fmla="*/ 4 h 11"/>
                  <a:gd name="T36" fmla="*/ 0 w 12"/>
                  <a:gd name="T37" fmla="*/ 4 h 11"/>
                  <a:gd name="T38" fmla="*/ 0 w 12"/>
                  <a:gd name="T39" fmla="*/ 5 h 11"/>
                  <a:gd name="T40" fmla="*/ 0 w 12"/>
                  <a:gd name="T41" fmla="*/ 6 h 11"/>
                  <a:gd name="T42" fmla="*/ 0 w 12"/>
                  <a:gd name="T43" fmla="*/ 6 h 11"/>
                  <a:gd name="T44" fmla="*/ 0 w 12"/>
                  <a:gd name="T45" fmla="*/ 7 h 11"/>
                  <a:gd name="T46" fmla="*/ 0 w 12"/>
                  <a:gd name="T47" fmla="*/ 7 h 11"/>
                  <a:gd name="T48" fmla="*/ 1 w 12"/>
                  <a:gd name="T49" fmla="*/ 8 h 11"/>
                  <a:gd name="T50" fmla="*/ 2 w 12"/>
                  <a:gd name="T51" fmla="*/ 8 h 11"/>
                  <a:gd name="T52" fmla="*/ 2 w 12"/>
                  <a:gd name="T53" fmla="*/ 10 h 11"/>
                  <a:gd name="T54" fmla="*/ 2 w 12"/>
                  <a:gd name="T55" fmla="*/ 10 h 11"/>
                  <a:gd name="T56" fmla="*/ 4 w 12"/>
                  <a:gd name="T57" fmla="*/ 10 h 11"/>
                  <a:gd name="T58" fmla="*/ 4 w 12"/>
                  <a:gd name="T59" fmla="*/ 10 h 11"/>
                  <a:gd name="T60" fmla="*/ 5 w 12"/>
                  <a:gd name="T61" fmla="*/ 10 h 11"/>
                  <a:gd name="T62" fmla="*/ 5 w 12"/>
                  <a:gd name="T63" fmla="*/ 10 h 11"/>
                  <a:gd name="T64" fmla="*/ 7 w 12"/>
                  <a:gd name="T65" fmla="*/ 10 h 11"/>
                  <a:gd name="T66" fmla="*/ 7 w 12"/>
                  <a:gd name="T67" fmla="*/ 10 h 11"/>
                  <a:gd name="T68" fmla="*/ 7 w 12"/>
                  <a:gd name="T69" fmla="*/ 10 h 11"/>
                  <a:gd name="T70" fmla="*/ 9 w 12"/>
                  <a:gd name="T71" fmla="*/ 10 h 11"/>
                  <a:gd name="T72" fmla="*/ 9 w 12"/>
                  <a:gd name="T73" fmla="*/ 10 h 11"/>
                  <a:gd name="T74" fmla="*/ 10 w 12"/>
                  <a:gd name="T75" fmla="*/ 8 h 11"/>
                  <a:gd name="T76" fmla="*/ 10 w 12"/>
                  <a:gd name="T77" fmla="*/ 8 h 11"/>
                  <a:gd name="T78" fmla="*/ 10 w 12"/>
                  <a:gd name="T79" fmla="*/ 7 h 11"/>
                  <a:gd name="T80" fmla="*/ 11 w 12"/>
                  <a:gd name="T81" fmla="*/ 7 h 11"/>
                  <a:gd name="T82" fmla="*/ 11 w 12"/>
                  <a:gd name="T83" fmla="*/ 6 h 11"/>
                  <a:gd name="T84" fmla="*/ 11 w 12"/>
                  <a:gd name="T85" fmla="*/ 6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 h="11">
                    <a:moveTo>
                      <a:pt x="11" y="6"/>
                    </a:moveTo>
                    <a:lnTo>
                      <a:pt x="11" y="6"/>
                    </a:lnTo>
                    <a:lnTo>
                      <a:pt x="11" y="5"/>
                    </a:lnTo>
                    <a:lnTo>
                      <a:pt x="11" y="5"/>
                    </a:lnTo>
                    <a:lnTo>
                      <a:pt x="10" y="4"/>
                    </a:lnTo>
                    <a:lnTo>
                      <a:pt x="10" y="4"/>
                    </a:lnTo>
                    <a:lnTo>
                      <a:pt x="10" y="4"/>
                    </a:lnTo>
                    <a:lnTo>
                      <a:pt x="10" y="4"/>
                    </a:lnTo>
                    <a:lnTo>
                      <a:pt x="10" y="3"/>
                    </a:lnTo>
                    <a:lnTo>
                      <a:pt x="10" y="2"/>
                    </a:lnTo>
                    <a:lnTo>
                      <a:pt x="9" y="2"/>
                    </a:lnTo>
                    <a:lnTo>
                      <a:pt x="9" y="2"/>
                    </a:lnTo>
                    <a:lnTo>
                      <a:pt x="9" y="2"/>
                    </a:lnTo>
                    <a:lnTo>
                      <a:pt x="9" y="1"/>
                    </a:lnTo>
                    <a:lnTo>
                      <a:pt x="8" y="1"/>
                    </a:lnTo>
                    <a:lnTo>
                      <a:pt x="7" y="0"/>
                    </a:lnTo>
                    <a:lnTo>
                      <a:pt x="7" y="0"/>
                    </a:lnTo>
                    <a:lnTo>
                      <a:pt x="7" y="0"/>
                    </a:lnTo>
                    <a:lnTo>
                      <a:pt x="7" y="0"/>
                    </a:lnTo>
                    <a:lnTo>
                      <a:pt x="7" y="0"/>
                    </a:lnTo>
                    <a:lnTo>
                      <a:pt x="5" y="0"/>
                    </a:lnTo>
                    <a:lnTo>
                      <a:pt x="5" y="0"/>
                    </a:lnTo>
                    <a:lnTo>
                      <a:pt x="5" y="0"/>
                    </a:lnTo>
                    <a:lnTo>
                      <a:pt x="5" y="0"/>
                    </a:lnTo>
                    <a:lnTo>
                      <a:pt x="5" y="0"/>
                    </a:lnTo>
                    <a:lnTo>
                      <a:pt x="4" y="0"/>
                    </a:lnTo>
                    <a:lnTo>
                      <a:pt x="4" y="0"/>
                    </a:lnTo>
                    <a:lnTo>
                      <a:pt x="4" y="0"/>
                    </a:lnTo>
                    <a:lnTo>
                      <a:pt x="3" y="1"/>
                    </a:lnTo>
                    <a:lnTo>
                      <a:pt x="2" y="1"/>
                    </a:lnTo>
                    <a:lnTo>
                      <a:pt x="2" y="2"/>
                    </a:lnTo>
                    <a:lnTo>
                      <a:pt x="2" y="2"/>
                    </a:lnTo>
                    <a:lnTo>
                      <a:pt x="2" y="2"/>
                    </a:lnTo>
                    <a:lnTo>
                      <a:pt x="2" y="2"/>
                    </a:lnTo>
                    <a:lnTo>
                      <a:pt x="1" y="3"/>
                    </a:lnTo>
                    <a:lnTo>
                      <a:pt x="1" y="4"/>
                    </a:lnTo>
                    <a:lnTo>
                      <a:pt x="0" y="4"/>
                    </a:lnTo>
                    <a:lnTo>
                      <a:pt x="0" y="4"/>
                    </a:lnTo>
                    <a:lnTo>
                      <a:pt x="0" y="4"/>
                    </a:lnTo>
                    <a:lnTo>
                      <a:pt x="0" y="5"/>
                    </a:lnTo>
                    <a:lnTo>
                      <a:pt x="0" y="5"/>
                    </a:lnTo>
                    <a:lnTo>
                      <a:pt x="0" y="6"/>
                    </a:lnTo>
                    <a:lnTo>
                      <a:pt x="0" y="6"/>
                    </a:lnTo>
                    <a:lnTo>
                      <a:pt x="0" y="6"/>
                    </a:lnTo>
                    <a:lnTo>
                      <a:pt x="0" y="6"/>
                    </a:lnTo>
                    <a:lnTo>
                      <a:pt x="0" y="7"/>
                    </a:lnTo>
                    <a:lnTo>
                      <a:pt x="0" y="7"/>
                    </a:lnTo>
                    <a:lnTo>
                      <a:pt x="0" y="7"/>
                    </a:lnTo>
                    <a:lnTo>
                      <a:pt x="0" y="8"/>
                    </a:lnTo>
                    <a:lnTo>
                      <a:pt x="1" y="8"/>
                    </a:lnTo>
                    <a:lnTo>
                      <a:pt x="1" y="8"/>
                    </a:lnTo>
                    <a:lnTo>
                      <a:pt x="2" y="8"/>
                    </a:lnTo>
                    <a:lnTo>
                      <a:pt x="2" y="9"/>
                    </a:lnTo>
                    <a:lnTo>
                      <a:pt x="2" y="10"/>
                    </a:lnTo>
                    <a:lnTo>
                      <a:pt x="2" y="10"/>
                    </a:lnTo>
                    <a:lnTo>
                      <a:pt x="2" y="10"/>
                    </a:lnTo>
                    <a:lnTo>
                      <a:pt x="3" y="10"/>
                    </a:lnTo>
                    <a:lnTo>
                      <a:pt x="4" y="10"/>
                    </a:lnTo>
                    <a:lnTo>
                      <a:pt x="4" y="10"/>
                    </a:lnTo>
                    <a:lnTo>
                      <a:pt x="4" y="10"/>
                    </a:lnTo>
                    <a:lnTo>
                      <a:pt x="5" y="10"/>
                    </a:lnTo>
                    <a:lnTo>
                      <a:pt x="5" y="10"/>
                    </a:lnTo>
                    <a:lnTo>
                      <a:pt x="5" y="10"/>
                    </a:lnTo>
                    <a:lnTo>
                      <a:pt x="5" y="10"/>
                    </a:lnTo>
                    <a:lnTo>
                      <a:pt x="5" y="10"/>
                    </a:lnTo>
                    <a:lnTo>
                      <a:pt x="7" y="10"/>
                    </a:lnTo>
                    <a:lnTo>
                      <a:pt x="7" y="10"/>
                    </a:lnTo>
                    <a:lnTo>
                      <a:pt x="7" y="10"/>
                    </a:lnTo>
                    <a:lnTo>
                      <a:pt x="7" y="10"/>
                    </a:lnTo>
                    <a:lnTo>
                      <a:pt x="7" y="10"/>
                    </a:lnTo>
                    <a:lnTo>
                      <a:pt x="8" y="10"/>
                    </a:lnTo>
                    <a:lnTo>
                      <a:pt x="9" y="10"/>
                    </a:lnTo>
                    <a:lnTo>
                      <a:pt x="9" y="10"/>
                    </a:lnTo>
                    <a:lnTo>
                      <a:pt x="9" y="10"/>
                    </a:lnTo>
                    <a:lnTo>
                      <a:pt x="9" y="9"/>
                    </a:lnTo>
                    <a:lnTo>
                      <a:pt x="10" y="8"/>
                    </a:lnTo>
                    <a:lnTo>
                      <a:pt x="10" y="8"/>
                    </a:lnTo>
                    <a:lnTo>
                      <a:pt x="10" y="8"/>
                    </a:lnTo>
                    <a:lnTo>
                      <a:pt x="10" y="8"/>
                    </a:lnTo>
                    <a:lnTo>
                      <a:pt x="10" y="7"/>
                    </a:lnTo>
                    <a:lnTo>
                      <a:pt x="10" y="7"/>
                    </a:lnTo>
                    <a:lnTo>
                      <a:pt x="11" y="7"/>
                    </a:lnTo>
                    <a:lnTo>
                      <a:pt x="11" y="6"/>
                    </a:lnTo>
                    <a:lnTo>
                      <a:pt x="11" y="6"/>
                    </a:lnTo>
                    <a:lnTo>
                      <a:pt x="11" y="6"/>
                    </a:lnTo>
                    <a:lnTo>
                      <a:pt x="11" y="6"/>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96" name="Freeform 73"/>
              <p:cNvSpPr>
                <a:spLocks/>
              </p:cNvSpPr>
              <p:nvPr/>
            </p:nvSpPr>
            <p:spPr bwMode="auto">
              <a:xfrm>
                <a:off x="2250" y="3985"/>
                <a:ext cx="12" cy="11"/>
              </a:xfrm>
              <a:custGeom>
                <a:avLst/>
                <a:gdLst>
                  <a:gd name="T0" fmla="*/ 11 w 12"/>
                  <a:gd name="T1" fmla="*/ 5 h 11"/>
                  <a:gd name="T2" fmla="*/ 11 w 12"/>
                  <a:gd name="T3" fmla="*/ 3 h 11"/>
                  <a:gd name="T4" fmla="*/ 10 w 12"/>
                  <a:gd name="T5" fmla="*/ 3 h 11"/>
                  <a:gd name="T6" fmla="*/ 10 w 12"/>
                  <a:gd name="T7" fmla="*/ 3 h 11"/>
                  <a:gd name="T8" fmla="*/ 10 w 12"/>
                  <a:gd name="T9" fmla="*/ 2 h 11"/>
                  <a:gd name="T10" fmla="*/ 9 w 12"/>
                  <a:gd name="T11" fmla="*/ 1 h 11"/>
                  <a:gd name="T12" fmla="*/ 9 w 12"/>
                  <a:gd name="T13" fmla="*/ 0 h 11"/>
                  <a:gd name="T14" fmla="*/ 9 w 12"/>
                  <a:gd name="T15" fmla="*/ 0 h 11"/>
                  <a:gd name="T16" fmla="*/ 8 w 12"/>
                  <a:gd name="T17" fmla="*/ 0 h 11"/>
                  <a:gd name="T18" fmla="*/ 6 w 12"/>
                  <a:gd name="T19" fmla="*/ 0 h 11"/>
                  <a:gd name="T20" fmla="*/ 6 w 12"/>
                  <a:gd name="T21" fmla="*/ 0 h 11"/>
                  <a:gd name="T22" fmla="*/ 5 w 12"/>
                  <a:gd name="T23" fmla="*/ 0 h 11"/>
                  <a:gd name="T24" fmla="*/ 4 w 12"/>
                  <a:gd name="T25" fmla="*/ 0 h 11"/>
                  <a:gd name="T26" fmla="*/ 4 w 12"/>
                  <a:gd name="T27" fmla="*/ 0 h 11"/>
                  <a:gd name="T28" fmla="*/ 3 w 12"/>
                  <a:gd name="T29" fmla="*/ 0 h 11"/>
                  <a:gd name="T30" fmla="*/ 2 w 12"/>
                  <a:gd name="T31" fmla="*/ 1 h 11"/>
                  <a:gd name="T32" fmla="*/ 1 w 12"/>
                  <a:gd name="T33" fmla="*/ 2 h 11"/>
                  <a:gd name="T34" fmla="*/ 1 w 12"/>
                  <a:gd name="T35" fmla="*/ 3 h 11"/>
                  <a:gd name="T36" fmla="*/ 0 w 12"/>
                  <a:gd name="T37" fmla="*/ 3 h 11"/>
                  <a:gd name="T38" fmla="*/ 0 w 12"/>
                  <a:gd name="T39" fmla="*/ 3 h 11"/>
                  <a:gd name="T40" fmla="*/ 0 w 12"/>
                  <a:gd name="T41" fmla="*/ 5 h 11"/>
                  <a:gd name="T42" fmla="*/ 0 w 12"/>
                  <a:gd name="T43" fmla="*/ 5 h 11"/>
                  <a:gd name="T44" fmla="*/ 0 w 12"/>
                  <a:gd name="T45" fmla="*/ 6 h 11"/>
                  <a:gd name="T46" fmla="*/ 0 w 12"/>
                  <a:gd name="T47" fmla="*/ 7 h 11"/>
                  <a:gd name="T48" fmla="*/ 1 w 12"/>
                  <a:gd name="T49" fmla="*/ 8 h 11"/>
                  <a:gd name="T50" fmla="*/ 1 w 12"/>
                  <a:gd name="T51" fmla="*/ 9 h 11"/>
                  <a:gd name="T52" fmla="*/ 2 w 12"/>
                  <a:gd name="T53" fmla="*/ 9 h 11"/>
                  <a:gd name="T54" fmla="*/ 3 w 12"/>
                  <a:gd name="T55" fmla="*/ 10 h 11"/>
                  <a:gd name="T56" fmla="*/ 4 w 12"/>
                  <a:gd name="T57" fmla="*/ 10 h 11"/>
                  <a:gd name="T58" fmla="*/ 4 w 12"/>
                  <a:gd name="T59" fmla="*/ 10 h 11"/>
                  <a:gd name="T60" fmla="*/ 5 w 12"/>
                  <a:gd name="T61" fmla="*/ 10 h 11"/>
                  <a:gd name="T62" fmla="*/ 6 w 12"/>
                  <a:gd name="T63" fmla="*/ 10 h 11"/>
                  <a:gd name="T64" fmla="*/ 6 w 12"/>
                  <a:gd name="T65" fmla="*/ 10 h 11"/>
                  <a:gd name="T66" fmla="*/ 8 w 12"/>
                  <a:gd name="T67" fmla="*/ 10 h 11"/>
                  <a:gd name="T68" fmla="*/ 9 w 12"/>
                  <a:gd name="T69" fmla="*/ 10 h 11"/>
                  <a:gd name="T70" fmla="*/ 9 w 12"/>
                  <a:gd name="T71" fmla="*/ 10 h 11"/>
                  <a:gd name="T72" fmla="*/ 9 w 12"/>
                  <a:gd name="T73" fmla="*/ 9 h 11"/>
                  <a:gd name="T74" fmla="*/ 10 w 12"/>
                  <a:gd name="T75" fmla="*/ 9 h 11"/>
                  <a:gd name="T76" fmla="*/ 10 w 12"/>
                  <a:gd name="T77" fmla="*/ 8 h 11"/>
                  <a:gd name="T78" fmla="*/ 10 w 12"/>
                  <a:gd name="T79" fmla="*/ 7 h 11"/>
                  <a:gd name="T80" fmla="*/ 11 w 12"/>
                  <a:gd name="T81" fmla="*/ 6 h 11"/>
                  <a:gd name="T82" fmla="*/ 11 w 12"/>
                  <a:gd name="T83" fmla="*/ 5 h 11"/>
                  <a:gd name="T84" fmla="*/ 11 w 12"/>
                  <a:gd name="T85" fmla="*/ 5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 h="11">
                    <a:moveTo>
                      <a:pt x="11" y="5"/>
                    </a:moveTo>
                    <a:lnTo>
                      <a:pt x="11" y="5"/>
                    </a:lnTo>
                    <a:lnTo>
                      <a:pt x="11" y="5"/>
                    </a:lnTo>
                    <a:lnTo>
                      <a:pt x="11" y="3"/>
                    </a:lnTo>
                    <a:lnTo>
                      <a:pt x="10" y="3"/>
                    </a:lnTo>
                    <a:lnTo>
                      <a:pt x="10" y="3"/>
                    </a:lnTo>
                    <a:lnTo>
                      <a:pt x="10" y="3"/>
                    </a:lnTo>
                    <a:lnTo>
                      <a:pt x="10" y="3"/>
                    </a:lnTo>
                    <a:lnTo>
                      <a:pt x="10" y="2"/>
                    </a:lnTo>
                    <a:lnTo>
                      <a:pt x="10" y="2"/>
                    </a:lnTo>
                    <a:lnTo>
                      <a:pt x="9" y="2"/>
                    </a:lnTo>
                    <a:lnTo>
                      <a:pt x="9" y="1"/>
                    </a:lnTo>
                    <a:lnTo>
                      <a:pt x="9" y="1"/>
                    </a:lnTo>
                    <a:lnTo>
                      <a:pt x="9" y="0"/>
                    </a:lnTo>
                    <a:lnTo>
                      <a:pt x="9" y="0"/>
                    </a:lnTo>
                    <a:lnTo>
                      <a:pt x="9" y="0"/>
                    </a:lnTo>
                    <a:lnTo>
                      <a:pt x="8" y="0"/>
                    </a:lnTo>
                    <a:lnTo>
                      <a:pt x="8" y="0"/>
                    </a:lnTo>
                    <a:lnTo>
                      <a:pt x="7" y="0"/>
                    </a:lnTo>
                    <a:lnTo>
                      <a:pt x="6" y="0"/>
                    </a:lnTo>
                    <a:lnTo>
                      <a:pt x="6" y="0"/>
                    </a:lnTo>
                    <a:lnTo>
                      <a:pt x="6" y="0"/>
                    </a:lnTo>
                    <a:lnTo>
                      <a:pt x="5" y="0"/>
                    </a:lnTo>
                    <a:lnTo>
                      <a:pt x="5" y="0"/>
                    </a:lnTo>
                    <a:lnTo>
                      <a:pt x="5" y="0"/>
                    </a:lnTo>
                    <a:lnTo>
                      <a:pt x="4" y="0"/>
                    </a:lnTo>
                    <a:lnTo>
                      <a:pt x="4" y="0"/>
                    </a:lnTo>
                    <a:lnTo>
                      <a:pt x="4" y="0"/>
                    </a:lnTo>
                    <a:lnTo>
                      <a:pt x="4" y="0"/>
                    </a:lnTo>
                    <a:lnTo>
                      <a:pt x="3" y="0"/>
                    </a:lnTo>
                    <a:lnTo>
                      <a:pt x="3" y="1"/>
                    </a:lnTo>
                    <a:lnTo>
                      <a:pt x="2" y="1"/>
                    </a:lnTo>
                    <a:lnTo>
                      <a:pt x="1" y="2"/>
                    </a:lnTo>
                    <a:lnTo>
                      <a:pt x="1" y="2"/>
                    </a:lnTo>
                    <a:lnTo>
                      <a:pt x="1" y="2"/>
                    </a:lnTo>
                    <a:lnTo>
                      <a:pt x="1" y="3"/>
                    </a:lnTo>
                    <a:lnTo>
                      <a:pt x="0" y="3"/>
                    </a:lnTo>
                    <a:lnTo>
                      <a:pt x="0" y="3"/>
                    </a:lnTo>
                    <a:lnTo>
                      <a:pt x="0" y="3"/>
                    </a:lnTo>
                    <a:lnTo>
                      <a:pt x="0" y="3"/>
                    </a:lnTo>
                    <a:lnTo>
                      <a:pt x="0" y="5"/>
                    </a:lnTo>
                    <a:lnTo>
                      <a:pt x="0" y="5"/>
                    </a:lnTo>
                    <a:lnTo>
                      <a:pt x="0" y="5"/>
                    </a:lnTo>
                    <a:lnTo>
                      <a:pt x="0" y="5"/>
                    </a:lnTo>
                    <a:lnTo>
                      <a:pt x="0" y="6"/>
                    </a:lnTo>
                    <a:lnTo>
                      <a:pt x="0" y="6"/>
                    </a:lnTo>
                    <a:lnTo>
                      <a:pt x="0" y="7"/>
                    </a:lnTo>
                    <a:lnTo>
                      <a:pt x="0" y="7"/>
                    </a:lnTo>
                    <a:lnTo>
                      <a:pt x="0" y="7"/>
                    </a:lnTo>
                    <a:lnTo>
                      <a:pt x="1" y="8"/>
                    </a:lnTo>
                    <a:lnTo>
                      <a:pt x="1" y="9"/>
                    </a:lnTo>
                    <a:lnTo>
                      <a:pt x="1" y="9"/>
                    </a:lnTo>
                    <a:lnTo>
                      <a:pt x="1" y="9"/>
                    </a:lnTo>
                    <a:lnTo>
                      <a:pt x="2" y="9"/>
                    </a:lnTo>
                    <a:lnTo>
                      <a:pt x="3" y="9"/>
                    </a:lnTo>
                    <a:lnTo>
                      <a:pt x="3" y="10"/>
                    </a:lnTo>
                    <a:lnTo>
                      <a:pt x="4" y="10"/>
                    </a:lnTo>
                    <a:lnTo>
                      <a:pt x="4" y="10"/>
                    </a:lnTo>
                    <a:lnTo>
                      <a:pt x="4" y="10"/>
                    </a:lnTo>
                    <a:lnTo>
                      <a:pt x="4" y="10"/>
                    </a:lnTo>
                    <a:lnTo>
                      <a:pt x="5" y="10"/>
                    </a:lnTo>
                    <a:lnTo>
                      <a:pt x="5" y="10"/>
                    </a:lnTo>
                    <a:lnTo>
                      <a:pt x="5" y="10"/>
                    </a:lnTo>
                    <a:lnTo>
                      <a:pt x="6" y="10"/>
                    </a:lnTo>
                    <a:lnTo>
                      <a:pt x="6" y="10"/>
                    </a:lnTo>
                    <a:lnTo>
                      <a:pt x="6" y="10"/>
                    </a:lnTo>
                    <a:lnTo>
                      <a:pt x="7" y="10"/>
                    </a:lnTo>
                    <a:lnTo>
                      <a:pt x="8" y="10"/>
                    </a:lnTo>
                    <a:lnTo>
                      <a:pt x="8" y="10"/>
                    </a:lnTo>
                    <a:lnTo>
                      <a:pt x="9" y="10"/>
                    </a:lnTo>
                    <a:lnTo>
                      <a:pt x="9" y="10"/>
                    </a:lnTo>
                    <a:lnTo>
                      <a:pt x="9" y="10"/>
                    </a:lnTo>
                    <a:lnTo>
                      <a:pt x="9" y="9"/>
                    </a:lnTo>
                    <a:lnTo>
                      <a:pt x="9" y="9"/>
                    </a:lnTo>
                    <a:lnTo>
                      <a:pt x="9" y="9"/>
                    </a:lnTo>
                    <a:lnTo>
                      <a:pt x="10" y="9"/>
                    </a:lnTo>
                    <a:lnTo>
                      <a:pt x="10" y="9"/>
                    </a:lnTo>
                    <a:lnTo>
                      <a:pt x="10" y="8"/>
                    </a:lnTo>
                    <a:lnTo>
                      <a:pt x="10" y="7"/>
                    </a:lnTo>
                    <a:lnTo>
                      <a:pt x="10" y="7"/>
                    </a:lnTo>
                    <a:lnTo>
                      <a:pt x="10" y="7"/>
                    </a:lnTo>
                    <a:lnTo>
                      <a:pt x="11" y="6"/>
                    </a:lnTo>
                    <a:lnTo>
                      <a:pt x="11" y="6"/>
                    </a:lnTo>
                    <a:lnTo>
                      <a:pt x="11" y="5"/>
                    </a:lnTo>
                    <a:lnTo>
                      <a:pt x="11" y="5"/>
                    </a:lnTo>
                    <a:lnTo>
                      <a:pt x="11" y="5"/>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97" name="Freeform 74"/>
              <p:cNvSpPr>
                <a:spLocks/>
              </p:cNvSpPr>
              <p:nvPr/>
            </p:nvSpPr>
            <p:spPr bwMode="auto">
              <a:xfrm>
                <a:off x="2196" y="3985"/>
                <a:ext cx="11" cy="11"/>
              </a:xfrm>
              <a:custGeom>
                <a:avLst/>
                <a:gdLst>
                  <a:gd name="T0" fmla="*/ 10 w 11"/>
                  <a:gd name="T1" fmla="*/ 5 h 11"/>
                  <a:gd name="T2" fmla="*/ 9 w 11"/>
                  <a:gd name="T3" fmla="*/ 3 h 11"/>
                  <a:gd name="T4" fmla="*/ 9 w 11"/>
                  <a:gd name="T5" fmla="*/ 3 h 11"/>
                  <a:gd name="T6" fmla="*/ 8 w 11"/>
                  <a:gd name="T7" fmla="*/ 3 h 11"/>
                  <a:gd name="T8" fmla="*/ 8 w 11"/>
                  <a:gd name="T9" fmla="*/ 2 h 11"/>
                  <a:gd name="T10" fmla="*/ 7 w 11"/>
                  <a:gd name="T11" fmla="*/ 1 h 11"/>
                  <a:gd name="T12" fmla="*/ 6 w 11"/>
                  <a:gd name="T13" fmla="*/ 0 h 11"/>
                  <a:gd name="T14" fmla="*/ 6 w 11"/>
                  <a:gd name="T15" fmla="*/ 0 h 11"/>
                  <a:gd name="T16" fmla="*/ 5 w 11"/>
                  <a:gd name="T17" fmla="*/ 0 h 11"/>
                  <a:gd name="T18" fmla="*/ 5 w 11"/>
                  <a:gd name="T19" fmla="*/ 0 h 11"/>
                  <a:gd name="T20" fmla="*/ 4 w 11"/>
                  <a:gd name="T21" fmla="*/ 0 h 11"/>
                  <a:gd name="T22" fmla="*/ 3 w 11"/>
                  <a:gd name="T23" fmla="*/ 0 h 11"/>
                  <a:gd name="T24" fmla="*/ 2 w 11"/>
                  <a:gd name="T25" fmla="*/ 0 h 11"/>
                  <a:gd name="T26" fmla="*/ 2 w 11"/>
                  <a:gd name="T27" fmla="*/ 0 h 11"/>
                  <a:gd name="T28" fmla="*/ 2 w 11"/>
                  <a:gd name="T29" fmla="*/ 0 h 11"/>
                  <a:gd name="T30" fmla="*/ 1 w 11"/>
                  <a:gd name="T31" fmla="*/ 1 h 11"/>
                  <a:gd name="T32" fmla="*/ 0 w 11"/>
                  <a:gd name="T33" fmla="*/ 2 h 11"/>
                  <a:gd name="T34" fmla="*/ 0 w 11"/>
                  <a:gd name="T35" fmla="*/ 3 h 11"/>
                  <a:gd name="T36" fmla="*/ 0 w 11"/>
                  <a:gd name="T37" fmla="*/ 3 h 11"/>
                  <a:gd name="T38" fmla="*/ 0 w 11"/>
                  <a:gd name="T39" fmla="*/ 3 h 11"/>
                  <a:gd name="T40" fmla="*/ 0 w 11"/>
                  <a:gd name="T41" fmla="*/ 5 h 11"/>
                  <a:gd name="T42" fmla="*/ 0 w 11"/>
                  <a:gd name="T43" fmla="*/ 5 h 11"/>
                  <a:gd name="T44" fmla="*/ 0 w 11"/>
                  <a:gd name="T45" fmla="*/ 6 h 11"/>
                  <a:gd name="T46" fmla="*/ 0 w 11"/>
                  <a:gd name="T47" fmla="*/ 7 h 11"/>
                  <a:gd name="T48" fmla="*/ 0 w 11"/>
                  <a:gd name="T49" fmla="*/ 8 h 11"/>
                  <a:gd name="T50" fmla="*/ 0 w 11"/>
                  <a:gd name="T51" fmla="*/ 9 h 11"/>
                  <a:gd name="T52" fmla="*/ 1 w 11"/>
                  <a:gd name="T53" fmla="*/ 9 h 11"/>
                  <a:gd name="T54" fmla="*/ 2 w 11"/>
                  <a:gd name="T55" fmla="*/ 10 h 11"/>
                  <a:gd name="T56" fmla="*/ 2 w 11"/>
                  <a:gd name="T57" fmla="*/ 10 h 11"/>
                  <a:gd name="T58" fmla="*/ 2 w 11"/>
                  <a:gd name="T59" fmla="*/ 10 h 11"/>
                  <a:gd name="T60" fmla="*/ 3 w 11"/>
                  <a:gd name="T61" fmla="*/ 10 h 11"/>
                  <a:gd name="T62" fmla="*/ 4 w 11"/>
                  <a:gd name="T63" fmla="*/ 10 h 11"/>
                  <a:gd name="T64" fmla="*/ 5 w 11"/>
                  <a:gd name="T65" fmla="*/ 10 h 11"/>
                  <a:gd name="T66" fmla="*/ 5 w 11"/>
                  <a:gd name="T67" fmla="*/ 10 h 11"/>
                  <a:gd name="T68" fmla="*/ 6 w 11"/>
                  <a:gd name="T69" fmla="*/ 10 h 11"/>
                  <a:gd name="T70" fmla="*/ 6 w 11"/>
                  <a:gd name="T71" fmla="*/ 10 h 11"/>
                  <a:gd name="T72" fmla="*/ 7 w 11"/>
                  <a:gd name="T73" fmla="*/ 9 h 11"/>
                  <a:gd name="T74" fmla="*/ 8 w 11"/>
                  <a:gd name="T75" fmla="*/ 9 h 11"/>
                  <a:gd name="T76" fmla="*/ 8 w 11"/>
                  <a:gd name="T77" fmla="*/ 8 h 11"/>
                  <a:gd name="T78" fmla="*/ 9 w 11"/>
                  <a:gd name="T79" fmla="*/ 7 h 11"/>
                  <a:gd name="T80" fmla="*/ 9 w 11"/>
                  <a:gd name="T81" fmla="*/ 6 h 11"/>
                  <a:gd name="T82" fmla="*/ 10 w 11"/>
                  <a:gd name="T83" fmla="*/ 5 h 11"/>
                  <a:gd name="T84" fmla="*/ 10 w 11"/>
                  <a:gd name="T85" fmla="*/ 5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 h="11">
                    <a:moveTo>
                      <a:pt x="10" y="5"/>
                    </a:moveTo>
                    <a:lnTo>
                      <a:pt x="10" y="5"/>
                    </a:lnTo>
                    <a:lnTo>
                      <a:pt x="9" y="5"/>
                    </a:lnTo>
                    <a:lnTo>
                      <a:pt x="9" y="3"/>
                    </a:lnTo>
                    <a:lnTo>
                      <a:pt x="9" y="3"/>
                    </a:lnTo>
                    <a:lnTo>
                      <a:pt x="9" y="3"/>
                    </a:lnTo>
                    <a:lnTo>
                      <a:pt x="8" y="3"/>
                    </a:lnTo>
                    <a:lnTo>
                      <a:pt x="8" y="3"/>
                    </a:lnTo>
                    <a:lnTo>
                      <a:pt x="8" y="2"/>
                    </a:lnTo>
                    <a:lnTo>
                      <a:pt x="8" y="2"/>
                    </a:lnTo>
                    <a:lnTo>
                      <a:pt x="8" y="2"/>
                    </a:lnTo>
                    <a:lnTo>
                      <a:pt x="7" y="1"/>
                    </a:lnTo>
                    <a:lnTo>
                      <a:pt x="7" y="1"/>
                    </a:lnTo>
                    <a:lnTo>
                      <a:pt x="6" y="0"/>
                    </a:lnTo>
                    <a:lnTo>
                      <a:pt x="6" y="0"/>
                    </a:lnTo>
                    <a:lnTo>
                      <a:pt x="6" y="0"/>
                    </a:lnTo>
                    <a:lnTo>
                      <a:pt x="6" y="0"/>
                    </a:lnTo>
                    <a:lnTo>
                      <a:pt x="5" y="0"/>
                    </a:lnTo>
                    <a:lnTo>
                      <a:pt x="5" y="0"/>
                    </a:lnTo>
                    <a:lnTo>
                      <a:pt x="5" y="0"/>
                    </a:lnTo>
                    <a:lnTo>
                      <a:pt x="5" y="0"/>
                    </a:lnTo>
                    <a:lnTo>
                      <a:pt x="4" y="0"/>
                    </a:lnTo>
                    <a:lnTo>
                      <a:pt x="4" y="0"/>
                    </a:lnTo>
                    <a:lnTo>
                      <a:pt x="3" y="0"/>
                    </a:lnTo>
                    <a:lnTo>
                      <a:pt x="2" y="0"/>
                    </a:lnTo>
                    <a:lnTo>
                      <a:pt x="2" y="0"/>
                    </a:lnTo>
                    <a:lnTo>
                      <a:pt x="2" y="0"/>
                    </a:lnTo>
                    <a:lnTo>
                      <a:pt x="2" y="0"/>
                    </a:lnTo>
                    <a:lnTo>
                      <a:pt x="2" y="0"/>
                    </a:lnTo>
                    <a:lnTo>
                      <a:pt x="2" y="0"/>
                    </a:lnTo>
                    <a:lnTo>
                      <a:pt x="2" y="1"/>
                    </a:lnTo>
                    <a:lnTo>
                      <a:pt x="1" y="1"/>
                    </a:lnTo>
                    <a:lnTo>
                      <a:pt x="0" y="2"/>
                    </a:lnTo>
                    <a:lnTo>
                      <a:pt x="0" y="2"/>
                    </a:lnTo>
                    <a:lnTo>
                      <a:pt x="0" y="2"/>
                    </a:lnTo>
                    <a:lnTo>
                      <a:pt x="0" y="3"/>
                    </a:lnTo>
                    <a:lnTo>
                      <a:pt x="0" y="3"/>
                    </a:lnTo>
                    <a:lnTo>
                      <a:pt x="0" y="3"/>
                    </a:lnTo>
                    <a:lnTo>
                      <a:pt x="0" y="3"/>
                    </a:lnTo>
                    <a:lnTo>
                      <a:pt x="0" y="3"/>
                    </a:lnTo>
                    <a:lnTo>
                      <a:pt x="0" y="5"/>
                    </a:lnTo>
                    <a:lnTo>
                      <a:pt x="0" y="5"/>
                    </a:lnTo>
                    <a:lnTo>
                      <a:pt x="0" y="5"/>
                    </a:lnTo>
                    <a:lnTo>
                      <a:pt x="0" y="5"/>
                    </a:lnTo>
                    <a:lnTo>
                      <a:pt x="0" y="6"/>
                    </a:lnTo>
                    <a:lnTo>
                      <a:pt x="0" y="6"/>
                    </a:lnTo>
                    <a:lnTo>
                      <a:pt x="0" y="7"/>
                    </a:lnTo>
                    <a:lnTo>
                      <a:pt x="0" y="7"/>
                    </a:lnTo>
                    <a:lnTo>
                      <a:pt x="0" y="7"/>
                    </a:lnTo>
                    <a:lnTo>
                      <a:pt x="0" y="8"/>
                    </a:lnTo>
                    <a:lnTo>
                      <a:pt x="0" y="9"/>
                    </a:lnTo>
                    <a:lnTo>
                      <a:pt x="0" y="9"/>
                    </a:lnTo>
                    <a:lnTo>
                      <a:pt x="0" y="9"/>
                    </a:lnTo>
                    <a:lnTo>
                      <a:pt x="1" y="9"/>
                    </a:lnTo>
                    <a:lnTo>
                      <a:pt x="2" y="9"/>
                    </a:lnTo>
                    <a:lnTo>
                      <a:pt x="2" y="10"/>
                    </a:lnTo>
                    <a:lnTo>
                      <a:pt x="2" y="10"/>
                    </a:lnTo>
                    <a:lnTo>
                      <a:pt x="2" y="10"/>
                    </a:lnTo>
                    <a:lnTo>
                      <a:pt x="2" y="10"/>
                    </a:lnTo>
                    <a:lnTo>
                      <a:pt x="2" y="10"/>
                    </a:lnTo>
                    <a:lnTo>
                      <a:pt x="2" y="10"/>
                    </a:lnTo>
                    <a:lnTo>
                      <a:pt x="3" y="10"/>
                    </a:lnTo>
                    <a:lnTo>
                      <a:pt x="4" y="10"/>
                    </a:lnTo>
                    <a:lnTo>
                      <a:pt x="4" y="10"/>
                    </a:lnTo>
                    <a:lnTo>
                      <a:pt x="5" y="10"/>
                    </a:lnTo>
                    <a:lnTo>
                      <a:pt x="5" y="10"/>
                    </a:lnTo>
                    <a:lnTo>
                      <a:pt x="5" y="10"/>
                    </a:lnTo>
                    <a:lnTo>
                      <a:pt x="5" y="10"/>
                    </a:lnTo>
                    <a:lnTo>
                      <a:pt x="6" y="10"/>
                    </a:lnTo>
                    <a:lnTo>
                      <a:pt x="6" y="10"/>
                    </a:lnTo>
                    <a:lnTo>
                      <a:pt x="6" y="10"/>
                    </a:lnTo>
                    <a:lnTo>
                      <a:pt x="6" y="10"/>
                    </a:lnTo>
                    <a:lnTo>
                      <a:pt x="7" y="9"/>
                    </a:lnTo>
                    <a:lnTo>
                      <a:pt x="7" y="9"/>
                    </a:lnTo>
                    <a:lnTo>
                      <a:pt x="8" y="9"/>
                    </a:lnTo>
                    <a:lnTo>
                      <a:pt x="8" y="9"/>
                    </a:lnTo>
                    <a:lnTo>
                      <a:pt x="8" y="9"/>
                    </a:lnTo>
                    <a:lnTo>
                      <a:pt x="8" y="8"/>
                    </a:lnTo>
                    <a:lnTo>
                      <a:pt x="8" y="7"/>
                    </a:lnTo>
                    <a:lnTo>
                      <a:pt x="9" y="7"/>
                    </a:lnTo>
                    <a:lnTo>
                      <a:pt x="9" y="7"/>
                    </a:lnTo>
                    <a:lnTo>
                      <a:pt x="9" y="6"/>
                    </a:lnTo>
                    <a:lnTo>
                      <a:pt x="9" y="6"/>
                    </a:lnTo>
                    <a:lnTo>
                      <a:pt x="10" y="5"/>
                    </a:lnTo>
                    <a:lnTo>
                      <a:pt x="10" y="5"/>
                    </a:lnTo>
                    <a:lnTo>
                      <a:pt x="10" y="5"/>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grpSp>
        <p:sp>
          <p:nvSpPr>
            <p:cNvPr id="72" name="Line 75"/>
            <p:cNvSpPr>
              <a:spLocks noChangeShapeType="1"/>
            </p:cNvSpPr>
            <p:nvPr/>
          </p:nvSpPr>
          <p:spPr bwMode="auto">
            <a:xfrm>
              <a:off x="8547316" y="5821837"/>
              <a:ext cx="355600" cy="268287"/>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73" name="Freeform 76"/>
            <p:cNvSpPr>
              <a:spLocks/>
            </p:cNvSpPr>
            <p:nvPr/>
          </p:nvSpPr>
          <p:spPr bwMode="auto">
            <a:xfrm>
              <a:off x="8512392" y="5796436"/>
              <a:ext cx="58737" cy="42862"/>
            </a:xfrm>
            <a:custGeom>
              <a:avLst/>
              <a:gdLst>
                <a:gd name="T0" fmla="*/ 0 w 58"/>
                <a:gd name="T1" fmla="*/ 0 h 57"/>
                <a:gd name="T2" fmla="*/ 34 w 58"/>
                <a:gd name="T3" fmla="*/ 56 h 57"/>
                <a:gd name="T4" fmla="*/ 34 w 58"/>
                <a:gd name="T5" fmla="*/ 34 h 57"/>
                <a:gd name="T6" fmla="*/ 57 w 58"/>
                <a:gd name="T7" fmla="*/ 34 h 57"/>
                <a:gd name="T8" fmla="*/ 0 w 58"/>
                <a:gd name="T9" fmla="*/ 0 h 57"/>
                <a:gd name="T10" fmla="*/ 0 w 58"/>
                <a:gd name="T11" fmla="*/ 0 h 57"/>
              </a:gdLst>
              <a:ahLst/>
              <a:cxnLst>
                <a:cxn ang="0">
                  <a:pos x="T0" y="T1"/>
                </a:cxn>
                <a:cxn ang="0">
                  <a:pos x="T2" y="T3"/>
                </a:cxn>
                <a:cxn ang="0">
                  <a:pos x="T4" y="T5"/>
                </a:cxn>
                <a:cxn ang="0">
                  <a:pos x="T6" y="T7"/>
                </a:cxn>
                <a:cxn ang="0">
                  <a:pos x="T8" y="T9"/>
                </a:cxn>
                <a:cxn ang="0">
                  <a:pos x="T10" y="T11"/>
                </a:cxn>
              </a:cxnLst>
              <a:rect l="0" t="0" r="r" b="b"/>
              <a:pathLst>
                <a:path w="58" h="57">
                  <a:moveTo>
                    <a:pt x="0" y="0"/>
                  </a:moveTo>
                  <a:lnTo>
                    <a:pt x="34" y="56"/>
                  </a:lnTo>
                  <a:lnTo>
                    <a:pt x="34" y="34"/>
                  </a:lnTo>
                  <a:lnTo>
                    <a:pt x="57" y="34"/>
                  </a:lnTo>
                  <a:lnTo>
                    <a:pt x="0" y="0"/>
                  </a:lnTo>
                  <a:lnTo>
                    <a:pt x="0" y="0"/>
                  </a:lnTo>
                </a:path>
              </a:pathLst>
            </a:custGeom>
            <a:solidFill>
              <a:srgbClr val="FF0000"/>
            </a:solidFill>
            <a:ln w="19050" cap="flat" cmpd="sng">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74" name="Line 77"/>
            <p:cNvSpPr>
              <a:spLocks noChangeShapeType="1"/>
            </p:cNvSpPr>
            <p:nvPr/>
          </p:nvSpPr>
          <p:spPr bwMode="auto">
            <a:xfrm>
              <a:off x="8883866" y="5891686"/>
              <a:ext cx="19050" cy="18891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75" name="Freeform 78"/>
            <p:cNvSpPr>
              <a:spLocks/>
            </p:cNvSpPr>
            <p:nvPr/>
          </p:nvSpPr>
          <p:spPr bwMode="auto">
            <a:xfrm>
              <a:off x="8869578" y="5855173"/>
              <a:ext cx="31750" cy="50800"/>
            </a:xfrm>
            <a:custGeom>
              <a:avLst/>
              <a:gdLst>
                <a:gd name="T0" fmla="*/ 11 w 33"/>
                <a:gd name="T1" fmla="*/ 0 h 66"/>
                <a:gd name="T2" fmla="*/ 0 w 33"/>
                <a:gd name="T3" fmla="*/ 65 h 66"/>
                <a:gd name="T4" fmla="*/ 14 w 33"/>
                <a:gd name="T5" fmla="*/ 47 h 66"/>
                <a:gd name="T6" fmla="*/ 32 w 33"/>
                <a:gd name="T7" fmla="*/ 62 h 66"/>
                <a:gd name="T8" fmla="*/ 11 w 33"/>
                <a:gd name="T9" fmla="*/ 0 h 66"/>
                <a:gd name="T10" fmla="*/ 11 w 33"/>
                <a:gd name="T11" fmla="*/ 0 h 66"/>
              </a:gdLst>
              <a:ahLst/>
              <a:cxnLst>
                <a:cxn ang="0">
                  <a:pos x="T0" y="T1"/>
                </a:cxn>
                <a:cxn ang="0">
                  <a:pos x="T2" y="T3"/>
                </a:cxn>
                <a:cxn ang="0">
                  <a:pos x="T4" y="T5"/>
                </a:cxn>
                <a:cxn ang="0">
                  <a:pos x="T6" y="T7"/>
                </a:cxn>
                <a:cxn ang="0">
                  <a:pos x="T8" y="T9"/>
                </a:cxn>
                <a:cxn ang="0">
                  <a:pos x="T10" y="T11"/>
                </a:cxn>
              </a:cxnLst>
              <a:rect l="0" t="0" r="r" b="b"/>
              <a:pathLst>
                <a:path w="33" h="66">
                  <a:moveTo>
                    <a:pt x="11" y="0"/>
                  </a:moveTo>
                  <a:lnTo>
                    <a:pt x="0" y="65"/>
                  </a:lnTo>
                  <a:lnTo>
                    <a:pt x="14" y="47"/>
                  </a:lnTo>
                  <a:lnTo>
                    <a:pt x="32" y="62"/>
                  </a:lnTo>
                  <a:lnTo>
                    <a:pt x="11" y="0"/>
                  </a:lnTo>
                  <a:lnTo>
                    <a:pt x="11" y="0"/>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76" name="Line 79"/>
            <p:cNvSpPr>
              <a:spLocks noChangeShapeType="1"/>
            </p:cNvSpPr>
            <p:nvPr/>
          </p:nvSpPr>
          <p:spPr bwMode="auto">
            <a:xfrm>
              <a:off x="8637803" y="6056787"/>
              <a:ext cx="254000" cy="396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77" name="Freeform 80"/>
            <p:cNvSpPr>
              <a:spLocks/>
            </p:cNvSpPr>
            <p:nvPr/>
          </p:nvSpPr>
          <p:spPr bwMode="auto">
            <a:xfrm>
              <a:off x="8591767" y="6047261"/>
              <a:ext cx="66675" cy="25400"/>
            </a:xfrm>
            <a:custGeom>
              <a:avLst/>
              <a:gdLst>
                <a:gd name="T0" fmla="*/ 0 w 66"/>
                <a:gd name="T1" fmla="*/ 8 h 33"/>
                <a:gd name="T2" fmla="*/ 61 w 66"/>
                <a:gd name="T3" fmla="*/ 32 h 33"/>
                <a:gd name="T4" fmla="*/ 47 w 66"/>
                <a:gd name="T5" fmla="*/ 14 h 33"/>
                <a:gd name="T6" fmla="*/ 65 w 66"/>
                <a:gd name="T7" fmla="*/ 0 h 33"/>
                <a:gd name="T8" fmla="*/ 0 w 66"/>
                <a:gd name="T9" fmla="*/ 8 h 33"/>
                <a:gd name="T10" fmla="*/ 0 w 66"/>
                <a:gd name="T11" fmla="*/ 8 h 33"/>
              </a:gdLst>
              <a:ahLst/>
              <a:cxnLst>
                <a:cxn ang="0">
                  <a:pos x="T0" y="T1"/>
                </a:cxn>
                <a:cxn ang="0">
                  <a:pos x="T2" y="T3"/>
                </a:cxn>
                <a:cxn ang="0">
                  <a:pos x="T4" y="T5"/>
                </a:cxn>
                <a:cxn ang="0">
                  <a:pos x="T6" y="T7"/>
                </a:cxn>
                <a:cxn ang="0">
                  <a:pos x="T8" y="T9"/>
                </a:cxn>
                <a:cxn ang="0">
                  <a:pos x="T10" y="T11"/>
                </a:cxn>
              </a:cxnLst>
              <a:rect l="0" t="0" r="r" b="b"/>
              <a:pathLst>
                <a:path w="66" h="33">
                  <a:moveTo>
                    <a:pt x="0" y="8"/>
                  </a:moveTo>
                  <a:lnTo>
                    <a:pt x="61" y="32"/>
                  </a:lnTo>
                  <a:lnTo>
                    <a:pt x="47" y="14"/>
                  </a:lnTo>
                  <a:lnTo>
                    <a:pt x="65" y="0"/>
                  </a:lnTo>
                  <a:lnTo>
                    <a:pt x="0" y="8"/>
                  </a:lnTo>
                  <a:lnTo>
                    <a:pt x="0" y="8"/>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78" name="Line 81"/>
            <p:cNvSpPr>
              <a:spLocks noChangeShapeType="1"/>
            </p:cNvSpPr>
            <p:nvPr/>
          </p:nvSpPr>
          <p:spPr bwMode="auto">
            <a:xfrm>
              <a:off x="8512392" y="5801199"/>
              <a:ext cx="71437" cy="252413"/>
            </a:xfrm>
            <a:prstGeom prst="line">
              <a:avLst/>
            </a:prstGeom>
            <a:noFill/>
            <a:ln w="1905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79" name="Line 82"/>
            <p:cNvSpPr>
              <a:spLocks noChangeShapeType="1"/>
            </p:cNvSpPr>
            <p:nvPr/>
          </p:nvSpPr>
          <p:spPr bwMode="auto">
            <a:xfrm>
              <a:off x="8529854" y="5790087"/>
              <a:ext cx="341313" cy="79375"/>
            </a:xfrm>
            <a:prstGeom prst="line">
              <a:avLst/>
            </a:prstGeom>
            <a:noFill/>
            <a:ln w="1905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80" name="Text Box 83"/>
            <p:cNvSpPr txBox="1">
              <a:spLocks noChangeArrowheads="1"/>
            </p:cNvSpPr>
            <p:nvPr/>
          </p:nvSpPr>
          <p:spPr bwMode="auto">
            <a:xfrm rot="16200000">
              <a:off x="8801316" y="5958361"/>
              <a:ext cx="584200" cy="13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1200">
                  <a:solidFill>
                    <a:srgbClr val="000000"/>
                  </a:solidFill>
                </a:rPr>
                <a:t>Device</a:t>
              </a:r>
              <a:endParaRPr lang="en-US" altLang="zh-CN" sz="2200">
                <a:latin typeface="Times New Roman" panose="02020603050405020304" pitchFamily="18" charset="0"/>
              </a:endParaRPr>
            </a:p>
          </p:txBody>
        </p:sp>
        <p:sp>
          <p:nvSpPr>
            <p:cNvPr id="81" name="Text Box 84"/>
            <p:cNvSpPr txBox="1">
              <a:spLocks noChangeArrowheads="1"/>
            </p:cNvSpPr>
            <p:nvPr/>
          </p:nvSpPr>
          <p:spPr bwMode="auto">
            <a:xfrm>
              <a:off x="8310778" y="6164736"/>
              <a:ext cx="762000" cy="10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1000">
                  <a:solidFill>
                    <a:srgbClr val="000000"/>
                  </a:solidFill>
                </a:rPr>
                <a:t>Directivity</a:t>
              </a:r>
              <a:endParaRPr lang="en-US" altLang="zh-CN" sz="1000">
                <a:latin typeface="Times New Roman" panose="02020603050405020304" pitchFamily="18" charset="0"/>
              </a:endParaRPr>
            </a:p>
          </p:txBody>
        </p:sp>
        <p:sp>
          <p:nvSpPr>
            <p:cNvPr id="82" name="Text Box 85"/>
            <p:cNvSpPr txBox="1">
              <a:spLocks noChangeArrowheads="1"/>
            </p:cNvSpPr>
            <p:nvPr/>
          </p:nvSpPr>
          <p:spPr bwMode="auto">
            <a:xfrm>
              <a:off x="9155328" y="6096474"/>
              <a:ext cx="1023938" cy="10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1200">
                  <a:solidFill>
                    <a:srgbClr val="000000"/>
                  </a:solidFill>
                </a:rPr>
                <a:t>Data = Vector Sum</a:t>
              </a:r>
              <a:endParaRPr lang="en-US" altLang="zh-CN" sz="2200">
                <a:latin typeface="Times New Roman" panose="02020603050405020304" pitchFamily="18" charset="0"/>
              </a:endParaRPr>
            </a:p>
          </p:txBody>
        </p:sp>
        <p:grpSp>
          <p:nvGrpSpPr>
            <p:cNvPr id="83" name="Group 86"/>
            <p:cNvGrpSpPr>
              <a:grpSpLocks/>
            </p:cNvGrpSpPr>
            <p:nvPr/>
          </p:nvGrpSpPr>
          <p:grpSpPr bwMode="auto">
            <a:xfrm>
              <a:off x="5346917" y="5761512"/>
              <a:ext cx="422275" cy="555625"/>
              <a:chOff x="1177" y="3571"/>
              <a:chExt cx="415" cy="722"/>
            </a:xfrm>
          </p:grpSpPr>
          <p:sp>
            <p:nvSpPr>
              <p:cNvPr id="89" name="Line 87"/>
              <p:cNvSpPr>
                <a:spLocks noChangeShapeType="1"/>
              </p:cNvSpPr>
              <p:nvPr/>
            </p:nvSpPr>
            <p:spPr bwMode="auto">
              <a:xfrm>
                <a:off x="1353" y="3742"/>
                <a:ext cx="0" cy="30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90" name="Freeform 88"/>
              <p:cNvSpPr>
                <a:spLocks/>
              </p:cNvSpPr>
              <p:nvPr/>
            </p:nvSpPr>
            <p:spPr bwMode="auto">
              <a:xfrm>
                <a:off x="1336" y="3693"/>
                <a:ext cx="35" cy="66"/>
              </a:xfrm>
              <a:custGeom>
                <a:avLst/>
                <a:gdLst>
                  <a:gd name="T0" fmla="*/ 17 w 35"/>
                  <a:gd name="T1" fmla="*/ 0 h 66"/>
                  <a:gd name="T2" fmla="*/ 0 w 35"/>
                  <a:gd name="T3" fmla="*/ 65 h 66"/>
                  <a:gd name="T4" fmla="*/ 17 w 35"/>
                  <a:gd name="T5" fmla="*/ 49 h 66"/>
                  <a:gd name="T6" fmla="*/ 34 w 35"/>
                  <a:gd name="T7" fmla="*/ 65 h 66"/>
                  <a:gd name="T8" fmla="*/ 17 w 35"/>
                  <a:gd name="T9" fmla="*/ 0 h 66"/>
                  <a:gd name="T10" fmla="*/ 17 w 35"/>
                  <a:gd name="T11" fmla="*/ 0 h 66"/>
                </a:gdLst>
                <a:ahLst/>
                <a:cxnLst>
                  <a:cxn ang="0">
                    <a:pos x="T0" y="T1"/>
                  </a:cxn>
                  <a:cxn ang="0">
                    <a:pos x="T2" y="T3"/>
                  </a:cxn>
                  <a:cxn ang="0">
                    <a:pos x="T4" y="T5"/>
                  </a:cxn>
                  <a:cxn ang="0">
                    <a:pos x="T6" y="T7"/>
                  </a:cxn>
                  <a:cxn ang="0">
                    <a:pos x="T8" y="T9"/>
                  </a:cxn>
                  <a:cxn ang="0">
                    <a:pos x="T10" y="T11"/>
                  </a:cxn>
                </a:cxnLst>
                <a:rect l="0" t="0" r="r" b="b"/>
                <a:pathLst>
                  <a:path w="35" h="66">
                    <a:moveTo>
                      <a:pt x="17" y="0"/>
                    </a:moveTo>
                    <a:lnTo>
                      <a:pt x="0" y="65"/>
                    </a:lnTo>
                    <a:lnTo>
                      <a:pt x="17" y="49"/>
                    </a:lnTo>
                    <a:lnTo>
                      <a:pt x="34" y="65"/>
                    </a:lnTo>
                    <a:lnTo>
                      <a:pt x="17" y="0"/>
                    </a:lnTo>
                    <a:lnTo>
                      <a:pt x="17" y="0"/>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91" name="Freeform 89"/>
              <p:cNvSpPr>
                <a:spLocks/>
              </p:cNvSpPr>
              <p:nvPr/>
            </p:nvSpPr>
            <p:spPr bwMode="auto">
              <a:xfrm>
                <a:off x="1336" y="4031"/>
                <a:ext cx="35" cy="64"/>
              </a:xfrm>
              <a:custGeom>
                <a:avLst/>
                <a:gdLst>
                  <a:gd name="T0" fmla="*/ 17 w 35"/>
                  <a:gd name="T1" fmla="*/ 63 h 64"/>
                  <a:gd name="T2" fmla="*/ 34 w 35"/>
                  <a:gd name="T3" fmla="*/ 0 h 64"/>
                  <a:gd name="T4" fmla="*/ 17 w 35"/>
                  <a:gd name="T5" fmla="*/ 15 h 64"/>
                  <a:gd name="T6" fmla="*/ 0 w 35"/>
                  <a:gd name="T7" fmla="*/ 0 h 64"/>
                  <a:gd name="T8" fmla="*/ 17 w 35"/>
                  <a:gd name="T9" fmla="*/ 63 h 64"/>
                  <a:gd name="T10" fmla="*/ 17 w 35"/>
                  <a:gd name="T11" fmla="*/ 63 h 64"/>
                </a:gdLst>
                <a:ahLst/>
                <a:cxnLst>
                  <a:cxn ang="0">
                    <a:pos x="T0" y="T1"/>
                  </a:cxn>
                  <a:cxn ang="0">
                    <a:pos x="T2" y="T3"/>
                  </a:cxn>
                  <a:cxn ang="0">
                    <a:pos x="T4" y="T5"/>
                  </a:cxn>
                  <a:cxn ang="0">
                    <a:pos x="T6" y="T7"/>
                  </a:cxn>
                  <a:cxn ang="0">
                    <a:pos x="T8" y="T9"/>
                  </a:cxn>
                  <a:cxn ang="0">
                    <a:pos x="T10" y="T11"/>
                  </a:cxn>
                </a:cxnLst>
                <a:rect l="0" t="0" r="r" b="b"/>
                <a:pathLst>
                  <a:path w="35" h="64">
                    <a:moveTo>
                      <a:pt x="17" y="63"/>
                    </a:moveTo>
                    <a:lnTo>
                      <a:pt x="34" y="0"/>
                    </a:lnTo>
                    <a:lnTo>
                      <a:pt x="17" y="15"/>
                    </a:lnTo>
                    <a:lnTo>
                      <a:pt x="0" y="0"/>
                    </a:lnTo>
                    <a:lnTo>
                      <a:pt x="17" y="63"/>
                    </a:lnTo>
                    <a:lnTo>
                      <a:pt x="17" y="63"/>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92" name="Freeform 90"/>
              <p:cNvSpPr>
                <a:spLocks/>
              </p:cNvSpPr>
              <p:nvPr/>
            </p:nvSpPr>
            <p:spPr bwMode="auto">
              <a:xfrm>
                <a:off x="1338" y="3886"/>
                <a:ext cx="31" cy="31"/>
              </a:xfrm>
              <a:custGeom>
                <a:avLst/>
                <a:gdLst>
                  <a:gd name="T0" fmla="*/ 0 w 31"/>
                  <a:gd name="T1" fmla="*/ 16 h 31"/>
                  <a:gd name="T2" fmla="*/ 1 w 31"/>
                  <a:gd name="T3" fmla="*/ 18 h 31"/>
                  <a:gd name="T4" fmla="*/ 2 w 31"/>
                  <a:gd name="T5" fmla="*/ 20 h 31"/>
                  <a:gd name="T6" fmla="*/ 3 w 31"/>
                  <a:gd name="T7" fmla="*/ 22 h 31"/>
                  <a:gd name="T8" fmla="*/ 4 w 31"/>
                  <a:gd name="T9" fmla="*/ 24 h 31"/>
                  <a:gd name="T10" fmla="*/ 5 w 31"/>
                  <a:gd name="T11" fmla="*/ 25 h 31"/>
                  <a:gd name="T12" fmla="*/ 6 w 31"/>
                  <a:gd name="T13" fmla="*/ 26 h 31"/>
                  <a:gd name="T14" fmla="*/ 9 w 31"/>
                  <a:gd name="T15" fmla="*/ 28 h 31"/>
                  <a:gd name="T16" fmla="*/ 11 w 31"/>
                  <a:gd name="T17" fmla="*/ 28 h 31"/>
                  <a:gd name="T18" fmla="*/ 13 w 31"/>
                  <a:gd name="T19" fmla="*/ 30 h 31"/>
                  <a:gd name="T20" fmla="*/ 15 w 31"/>
                  <a:gd name="T21" fmla="*/ 30 h 31"/>
                  <a:gd name="T22" fmla="*/ 18 w 31"/>
                  <a:gd name="T23" fmla="*/ 30 h 31"/>
                  <a:gd name="T24" fmla="*/ 19 w 31"/>
                  <a:gd name="T25" fmla="*/ 28 h 31"/>
                  <a:gd name="T26" fmla="*/ 22 w 31"/>
                  <a:gd name="T27" fmla="*/ 28 h 31"/>
                  <a:gd name="T28" fmla="*/ 24 w 31"/>
                  <a:gd name="T29" fmla="*/ 26 h 31"/>
                  <a:gd name="T30" fmla="*/ 26 w 31"/>
                  <a:gd name="T31" fmla="*/ 25 h 31"/>
                  <a:gd name="T32" fmla="*/ 26 w 31"/>
                  <a:gd name="T33" fmla="*/ 24 h 31"/>
                  <a:gd name="T34" fmla="*/ 28 w 31"/>
                  <a:gd name="T35" fmla="*/ 22 h 31"/>
                  <a:gd name="T36" fmla="*/ 29 w 31"/>
                  <a:gd name="T37" fmla="*/ 20 h 31"/>
                  <a:gd name="T38" fmla="*/ 30 w 31"/>
                  <a:gd name="T39" fmla="*/ 18 h 31"/>
                  <a:gd name="T40" fmla="*/ 30 w 31"/>
                  <a:gd name="T41" fmla="*/ 16 h 31"/>
                  <a:gd name="T42" fmla="*/ 30 w 31"/>
                  <a:gd name="T43" fmla="*/ 13 h 31"/>
                  <a:gd name="T44" fmla="*/ 30 w 31"/>
                  <a:gd name="T45" fmla="*/ 12 h 31"/>
                  <a:gd name="T46" fmla="*/ 29 w 31"/>
                  <a:gd name="T47" fmla="*/ 9 h 31"/>
                  <a:gd name="T48" fmla="*/ 28 w 31"/>
                  <a:gd name="T49" fmla="*/ 7 h 31"/>
                  <a:gd name="T50" fmla="*/ 26 w 31"/>
                  <a:gd name="T51" fmla="*/ 5 h 31"/>
                  <a:gd name="T52" fmla="*/ 26 w 31"/>
                  <a:gd name="T53" fmla="*/ 3 h 31"/>
                  <a:gd name="T54" fmla="*/ 24 w 31"/>
                  <a:gd name="T55" fmla="*/ 2 h 31"/>
                  <a:gd name="T56" fmla="*/ 22 w 31"/>
                  <a:gd name="T57" fmla="*/ 1 h 31"/>
                  <a:gd name="T58" fmla="*/ 19 w 31"/>
                  <a:gd name="T59" fmla="*/ 0 h 31"/>
                  <a:gd name="T60" fmla="*/ 18 w 31"/>
                  <a:gd name="T61" fmla="*/ 0 h 31"/>
                  <a:gd name="T62" fmla="*/ 15 w 31"/>
                  <a:gd name="T63" fmla="*/ 0 h 31"/>
                  <a:gd name="T64" fmla="*/ 13 w 31"/>
                  <a:gd name="T65" fmla="*/ 0 h 31"/>
                  <a:gd name="T66" fmla="*/ 11 w 31"/>
                  <a:gd name="T67" fmla="*/ 0 h 31"/>
                  <a:gd name="T68" fmla="*/ 9 w 31"/>
                  <a:gd name="T69" fmla="*/ 1 h 31"/>
                  <a:gd name="T70" fmla="*/ 6 w 31"/>
                  <a:gd name="T71" fmla="*/ 2 h 31"/>
                  <a:gd name="T72" fmla="*/ 5 w 31"/>
                  <a:gd name="T73" fmla="*/ 3 h 31"/>
                  <a:gd name="T74" fmla="*/ 4 w 31"/>
                  <a:gd name="T75" fmla="*/ 5 h 31"/>
                  <a:gd name="T76" fmla="*/ 3 w 31"/>
                  <a:gd name="T77" fmla="*/ 7 h 31"/>
                  <a:gd name="T78" fmla="*/ 2 w 31"/>
                  <a:gd name="T79" fmla="*/ 9 h 31"/>
                  <a:gd name="T80" fmla="*/ 1 w 31"/>
                  <a:gd name="T81" fmla="*/ 12 h 31"/>
                  <a:gd name="T82" fmla="*/ 0 w 31"/>
                  <a:gd name="T83" fmla="*/ 13 h 31"/>
                  <a:gd name="T84" fmla="*/ 0 w 31"/>
                  <a:gd name="T85" fmla="*/ 14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1" h="31">
                    <a:moveTo>
                      <a:pt x="0" y="14"/>
                    </a:moveTo>
                    <a:lnTo>
                      <a:pt x="0" y="16"/>
                    </a:lnTo>
                    <a:lnTo>
                      <a:pt x="1" y="16"/>
                    </a:lnTo>
                    <a:lnTo>
                      <a:pt x="1" y="18"/>
                    </a:lnTo>
                    <a:lnTo>
                      <a:pt x="1" y="19"/>
                    </a:lnTo>
                    <a:lnTo>
                      <a:pt x="2" y="20"/>
                    </a:lnTo>
                    <a:lnTo>
                      <a:pt x="2" y="20"/>
                    </a:lnTo>
                    <a:lnTo>
                      <a:pt x="3" y="22"/>
                    </a:lnTo>
                    <a:lnTo>
                      <a:pt x="4" y="23"/>
                    </a:lnTo>
                    <a:lnTo>
                      <a:pt x="4" y="24"/>
                    </a:lnTo>
                    <a:lnTo>
                      <a:pt x="5" y="24"/>
                    </a:lnTo>
                    <a:lnTo>
                      <a:pt x="5" y="25"/>
                    </a:lnTo>
                    <a:lnTo>
                      <a:pt x="6" y="26"/>
                    </a:lnTo>
                    <a:lnTo>
                      <a:pt x="6" y="26"/>
                    </a:lnTo>
                    <a:lnTo>
                      <a:pt x="7" y="27"/>
                    </a:lnTo>
                    <a:lnTo>
                      <a:pt x="9" y="28"/>
                    </a:lnTo>
                    <a:lnTo>
                      <a:pt x="10" y="28"/>
                    </a:lnTo>
                    <a:lnTo>
                      <a:pt x="11" y="28"/>
                    </a:lnTo>
                    <a:lnTo>
                      <a:pt x="12" y="28"/>
                    </a:lnTo>
                    <a:lnTo>
                      <a:pt x="13" y="30"/>
                    </a:lnTo>
                    <a:lnTo>
                      <a:pt x="13" y="30"/>
                    </a:lnTo>
                    <a:lnTo>
                      <a:pt x="15" y="30"/>
                    </a:lnTo>
                    <a:lnTo>
                      <a:pt x="16" y="30"/>
                    </a:lnTo>
                    <a:lnTo>
                      <a:pt x="18" y="30"/>
                    </a:lnTo>
                    <a:lnTo>
                      <a:pt x="19" y="28"/>
                    </a:lnTo>
                    <a:lnTo>
                      <a:pt x="19" y="28"/>
                    </a:lnTo>
                    <a:lnTo>
                      <a:pt x="20" y="28"/>
                    </a:lnTo>
                    <a:lnTo>
                      <a:pt x="22" y="28"/>
                    </a:lnTo>
                    <a:lnTo>
                      <a:pt x="22" y="27"/>
                    </a:lnTo>
                    <a:lnTo>
                      <a:pt x="24" y="26"/>
                    </a:lnTo>
                    <a:lnTo>
                      <a:pt x="25" y="26"/>
                    </a:lnTo>
                    <a:lnTo>
                      <a:pt x="26" y="25"/>
                    </a:lnTo>
                    <a:lnTo>
                      <a:pt x="26" y="24"/>
                    </a:lnTo>
                    <a:lnTo>
                      <a:pt x="26" y="24"/>
                    </a:lnTo>
                    <a:lnTo>
                      <a:pt x="27" y="23"/>
                    </a:lnTo>
                    <a:lnTo>
                      <a:pt x="28" y="22"/>
                    </a:lnTo>
                    <a:lnTo>
                      <a:pt x="28" y="20"/>
                    </a:lnTo>
                    <a:lnTo>
                      <a:pt x="29" y="20"/>
                    </a:lnTo>
                    <a:lnTo>
                      <a:pt x="29" y="19"/>
                    </a:lnTo>
                    <a:lnTo>
                      <a:pt x="30" y="18"/>
                    </a:lnTo>
                    <a:lnTo>
                      <a:pt x="30" y="16"/>
                    </a:lnTo>
                    <a:lnTo>
                      <a:pt x="30" y="16"/>
                    </a:lnTo>
                    <a:lnTo>
                      <a:pt x="30" y="14"/>
                    </a:lnTo>
                    <a:lnTo>
                      <a:pt x="30" y="13"/>
                    </a:lnTo>
                    <a:lnTo>
                      <a:pt x="30" y="12"/>
                    </a:lnTo>
                    <a:lnTo>
                      <a:pt x="30" y="12"/>
                    </a:lnTo>
                    <a:lnTo>
                      <a:pt x="29" y="10"/>
                    </a:lnTo>
                    <a:lnTo>
                      <a:pt x="29" y="9"/>
                    </a:lnTo>
                    <a:lnTo>
                      <a:pt x="28" y="8"/>
                    </a:lnTo>
                    <a:lnTo>
                      <a:pt x="28" y="7"/>
                    </a:lnTo>
                    <a:lnTo>
                      <a:pt x="27" y="5"/>
                    </a:lnTo>
                    <a:lnTo>
                      <a:pt x="26" y="5"/>
                    </a:lnTo>
                    <a:lnTo>
                      <a:pt x="26" y="4"/>
                    </a:lnTo>
                    <a:lnTo>
                      <a:pt x="26" y="3"/>
                    </a:lnTo>
                    <a:lnTo>
                      <a:pt x="25" y="3"/>
                    </a:lnTo>
                    <a:lnTo>
                      <a:pt x="24" y="2"/>
                    </a:lnTo>
                    <a:lnTo>
                      <a:pt x="22" y="2"/>
                    </a:lnTo>
                    <a:lnTo>
                      <a:pt x="22" y="1"/>
                    </a:lnTo>
                    <a:lnTo>
                      <a:pt x="20" y="1"/>
                    </a:lnTo>
                    <a:lnTo>
                      <a:pt x="19" y="0"/>
                    </a:lnTo>
                    <a:lnTo>
                      <a:pt x="19" y="0"/>
                    </a:lnTo>
                    <a:lnTo>
                      <a:pt x="18" y="0"/>
                    </a:lnTo>
                    <a:lnTo>
                      <a:pt x="16" y="0"/>
                    </a:lnTo>
                    <a:lnTo>
                      <a:pt x="15" y="0"/>
                    </a:lnTo>
                    <a:lnTo>
                      <a:pt x="13" y="0"/>
                    </a:lnTo>
                    <a:lnTo>
                      <a:pt x="13" y="0"/>
                    </a:lnTo>
                    <a:lnTo>
                      <a:pt x="12" y="0"/>
                    </a:lnTo>
                    <a:lnTo>
                      <a:pt x="11" y="0"/>
                    </a:lnTo>
                    <a:lnTo>
                      <a:pt x="10" y="1"/>
                    </a:lnTo>
                    <a:lnTo>
                      <a:pt x="9" y="1"/>
                    </a:lnTo>
                    <a:lnTo>
                      <a:pt x="7" y="2"/>
                    </a:lnTo>
                    <a:lnTo>
                      <a:pt x="6" y="2"/>
                    </a:lnTo>
                    <a:lnTo>
                      <a:pt x="6" y="3"/>
                    </a:lnTo>
                    <a:lnTo>
                      <a:pt x="5" y="3"/>
                    </a:lnTo>
                    <a:lnTo>
                      <a:pt x="5" y="4"/>
                    </a:lnTo>
                    <a:lnTo>
                      <a:pt x="4" y="5"/>
                    </a:lnTo>
                    <a:lnTo>
                      <a:pt x="4" y="5"/>
                    </a:lnTo>
                    <a:lnTo>
                      <a:pt x="3" y="7"/>
                    </a:lnTo>
                    <a:lnTo>
                      <a:pt x="2" y="8"/>
                    </a:lnTo>
                    <a:lnTo>
                      <a:pt x="2" y="9"/>
                    </a:lnTo>
                    <a:lnTo>
                      <a:pt x="1" y="10"/>
                    </a:lnTo>
                    <a:lnTo>
                      <a:pt x="1" y="12"/>
                    </a:lnTo>
                    <a:lnTo>
                      <a:pt x="1" y="12"/>
                    </a:lnTo>
                    <a:lnTo>
                      <a:pt x="0" y="13"/>
                    </a:lnTo>
                    <a:lnTo>
                      <a:pt x="0" y="14"/>
                    </a:lnTo>
                    <a:lnTo>
                      <a:pt x="0" y="14"/>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93" name="Text Box 91"/>
              <p:cNvSpPr txBox="1">
                <a:spLocks noChangeArrowheads="1"/>
              </p:cNvSpPr>
              <p:nvPr/>
            </p:nvSpPr>
            <p:spPr bwMode="auto">
              <a:xfrm rot="16200000">
                <a:off x="991" y="3977"/>
                <a:ext cx="502"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1200" dirty="0">
                    <a:solidFill>
                      <a:srgbClr val="000000"/>
                    </a:solidFill>
                  </a:rPr>
                  <a:t>Directivity</a:t>
                </a:r>
                <a:endParaRPr lang="en-US" altLang="zh-CN" sz="2200" dirty="0">
                  <a:latin typeface="Times New Roman" panose="02020603050405020304" pitchFamily="18" charset="0"/>
                </a:endParaRPr>
              </a:p>
            </p:txBody>
          </p:sp>
          <p:sp>
            <p:nvSpPr>
              <p:cNvPr id="94" name="Text Box 92"/>
              <p:cNvSpPr txBox="1">
                <a:spLocks noChangeArrowheads="1"/>
              </p:cNvSpPr>
              <p:nvPr/>
            </p:nvSpPr>
            <p:spPr bwMode="auto">
              <a:xfrm rot="16200000">
                <a:off x="1350" y="3683"/>
                <a:ext cx="354"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1200">
                    <a:solidFill>
                      <a:srgbClr val="000000"/>
                    </a:solidFill>
                  </a:rPr>
                  <a:t>Device</a:t>
                </a:r>
                <a:endParaRPr lang="en-US" altLang="zh-CN" sz="2200">
                  <a:latin typeface="Times New Roman" panose="02020603050405020304" pitchFamily="18" charset="0"/>
                </a:endParaRPr>
              </a:p>
            </p:txBody>
          </p:sp>
        </p:grpSp>
        <p:sp>
          <p:nvSpPr>
            <p:cNvPr id="84" name="Freeform 93"/>
            <p:cNvSpPr>
              <a:spLocks/>
            </p:cNvSpPr>
            <p:nvPr/>
          </p:nvSpPr>
          <p:spPr bwMode="auto">
            <a:xfrm>
              <a:off x="8018678" y="5615462"/>
              <a:ext cx="2255838" cy="835025"/>
            </a:xfrm>
            <a:custGeom>
              <a:avLst/>
              <a:gdLst>
                <a:gd name="T0" fmla="*/ 2209 w 2213"/>
                <a:gd name="T1" fmla="*/ 502 h 1086"/>
                <a:gd name="T2" fmla="*/ 2184 w 2213"/>
                <a:gd name="T3" fmla="*/ 421 h 1086"/>
                <a:gd name="T4" fmla="*/ 2136 w 2213"/>
                <a:gd name="T5" fmla="*/ 344 h 1086"/>
                <a:gd name="T6" fmla="*/ 2064 w 2213"/>
                <a:gd name="T7" fmla="*/ 270 h 1086"/>
                <a:gd name="T8" fmla="*/ 1970 w 2213"/>
                <a:gd name="T9" fmla="*/ 204 h 1086"/>
                <a:gd name="T10" fmla="*/ 1858 w 2213"/>
                <a:gd name="T11" fmla="*/ 144 h 1086"/>
                <a:gd name="T12" fmla="*/ 1730 w 2213"/>
                <a:gd name="T13" fmla="*/ 93 h 1086"/>
                <a:gd name="T14" fmla="*/ 1586 w 2213"/>
                <a:gd name="T15" fmla="*/ 53 h 1086"/>
                <a:gd name="T16" fmla="*/ 1432 w 2213"/>
                <a:gd name="T17" fmla="*/ 24 h 1086"/>
                <a:gd name="T18" fmla="*/ 1270 w 2213"/>
                <a:gd name="T19" fmla="*/ 6 h 1086"/>
                <a:gd name="T20" fmla="*/ 1106 w 2213"/>
                <a:gd name="T21" fmla="*/ 0 h 1086"/>
                <a:gd name="T22" fmla="*/ 942 w 2213"/>
                <a:gd name="T23" fmla="*/ 6 h 1086"/>
                <a:gd name="T24" fmla="*/ 781 w 2213"/>
                <a:gd name="T25" fmla="*/ 24 h 1086"/>
                <a:gd name="T26" fmla="*/ 626 w 2213"/>
                <a:gd name="T27" fmla="*/ 53 h 1086"/>
                <a:gd name="T28" fmla="*/ 483 w 2213"/>
                <a:gd name="T29" fmla="*/ 93 h 1086"/>
                <a:gd name="T30" fmla="*/ 355 w 2213"/>
                <a:gd name="T31" fmla="*/ 144 h 1086"/>
                <a:gd name="T32" fmla="*/ 243 w 2213"/>
                <a:gd name="T33" fmla="*/ 204 h 1086"/>
                <a:gd name="T34" fmla="*/ 148 w 2213"/>
                <a:gd name="T35" fmla="*/ 270 h 1086"/>
                <a:gd name="T36" fmla="*/ 77 w 2213"/>
                <a:gd name="T37" fmla="*/ 344 h 1086"/>
                <a:gd name="T38" fmla="*/ 28 w 2213"/>
                <a:gd name="T39" fmla="*/ 421 h 1086"/>
                <a:gd name="T40" fmla="*/ 3 w 2213"/>
                <a:gd name="T41" fmla="*/ 502 h 1086"/>
                <a:gd name="T42" fmla="*/ 3 w 2213"/>
                <a:gd name="T43" fmla="*/ 583 h 1086"/>
                <a:gd name="T44" fmla="*/ 28 w 2213"/>
                <a:gd name="T45" fmla="*/ 663 h 1086"/>
                <a:gd name="T46" fmla="*/ 77 w 2213"/>
                <a:gd name="T47" fmla="*/ 740 h 1086"/>
                <a:gd name="T48" fmla="*/ 148 w 2213"/>
                <a:gd name="T49" fmla="*/ 814 h 1086"/>
                <a:gd name="T50" fmla="*/ 243 w 2213"/>
                <a:gd name="T51" fmla="*/ 881 h 1086"/>
                <a:gd name="T52" fmla="*/ 355 w 2213"/>
                <a:gd name="T53" fmla="*/ 940 h 1086"/>
                <a:gd name="T54" fmla="*/ 483 w 2213"/>
                <a:gd name="T55" fmla="*/ 991 h 1086"/>
                <a:gd name="T56" fmla="*/ 626 w 2213"/>
                <a:gd name="T57" fmla="*/ 1032 h 1086"/>
                <a:gd name="T58" fmla="*/ 781 w 2213"/>
                <a:gd name="T59" fmla="*/ 1061 h 1086"/>
                <a:gd name="T60" fmla="*/ 942 w 2213"/>
                <a:gd name="T61" fmla="*/ 1079 h 1086"/>
                <a:gd name="T62" fmla="*/ 1106 w 2213"/>
                <a:gd name="T63" fmla="*/ 1085 h 1086"/>
                <a:gd name="T64" fmla="*/ 1270 w 2213"/>
                <a:gd name="T65" fmla="*/ 1079 h 1086"/>
                <a:gd name="T66" fmla="*/ 1432 w 2213"/>
                <a:gd name="T67" fmla="*/ 1061 h 1086"/>
                <a:gd name="T68" fmla="*/ 1586 w 2213"/>
                <a:gd name="T69" fmla="*/ 1032 h 1086"/>
                <a:gd name="T70" fmla="*/ 1730 w 2213"/>
                <a:gd name="T71" fmla="*/ 991 h 1086"/>
                <a:gd name="T72" fmla="*/ 1858 w 2213"/>
                <a:gd name="T73" fmla="*/ 940 h 1086"/>
                <a:gd name="T74" fmla="*/ 1970 w 2213"/>
                <a:gd name="T75" fmla="*/ 881 h 1086"/>
                <a:gd name="T76" fmla="*/ 2064 w 2213"/>
                <a:gd name="T77" fmla="*/ 814 h 1086"/>
                <a:gd name="T78" fmla="*/ 2136 w 2213"/>
                <a:gd name="T79" fmla="*/ 740 h 1086"/>
                <a:gd name="T80" fmla="*/ 2184 w 2213"/>
                <a:gd name="T81" fmla="*/ 663 h 1086"/>
                <a:gd name="T82" fmla="*/ 2209 w 2213"/>
                <a:gd name="T83" fmla="*/ 583 h 10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13" h="1086">
                  <a:moveTo>
                    <a:pt x="2212" y="542"/>
                  </a:moveTo>
                  <a:lnTo>
                    <a:pt x="2209" y="502"/>
                  </a:lnTo>
                  <a:lnTo>
                    <a:pt x="2199" y="462"/>
                  </a:lnTo>
                  <a:lnTo>
                    <a:pt x="2184" y="421"/>
                  </a:lnTo>
                  <a:lnTo>
                    <a:pt x="2163" y="382"/>
                  </a:lnTo>
                  <a:lnTo>
                    <a:pt x="2136" y="344"/>
                  </a:lnTo>
                  <a:lnTo>
                    <a:pt x="2102" y="306"/>
                  </a:lnTo>
                  <a:lnTo>
                    <a:pt x="2064" y="270"/>
                  </a:lnTo>
                  <a:lnTo>
                    <a:pt x="2021" y="236"/>
                  </a:lnTo>
                  <a:lnTo>
                    <a:pt x="1970" y="204"/>
                  </a:lnTo>
                  <a:lnTo>
                    <a:pt x="1917" y="173"/>
                  </a:lnTo>
                  <a:lnTo>
                    <a:pt x="1858" y="144"/>
                  </a:lnTo>
                  <a:lnTo>
                    <a:pt x="1796" y="118"/>
                  </a:lnTo>
                  <a:lnTo>
                    <a:pt x="1730" y="93"/>
                  </a:lnTo>
                  <a:lnTo>
                    <a:pt x="1659" y="72"/>
                  </a:lnTo>
                  <a:lnTo>
                    <a:pt x="1586" y="53"/>
                  </a:lnTo>
                  <a:lnTo>
                    <a:pt x="1511" y="36"/>
                  </a:lnTo>
                  <a:lnTo>
                    <a:pt x="1432" y="24"/>
                  </a:lnTo>
                  <a:lnTo>
                    <a:pt x="1353" y="13"/>
                  </a:lnTo>
                  <a:lnTo>
                    <a:pt x="1270" y="6"/>
                  </a:lnTo>
                  <a:lnTo>
                    <a:pt x="1189" y="0"/>
                  </a:lnTo>
                  <a:lnTo>
                    <a:pt x="1106" y="0"/>
                  </a:lnTo>
                  <a:lnTo>
                    <a:pt x="1024" y="0"/>
                  </a:lnTo>
                  <a:lnTo>
                    <a:pt x="942" y="6"/>
                  </a:lnTo>
                  <a:lnTo>
                    <a:pt x="860" y="13"/>
                  </a:lnTo>
                  <a:lnTo>
                    <a:pt x="781" y="24"/>
                  </a:lnTo>
                  <a:lnTo>
                    <a:pt x="702" y="36"/>
                  </a:lnTo>
                  <a:lnTo>
                    <a:pt x="626" y="53"/>
                  </a:lnTo>
                  <a:lnTo>
                    <a:pt x="554" y="72"/>
                  </a:lnTo>
                  <a:lnTo>
                    <a:pt x="483" y="93"/>
                  </a:lnTo>
                  <a:lnTo>
                    <a:pt x="417" y="118"/>
                  </a:lnTo>
                  <a:lnTo>
                    <a:pt x="355" y="144"/>
                  </a:lnTo>
                  <a:lnTo>
                    <a:pt x="296" y="173"/>
                  </a:lnTo>
                  <a:lnTo>
                    <a:pt x="243" y="204"/>
                  </a:lnTo>
                  <a:lnTo>
                    <a:pt x="192" y="236"/>
                  </a:lnTo>
                  <a:lnTo>
                    <a:pt x="148" y="270"/>
                  </a:lnTo>
                  <a:lnTo>
                    <a:pt x="110" y="306"/>
                  </a:lnTo>
                  <a:lnTo>
                    <a:pt x="77" y="344"/>
                  </a:lnTo>
                  <a:lnTo>
                    <a:pt x="49" y="382"/>
                  </a:lnTo>
                  <a:lnTo>
                    <a:pt x="28" y="421"/>
                  </a:lnTo>
                  <a:lnTo>
                    <a:pt x="14" y="462"/>
                  </a:lnTo>
                  <a:lnTo>
                    <a:pt x="3" y="502"/>
                  </a:lnTo>
                  <a:lnTo>
                    <a:pt x="0" y="542"/>
                  </a:lnTo>
                  <a:lnTo>
                    <a:pt x="3" y="583"/>
                  </a:lnTo>
                  <a:lnTo>
                    <a:pt x="14" y="623"/>
                  </a:lnTo>
                  <a:lnTo>
                    <a:pt x="28" y="663"/>
                  </a:lnTo>
                  <a:lnTo>
                    <a:pt x="49" y="702"/>
                  </a:lnTo>
                  <a:lnTo>
                    <a:pt x="77" y="740"/>
                  </a:lnTo>
                  <a:lnTo>
                    <a:pt x="110" y="777"/>
                  </a:lnTo>
                  <a:lnTo>
                    <a:pt x="148" y="814"/>
                  </a:lnTo>
                  <a:lnTo>
                    <a:pt x="192" y="848"/>
                  </a:lnTo>
                  <a:lnTo>
                    <a:pt x="243" y="881"/>
                  </a:lnTo>
                  <a:lnTo>
                    <a:pt x="296" y="911"/>
                  </a:lnTo>
                  <a:lnTo>
                    <a:pt x="355" y="940"/>
                  </a:lnTo>
                  <a:lnTo>
                    <a:pt x="417" y="966"/>
                  </a:lnTo>
                  <a:lnTo>
                    <a:pt x="483" y="991"/>
                  </a:lnTo>
                  <a:lnTo>
                    <a:pt x="554" y="1012"/>
                  </a:lnTo>
                  <a:lnTo>
                    <a:pt x="626" y="1032"/>
                  </a:lnTo>
                  <a:lnTo>
                    <a:pt x="702" y="1048"/>
                  </a:lnTo>
                  <a:lnTo>
                    <a:pt x="781" y="1061"/>
                  </a:lnTo>
                  <a:lnTo>
                    <a:pt x="860" y="1072"/>
                  </a:lnTo>
                  <a:lnTo>
                    <a:pt x="942" y="1079"/>
                  </a:lnTo>
                  <a:lnTo>
                    <a:pt x="1024" y="1083"/>
                  </a:lnTo>
                  <a:lnTo>
                    <a:pt x="1106" y="1085"/>
                  </a:lnTo>
                  <a:lnTo>
                    <a:pt x="1189" y="1083"/>
                  </a:lnTo>
                  <a:lnTo>
                    <a:pt x="1270" y="1079"/>
                  </a:lnTo>
                  <a:lnTo>
                    <a:pt x="1353" y="1072"/>
                  </a:lnTo>
                  <a:lnTo>
                    <a:pt x="1432" y="1061"/>
                  </a:lnTo>
                  <a:lnTo>
                    <a:pt x="1511" y="1048"/>
                  </a:lnTo>
                  <a:lnTo>
                    <a:pt x="1586" y="1032"/>
                  </a:lnTo>
                  <a:lnTo>
                    <a:pt x="1659" y="1012"/>
                  </a:lnTo>
                  <a:lnTo>
                    <a:pt x="1730" y="991"/>
                  </a:lnTo>
                  <a:lnTo>
                    <a:pt x="1796" y="966"/>
                  </a:lnTo>
                  <a:lnTo>
                    <a:pt x="1858" y="940"/>
                  </a:lnTo>
                  <a:lnTo>
                    <a:pt x="1917" y="911"/>
                  </a:lnTo>
                  <a:lnTo>
                    <a:pt x="1970" y="881"/>
                  </a:lnTo>
                  <a:lnTo>
                    <a:pt x="2021" y="848"/>
                  </a:lnTo>
                  <a:lnTo>
                    <a:pt x="2064" y="814"/>
                  </a:lnTo>
                  <a:lnTo>
                    <a:pt x="2102" y="777"/>
                  </a:lnTo>
                  <a:lnTo>
                    <a:pt x="2136" y="740"/>
                  </a:lnTo>
                  <a:lnTo>
                    <a:pt x="2163" y="702"/>
                  </a:lnTo>
                  <a:lnTo>
                    <a:pt x="2184" y="663"/>
                  </a:lnTo>
                  <a:lnTo>
                    <a:pt x="2199" y="623"/>
                  </a:lnTo>
                  <a:lnTo>
                    <a:pt x="2209" y="583"/>
                  </a:lnTo>
                  <a:lnTo>
                    <a:pt x="2212" y="542"/>
                  </a:lnTo>
                </a:path>
              </a:pathLst>
            </a:custGeom>
            <a:noFill/>
            <a:ln w="317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85" name="Freeform 94"/>
            <p:cNvSpPr>
              <a:spLocks/>
            </p:cNvSpPr>
            <p:nvPr/>
          </p:nvSpPr>
          <p:spPr bwMode="auto">
            <a:xfrm>
              <a:off x="8163142" y="4451824"/>
              <a:ext cx="2255837" cy="836613"/>
            </a:xfrm>
            <a:custGeom>
              <a:avLst/>
              <a:gdLst>
                <a:gd name="T0" fmla="*/ 2208 w 2213"/>
                <a:gd name="T1" fmla="*/ 502 h 1086"/>
                <a:gd name="T2" fmla="*/ 2185 w 2213"/>
                <a:gd name="T3" fmla="*/ 422 h 1086"/>
                <a:gd name="T4" fmla="*/ 2136 w 2213"/>
                <a:gd name="T5" fmla="*/ 344 h 1086"/>
                <a:gd name="T6" fmla="*/ 2063 w 2213"/>
                <a:gd name="T7" fmla="*/ 272 h 1086"/>
                <a:gd name="T8" fmla="*/ 1970 w 2213"/>
                <a:gd name="T9" fmla="*/ 204 h 1086"/>
                <a:gd name="T10" fmla="*/ 1858 w 2213"/>
                <a:gd name="T11" fmla="*/ 144 h 1086"/>
                <a:gd name="T12" fmla="*/ 1729 w 2213"/>
                <a:gd name="T13" fmla="*/ 93 h 1086"/>
                <a:gd name="T14" fmla="*/ 1585 w 2213"/>
                <a:gd name="T15" fmla="*/ 53 h 1086"/>
                <a:gd name="T16" fmla="*/ 1431 w 2213"/>
                <a:gd name="T17" fmla="*/ 24 h 1086"/>
                <a:gd name="T18" fmla="*/ 1270 w 2213"/>
                <a:gd name="T19" fmla="*/ 6 h 1086"/>
                <a:gd name="T20" fmla="*/ 1106 w 2213"/>
                <a:gd name="T21" fmla="*/ 0 h 1086"/>
                <a:gd name="T22" fmla="*/ 942 w 2213"/>
                <a:gd name="T23" fmla="*/ 6 h 1086"/>
                <a:gd name="T24" fmla="*/ 781 w 2213"/>
                <a:gd name="T25" fmla="*/ 24 h 1086"/>
                <a:gd name="T26" fmla="*/ 627 w 2213"/>
                <a:gd name="T27" fmla="*/ 53 h 1086"/>
                <a:gd name="T28" fmla="*/ 482 w 2213"/>
                <a:gd name="T29" fmla="*/ 93 h 1086"/>
                <a:gd name="T30" fmla="*/ 354 w 2213"/>
                <a:gd name="T31" fmla="*/ 144 h 1086"/>
                <a:gd name="T32" fmla="*/ 242 w 2213"/>
                <a:gd name="T33" fmla="*/ 204 h 1086"/>
                <a:gd name="T34" fmla="*/ 149 w 2213"/>
                <a:gd name="T35" fmla="*/ 272 h 1086"/>
                <a:gd name="T36" fmla="*/ 77 w 2213"/>
                <a:gd name="T37" fmla="*/ 344 h 1086"/>
                <a:gd name="T38" fmla="*/ 27 w 2213"/>
                <a:gd name="T39" fmla="*/ 422 h 1086"/>
                <a:gd name="T40" fmla="*/ 3 w 2213"/>
                <a:gd name="T41" fmla="*/ 502 h 1086"/>
                <a:gd name="T42" fmla="*/ 3 w 2213"/>
                <a:gd name="T43" fmla="*/ 582 h 1086"/>
                <a:gd name="T44" fmla="*/ 27 w 2213"/>
                <a:gd name="T45" fmla="*/ 663 h 1086"/>
                <a:gd name="T46" fmla="*/ 77 w 2213"/>
                <a:gd name="T47" fmla="*/ 741 h 1086"/>
                <a:gd name="T48" fmla="*/ 149 w 2213"/>
                <a:gd name="T49" fmla="*/ 814 h 1086"/>
                <a:gd name="T50" fmla="*/ 242 w 2213"/>
                <a:gd name="T51" fmla="*/ 881 h 1086"/>
                <a:gd name="T52" fmla="*/ 354 w 2213"/>
                <a:gd name="T53" fmla="*/ 940 h 1086"/>
                <a:gd name="T54" fmla="*/ 482 w 2213"/>
                <a:gd name="T55" fmla="*/ 991 h 1086"/>
                <a:gd name="T56" fmla="*/ 627 w 2213"/>
                <a:gd name="T57" fmla="*/ 1031 h 1086"/>
                <a:gd name="T58" fmla="*/ 781 w 2213"/>
                <a:gd name="T59" fmla="*/ 1061 h 1086"/>
                <a:gd name="T60" fmla="*/ 942 w 2213"/>
                <a:gd name="T61" fmla="*/ 1079 h 1086"/>
                <a:gd name="T62" fmla="*/ 1106 w 2213"/>
                <a:gd name="T63" fmla="*/ 1085 h 1086"/>
                <a:gd name="T64" fmla="*/ 1270 w 2213"/>
                <a:gd name="T65" fmla="*/ 1079 h 1086"/>
                <a:gd name="T66" fmla="*/ 1431 w 2213"/>
                <a:gd name="T67" fmla="*/ 1061 h 1086"/>
                <a:gd name="T68" fmla="*/ 1585 w 2213"/>
                <a:gd name="T69" fmla="*/ 1031 h 1086"/>
                <a:gd name="T70" fmla="*/ 1729 w 2213"/>
                <a:gd name="T71" fmla="*/ 991 h 1086"/>
                <a:gd name="T72" fmla="*/ 1858 w 2213"/>
                <a:gd name="T73" fmla="*/ 940 h 1086"/>
                <a:gd name="T74" fmla="*/ 1970 w 2213"/>
                <a:gd name="T75" fmla="*/ 881 h 1086"/>
                <a:gd name="T76" fmla="*/ 2063 w 2213"/>
                <a:gd name="T77" fmla="*/ 814 h 1086"/>
                <a:gd name="T78" fmla="*/ 2136 w 2213"/>
                <a:gd name="T79" fmla="*/ 741 h 1086"/>
                <a:gd name="T80" fmla="*/ 2185 w 2213"/>
                <a:gd name="T81" fmla="*/ 663 h 1086"/>
                <a:gd name="T82" fmla="*/ 2208 w 2213"/>
                <a:gd name="T83" fmla="*/ 582 h 10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13" h="1086">
                  <a:moveTo>
                    <a:pt x="2212" y="542"/>
                  </a:moveTo>
                  <a:lnTo>
                    <a:pt x="2208" y="502"/>
                  </a:lnTo>
                  <a:lnTo>
                    <a:pt x="2199" y="462"/>
                  </a:lnTo>
                  <a:lnTo>
                    <a:pt x="2185" y="422"/>
                  </a:lnTo>
                  <a:lnTo>
                    <a:pt x="2163" y="383"/>
                  </a:lnTo>
                  <a:lnTo>
                    <a:pt x="2136" y="344"/>
                  </a:lnTo>
                  <a:lnTo>
                    <a:pt x="2102" y="307"/>
                  </a:lnTo>
                  <a:lnTo>
                    <a:pt x="2063" y="272"/>
                  </a:lnTo>
                  <a:lnTo>
                    <a:pt x="2020" y="237"/>
                  </a:lnTo>
                  <a:lnTo>
                    <a:pt x="1970" y="204"/>
                  </a:lnTo>
                  <a:lnTo>
                    <a:pt x="1917" y="174"/>
                  </a:lnTo>
                  <a:lnTo>
                    <a:pt x="1858" y="144"/>
                  </a:lnTo>
                  <a:lnTo>
                    <a:pt x="1796" y="119"/>
                  </a:lnTo>
                  <a:lnTo>
                    <a:pt x="1729" y="93"/>
                  </a:lnTo>
                  <a:lnTo>
                    <a:pt x="1660" y="72"/>
                  </a:lnTo>
                  <a:lnTo>
                    <a:pt x="1585" y="53"/>
                  </a:lnTo>
                  <a:lnTo>
                    <a:pt x="1510" y="38"/>
                  </a:lnTo>
                  <a:lnTo>
                    <a:pt x="1431" y="24"/>
                  </a:lnTo>
                  <a:lnTo>
                    <a:pt x="1352" y="13"/>
                  </a:lnTo>
                  <a:lnTo>
                    <a:pt x="1270" y="6"/>
                  </a:lnTo>
                  <a:lnTo>
                    <a:pt x="1188" y="2"/>
                  </a:lnTo>
                  <a:lnTo>
                    <a:pt x="1106" y="0"/>
                  </a:lnTo>
                  <a:lnTo>
                    <a:pt x="1024" y="2"/>
                  </a:lnTo>
                  <a:lnTo>
                    <a:pt x="942" y="6"/>
                  </a:lnTo>
                  <a:lnTo>
                    <a:pt x="860" y="13"/>
                  </a:lnTo>
                  <a:lnTo>
                    <a:pt x="781" y="24"/>
                  </a:lnTo>
                  <a:lnTo>
                    <a:pt x="702" y="38"/>
                  </a:lnTo>
                  <a:lnTo>
                    <a:pt x="627" y="53"/>
                  </a:lnTo>
                  <a:lnTo>
                    <a:pt x="553" y="72"/>
                  </a:lnTo>
                  <a:lnTo>
                    <a:pt x="482" y="93"/>
                  </a:lnTo>
                  <a:lnTo>
                    <a:pt x="416" y="119"/>
                  </a:lnTo>
                  <a:lnTo>
                    <a:pt x="354" y="144"/>
                  </a:lnTo>
                  <a:lnTo>
                    <a:pt x="295" y="174"/>
                  </a:lnTo>
                  <a:lnTo>
                    <a:pt x="242" y="204"/>
                  </a:lnTo>
                  <a:lnTo>
                    <a:pt x="192" y="237"/>
                  </a:lnTo>
                  <a:lnTo>
                    <a:pt x="149" y="272"/>
                  </a:lnTo>
                  <a:lnTo>
                    <a:pt x="109" y="307"/>
                  </a:lnTo>
                  <a:lnTo>
                    <a:pt x="77" y="344"/>
                  </a:lnTo>
                  <a:lnTo>
                    <a:pt x="49" y="383"/>
                  </a:lnTo>
                  <a:lnTo>
                    <a:pt x="27" y="422"/>
                  </a:lnTo>
                  <a:lnTo>
                    <a:pt x="13" y="462"/>
                  </a:lnTo>
                  <a:lnTo>
                    <a:pt x="3" y="502"/>
                  </a:lnTo>
                  <a:lnTo>
                    <a:pt x="0" y="542"/>
                  </a:lnTo>
                  <a:lnTo>
                    <a:pt x="3" y="582"/>
                  </a:lnTo>
                  <a:lnTo>
                    <a:pt x="13" y="623"/>
                  </a:lnTo>
                  <a:lnTo>
                    <a:pt x="27" y="663"/>
                  </a:lnTo>
                  <a:lnTo>
                    <a:pt x="49" y="702"/>
                  </a:lnTo>
                  <a:lnTo>
                    <a:pt x="77" y="741"/>
                  </a:lnTo>
                  <a:lnTo>
                    <a:pt x="109" y="778"/>
                  </a:lnTo>
                  <a:lnTo>
                    <a:pt x="149" y="814"/>
                  </a:lnTo>
                  <a:lnTo>
                    <a:pt x="192" y="849"/>
                  </a:lnTo>
                  <a:lnTo>
                    <a:pt x="242" y="881"/>
                  </a:lnTo>
                  <a:lnTo>
                    <a:pt x="295" y="912"/>
                  </a:lnTo>
                  <a:lnTo>
                    <a:pt x="354" y="940"/>
                  </a:lnTo>
                  <a:lnTo>
                    <a:pt x="416" y="967"/>
                  </a:lnTo>
                  <a:lnTo>
                    <a:pt x="482" y="991"/>
                  </a:lnTo>
                  <a:lnTo>
                    <a:pt x="553" y="1013"/>
                  </a:lnTo>
                  <a:lnTo>
                    <a:pt x="627" y="1031"/>
                  </a:lnTo>
                  <a:lnTo>
                    <a:pt x="702" y="1048"/>
                  </a:lnTo>
                  <a:lnTo>
                    <a:pt x="781" y="1061"/>
                  </a:lnTo>
                  <a:lnTo>
                    <a:pt x="860" y="1072"/>
                  </a:lnTo>
                  <a:lnTo>
                    <a:pt x="942" y="1079"/>
                  </a:lnTo>
                  <a:lnTo>
                    <a:pt x="1024" y="1084"/>
                  </a:lnTo>
                  <a:lnTo>
                    <a:pt x="1106" y="1085"/>
                  </a:lnTo>
                  <a:lnTo>
                    <a:pt x="1188" y="1084"/>
                  </a:lnTo>
                  <a:lnTo>
                    <a:pt x="1270" y="1079"/>
                  </a:lnTo>
                  <a:lnTo>
                    <a:pt x="1352" y="1072"/>
                  </a:lnTo>
                  <a:lnTo>
                    <a:pt x="1431" y="1061"/>
                  </a:lnTo>
                  <a:lnTo>
                    <a:pt x="1510" y="1048"/>
                  </a:lnTo>
                  <a:lnTo>
                    <a:pt x="1585" y="1031"/>
                  </a:lnTo>
                  <a:lnTo>
                    <a:pt x="1660" y="1013"/>
                  </a:lnTo>
                  <a:lnTo>
                    <a:pt x="1729" y="991"/>
                  </a:lnTo>
                  <a:lnTo>
                    <a:pt x="1796" y="967"/>
                  </a:lnTo>
                  <a:lnTo>
                    <a:pt x="1858" y="940"/>
                  </a:lnTo>
                  <a:lnTo>
                    <a:pt x="1917" y="912"/>
                  </a:lnTo>
                  <a:lnTo>
                    <a:pt x="1970" y="881"/>
                  </a:lnTo>
                  <a:lnTo>
                    <a:pt x="2020" y="849"/>
                  </a:lnTo>
                  <a:lnTo>
                    <a:pt x="2063" y="814"/>
                  </a:lnTo>
                  <a:lnTo>
                    <a:pt x="2102" y="778"/>
                  </a:lnTo>
                  <a:lnTo>
                    <a:pt x="2136" y="741"/>
                  </a:lnTo>
                  <a:lnTo>
                    <a:pt x="2163" y="702"/>
                  </a:lnTo>
                  <a:lnTo>
                    <a:pt x="2185" y="663"/>
                  </a:lnTo>
                  <a:lnTo>
                    <a:pt x="2199" y="623"/>
                  </a:lnTo>
                  <a:lnTo>
                    <a:pt x="2208" y="582"/>
                  </a:lnTo>
                  <a:lnTo>
                    <a:pt x="2212" y="542"/>
                  </a:lnTo>
                </a:path>
              </a:pathLst>
            </a:custGeom>
            <a:noFill/>
            <a:ln w="317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86" name="Freeform 95"/>
            <p:cNvSpPr>
              <a:spLocks/>
            </p:cNvSpPr>
            <p:nvPr/>
          </p:nvSpPr>
          <p:spPr bwMode="auto">
            <a:xfrm>
              <a:off x="5926354" y="5010624"/>
              <a:ext cx="161925" cy="201613"/>
            </a:xfrm>
            <a:custGeom>
              <a:avLst/>
              <a:gdLst>
                <a:gd name="T0" fmla="*/ 0 w 159"/>
                <a:gd name="T1" fmla="*/ 0 h 263"/>
                <a:gd name="T2" fmla="*/ 0 w 159"/>
                <a:gd name="T3" fmla="*/ 0 h 263"/>
                <a:gd name="T4" fmla="*/ 0 w 159"/>
                <a:gd name="T5" fmla="*/ 0 h 263"/>
                <a:gd name="T6" fmla="*/ 1 w 159"/>
                <a:gd name="T7" fmla="*/ 0 h 263"/>
                <a:gd name="T8" fmla="*/ 3 w 159"/>
                <a:gd name="T9" fmla="*/ 0 h 263"/>
                <a:gd name="T10" fmla="*/ 5 w 159"/>
                <a:gd name="T11" fmla="*/ 2 h 263"/>
                <a:gd name="T12" fmla="*/ 6 w 159"/>
                <a:gd name="T13" fmla="*/ 2 h 263"/>
                <a:gd name="T14" fmla="*/ 9 w 159"/>
                <a:gd name="T15" fmla="*/ 4 h 263"/>
                <a:gd name="T16" fmla="*/ 13 w 159"/>
                <a:gd name="T17" fmla="*/ 4 h 263"/>
                <a:gd name="T18" fmla="*/ 16 w 159"/>
                <a:gd name="T19" fmla="*/ 6 h 263"/>
                <a:gd name="T20" fmla="*/ 20 w 159"/>
                <a:gd name="T21" fmla="*/ 8 h 263"/>
                <a:gd name="T22" fmla="*/ 24 w 159"/>
                <a:gd name="T23" fmla="*/ 11 h 263"/>
                <a:gd name="T24" fmla="*/ 30 w 159"/>
                <a:gd name="T25" fmla="*/ 13 h 263"/>
                <a:gd name="T26" fmla="*/ 35 w 159"/>
                <a:gd name="T27" fmla="*/ 18 h 263"/>
                <a:gd name="T28" fmla="*/ 40 w 159"/>
                <a:gd name="T29" fmla="*/ 21 h 263"/>
                <a:gd name="T30" fmla="*/ 46 w 159"/>
                <a:gd name="T31" fmla="*/ 27 h 263"/>
                <a:gd name="T32" fmla="*/ 54 w 159"/>
                <a:gd name="T33" fmla="*/ 31 h 263"/>
                <a:gd name="T34" fmla="*/ 60 w 159"/>
                <a:gd name="T35" fmla="*/ 39 h 263"/>
                <a:gd name="T36" fmla="*/ 66 w 159"/>
                <a:gd name="T37" fmla="*/ 46 h 263"/>
                <a:gd name="T38" fmla="*/ 72 w 159"/>
                <a:gd name="T39" fmla="*/ 56 h 263"/>
                <a:gd name="T40" fmla="*/ 80 w 159"/>
                <a:gd name="T41" fmla="*/ 64 h 263"/>
                <a:gd name="T42" fmla="*/ 85 w 159"/>
                <a:gd name="T43" fmla="*/ 76 h 263"/>
                <a:gd name="T44" fmla="*/ 91 w 159"/>
                <a:gd name="T45" fmla="*/ 86 h 263"/>
                <a:gd name="T46" fmla="*/ 96 w 159"/>
                <a:gd name="T47" fmla="*/ 97 h 263"/>
                <a:gd name="T48" fmla="*/ 103 w 159"/>
                <a:gd name="T49" fmla="*/ 108 h 263"/>
                <a:gd name="T50" fmla="*/ 106 w 159"/>
                <a:gd name="T51" fmla="*/ 119 h 263"/>
                <a:gd name="T52" fmla="*/ 112 w 159"/>
                <a:gd name="T53" fmla="*/ 130 h 263"/>
                <a:gd name="T54" fmla="*/ 116 w 159"/>
                <a:gd name="T55" fmla="*/ 141 h 263"/>
                <a:gd name="T56" fmla="*/ 121 w 159"/>
                <a:gd name="T57" fmla="*/ 150 h 263"/>
                <a:gd name="T58" fmla="*/ 123 w 159"/>
                <a:gd name="T59" fmla="*/ 160 h 263"/>
                <a:gd name="T60" fmla="*/ 127 w 159"/>
                <a:gd name="T61" fmla="*/ 168 h 263"/>
                <a:gd name="T62" fmla="*/ 130 w 159"/>
                <a:gd name="T63" fmla="*/ 176 h 263"/>
                <a:gd name="T64" fmla="*/ 133 w 159"/>
                <a:gd name="T65" fmla="*/ 182 h 263"/>
                <a:gd name="T66" fmla="*/ 133 w 159"/>
                <a:gd name="T67" fmla="*/ 187 h 263"/>
                <a:gd name="T68" fmla="*/ 135 w 159"/>
                <a:gd name="T69" fmla="*/ 192 h 263"/>
                <a:gd name="T70" fmla="*/ 137 w 159"/>
                <a:gd name="T71" fmla="*/ 197 h 263"/>
                <a:gd name="T72" fmla="*/ 139 w 159"/>
                <a:gd name="T73" fmla="*/ 203 h 263"/>
                <a:gd name="T74" fmla="*/ 141 w 159"/>
                <a:gd name="T75" fmla="*/ 210 h 263"/>
                <a:gd name="T76" fmla="*/ 143 w 159"/>
                <a:gd name="T77" fmla="*/ 216 h 263"/>
                <a:gd name="T78" fmla="*/ 144 w 159"/>
                <a:gd name="T79" fmla="*/ 224 h 263"/>
                <a:gd name="T80" fmla="*/ 148 w 159"/>
                <a:gd name="T81" fmla="*/ 229 h 263"/>
                <a:gd name="T82" fmla="*/ 149 w 159"/>
                <a:gd name="T83" fmla="*/ 236 h 263"/>
                <a:gd name="T84" fmla="*/ 151 w 159"/>
                <a:gd name="T85" fmla="*/ 242 h 263"/>
                <a:gd name="T86" fmla="*/ 152 w 159"/>
                <a:gd name="T87" fmla="*/ 248 h 263"/>
                <a:gd name="T88" fmla="*/ 154 w 159"/>
                <a:gd name="T89" fmla="*/ 252 h 263"/>
                <a:gd name="T90" fmla="*/ 155 w 159"/>
                <a:gd name="T91" fmla="*/ 256 h 263"/>
                <a:gd name="T92" fmla="*/ 157 w 159"/>
                <a:gd name="T93" fmla="*/ 260 h 263"/>
                <a:gd name="T94" fmla="*/ 157 w 159"/>
                <a:gd name="T95" fmla="*/ 262 h 263"/>
                <a:gd name="T96" fmla="*/ 158 w 159"/>
                <a:gd name="T97" fmla="*/ 26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9" h="263">
                  <a:moveTo>
                    <a:pt x="0" y="0"/>
                  </a:moveTo>
                  <a:lnTo>
                    <a:pt x="0" y="0"/>
                  </a:lnTo>
                  <a:lnTo>
                    <a:pt x="0" y="0"/>
                  </a:lnTo>
                  <a:lnTo>
                    <a:pt x="1" y="0"/>
                  </a:lnTo>
                  <a:lnTo>
                    <a:pt x="3" y="0"/>
                  </a:lnTo>
                  <a:lnTo>
                    <a:pt x="5" y="2"/>
                  </a:lnTo>
                  <a:lnTo>
                    <a:pt x="6" y="2"/>
                  </a:lnTo>
                  <a:lnTo>
                    <a:pt x="9" y="4"/>
                  </a:lnTo>
                  <a:lnTo>
                    <a:pt x="13" y="4"/>
                  </a:lnTo>
                  <a:lnTo>
                    <a:pt x="16" y="6"/>
                  </a:lnTo>
                  <a:lnTo>
                    <a:pt x="20" y="8"/>
                  </a:lnTo>
                  <a:lnTo>
                    <a:pt x="24" y="11"/>
                  </a:lnTo>
                  <a:lnTo>
                    <a:pt x="30" y="13"/>
                  </a:lnTo>
                  <a:lnTo>
                    <a:pt x="35" y="18"/>
                  </a:lnTo>
                  <a:lnTo>
                    <a:pt x="40" y="21"/>
                  </a:lnTo>
                  <a:lnTo>
                    <a:pt x="46" y="27"/>
                  </a:lnTo>
                  <a:lnTo>
                    <a:pt x="54" y="31"/>
                  </a:lnTo>
                  <a:lnTo>
                    <a:pt x="60" y="39"/>
                  </a:lnTo>
                  <a:lnTo>
                    <a:pt x="66" y="46"/>
                  </a:lnTo>
                  <a:lnTo>
                    <a:pt x="72" y="56"/>
                  </a:lnTo>
                  <a:lnTo>
                    <a:pt x="80" y="64"/>
                  </a:lnTo>
                  <a:lnTo>
                    <a:pt x="85" y="76"/>
                  </a:lnTo>
                  <a:lnTo>
                    <a:pt x="91" y="86"/>
                  </a:lnTo>
                  <a:lnTo>
                    <a:pt x="96" y="97"/>
                  </a:lnTo>
                  <a:lnTo>
                    <a:pt x="103" y="108"/>
                  </a:lnTo>
                  <a:lnTo>
                    <a:pt x="106" y="119"/>
                  </a:lnTo>
                  <a:lnTo>
                    <a:pt x="112" y="130"/>
                  </a:lnTo>
                  <a:lnTo>
                    <a:pt x="116" y="141"/>
                  </a:lnTo>
                  <a:lnTo>
                    <a:pt x="121" y="150"/>
                  </a:lnTo>
                  <a:lnTo>
                    <a:pt x="123" y="160"/>
                  </a:lnTo>
                  <a:lnTo>
                    <a:pt x="127" y="168"/>
                  </a:lnTo>
                  <a:lnTo>
                    <a:pt x="130" y="176"/>
                  </a:lnTo>
                  <a:lnTo>
                    <a:pt x="133" y="182"/>
                  </a:lnTo>
                  <a:lnTo>
                    <a:pt x="133" y="187"/>
                  </a:lnTo>
                  <a:lnTo>
                    <a:pt x="135" y="192"/>
                  </a:lnTo>
                  <a:lnTo>
                    <a:pt x="137" y="197"/>
                  </a:lnTo>
                  <a:lnTo>
                    <a:pt x="139" y="203"/>
                  </a:lnTo>
                  <a:lnTo>
                    <a:pt x="141" y="210"/>
                  </a:lnTo>
                  <a:lnTo>
                    <a:pt x="143" y="216"/>
                  </a:lnTo>
                  <a:lnTo>
                    <a:pt x="144" y="224"/>
                  </a:lnTo>
                  <a:lnTo>
                    <a:pt x="148" y="229"/>
                  </a:lnTo>
                  <a:lnTo>
                    <a:pt x="149" y="236"/>
                  </a:lnTo>
                  <a:lnTo>
                    <a:pt x="151" y="242"/>
                  </a:lnTo>
                  <a:lnTo>
                    <a:pt x="152" y="248"/>
                  </a:lnTo>
                  <a:lnTo>
                    <a:pt x="154" y="252"/>
                  </a:lnTo>
                  <a:lnTo>
                    <a:pt x="155" y="256"/>
                  </a:lnTo>
                  <a:lnTo>
                    <a:pt x="157" y="260"/>
                  </a:lnTo>
                  <a:lnTo>
                    <a:pt x="157" y="262"/>
                  </a:lnTo>
                  <a:lnTo>
                    <a:pt x="158" y="262"/>
                  </a:lnTo>
                </a:path>
              </a:pathLst>
            </a:custGeom>
            <a:noFill/>
            <a:ln w="3175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87" name="Freeform 96"/>
            <p:cNvSpPr>
              <a:spLocks/>
            </p:cNvSpPr>
            <p:nvPr/>
          </p:nvSpPr>
          <p:spPr bwMode="auto">
            <a:xfrm>
              <a:off x="6089867" y="5026498"/>
              <a:ext cx="187325" cy="185738"/>
            </a:xfrm>
            <a:custGeom>
              <a:avLst/>
              <a:gdLst>
                <a:gd name="T0" fmla="*/ 0 w 184"/>
                <a:gd name="T1" fmla="*/ 242 h 243"/>
                <a:gd name="T2" fmla="*/ 0 w 184"/>
                <a:gd name="T3" fmla="*/ 241 h 243"/>
                <a:gd name="T4" fmla="*/ 2 w 184"/>
                <a:gd name="T5" fmla="*/ 235 h 243"/>
                <a:gd name="T6" fmla="*/ 5 w 184"/>
                <a:gd name="T7" fmla="*/ 227 h 243"/>
                <a:gd name="T8" fmla="*/ 10 w 184"/>
                <a:gd name="T9" fmla="*/ 214 h 243"/>
                <a:gd name="T10" fmla="*/ 15 w 184"/>
                <a:gd name="T11" fmla="*/ 201 h 243"/>
                <a:gd name="T12" fmla="*/ 21 w 184"/>
                <a:gd name="T13" fmla="*/ 185 h 243"/>
                <a:gd name="T14" fmla="*/ 29 w 184"/>
                <a:gd name="T15" fmla="*/ 168 h 243"/>
                <a:gd name="T16" fmla="*/ 37 w 184"/>
                <a:gd name="T17" fmla="*/ 150 h 243"/>
                <a:gd name="T18" fmla="*/ 45 w 184"/>
                <a:gd name="T19" fmla="*/ 132 h 243"/>
                <a:gd name="T20" fmla="*/ 55 w 184"/>
                <a:gd name="T21" fmla="*/ 114 h 243"/>
                <a:gd name="T22" fmla="*/ 65 w 184"/>
                <a:gd name="T23" fmla="*/ 96 h 243"/>
                <a:gd name="T24" fmla="*/ 76 w 184"/>
                <a:gd name="T25" fmla="*/ 78 h 243"/>
                <a:gd name="T26" fmla="*/ 87 w 184"/>
                <a:gd name="T27" fmla="*/ 62 h 243"/>
                <a:gd name="T28" fmla="*/ 98 w 184"/>
                <a:gd name="T29" fmla="*/ 48 h 243"/>
                <a:gd name="T30" fmla="*/ 109 w 184"/>
                <a:gd name="T31" fmla="*/ 36 h 243"/>
                <a:gd name="T32" fmla="*/ 123 w 184"/>
                <a:gd name="T33" fmla="*/ 27 h 243"/>
                <a:gd name="T34" fmla="*/ 133 w 184"/>
                <a:gd name="T35" fmla="*/ 21 h 243"/>
                <a:gd name="T36" fmla="*/ 143 w 184"/>
                <a:gd name="T37" fmla="*/ 16 h 243"/>
                <a:gd name="T38" fmla="*/ 150 w 184"/>
                <a:gd name="T39" fmla="*/ 11 h 243"/>
                <a:gd name="T40" fmla="*/ 157 w 184"/>
                <a:gd name="T41" fmla="*/ 7 h 243"/>
                <a:gd name="T42" fmla="*/ 163 w 184"/>
                <a:gd name="T43" fmla="*/ 5 h 243"/>
                <a:gd name="T44" fmla="*/ 168 w 184"/>
                <a:gd name="T45" fmla="*/ 2 h 243"/>
                <a:gd name="T46" fmla="*/ 172 w 184"/>
                <a:gd name="T47" fmla="*/ 2 h 243"/>
                <a:gd name="T48" fmla="*/ 176 w 184"/>
                <a:gd name="T49" fmla="*/ 0 h 243"/>
                <a:gd name="T50" fmla="*/ 177 w 184"/>
                <a:gd name="T51" fmla="*/ 0 h 243"/>
                <a:gd name="T52" fmla="*/ 179 w 184"/>
                <a:gd name="T53" fmla="*/ 0 h 243"/>
                <a:gd name="T54" fmla="*/ 179 w 184"/>
                <a:gd name="T55" fmla="*/ 0 h 243"/>
                <a:gd name="T56" fmla="*/ 181 w 184"/>
                <a:gd name="T57" fmla="*/ 0 h 243"/>
                <a:gd name="T58" fmla="*/ 181 w 184"/>
                <a:gd name="T59" fmla="*/ 2 h 243"/>
                <a:gd name="T60" fmla="*/ 182 w 184"/>
                <a:gd name="T61" fmla="*/ 2 h 243"/>
                <a:gd name="T62" fmla="*/ 182 w 184"/>
                <a:gd name="T63" fmla="*/ 2 h 243"/>
                <a:gd name="T64" fmla="*/ 183 w 184"/>
                <a:gd name="T65" fmla="*/ 2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4" h="243">
                  <a:moveTo>
                    <a:pt x="0" y="242"/>
                  </a:moveTo>
                  <a:lnTo>
                    <a:pt x="0" y="241"/>
                  </a:lnTo>
                  <a:lnTo>
                    <a:pt x="2" y="235"/>
                  </a:lnTo>
                  <a:lnTo>
                    <a:pt x="5" y="227"/>
                  </a:lnTo>
                  <a:lnTo>
                    <a:pt x="10" y="214"/>
                  </a:lnTo>
                  <a:lnTo>
                    <a:pt x="15" y="201"/>
                  </a:lnTo>
                  <a:lnTo>
                    <a:pt x="21" y="185"/>
                  </a:lnTo>
                  <a:lnTo>
                    <a:pt x="29" y="168"/>
                  </a:lnTo>
                  <a:lnTo>
                    <a:pt x="37" y="150"/>
                  </a:lnTo>
                  <a:lnTo>
                    <a:pt x="45" y="132"/>
                  </a:lnTo>
                  <a:lnTo>
                    <a:pt x="55" y="114"/>
                  </a:lnTo>
                  <a:lnTo>
                    <a:pt x="65" y="96"/>
                  </a:lnTo>
                  <a:lnTo>
                    <a:pt x="76" y="78"/>
                  </a:lnTo>
                  <a:lnTo>
                    <a:pt x="87" y="62"/>
                  </a:lnTo>
                  <a:lnTo>
                    <a:pt x="98" y="48"/>
                  </a:lnTo>
                  <a:lnTo>
                    <a:pt x="109" y="36"/>
                  </a:lnTo>
                  <a:lnTo>
                    <a:pt x="123" y="27"/>
                  </a:lnTo>
                  <a:lnTo>
                    <a:pt x="133" y="21"/>
                  </a:lnTo>
                  <a:lnTo>
                    <a:pt x="143" y="16"/>
                  </a:lnTo>
                  <a:lnTo>
                    <a:pt x="150" y="11"/>
                  </a:lnTo>
                  <a:lnTo>
                    <a:pt x="157" y="7"/>
                  </a:lnTo>
                  <a:lnTo>
                    <a:pt x="163" y="5"/>
                  </a:lnTo>
                  <a:lnTo>
                    <a:pt x="168" y="2"/>
                  </a:lnTo>
                  <a:lnTo>
                    <a:pt x="172" y="2"/>
                  </a:lnTo>
                  <a:lnTo>
                    <a:pt x="176" y="0"/>
                  </a:lnTo>
                  <a:lnTo>
                    <a:pt x="177" y="0"/>
                  </a:lnTo>
                  <a:lnTo>
                    <a:pt x="179" y="0"/>
                  </a:lnTo>
                  <a:lnTo>
                    <a:pt x="179" y="0"/>
                  </a:lnTo>
                  <a:lnTo>
                    <a:pt x="181" y="0"/>
                  </a:lnTo>
                  <a:lnTo>
                    <a:pt x="181" y="2"/>
                  </a:lnTo>
                  <a:lnTo>
                    <a:pt x="182" y="2"/>
                  </a:lnTo>
                  <a:lnTo>
                    <a:pt x="182" y="2"/>
                  </a:lnTo>
                  <a:lnTo>
                    <a:pt x="183" y="2"/>
                  </a:lnTo>
                </a:path>
              </a:pathLst>
            </a:custGeom>
            <a:noFill/>
            <a:ln w="3175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p>
          </p:txBody>
        </p:sp>
        <p:sp>
          <p:nvSpPr>
            <p:cNvPr id="88" name="Text Box 97"/>
            <p:cNvSpPr txBox="1">
              <a:spLocks noChangeArrowheads="1"/>
            </p:cNvSpPr>
            <p:nvPr/>
          </p:nvSpPr>
          <p:spPr bwMode="auto">
            <a:xfrm>
              <a:off x="5896192" y="5705949"/>
              <a:ext cx="769937"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1200" b="1">
                  <a:solidFill>
                    <a:srgbClr val="000000"/>
                  </a:solidFill>
                </a:rPr>
                <a:t>Data Min</a:t>
              </a:r>
              <a:endParaRPr lang="en-US" altLang="zh-CN" sz="2200">
                <a:latin typeface="Times New Roman" panose="02020603050405020304" pitchFamily="18" charset="0"/>
              </a:endParaRPr>
            </a:p>
          </p:txBody>
        </p:sp>
      </p:grpSp>
      <p:sp>
        <p:nvSpPr>
          <p:cNvPr id="100" name="Text Box 98"/>
          <p:cNvSpPr txBox="1">
            <a:spLocks noChangeArrowheads="1"/>
          </p:cNvSpPr>
          <p:nvPr/>
        </p:nvSpPr>
        <p:spPr bwMode="auto">
          <a:xfrm>
            <a:off x="1759856" y="4156760"/>
            <a:ext cx="2210400" cy="1384995"/>
          </a:xfrm>
          <a:prstGeom prst="rect">
            <a:avLst/>
          </a:prstGeom>
          <a:solidFill>
            <a:schemeClr val="bg1">
              <a:lumMod val="95000"/>
            </a:schemeClr>
          </a:solidFill>
          <a:ln/>
          <a:extLst/>
        </p:spPr>
        <p:style>
          <a:lnRef idx="1">
            <a:schemeClr val="accent3"/>
          </a:lnRef>
          <a:fillRef idx="2">
            <a:schemeClr val="accent3"/>
          </a:fillRef>
          <a:effectRef idx="1">
            <a:schemeClr val="accent3"/>
          </a:effectRef>
          <a:fontRef idx="minor">
            <a:schemeClr val="dk1"/>
          </a:fontRef>
        </p:style>
        <p:txBody>
          <a:bodyPr wrap="square" lIns="0" tIns="0" rIns="0" bIns="0">
            <a:spAutoFit/>
          </a:bodyPr>
          <a:lstStyle/>
          <a:p>
            <a:pPr marL="285750" indent="-285750" eaLnBrk="0" hangingPunct="0">
              <a:lnSpc>
                <a:spcPct val="150000"/>
              </a:lnSpc>
              <a:buFont typeface="Arial" panose="020B0604020202020204" pitchFamily="34" charset="0"/>
              <a:buChar char="•"/>
            </a:pPr>
            <a:r>
              <a:rPr lang="zh-CN" altLang="en-US" sz="1500" dirty="0" smtClean="0">
                <a:solidFill>
                  <a:schemeClr val="tx1"/>
                </a:solidFill>
                <a:latin typeface="微软雅黑" panose="020B0503020204020204" pitchFamily="34" charset="-122"/>
                <a:ea typeface="微软雅黑" panose="020B0503020204020204" pitchFamily="34" charset="-122"/>
              </a:rPr>
              <a:t>被</a:t>
            </a:r>
            <a:r>
              <a:rPr lang="zh-CN" altLang="en-US" sz="1500" dirty="0">
                <a:solidFill>
                  <a:schemeClr val="tx1"/>
                </a:solidFill>
                <a:latin typeface="微软雅黑" panose="020B0503020204020204" pitchFamily="34" charset="-122"/>
                <a:ea typeface="微软雅黑" panose="020B0503020204020204" pitchFamily="34" charset="-122"/>
              </a:rPr>
              <a:t>测件反射</a:t>
            </a:r>
            <a:r>
              <a:rPr lang="zh-CN" altLang="en-US" sz="1500" dirty="0" smtClean="0">
                <a:solidFill>
                  <a:schemeClr val="tx1"/>
                </a:solidFill>
                <a:latin typeface="微软雅黑" panose="020B0503020204020204" pitchFamily="34" charset="-122"/>
                <a:ea typeface="微软雅黑" panose="020B0503020204020204" pitchFamily="34" charset="-122"/>
              </a:rPr>
              <a:t>信号与</a:t>
            </a:r>
            <a:r>
              <a:rPr lang="zh-CN" altLang="en-US" sz="1500" dirty="0">
                <a:solidFill>
                  <a:schemeClr val="tx1"/>
                </a:solidFill>
                <a:latin typeface="微软雅黑" panose="020B0503020204020204" pitchFamily="34" charset="-122"/>
                <a:ea typeface="微软雅黑" panose="020B0503020204020204" pitchFamily="34" charset="-122"/>
              </a:rPr>
              <a:t>定向耦合器泄漏</a:t>
            </a:r>
            <a:r>
              <a:rPr lang="zh-CN" altLang="en-US" sz="1500" dirty="0" smtClean="0">
                <a:solidFill>
                  <a:schemeClr val="tx1"/>
                </a:solidFill>
                <a:latin typeface="微软雅黑" panose="020B0503020204020204" pitchFamily="34" charset="-122"/>
                <a:ea typeface="微软雅黑" panose="020B0503020204020204" pitchFamily="34" charset="-122"/>
              </a:rPr>
              <a:t>的输入信号在</a:t>
            </a:r>
            <a:r>
              <a:rPr lang="zh-CN" altLang="en-US" sz="1500" dirty="0">
                <a:solidFill>
                  <a:schemeClr val="tx1"/>
                </a:solidFill>
                <a:latin typeface="微软雅黑" panose="020B0503020204020204" pitchFamily="34" charset="-122"/>
                <a:ea typeface="微软雅黑" panose="020B0503020204020204" pitchFamily="34" charset="-122"/>
              </a:rPr>
              <a:t>接收机端矢量</a:t>
            </a:r>
            <a:r>
              <a:rPr lang="zh-CN" altLang="en-US" sz="1500" dirty="0" smtClean="0">
                <a:solidFill>
                  <a:schemeClr val="tx1"/>
                </a:solidFill>
                <a:latin typeface="微软雅黑" panose="020B0503020204020204" pitchFamily="34" charset="-122"/>
                <a:ea typeface="微软雅黑" panose="020B0503020204020204" pitchFamily="34" charset="-122"/>
              </a:rPr>
              <a:t>叠加，影响</a:t>
            </a:r>
            <a:r>
              <a:rPr lang="zh-CN" altLang="en-US" sz="1500" dirty="0">
                <a:solidFill>
                  <a:schemeClr val="tx1"/>
                </a:solidFill>
                <a:latin typeface="微软雅黑" panose="020B0503020204020204" pitchFamily="34" charset="-122"/>
                <a:ea typeface="微软雅黑" panose="020B0503020204020204" pitchFamily="34" charset="-122"/>
              </a:rPr>
              <a:t>测试精度</a:t>
            </a:r>
          </a:p>
        </p:txBody>
      </p:sp>
      <p:sp>
        <p:nvSpPr>
          <p:cNvPr id="101" name="Line 99"/>
          <p:cNvSpPr>
            <a:spLocks noChangeShapeType="1"/>
          </p:cNvSpPr>
          <p:nvPr/>
        </p:nvSpPr>
        <p:spPr bwMode="auto">
          <a:xfrm flipV="1">
            <a:off x="1024128" y="4053204"/>
            <a:ext cx="10222991" cy="33287"/>
          </a:xfrm>
          <a:prstGeom prst="line">
            <a:avLst/>
          </a:prstGeom>
          <a:ln w="38100">
            <a:headEnd type="none" w="sm" len="sm"/>
            <a:tailEnd type="none" w="sm" len="sm"/>
          </a:ln>
          <a:extLst/>
        </p:spPr>
        <p:style>
          <a:lnRef idx="1">
            <a:schemeClr val="accent3"/>
          </a:lnRef>
          <a:fillRef idx="0">
            <a:schemeClr val="accent3"/>
          </a:fillRef>
          <a:effectRef idx="0">
            <a:schemeClr val="accent3"/>
          </a:effectRef>
          <a:fontRef idx="minor">
            <a:schemeClr val="tx1"/>
          </a:fontRef>
        </p:style>
        <p:txBody>
          <a:bodyPr lIns="0" tIns="0" rIns="0" bIns="0"/>
          <a:lstStyle/>
          <a:p>
            <a:pPr>
              <a:lnSpc>
                <a:spcPct val="150000"/>
              </a:lnSpc>
            </a:pPr>
            <a:endParaRPr lang="zh-CN" altLang="en-US"/>
          </a:p>
        </p:txBody>
      </p:sp>
    </p:spTree>
    <p:extLst>
      <p:ext uri="{BB962C8B-B14F-4D97-AF65-F5344CB8AC3E}">
        <p14:creationId xmlns:p14="http://schemas.microsoft.com/office/powerpoint/2010/main" val="341587767"/>
      </p:ext>
    </p:extLst>
  </p:cSld>
  <p:clrMapOvr>
    <a:masterClrMapping/>
  </p:clrMapOvr>
  <p:transition spd="slow">
    <p:push di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网络分析仪</a:t>
            </a:r>
            <a:r>
              <a:rPr lang="zh-CN" altLang="en-US" dirty="0" smtClean="0"/>
              <a:t>测量误差</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CEF4B673-5B6E-45E8-B403-0B0CF539F5EE}" type="datetime3">
              <a:rPr lang="zh-CN" altLang="en-US" smtClean="0"/>
              <a:t>2019年5月6日星期一</a:t>
            </a:fld>
            <a:endParaRPr lang="zh-CN" altLang="en-US"/>
          </a:p>
        </p:txBody>
      </p:sp>
      <p:sp>
        <p:nvSpPr>
          <p:cNvPr id="10" name="页脚占位符 9"/>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15" name="灯片编号占位符 14"/>
          <p:cNvSpPr>
            <a:spLocks noGrp="1"/>
          </p:cNvSpPr>
          <p:nvPr>
            <p:ph type="sldNum" sz="quarter" idx="12"/>
          </p:nvPr>
        </p:nvSpPr>
        <p:spPr/>
        <p:txBody>
          <a:bodyPr/>
          <a:lstStyle/>
          <a:p>
            <a:fld id="{D5BA5A3D-E723-4639-877B-B187790AC552}" type="slidenum">
              <a:rPr lang="zh-CN" altLang="en-US" smtClean="0"/>
              <a:pPr/>
              <a:t>15</a:t>
            </a:fld>
            <a:endParaRPr lang="zh-CN" altLang="en-US"/>
          </a:p>
        </p:txBody>
      </p:sp>
      <p:sp>
        <p:nvSpPr>
          <p:cNvPr id="6" name="Freeform 5"/>
          <p:cNvSpPr>
            <a:spLocks/>
          </p:cNvSpPr>
          <p:nvPr/>
        </p:nvSpPr>
        <p:spPr bwMode="auto">
          <a:xfrm>
            <a:off x="2349627" y="1843117"/>
            <a:ext cx="2089872" cy="403672"/>
          </a:xfrm>
          <a:custGeom>
            <a:avLst/>
            <a:gdLst>
              <a:gd name="T0" fmla="*/ 711 w 712"/>
              <a:gd name="T1" fmla="*/ 0 h 413"/>
              <a:gd name="T2" fmla="*/ 0 w 712"/>
              <a:gd name="T3" fmla="*/ 0 h 413"/>
              <a:gd name="T4" fmla="*/ 0 w 712"/>
              <a:gd name="T5" fmla="*/ 412 h 413"/>
            </a:gdLst>
            <a:ahLst/>
            <a:cxnLst>
              <a:cxn ang="0">
                <a:pos x="T0" y="T1"/>
              </a:cxn>
              <a:cxn ang="0">
                <a:pos x="T2" y="T3"/>
              </a:cxn>
              <a:cxn ang="0">
                <a:pos x="T4" y="T5"/>
              </a:cxn>
            </a:cxnLst>
            <a:rect l="0" t="0" r="r" b="b"/>
            <a:pathLst>
              <a:path w="712" h="413">
                <a:moveTo>
                  <a:pt x="711" y="0"/>
                </a:moveTo>
                <a:lnTo>
                  <a:pt x="0" y="0"/>
                </a:lnTo>
                <a:lnTo>
                  <a:pt x="0" y="412"/>
                </a:lnTo>
              </a:path>
            </a:pathLst>
          </a:custGeom>
          <a:noFill/>
          <a:ln w="9525" cap="flat" cmpd="sng">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7" name="Freeform 6"/>
          <p:cNvSpPr>
            <a:spLocks/>
          </p:cNvSpPr>
          <p:nvPr/>
        </p:nvSpPr>
        <p:spPr bwMode="auto">
          <a:xfrm>
            <a:off x="2349627" y="2644377"/>
            <a:ext cx="1989892" cy="371599"/>
          </a:xfrm>
          <a:custGeom>
            <a:avLst/>
            <a:gdLst>
              <a:gd name="T0" fmla="*/ 0 w 679"/>
              <a:gd name="T1" fmla="*/ 23 h 381"/>
              <a:gd name="T2" fmla="*/ 0 w 679"/>
              <a:gd name="T3" fmla="*/ 0 h 381"/>
              <a:gd name="T4" fmla="*/ 0 w 679"/>
              <a:gd name="T5" fmla="*/ 380 h 381"/>
              <a:gd name="T6" fmla="*/ 678 w 679"/>
              <a:gd name="T7" fmla="*/ 380 h 381"/>
            </a:gdLst>
            <a:ahLst/>
            <a:cxnLst>
              <a:cxn ang="0">
                <a:pos x="T0" y="T1"/>
              </a:cxn>
              <a:cxn ang="0">
                <a:pos x="T2" y="T3"/>
              </a:cxn>
              <a:cxn ang="0">
                <a:pos x="T4" y="T5"/>
              </a:cxn>
              <a:cxn ang="0">
                <a:pos x="T6" y="T7"/>
              </a:cxn>
            </a:cxnLst>
            <a:rect l="0" t="0" r="r" b="b"/>
            <a:pathLst>
              <a:path w="679" h="381">
                <a:moveTo>
                  <a:pt x="0" y="23"/>
                </a:moveTo>
                <a:lnTo>
                  <a:pt x="0" y="0"/>
                </a:lnTo>
                <a:lnTo>
                  <a:pt x="0" y="380"/>
                </a:lnTo>
                <a:lnTo>
                  <a:pt x="678" y="380"/>
                </a:lnTo>
              </a:path>
            </a:pathLst>
          </a:custGeom>
          <a:noFill/>
          <a:ln w="9525" cap="flat" cmpd="sng">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8" name="Freeform 7"/>
          <p:cNvSpPr>
            <a:spLocks/>
          </p:cNvSpPr>
          <p:nvPr/>
        </p:nvSpPr>
        <p:spPr bwMode="auto">
          <a:xfrm>
            <a:off x="7918142" y="1840905"/>
            <a:ext cx="1847990" cy="393718"/>
          </a:xfrm>
          <a:custGeom>
            <a:avLst/>
            <a:gdLst>
              <a:gd name="T0" fmla="*/ 0 w 630"/>
              <a:gd name="T1" fmla="*/ 0 h 404"/>
              <a:gd name="T2" fmla="*/ 629 w 630"/>
              <a:gd name="T3" fmla="*/ 0 h 404"/>
              <a:gd name="T4" fmla="*/ 629 w 630"/>
              <a:gd name="T5" fmla="*/ 403 h 404"/>
            </a:gdLst>
            <a:ahLst/>
            <a:cxnLst>
              <a:cxn ang="0">
                <a:pos x="T0" y="T1"/>
              </a:cxn>
              <a:cxn ang="0">
                <a:pos x="T2" y="T3"/>
              </a:cxn>
              <a:cxn ang="0">
                <a:pos x="T4" y="T5"/>
              </a:cxn>
            </a:cxnLst>
            <a:rect l="0" t="0" r="r" b="b"/>
            <a:pathLst>
              <a:path w="630" h="404">
                <a:moveTo>
                  <a:pt x="0" y="0"/>
                </a:moveTo>
                <a:lnTo>
                  <a:pt x="629" y="0"/>
                </a:lnTo>
                <a:lnTo>
                  <a:pt x="629" y="403"/>
                </a:lnTo>
              </a:path>
            </a:pathLst>
          </a:custGeom>
          <a:noFill/>
          <a:ln w="9525" cap="flat" cmpd="sng">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9" name="Freeform 8"/>
          <p:cNvSpPr>
            <a:spLocks/>
          </p:cNvSpPr>
          <p:nvPr/>
        </p:nvSpPr>
        <p:spPr bwMode="auto">
          <a:xfrm>
            <a:off x="7927819" y="2671916"/>
            <a:ext cx="1838313" cy="391507"/>
          </a:xfrm>
          <a:custGeom>
            <a:avLst/>
            <a:gdLst>
              <a:gd name="T0" fmla="*/ 627 w 628"/>
              <a:gd name="T1" fmla="*/ 0 h 401"/>
              <a:gd name="T2" fmla="*/ 627 w 628"/>
              <a:gd name="T3" fmla="*/ 400 h 401"/>
              <a:gd name="T4" fmla="*/ 0 w 628"/>
              <a:gd name="T5" fmla="*/ 400 h 401"/>
            </a:gdLst>
            <a:ahLst/>
            <a:cxnLst>
              <a:cxn ang="0">
                <a:pos x="T0" y="T1"/>
              </a:cxn>
              <a:cxn ang="0">
                <a:pos x="T2" y="T3"/>
              </a:cxn>
              <a:cxn ang="0">
                <a:pos x="T4" y="T5"/>
              </a:cxn>
            </a:cxnLst>
            <a:rect l="0" t="0" r="r" b="b"/>
            <a:pathLst>
              <a:path w="628" h="401">
                <a:moveTo>
                  <a:pt x="627" y="0"/>
                </a:moveTo>
                <a:lnTo>
                  <a:pt x="627" y="400"/>
                </a:lnTo>
                <a:lnTo>
                  <a:pt x="0" y="400"/>
                </a:lnTo>
              </a:path>
            </a:pathLst>
          </a:custGeom>
          <a:noFill/>
          <a:ln w="9525" cap="flat" cmpd="sng">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b="1">
              <a:latin typeface="微软雅黑" panose="020B0503020204020204" pitchFamily="34" charset="-122"/>
              <a:ea typeface="微软雅黑" panose="020B0503020204020204" pitchFamily="34" charset="-122"/>
            </a:endParaRPr>
          </a:p>
        </p:txBody>
      </p:sp>
      <p:sp>
        <p:nvSpPr>
          <p:cNvPr id="11" name="Text Box 10"/>
          <p:cNvSpPr txBox="1">
            <a:spLocks noChangeArrowheads="1"/>
          </p:cNvSpPr>
          <p:nvPr/>
        </p:nvSpPr>
        <p:spPr bwMode="auto">
          <a:xfrm>
            <a:off x="1359878" y="2283114"/>
            <a:ext cx="2047946" cy="305242"/>
          </a:xfrm>
          <a:prstGeom prst="rect">
            <a:avLst/>
          </a:prstGeom>
          <a:solidFill>
            <a:srgbClr val="004098"/>
          </a:solidFill>
          <a:ln>
            <a:noFill/>
          </a:ln>
          <a:effectLs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zh-CN" altLang="en-US" sz="1500" b="1" dirty="0">
                <a:solidFill>
                  <a:schemeClr val="bg1"/>
                </a:solidFill>
                <a:latin typeface="微软雅黑" panose="020B0503020204020204" pitchFamily="34" charset="-122"/>
                <a:ea typeface="微软雅黑" panose="020B0503020204020204" pitchFamily="34" charset="-122"/>
              </a:rPr>
              <a:t>测试数据</a:t>
            </a:r>
          </a:p>
        </p:txBody>
      </p:sp>
      <p:sp>
        <p:nvSpPr>
          <p:cNvPr id="12" name="Text Box 11"/>
          <p:cNvSpPr txBox="1">
            <a:spLocks noChangeArrowheads="1"/>
          </p:cNvSpPr>
          <p:nvPr/>
        </p:nvSpPr>
        <p:spPr bwMode="auto">
          <a:xfrm>
            <a:off x="4973618" y="2154995"/>
            <a:ext cx="2767145" cy="154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zh-CN" altLang="en-US" sz="1700" b="1" dirty="0">
                <a:solidFill>
                  <a:srgbClr val="000000"/>
                </a:solidFill>
                <a:latin typeface="微软雅黑" panose="020B0503020204020204" pitchFamily="34" charset="-122"/>
                <a:ea typeface="微软雅黑" panose="020B0503020204020204" pitchFamily="34" charset="-122"/>
              </a:rPr>
              <a:t>系统误差</a:t>
            </a:r>
            <a:endParaRPr lang="zh-CN" altLang="en-US" sz="2200" b="1" dirty="0">
              <a:latin typeface="微软雅黑" panose="020B0503020204020204" pitchFamily="34" charset="-122"/>
              <a:ea typeface="微软雅黑" panose="020B0503020204020204" pitchFamily="34" charset="-122"/>
            </a:endParaRPr>
          </a:p>
        </p:txBody>
      </p:sp>
      <p:sp>
        <p:nvSpPr>
          <p:cNvPr id="13" name="Text Box 12"/>
          <p:cNvSpPr txBox="1">
            <a:spLocks noChangeArrowheads="1"/>
          </p:cNvSpPr>
          <p:nvPr/>
        </p:nvSpPr>
        <p:spPr bwMode="auto">
          <a:xfrm>
            <a:off x="5415458" y="2451390"/>
            <a:ext cx="1918942" cy="155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zh-CN" altLang="en-US" sz="1700" b="1" dirty="0">
                <a:solidFill>
                  <a:srgbClr val="000000"/>
                </a:solidFill>
                <a:latin typeface="微软雅黑" panose="020B0503020204020204" pitchFamily="34" charset="-122"/>
                <a:ea typeface="微软雅黑" panose="020B0503020204020204" pitchFamily="34" charset="-122"/>
              </a:rPr>
              <a:t>随机误差</a:t>
            </a:r>
            <a:endParaRPr lang="zh-CN" altLang="en-US" sz="2200" b="1" dirty="0">
              <a:latin typeface="微软雅黑" panose="020B0503020204020204" pitchFamily="34" charset="-122"/>
              <a:ea typeface="微软雅黑" panose="020B0503020204020204" pitchFamily="34" charset="-122"/>
            </a:endParaRPr>
          </a:p>
        </p:txBody>
      </p:sp>
      <p:sp>
        <p:nvSpPr>
          <p:cNvPr id="14" name="Text Box 13"/>
          <p:cNvSpPr txBox="1">
            <a:spLocks noChangeArrowheads="1"/>
          </p:cNvSpPr>
          <p:nvPr/>
        </p:nvSpPr>
        <p:spPr bwMode="auto">
          <a:xfrm>
            <a:off x="5299354" y="2752208"/>
            <a:ext cx="2035046" cy="155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zh-CN" altLang="en-US" sz="1700" b="1" dirty="0">
                <a:solidFill>
                  <a:srgbClr val="000000"/>
                </a:solidFill>
                <a:latin typeface="微软雅黑" panose="020B0503020204020204" pitchFamily="34" charset="-122"/>
                <a:ea typeface="微软雅黑" panose="020B0503020204020204" pitchFamily="34" charset="-122"/>
              </a:rPr>
              <a:t>飘移误差</a:t>
            </a:r>
            <a:endParaRPr lang="zh-CN" altLang="en-US" sz="2200" b="1" dirty="0">
              <a:latin typeface="微软雅黑" panose="020B0503020204020204" pitchFamily="34" charset="-122"/>
              <a:ea typeface="微软雅黑" panose="020B0503020204020204" pitchFamily="34" charset="-122"/>
            </a:endParaRPr>
          </a:p>
        </p:txBody>
      </p:sp>
      <p:sp>
        <p:nvSpPr>
          <p:cNvPr id="5" name="Freeform 4"/>
          <p:cNvSpPr>
            <a:spLocks/>
          </p:cNvSpPr>
          <p:nvPr/>
        </p:nvSpPr>
        <p:spPr bwMode="auto">
          <a:xfrm>
            <a:off x="3728726" y="1694920"/>
            <a:ext cx="4892492" cy="1511835"/>
          </a:xfrm>
          <a:prstGeom prst="rect">
            <a:avLst/>
          </a:prstGeom>
          <a:solidFill>
            <a:schemeClr val="bg1">
              <a:lumMod val="95000"/>
            </a:schemeClr>
          </a:solidFill>
          <a:ln w="9525" cap="flat" cmpd="sng">
            <a:solidFill>
              <a:schemeClr val="bg1">
                <a:lumMod val="85000"/>
              </a:schemeClr>
            </a:solidFill>
            <a:prstDash val="solid"/>
            <a:round/>
            <a:headEnd type="none" w="med" len="med"/>
            <a:tailEnd type="none" w="med" len="med"/>
          </a:ln>
          <a:effectLst/>
          <a:extLst/>
        </p:spPr>
        <p:txBody>
          <a:bodyPr/>
          <a:lstStyle/>
          <a:p>
            <a:pPr algn="ctr">
              <a:lnSpc>
                <a:spcPct val="150000"/>
              </a:lnSpc>
            </a:pPr>
            <a:r>
              <a:rPr lang="zh-CN" altLang="en-US" b="1" dirty="0" smtClean="0">
                <a:latin typeface="微软雅黑" panose="020B0503020204020204" pitchFamily="34" charset="-122"/>
                <a:ea typeface="微软雅黑" panose="020B0503020204020204" pitchFamily="34" charset="-122"/>
              </a:rPr>
              <a:t>系统误差</a:t>
            </a:r>
            <a:endParaRPr lang="en-US" altLang="zh-CN" b="1" dirty="0" smtClean="0">
              <a:latin typeface="微软雅黑" panose="020B0503020204020204" pitchFamily="34" charset="-122"/>
              <a:ea typeface="微软雅黑" panose="020B0503020204020204" pitchFamily="34" charset="-122"/>
            </a:endParaRPr>
          </a:p>
          <a:p>
            <a:pPr algn="ctr">
              <a:lnSpc>
                <a:spcPct val="150000"/>
              </a:lnSpc>
            </a:pPr>
            <a:r>
              <a:rPr lang="zh-CN" altLang="en-US" b="1" dirty="0" smtClean="0">
                <a:latin typeface="微软雅黑" panose="020B0503020204020204" pitchFamily="34" charset="-122"/>
                <a:ea typeface="微软雅黑" panose="020B0503020204020204" pitchFamily="34" charset="-122"/>
              </a:rPr>
              <a:t>随机误差</a:t>
            </a:r>
            <a:endParaRPr lang="en-US" altLang="zh-CN" b="1" dirty="0" smtClean="0">
              <a:latin typeface="微软雅黑" panose="020B0503020204020204" pitchFamily="34" charset="-122"/>
              <a:ea typeface="微软雅黑" panose="020B0503020204020204" pitchFamily="34" charset="-122"/>
            </a:endParaRPr>
          </a:p>
          <a:p>
            <a:pPr algn="ctr">
              <a:lnSpc>
                <a:spcPct val="150000"/>
              </a:lnSpc>
            </a:pPr>
            <a:r>
              <a:rPr lang="zh-CN" altLang="en-US" b="1" dirty="0" smtClean="0">
                <a:latin typeface="微软雅黑" panose="020B0503020204020204" pitchFamily="34" charset="-122"/>
                <a:ea typeface="微软雅黑" panose="020B0503020204020204" pitchFamily="34" charset="-122"/>
              </a:rPr>
              <a:t>漂移误差</a:t>
            </a:r>
            <a:endParaRPr lang="zh-CN" altLang="en-US" b="1" dirty="0">
              <a:latin typeface="微软雅黑" panose="020B0503020204020204" pitchFamily="34" charset="-122"/>
              <a:ea typeface="微软雅黑" panose="020B0503020204020204" pitchFamily="34" charset="-122"/>
            </a:endParaRPr>
          </a:p>
        </p:txBody>
      </p:sp>
      <p:sp>
        <p:nvSpPr>
          <p:cNvPr id="45" name="Text Box 10"/>
          <p:cNvSpPr txBox="1">
            <a:spLocks noChangeArrowheads="1"/>
          </p:cNvSpPr>
          <p:nvPr/>
        </p:nvSpPr>
        <p:spPr bwMode="auto">
          <a:xfrm>
            <a:off x="8746598" y="2283114"/>
            <a:ext cx="2047946" cy="305242"/>
          </a:xfrm>
          <a:prstGeom prst="rect">
            <a:avLst/>
          </a:prstGeom>
          <a:solidFill>
            <a:srgbClr val="004098"/>
          </a:solidFill>
          <a:ln>
            <a:noFill/>
          </a:ln>
          <a:effectLs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zh-CN" altLang="en-US" sz="1500" b="1" dirty="0">
                <a:solidFill>
                  <a:schemeClr val="bg1"/>
                </a:solidFill>
                <a:latin typeface="微软雅黑" panose="020B0503020204020204" pitchFamily="34" charset="-122"/>
                <a:ea typeface="微软雅黑" panose="020B0503020204020204" pitchFamily="34" charset="-122"/>
              </a:rPr>
              <a:t>被测件性能</a:t>
            </a:r>
          </a:p>
        </p:txBody>
      </p:sp>
      <p:graphicFrame>
        <p:nvGraphicFramePr>
          <p:cNvPr id="19" name="表格 18"/>
          <p:cNvGraphicFramePr>
            <a:graphicFrameLocks noGrp="1"/>
          </p:cNvGraphicFramePr>
          <p:nvPr>
            <p:extLst>
              <p:ext uri="{D42A27DB-BD31-4B8C-83A1-F6EECF244321}">
                <p14:modId xmlns:p14="http://schemas.microsoft.com/office/powerpoint/2010/main" val="697478566"/>
              </p:ext>
            </p:extLst>
          </p:nvPr>
        </p:nvGraphicFramePr>
        <p:xfrm>
          <a:off x="838200" y="3543713"/>
          <a:ext cx="10253946" cy="2619010"/>
        </p:xfrm>
        <a:graphic>
          <a:graphicData uri="http://schemas.openxmlformats.org/drawingml/2006/table">
            <a:tbl>
              <a:tblPr firstRow="1" bandRow="1">
                <a:tableStyleId>{5C22544A-7EE6-4342-B048-85BDC9FD1C3A}</a:tableStyleId>
              </a:tblPr>
              <a:tblGrid>
                <a:gridCol w="3417982"/>
                <a:gridCol w="3417982"/>
                <a:gridCol w="3417982"/>
              </a:tblGrid>
              <a:tr h="321489">
                <a:tc>
                  <a:txBody>
                    <a:bodyPr/>
                    <a:lstStyle/>
                    <a:p>
                      <a:pPr algn="ctr" eaLnBrk="0" hangingPunct="0">
                        <a:lnSpc>
                          <a:spcPct val="150000"/>
                        </a:lnSpc>
                        <a:buClr>
                          <a:srgbClr val="000000"/>
                        </a:buClr>
                        <a:buSzPct val="90000"/>
                        <a:buFont typeface="Monotype Sorts" pitchFamily="2" charset="2"/>
                        <a:buNone/>
                      </a:pPr>
                      <a:r>
                        <a:rPr lang="zh-CN" altLang="en-US" sz="1800" dirty="0" smtClean="0">
                          <a:solidFill>
                            <a:srgbClr val="004098"/>
                          </a:solidFill>
                          <a:latin typeface="微软雅黑" panose="020B0503020204020204" pitchFamily="34" charset="-122"/>
                          <a:ea typeface="微软雅黑" panose="020B0503020204020204" pitchFamily="34" charset="-122"/>
                        </a:rPr>
                        <a:t>系统误差</a:t>
                      </a:r>
                      <a:endParaRPr lang="zh-CN" altLang="en-US" sz="1800" dirty="0">
                        <a:solidFill>
                          <a:srgbClr val="004098"/>
                        </a:solidFill>
                        <a:latin typeface="微软雅黑" panose="020B0503020204020204" pitchFamily="34" charset="-122"/>
                        <a:ea typeface="微软雅黑" panose="020B0503020204020204" pitchFamily="34" charset="-122"/>
                      </a:endParaRPr>
                    </a:p>
                  </a:txBody>
                  <a:tcPr anchor="ctr">
                    <a:lnL w="28575"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rgbClr val="004098"/>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eaLnBrk="0" hangingPunct="0">
                        <a:lnSpc>
                          <a:spcPct val="150000"/>
                        </a:lnSpc>
                        <a:buClr>
                          <a:srgbClr val="000000"/>
                        </a:buClr>
                        <a:buSzPct val="90000"/>
                        <a:buFont typeface="Monotype Sorts" pitchFamily="2" charset="2"/>
                        <a:buNone/>
                      </a:pPr>
                      <a:r>
                        <a:rPr lang="zh-CN" altLang="en-US" sz="1800" dirty="0" smtClean="0">
                          <a:solidFill>
                            <a:srgbClr val="004098"/>
                          </a:solidFill>
                          <a:latin typeface="微软雅黑" panose="020B0503020204020204" pitchFamily="34" charset="-122"/>
                          <a:ea typeface="微软雅黑" panose="020B0503020204020204" pitchFamily="34" charset="-122"/>
                        </a:rPr>
                        <a:t>随机误差</a:t>
                      </a:r>
                      <a:endParaRPr lang="zh-CN" altLang="en-US" sz="1800" dirty="0">
                        <a:solidFill>
                          <a:srgbClr val="004098"/>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rgbClr val="004098"/>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smtClean="0">
                          <a:solidFill>
                            <a:srgbClr val="004098"/>
                          </a:solidFill>
                        </a:rPr>
                        <a:t>漂移误差</a:t>
                      </a:r>
                    </a:p>
                  </a:txBody>
                  <a:tcPr anchor="ctr">
                    <a:lnL w="12700" cap="flat" cmpd="sng" algn="ctr">
                      <a:solidFill>
                        <a:schemeClr val="bg1">
                          <a:lumMod val="85000"/>
                        </a:schemeClr>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004098"/>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2116090">
                <a:tc>
                  <a:txBody>
                    <a:bodyPr/>
                    <a:lstStyle/>
                    <a:p>
                      <a:pPr marL="285750" indent="-285750">
                        <a:buFont typeface="Arial" panose="020B0604020202020204" pitchFamily="34" charset="0"/>
                        <a:buChar char="•"/>
                      </a:pPr>
                      <a:r>
                        <a:rPr lang="zh-CN" altLang="en-US" dirty="0" smtClean="0">
                          <a:solidFill>
                            <a:schemeClr val="tx1"/>
                          </a:solidFill>
                        </a:rPr>
                        <a:t>由于测试仪表原理或测试设备引起</a:t>
                      </a:r>
                    </a:p>
                    <a:p>
                      <a:pPr marL="285750" indent="-285750">
                        <a:buFont typeface="Arial" panose="020B0604020202020204" pitchFamily="34" charset="0"/>
                        <a:buChar char="•"/>
                      </a:pPr>
                      <a:r>
                        <a:rPr lang="zh-CN" altLang="en-US" dirty="0" smtClean="0">
                          <a:solidFill>
                            <a:schemeClr val="tx1"/>
                          </a:solidFill>
                        </a:rPr>
                        <a:t>变化有规律</a:t>
                      </a:r>
                    </a:p>
                    <a:p>
                      <a:pPr marL="285750" indent="-285750">
                        <a:buFont typeface="Arial" panose="020B0604020202020204" pitchFamily="34" charset="0"/>
                        <a:buChar char="•"/>
                      </a:pPr>
                      <a:r>
                        <a:rPr lang="zh-CN" altLang="en-US" dirty="0" smtClean="0">
                          <a:solidFill>
                            <a:srgbClr val="004098"/>
                          </a:solidFill>
                        </a:rPr>
                        <a:t>能够被定量描述</a:t>
                      </a:r>
                    </a:p>
                    <a:p>
                      <a:pPr marL="285750" indent="-285750">
                        <a:buFont typeface="Arial" panose="020B0604020202020204" pitchFamily="34" charset="0"/>
                        <a:buChar char="•"/>
                      </a:pPr>
                      <a:r>
                        <a:rPr lang="zh-CN" altLang="en-US" dirty="0" smtClean="0">
                          <a:solidFill>
                            <a:srgbClr val="004098"/>
                          </a:solidFill>
                        </a:rPr>
                        <a:t>可通过校准消除</a:t>
                      </a:r>
                    </a:p>
                    <a:p>
                      <a:endParaRPr lang="zh-CN" altLang="en-US" dirty="0">
                        <a:solidFill>
                          <a:schemeClr val="tx1"/>
                        </a:solidFill>
                      </a:endParaRPr>
                    </a:p>
                  </a:txBody>
                  <a:tcPr>
                    <a:lnL w="28575"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rgbClr val="004098"/>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zh-CN" altLang="en-US" dirty="0" smtClean="0">
                          <a:solidFill>
                            <a:schemeClr val="tx1"/>
                          </a:solidFill>
                        </a:rPr>
                        <a:t>随时间随机变化</a:t>
                      </a:r>
                    </a:p>
                    <a:p>
                      <a:pPr marL="285750" indent="-285750">
                        <a:buFont typeface="Arial" panose="020B0604020202020204" pitchFamily="34" charset="0"/>
                        <a:buChar char="•"/>
                      </a:pPr>
                      <a:r>
                        <a:rPr lang="zh-CN" altLang="en-US" dirty="0" smtClean="0">
                          <a:solidFill>
                            <a:srgbClr val="004098"/>
                          </a:solidFill>
                        </a:rPr>
                        <a:t>不能通过校准消除</a:t>
                      </a:r>
                    </a:p>
                    <a:p>
                      <a:pPr marL="285750" indent="-285750">
                        <a:buFont typeface="Arial" panose="020B0604020202020204" pitchFamily="34" charset="0"/>
                        <a:buChar char="•"/>
                      </a:pPr>
                      <a:r>
                        <a:rPr lang="zh-CN" altLang="en-US" dirty="0" smtClean="0">
                          <a:solidFill>
                            <a:schemeClr val="tx1"/>
                          </a:solidFill>
                        </a:rPr>
                        <a:t>引起随机误差的原因</a:t>
                      </a:r>
                      <a:r>
                        <a:rPr lang="en-US" altLang="zh-CN" dirty="0" smtClean="0">
                          <a:solidFill>
                            <a:schemeClr val="tx1"/>
                          </a:solidFill>
                        </a:rPr>
                        <a:t>:</a:t>
                      </a:r>
                    </a:p>
                    <a:p>
                      <a:pPr marL="742950" lvl="1" indent="-285750">
                        <a:buFont typeface="Arial" panose="020B0604020202020204" pitchFamily="34" charset="0"/>
                        <a:buChar char="•"/>
                      </a:pPr>
                      <a:r>
                        <a:rPr lang="zh-CN" altLang="en-US" dirty="0" smtClean="0">
                          <a:solidFill>
                            <a:schemeClr val="tx1"/>
                          </a:solidFill>
                        </a:rPr>
                        <a:t>设备噪声</a:t>
                      </a:r>
                    </a:p>
                    <a:p>
                      <a:pPr marL="742950" lvl="1" indent="-285750">
                        <a:buFont typeface="Arial" panose="020B0604020202020204" pitchFamily="34" charset="0"/>
                        <a:buChar char="•"/>
                      </a:pPr>
                      <a:r>
                        <a:rPr lang="zh-CN" altLang="en-US" dirty="0" smtClean="0">
                          <a:solidFill>
                            <a:schemeClr val="tx1"/>
                          </a:solidFill>
                        </a:rPr>
                        <a:t>开关重复性</a:t>
                      </a:r>
                    </a:p>
                    <a:p>
                      <a:pPr marL="742950" lvl="1" indent="-285750">
                        <a:buFont typeface="Arial" panose="020B0604020202020204" pitchFamily="34" charset="0"/>
                        <a:buChar char="•"/>
                      </a:pPr>
                      <a:r>
                        <a:rPr lang="zh-CN" altLang="en-US" dirty="0" smtClean="0">
                          <a:solidFill>
                            <a:schemeClr val="tx1"/>
                          </a:solidFill>
                        </a:rPr>
                        <a:t>连接器重复性</a:t>
                      </a:r>
                    </a:p>
                    <a:p>
                      <a:endParaRPr lang="zh-CN" alt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rgbClr val="004098"/>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zh-CN" altLang="en-US" dirty="0" smtClean="0">
                          <a:solidFill>
                            <a:schemeClr val="tx1"/>
                          </a:solidFill>
                        </a:rPr>
                        <a:t>校准后仪表性能变化</a:t>
                      </a:r>
                    </a:p>
                    <a:p>
                      <a:pPr marL="285750" indent="-285750">
                        <a:buFont typeface="Arial" panose="020B0604020202020204" pitchFamily="34" charset="0"/>
                        <a:buChar char="•"/>
                      </a:pPr>
                      <a:r>
                        <a:rPr lang="zh-CN" altLang="en-US" dirty="0" smtClean="0">
                          <a:solidFill>
                            <a:schemeClr val="tx1"/>
                          </a:solidFill>
                        </a:rPr>
                        <a:t>主要由温度变化造成</a:t>
                      </a:r>
                    </a:p>
                    <a:p>
                      <a:pPr marL="285750" indent="-285750">
                        <a:buFont typeface="Arial" panose="020B0604020202020204" pitchFamily="34" charset="0"/>
                        <a:buChar char="•"/>
                      </a:pPr>
                      <a:r>
                        <a:rPr lang="zh-CN" altLang="en-US" dirty="0" smtClean="0">
                          <a:solidFill>
                            <a:srgbClr val="004098"/>
                          </a:solidFill>
                        </a:rPr>
                        <a:t>通过定期计量消除</a:t>
                      </a:r>
                    </a:p>
                    <a:p>
                      <a:endParaRPr lang="zh-CN" alt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rgbClr val="004098"/>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549538371"/>
      </p:ext>
    </p:extLst>
  </p:cSld>
  <p:clrMapOvr>
    <a:masterClrMapping/>
  </p:clrMapOvr>
  <p:transition spd="slow">
    <p:push di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反射参数测试</a:t>
            </a:r>
            <a:r>
              <a:rPr lang="zh-CN" altLang="en-US" dirty="0" smtClean="0"/>
              <a:t>误差分析</a:t>
            </a:r>
            <a:endParaRPr lang="zh-CN" altLang="en-US" dirty="0"/>
          </a:p>
        </p:txBody>
      </p:sp>
      <p:sp>
        <p:nvSpPr>
          <p:cNvPr id="3" name="内容占位符 2"/>
          <p:cNvSpPr>
            <a:spLocks noGrp="1"/>
          </p:cNvSpPr>
          <p:nvPr>
            <p:ph idx="1"/>
          </p:nvPr>
        </p:nvSpPr>
        <p:spPr/>
        <p:txBody>
          <a:bodyPr/>
          <a:lstStyle/>
          <a:p>
            <a:endParaRPr lang="zh-CN" altLang="en-US"/>
          </a:p>
        </p:txBody>
      </p:sp>
      <p:sp>
        <p:nvSpPr>
          <p:cNvPr id="73" name="日期占位符 72"/>
          <p:cNvSpPr>
            <a:spLocks noGrp="1"/>
          </p:cNvSpPr>
          <p:nvPr>
            <p:ph type="dt" sz="half" idx="10"/>
          </p:nvPr>
        </p:nvSpPr>
        <p:spPr/>
        <p:txBody>
          <a:bodyPr/>
          <a:lstStyle/>
          <a:p>
            <a:fld id="{85C4A85F-DFAA-47F0-8FA2-3AFB84952365}" type="datetime3">
              <a:rPr lang="zh-CN" altLang="en-US" smtClean="0"/>
              <a:t>2019年5月6日星期一</a:t>
            </a:fld>
            <a:endParaRPr lang="zh-CN" altLang="en-US"/>
          </a:p>
        </p:txBody>
      </p:sp>
      <p:sp>
        <p:nvSpPr>
          <p:cNvPr id="74" name="页脚占位符 73"/>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75" name="灯片编号占位符 74"/>
          <p:cNvSpPr>
            <a:spLocks noGrp="1"/>
          </p:cNvSpPr>
          <p:nvPr>
            <p:ph type="sldNum" sz="quarter" idx="12"/>
          </p:nvPr>
        </p:nvSpPr>
        <p:spPr/>
        <p:txBody>
          <a:bodyPr/>
          <a:lstStyle/>
          <a:p>
            <a:fld id="{D5BA5A3D-E723-4639-877B-B187790AC552}" type="slidenum">
              <a:rPr lang="zh-CN" altLang="en-US" smtClean="0"/>
              <a:pPr/>
              <a:t>16</a:t>
            </a:fld>
            <a:endParaRPr lang="zh-CN" altLang="en-US"/>
          </a:p>
        </p:txBody>
      </p:sp>
      <p:grpSp>
        <p:nvGrpSpPr>
          <p:cNvPr id="4" name="组合 3"/>
          <p:cNvGrpSpPr/>
          <p:nvPr/>
        </p:nvGrpSpPr>
        <p:grpSpPr>
          <a:xfrm>
            <a:off x="1085029" y="2887320"/>
            <a:ext cx="7585076" cy="3227386"/>
            <a:chOff x="2012950" y="1433514"/>
            <a:chExt cx="7585076" cy="3227386"/>
          </a:xfrm>
        </p:grpSpPr>
        <p:sp>
          <p:nvSpPr>
            <p:cNvPr id="5" name="Freeform 3"/>
            <p:cNvSpPr>
              <a:spLocks/>
            </p:cNvSpPr>
            <p:nvPr/>
          </p:nvSpPr>
          <p:spPr bwMode="auto">
            <a:xfrm>
              <a:off x="6081714" y="2603501"/>
              <a:ext cx="117475" cy="169863"/>
            </a:xfrm>
            <a:custGeom>
              <a:avLst/>
              <a:gdLst>
                <a:gd name="T0" fmla="*/ 40 w 81"/>
                <a:gd name="T1" fmla="*/ 0 h 121"/>
                <a:gd name="T2" fmla="*/ 40 w 81"/>
                <a:gd name="T3" fmla="*/ 46 h 121"/>
                <a:gd name="T4" fmla="*/ 80 w 81"/>
                <a:gd name="T5" fmla="*/ 64 h 121"/>
                <a:gd name="T6" fmla="*/ 0 w 81"/>
                <a:gd name="T7" fmla="*/ 91 h 121"/>
                <a:gd name="T8" fmla="*/ 80 w 81"/>
                <a:gd name="T9" fmla="*/ 120 h 121"/>
              </a:gdLst>
              <a:ahLst/>
              <a:cxnLst>
                <a:cxn ang="0">
                  <a:pos x="T0" y="T1"/>
                </a:cxn>
                <a:cxn ang="0">
                  <a:pos x="T2" y="T3"/>
                </a:cxn>
                <a:cxn ang="0">
                  <a:pos x="T4" y="T5"/>
                </a:cxn>
                <a:cxn ang="0">
                  <a:pos x="T6" y="T7"/>
                </a:cxn>
                <a:cxn ang="0">
                  <a:pos x="T8" y="T9"/>
                </a:cxn>
              </a:cxnLst>
              <a:rect l="0" t="0" r="r" b="b"/>
              <a:pathLst>
                <a:path w="81" h="121">
                  <a:moveTo>
                    <a:pt x="40" y="0"/>
                  </a:moveTo>
                  <a:lnTo>
                    <a:pt x="40" y="46"/>
                  </a:lnTo>
                  <a:lnTo>
                    <a:pt x="80" y="64"/>
                  </a:lnTo>
                  <a:lnTo>
                    <a:pt x="0" y="91"/>
                  </a:lnTo>
                  <a:lnTo>
                    <a:pt x="80" y="12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 name="Freeform 4"/>
            <p:cNvSpPr>
              <a:spLocks/>
            </p:cNvSpPr>
            <p:nvPr/>
          </p:nvSpPr>
          <p:spPr bwMode="auto">
            <a:xfrm>
              <a:off x="6081714" y="2771776"/>
              <a:ext cx="117475" cy="180975"/>
            </a:xfrm>
            <a:custGeom>
              <a:avLst/>
              <a:gdLst>
                <a:gd name="T0" fmla="*/ 80 w 81"/>
                <a:gd name="T1" fmla="*/ 0 h 129"/>
                <a:gd name="T2" fmla="*/ 0 w 81"/>
                <a:gd name="T3" fmla="*/ 36 h 129"/>
                <a:gd name="T4" fmla="*/ 80 w 81"/>
                <a:gd name="T5" fmla="*/ 63 h 129"/>
                <a:gd name="T6" fmla="*/ 0 w 81"/>
                <a:gd name="T7" fmla="*/ 91 h 129"/>
                <a:gd name="T8" fmla="*/ 80 w 81"/>
                <a:gd name="T9" fmla="*/ 109 h 129"/>
                <a:gd name="T10" fmla="*/ 40 w 81"/>
                <a:gd name="T11" fmla="*/ 128 h 129"/>
              </a:gdLst>
              <a:ahLst/>
              <a:cxnLst>
                <a:cxn ang="0">
                  <a:pos x="T0" y="T1"/>
                </a:cxn>
                <a:cxn ang="0">
                  <a:pos x="T2" y="T3"/>
                </a:cxn>
                <a:cxn ang="0">
                  <a:pos x="T4" y="T5"/>
                </a:cxn>
                <a:cxn ang="0">
                  <a:pos x="T6" y="T7"/>
                </a:cxn>
                <a:cxn ang="0">
                  <a:pos x="T8" y="T9"/>
                </a:cxn>
                <a:cxn ang="0">
                  <a:pos x="T10" y="T11"/>
                </a:cxn>
              </a:cxnLst>
              <a:rect l="0" t="0" r="r" b="b"/>
              <a:pathLst>
                <a:path w="81" h="129">
                  <a:moveTo>
                    <a:pt x="80" y="0"/>
                  </a:moveTo>
                  <a:lnTo>
                    <a:pt x="0" y="36"/>
                  </a:lnTo>
                  <a:lnTo>
                    <a:pt x="80" y="63"/>
                  </a:lnTo>
                  <a:lnTo>
                    <a:pt x="0" y="91"/>
                  </a:lnTo>
                  <a:lnTo>
                    <a:pt x="80" y="109"/>
                  </a:lnTo>
                  <a:lnTo>
                    <a:pt x="40" y="128"/>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 name="Line 5"/>
            <p:cNvSpPr>
              <a:spLocks noChangeShapeType="1"/>
            </p:cNvSpPr>
            <p:nvPr/>
          </p:nvSpPr>
          <p:spPr bwMode="auto">
            <a:xfrm>
              <a:off x="6138863" y="2951164"/>
              <a:ext cx="0" cy="793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 name="Line 6"/>
            <p:cNvSpPr>
              <a:spLocks noChangeShapeType="1"/>
            </p:cNvSpPr>
            <p:nvPr/>
          </p:nvSpPr>
          <p:spPr bwMode="auto">
            <a:xfrm>
              <a:off x="5816600" y="2997200"/>
              <a:ext cx="96838" cy="1079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 name="Freeform 7"/>
            <p:cNvSpPr>
              <a:spLocks/>
            </p:cNvSpPr>
            <p:nvPr/>
          </p:nvSpPr>
          <p:spPr bwMode="auto">
            <a:xfrm>
              <a:off x="5768975" y="2944813"/>
              <a:ext cx="71438" cy="74612"/>
            </a:xfrm>
            <a:custGeom>
              <a:avLst/>
              <a:gdLst>
                <a:gd name="T0" fmla="*/ 0 w 50"/>
                <a:gd name="T1" fmla="*/ 0 h 54"/>
                <a:gd name="T2" fmla="*/ 30 w 50"/>
                <a:gd name="T3" fmla="*/ 53 h 54"/>
                <a:gd name="T4" fmla="*/ 33 w 50"/>
                <a:gd name="T5" fmla="*/ 38 h 54"/>
                <a:gd name="T6" fmla="*/ 49 w 50"/>
                <a:gd name="T7" fmla="*/ 36 h 54"/>
                <a:gd name="T8" fmla="*/ 0 w 50"/>
                <a:gd name="T9" fmla="*/ 0 h 54"/>
                <a:gd name="T10" fmla="*/ 0 w 50"/>
                <a:gd name="T11" fmla="*/ 0 h 54"/>
              </a:gdLst>
              <a:ahLst/>
              <a:cxnLst>
                <a:cxn ang="0">
                  <a:pos x="T0" y="T1"/>
                </a:cxn>
                <a:cxn ang="0">
                  <a:pos x="T2" y="T3"/>
                </a:cxn>
                <a:cxn ang="0">
                  <a:pos x="T4" y="T5"/>
                </a:cxn>
                <a:cxn ang="0">
                  <a:pos x="T6" y="T7"/>
                </a:cxn>
                <a:cxn ang="0">
                  <a:pos x="T8" y="T9"/>
                </a:cxn>
                <a:cxn ang="0">
                  <a:pos x="T10" y="T11"/>
                </a:cxn>
              </a:cxnLst>
              <a:rect l="0" t="0" r="r" b="b"/>
              <a:pathLst>
                <a:path w="50" h="54">
                  <a:moveTo>
                    <a:pt x="0" y="0"/>
                  </a:moveTo>
                  <a:lnTo>
                    <a:pt x="30" y="53"/>
                  </a:lnTo>
                  <a:lnTo>
                    <a:pt x="33" y="38"/>
                  </a:lnTo>
                  <a:lnTo>
                    <a:pt x="49" y="36"/>
                  </a:lnTo>
                  <a:lnTo>
                    <a:pt x="0" y="0"/>
                  </a:lnTo>
                  <a:lnTo>
                    <a:pt x="0" y="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 name="Freeform 8"/>
            <p:cNvSpPr>
              <a:spLocks/>
            </p:cNvSpPr>
            <p:nvPr/>
          </p:nvSpPr>
          <p:spPr bwMode="auto">
            <a:xfrm>
              <a:off x="5891214" y="3082925"/>
              <a:ext cx="71437" cy="76200"/>
            </a:xfrm>
            <a:custGeom>
              <a:avLst/>
              <a:gdLst>
                <a:gd name="T0" fmla="*/ 49 w 50"/>
                <a:gd name="T1" fmla="*/ 53 h 54"/>
                <a:gd name="T2" fmla="*/ 20 w 50"/>
                <a:gd name="T3" fmla="*/ 0 h 54"/>
                <a:gd name="T4" fmla="*/ 16 w 50"/>
                <a:gd name="T5" fmla="*/ 16 h 54"/>
                <a:gd name="T6" fmla="*/ 0 w 50"/>
                <a:gd name="T7" fmla="*/ 17 h 54"/>
                <a:gd name="T8" fmla="*/ 49 w 50"/>
                <a:gd name="T9" fmla="*/ 53 h 54"/>
                <a:gd name="T10" fmla="*/ 49 w 50"/>
                <a:gd name="T11" fmla="*/ 53 h 54"/>
              </a:gdLst>
              <a:ahLst/>
              <a:cxnLst>
                <a:cxn ang="0">
                  <a:pos x="T0" y="T1"/>
                </a:cxn>
                <a:cxn ang="0">
                  <a:pos x="T2" y="T3"/>
                </a:cxn>
                <a:cxn ang="0">
                  <a:pos x="T4" y="T5"/>
                </a:cxn>
                <a:cxn ang="0">
                  <a:pos x="T6" y="T7"/>
                </a:cxn>
                <a:cxn ang="0">
                  <a:pos x="T8" y="T9"/>
                </a:cxn>
                <a:cxn ang="0">
                  <a:pos x="T10" y="T11"/>
                </a:cxn>
              </a:cxnLst>
              <a:rect l="0" t="0" r="r" b="b"/>
              <a:pathLst>
                <a:path w="50" h="54">
                  <a:moveTo>
                    <a:pt x="49" y="53"/>
                  </a:moveTo>
                  <a:lnTo>
                    <a:pt x="20" y="0"/>
                  </a:lnTo>
                  <a:lnTo>
                    <a:pt x="16" y="16"/>
                  </a:lnTo>
                  <a:lnTo>
                    <a:pt x="0" y="17"/>
                  </a:lnTo>
                  <a:lnTo>
                    <a:pt x="49" y="53"/>
                  </a:lnTo>
                  <a:lnTo>
                    <a:pt x="49" y="53"/>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 name="Line 9"/>
            <p:cNvSpPr>
              <a:spLocks noChangeShapeType="1"/>
            </p:cNvSpPr>
            <p:nvPr/>
          </p:nvSpPr>
          <p:spPr bwMode="auto">
            <a:xfrm flipH="1">
              <a:off x="5816600" y="2997200"/>
              <a:ext cx="96838" cy="1079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 name="Freeform 10"/>
            <p:cNvSpPr>
              <a:spLocks/>
            </p:cNvSpPr>
            <p:nvPr/>
          </p:nvSpPr>
          <p:spPr bwMode="auto">
            <a:xfrm>
              <a:off x="5891214" y="2944813"/>
              <a:ext cx="71437" cy="74612"/>
            </a:xfrm>
            <a:custGeom>
              <a:avLst/>
              <a:gdLst>
                <a:gd name="T0" fmla="*/ 49 w 50"/>
                <a:gd name="T1" fmla="*/ 0 h 54"/>
                <a:gd name="T2" fmla="*/ 0 w 50"/>
                <a:gd name="T3" fmla="*/ 36 h 54"/>
                <a:gd name="T4" fmla="*/ 16 w 50"/>
                <a:gd name="T5" fmla="*/ 38 h 54"/>
                <a:gd name="T6" fmla="*/ 20 w 50"/>
                <a:gd name="T7" fmla="*/ 53 h 54"/>
                <a:gd name="T8" fmla="*/ 49 w 50"/>
                <a:gd name="T9" fmla="*/ 0 h 54"/>
                <a:gd name="T10" fmla="*/ 49 w 50"/>
                <a:gd name="T11" fmla="*/ 0 h 54"/>
              </a:gdLst>
              <a:ahLst/>
              <a:cxnLst>
                <a:cxn ang="0">
                  <a:pos x="T0" y="T1"/>
                </a:cxn>
                <a:cxn ang="0">
                  <a:pos x="T2" y="T3"/>
                </a:cxn>
                <a:cxn ang="0">
                  <a:pos x="T4" y="T5"/>
                </a:cxn>
                <a:cxn ang="0">
                  <a:pos x="T6" y="T7"/>
                </a:cxn>
                <a:cxn ang="0">
                  <a:pos x="T8" y="T9"/>
                </a:cxn>
                <a:cxn ang="0">
                  <a:pos x="T10" y="T11"/>
                </a:cxn>
              </a:cxnLst>
              <a:rect l="0" t="0" r="r" b="b"/>
              <a:pathLst>
                <a:path w="50" h="54">
                  <a:moveTo>
                    <a:pt x="49" y="0"/>
                  </a:moveTo>
                  <a:lnTo>
                    <a:pt x="0" y="36"/>
                  </a:lnTo>
                  <a:lnTo>
                    <a:pt x="16" y="38"/>
                  </a:lnTo>
                  <a:lnTo>
                    <a:pt x="20" y="53"/>
                  </a:lnTo>
                  <a:lnTo>
                    <a:pt x="49" y="0"/>
                  </a:lnTo>
                  <a:lnTo>
                    <a:pt x="49" y="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 name="Freeform 11"/>
            <p:cNvSpPr>
              <a:spLocks/>
            </p:cNvSpPr>
            <p:nvPr/>
          </p:nvSpPr>
          <p:spPr bwMode="auto">
            <a:xfrm>
              <a:off x="5768975" y="3082925"/>
              <a:ext cx="71438" cy="76200"/>
            </a:xfrm>
            <a:custGeom>
              <a:avLst/>
              <a:gdLst>
                <a:gd name="T0" fmla="*/ 0 w 50"/>
                <a:gd name="T1" fmla="*/ 53 h 54"/>
                <a:gd name="T2" fmla="*/ 49 w 50"/>
                <a:gd name="T3" fmla="*/ 17 h 54"/>
                <a:gd name="T4" fmla="*/ 33 w 50"/>
                <a:gd name="T5" fmla="*/ 16 h 54"/>
                <a:gd name="T6" fmla="*/ 30 w 50"/>
                <a:gd name="T7" fmla="*/ 0 h 54"/>
                <a:gd name="T8" fmla="*/ 0 w 50"/>
                <a:gd name="T9" fmla="*/ 53 h 54"/>
                <a:gd name="T10" fmla="*/ 0 w 50"/>
                <a:gd name="T11" fmla="*/ 53 h 54"/>
              </a:gdLst>
              <a:ahLst/>
              <a:cxnLst>
                <a:cxn ang="0">
                  <a:pos x="T0" y="T1"/>
                </a:cxn>
                <a:cxn ang="0">
                  <a:pos x="T2" y="T3"/>
                </a:cxn>
                <a:cxn ang="0">
                  <a:pos x="T4" y="T5"/>
                </a:cxn>
                <a:cxn ang="0">
                  <a:pos x="T6" y="T7"/>
                </a:cxn>
                <a:cxn ang="0">
                  <a:pos x="T8" y="T9"/>
                </a:cxn>
                <a:cxn ang="0">
                  <a:pos x="T10" y="T11"/>
                </a:cxn>
              </a:cxnLst>
              <a:rect l="0" t="0" r="r" b="b"/>
              <a:pathLst>
                <a:path w="50" h="54">
                  <a:moveTo>
                    <a:pt x="0" y="53"/>
                  </a:moveTo>
                  <a:lnTo>
                    <a:pt x="49" y="17"/>
                  </a:lnTo>
                  <a:lnTo>
                    <a:pt x="33" y="16"/>
                  </a:lnTo>
                  <a:lnTo>
                    <a:pt x="30" y="0"/>
                  </a:lnTo>
                  <a:lnTo>
                    <a:pt x="0" y="53"/>
                  </a:lnTo>
                  <a:lnTo>
                    <a:pt x="0" y="53"/>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 name="Freeform 12"/>
            <p:cNvSpPr>
              <a:spLocks/>
            </p:cNvSpPr>
            <p:nvPr/>
          </p:nvSpPr>
          <p:spPr bwMode="auto">
            <a:xfrm>
              <a:off x="5516563" y="2171700"/>
              <a:ext cx="552450" cy="654050"/>
            </a:xfrm>
            <a:custGeom>
              <a:avLst/>
              <a:gdLst>
                <a:gd name="T0" fmla="*/ 382 w 383"/>
                <a:gd name="T1" fmla="*/ 466 h 467"/>
                <a:gd name="T2" fmla="*/ 100 w 383"/>
                <a:gd name="T3" fmla="*/ 466 h 467"/>
                <a:gd name="T4" fmla="*/ 97 w 383"/>
                <a:gd name="T5" fmla="*/ 466 h 467"/>
                <a:gd name="T6" fmla="*/ 97 w 383"/>
                <a:gd name="T7" fmla="*/ 466 h 467"/>
                <a:gd name="T8" fmla="*/ 91 w 383"/>
                <a:gd name="T9" fmla="*/ 466 h 467"/>
                <a:gd name="T10" fmla="*/ 85 w 383"/>
                <a:gd name="T11" fmla="*/ 465 h 467"/>
                <a:gd name="T12" fmla="*/ 79 w 383"/>
                <a:gd name="T13" fmla="*/ 464 h 467"/>
                <a:gd name="T14" fmla="*/ 73 w 383"/>
                <a:gd name="T15" fmla="*/ 462 h 467"/>
                <a:gd name="T16" fmla="*/ 67 w 383"/>
                <a:gd name="T17" fmla="*/ 460 h 467"/>
                <a:gd name="T18" fmla="*/ 61 w 383"/>
                <a:gd name="T19" fmla="*/ 458 h 467"/>
                <a:gd name="T20" fmla="*/ 56 w 383"/>
                <a:gd name="T21" fmla="*/ 456 h 467"/>
                <a:gd name="T22" fmla="*/ 50 w 383"/>
                <a:gd name="T23" fmla="*/ 452 h 467"/>
                <a:gd name="T24" fmla="*/ 45 w 383"/>
                <a:gd name="T25" fmla="*/ 449 h 467"/>
                <a:gd name="T26" fmla="*/ 40 w 383"/>
                <a:gd name="T27" fmla="*/ 445 h 467"/>
                <a:gd name="T28" fmla="*/ 35 w 383"/>
                <a:gd name="T29" fmla="*/ 441 h 467"/>
                <a:gd name="T30" fmla="*/ 31 w 383"/>
                <a:gd name="T31" fmla="*/ 437 h 467"/>
                <a:gd name="T32" fmla="*/ 26 w 383"/>
                <a:gd name="T33" fmla="*/ 432 h 467"/>
                <a:gd name="T34" fmla="*/ 22 w 383"/>
                <a:gd name="T35" fmla="*/ 427 h 467"/>
                <a:gd name="T36" fmla="*/ 19 w 383"/>
                <a:gd name="T37" fmla="*/ 421 h 467"/>
                <a:gd name="T38" fmla="*/ 15 w 383"/>
                <a:gd name="T39" fmla="*/ 416 h 467"/>
                <a:gd name="T40" fmla="*/ 12 w 383"/>
                <a:gd name="T41" fmla="*/ 410 h 467"/>
                <a:gd name="T42" fmla="*/ 9 w 383"/>
                <a:gd name="T43" fmla="*/ 404 h 467"/>
                <a:gd name="T44" fmla="*/ 7 w 383"/>
                <a:gd name="T45" fmla="*/ 398 h 467"/>
                <a:gd name="T46" fmla="*/ 4 w 383"/>
                <a:gd name="T47" fmla="*/ 392 h 467"/>
                <a:gd name="T48" fmla="*/ 3 w 383"/>
                <a:gd name="T49" fmla="*/ 385 h 467"/>
                <a:gd name="T50" fmla="*/ 2 w 383"/>
                <a:gd name="T51" fmla="*/ 379 h 467"/>
                <a:gd name="T52" fmla="*/ 1 w 383"/>
                <a:gd name="T53" fmla="*/ 372 h 467"/>
                <a:gd name="T54" fmla="*/ 0 w 383"/>
                <a:gd name="T55" fmla="*/ 366 h 467"/>
                <a:gd name="T56" fmla="*/ 0 w 383"/>
                <a:gd name="T57" fmla="*/ 359 h 467"/>
                <a:gd name="T58" fmla="*/ 0 w 383"/>
                <a:gd name="T59" fmla="*/ 352 h 467"/>
                <a:gd name="T60" fmla="*/ 0 w 383"/>
                <a:gd name="T61" fmla="*/ 0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83" h="467">
                  <a:moveTo>
                    <a:pt x="382" y="466"/>
                  </a:moveTo>
                  <a:lnTo>
                    <a:pt x="100" y="466"/>
                  </a:lnTo>
                  <a:lnTo>
                    <a:pt x="97" y="466"/>
                  </a:lnTo>
                  <a:lnTo>
                    <a:pt x="97" y="466"/>
                  </a:lnTo>
                  <a:lnTo>
                    <a:pt x="91" y="466"/>
                  </a:lnTo>
                  <a:lnTo>
                    <a:pt x="85" y="465"/>
                  </a:lnTo>
                  <a:lnTo>
                    <a:pt x="79" y="464"/>
                  </a:lnTo>
                  <a:lnTo>
                    <a:pt x="73" y="462"/>
                  </a:lnTo>
                  <a:lnTo>
                    <a:pt x="67" y="460"/>
                  </a:lnTo>
                  <a:lnTo>
                    <a:pt x="61" y="458"/>
                  </a:lnTo>
                  <a:lnTo>
                    <a:pt x="56" y="456"/>
                  </a:lnTo>
                  <a:lnTo>
                    <a:pt x="50" y="452"/>
                  </a:lnTo>
                  <a:lnTo>
                    <a:pt x="45" y="449"/>
                  </a:lnTo>
                  <a:lnTo>
                    <a:pt x="40" y="445"/>
                  </a:lnTo>
                  <a:lnTo>
                    <a:pt x="35" y="441"/>
                  </a:lnTo>
                  <a:lnTo>
                    <a:pt x="31" y="437"/>
                  </a:lnTo>
                  <a:lnTo>
                    <a:pt x="26" y="432"/>
                  </a:lnTo>
                  <a:lnTo>
                    <a:pt x="22" y="427"/>
                  </a:lnTo>
                  <a:lnTo>
                    <a:pt x="19" y="421"/>
                  </a:lnTo>
                  <a:lnTo>
                    <a:pt x="15" y="416"/>
                  </a:lnTo>
                  <a:lnTo>
                    <a:pt x="12" y="410"/>
                  </a:lnTo>
                  <a:lnTo>
                    <a:pt x="9" y="404"/>
                  </a:lnTo>
                  <a:lnTo>
                    <a:pt x="7" y="398"/>
                  </a:lnTo>
                  <a:lnTo>
                    <a:pt x="4" y="392"/>
                  </a:lnTo>
                  <a:lnTo>
                    <a:pt x="3" y="385"/>
                  </a:lnTo>
                  <a:lnTo>
                    <a:pt x="2" y="379"/>
                  </a:lnTo>
                  <a:lnTo>
                    <a:pt x="1" y="372"/>
                  </a:lnTo>
                  <a:lnTo>
                    <a:pt x="0" y="366"/>
                  </a:lnTo>
                  <a:lnTo>
                    <a:pt x="0" y="359"/>
                  </a:lnTo>
                  <a:lnTo>
                    <a:pt x="0" y="352"/>
                  </a:lnTo>
                  <a:lnTo>
                    <a:pt x="0"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6516688" y="3105151"/>
              <a:ext cx="0" cy="2698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8855075" y="3109913"/>
              <a:ext cx="0" cy="2714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 name="Freeform 15"/>
            <p:cNvSpPr>
              <a:spLocks/>
            </p:cNvSpPr>
            <p:nvPr/>
          </p:nvSpPr>
          <p:spPr bwMode="auto">
            <a:xfrm>
              <a:off x="9310688" y="3082926"/>
              <a:ext cx="209550" cy="168275"/>
            </a:xfrm>
            <a:custGeom>
              <a:avLst/>
              <a:gdLst>
                <a:gd name="T0" fmla="*/ 0 w 146"/>
                <a:gd name="T1" fmla="*/ 119 h 120"/>
                <a:gd name="T2" fmla="*/ 0 w 146"/>
                <a:gd name="T3" fmla="*/ 119 h 120"/>
                <a:gd name="T4" fmla="*/ 9 w 146"/>
                <a:gd name="T5" fmla="*/ 119 h 120"/>
                <a:gd name="T6" fmla="*/ 18 w 146"/>
                <a:gd name="T7" fmla="*/ 119 h 120"/>
                <a:gd name="T8" fmla="*/ 27 w 146"/>
                <a:gd name="T9" fmla="*/ 118 h 120"/>
                <a:gd name="T10" fmla="*/ 36 w 146"/>
                <a:gd name="T11" fmla="*/ 117 h 120"/>
                <a:gd name="T12" fmla="*/ 45 w 146"/>
                <a:gd name="T13" fmla="*/ 113 h 120"/>
                <a:gd name="T14" fmla="*/ 53 w 146"/>
                <a:gd name="T15" fmla="*/ 111 h 120"/>
                <a:gd name="T16" fmla="*/ 62 w 146"/>
                <a:gd name="T17" fmla="*/ 108 h 120"/>
                <a:gd name="T18" fmla="*/ 70 w 146"/>
                <a:gd name="T19" fmla="*/ 105 h 120"/>
                <a:gd name="T20" fmla="*/ 78 w 146"/>
                <a:gd name="T21" fmla="*/ 101 h 120"/>
                <a:gd name="T22" fmla="*/ 85 w 146"/>
                <a:gd name="T23" fmla="*/ 97 h 120"/>
                <a:gd name="T24" fmla="*/ 93 w 146"/>
                <a:gd name="T25" fmla="*/ 93 h 120"/>
                <a:gd name="T26" fmla="*/ 99 w 146"/>
                <a:gd name="T27" fmla="*/ 87 h 120"/>
                <a:gd name="T28" fmla="*/ 106 w 146"/>
                <a:gd name="T29" fmla="*/ 82 h 120"/>
                <a:gd name="T30" fmla="*/ 112 w 146"/>
                <a:gd name="T31" fmla="*/ 76 h 120"/>
                <a:gd name="T32" fmla="*/ 118 w 146"/>
                <a:gd name="T33" fmla="*/ 70 h 120"/>
                <a:gd name="T34" fmla="*/ 122 w 146"/>
                <a:gd name="T35" fmla="*/ 64 h 120"/>
                <a:gd name="T36" fmla="*/ 127 w 146"/>
                <a:gd name="T37" fmla="*/ 58 h 120"/>
                <a:gd name="T38" fmla="*/ 131 w 146"/>
                <a:gd name="T39" fmla="*/ 51 h 120"/>
                <a:gd name="T40" fmla="*/ 135 w 146"/>
                <a:gd name="T41" fmla="*/ 44 h 120"/>
                <a:gd name="T42" fmla="*/ 138 w 146"/>
                <a:gd name="T43" fmla="*/ 37 h 120"/>
                <a:gd name="T44" fmla="*/ 141 w 146"/>
                <a:gd name="T45" fmla="*/ 29 h 120"/>
                <a:gd name="T46" fmla="*/ 143 w 146"/>
                <a:gd name="T47" fmla="*/ 22 h 120"/>
                <a:gd name="T48" fmla="*/ 144 w 146"/>
                <a:gd name="T49" fmla="*/ 15 h 120"/>
                <a:gd name="T50" fmla="*/ 145 w 146"/>
                <a:gd name="T51" fmla="*/ 7 h 120"/>
                <a:gd name="T52" fmla="*/ 145 w 146"/>
                <a:gd name="T53"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6" h="120">
                  <a:moveTo>
                    <a:pt x="0" y="119"/>
                  </a:moveTo>
                  <a:lnTo>
                    <a:pt x="0" y="119"/>
                  </a:lnTo>
                  <a:lnTo>
                    <a:pt x="9" y="119"/>
                  </a:lnTo>
                  <a:lnTo>
                    <a:pt x="18" y="119"/>
                  </a:lnTo>
                  <a:lnTo>
                    <a:pt x="27" y="118"/>
                  </a:lnTo>
                  <a:lnTo>
                    <a:pt x="36" y="117"/>
                  </a:lnTo>
                  <a:lnTo>
                    <a:pt x="45" y="113"/>
                  </a:lnTo>
                  <a:lnTo>
                    <a:pt x="53" y="111"/>
                  </a:lnTo>
                  <a:lnTo>
                    <a:pt x="62" y="108"/>
                  </a:lnTo>
                  <a:lnTo>
                    <a:pt x="70" y="105"/>
                  </a:lnTo>
                  <a:lnTo>
                    <a:pt x="78" y="101"/>
                  </a:lnTo>
                  <a:lnTo>
                    <a:pt x="85" y="97"/>
                  </a:lnTo>
                  <a:lnTo>
                    <a:pt x="93" y="93"/>
                  </a:lnTo>
                  <a:lnTo>
                    <a:pt x="99" y="87"/>
                  </a:lnTo>
                  <a:lnTo>
                    <a:pt x="106" y="82"/>
                  </a:lnTo>
                  <a:lnTo>
                    <a:pt x="112" y="76"/>
                  </a:lnTo>
                  <a:lnTo>
                    <a:pt x="118" y="70"/>
                  </a:lnTo>
                  <a:lnTo>
                    <a:pt x="122" y="64"/>
                  </a:lnTo>
                  <a:lnTo>
                    <a:pt x="127" y="58"/>
                  </a:lnTo>
                  <a:lnTo>
                    <a:pt x="131" y="51"/>
                  </a:lnTo>
                  <a:lnTo>
                    <a:pt x="135" y="44"/>
                  </a:lnTo>
                  <a:lnTo>
                    <a:pt x="138" y="37"/>
                  </a:lnTo>
                  <a:lnTo>
                    <a:pt x="141" y="29"/>
                  </a:lnTo>
                  <a:lnTo>
                    <a:pt x="143" y="22"/>
                  </a:lnTo>
                  <a:lnTo>
                    <a:pt x="144" y="15"/>
                  </a:lnTo>
                  <a:lnTo>
                    <a:pt x="145" y="7"/>
                  </a:lnTo>
                  <a:lnTo>
                    <a:pt x="145"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 name="Line 16"/>
            <p:cNvSpPr>
              <a:spLocks noChangeShapeType="1"/>
            </p:cNvSpPr>
            <p:nvPr/>
          </p:nvSpPr>
          <p:spPr bwMode="auto">
            <a:xfrm flipV="1">
              <a:off x="9517063" y="2136776"/>
              <a:ext cx="0" cy="93662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 name="Line 17"/>
            <p:cNvSpPr>
              <a:spLocks noChangeShapeType="1"/>
            </p:cNvSpPr>
            <p:nvPr/>
          </p:nvSpPr>
          <p:spPr bwMode="auto">
            <a:xfrm flipH="1">
              <a:off x="8866189" y="3251200"/>
              <a:ext cx="43497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0" name="Line 18"/>
            <p:cNvSpPr>
              <a:spLocks noChangeShapeType="1"/>
            </p:cNvSpPr>
            <p:nvPr/>
          </p:nvSpPr>
          <p:spPr bwMode="auto">
            <a:xfrm>
              <a:off x="3648076" y="3249613"/>
              <a:ext cx="2868613"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1" name="Text Box 19"/>
            <p:cNvSpPr txBox="1">
              <a:spLocks noChangeArrowheads="1"/>
            </p:cNvSpPr>
            <p:nvPr/>
          </p:nvSpPr>
          <p:spPr bwMode="auto">
            <a:xfrm>
              <a:off x="5792788" y="1819275"/>
              <a:ext cx="169862" cy="255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2200" b="1">
                  <a:solidFill>
                    <a:srgbClr val="000000"/>
                  </a:solidFill>
                  <a:latin typeface="微软雅黑" panose="020B0503020204020204" pitchFamily="34" charset="-122"/>
                  <a:ea typeface="微软雅黑" panose="020B0503020204020204" pitchFamily="34" charset="-122"/>
                </a:rPr>
                <a:t>A</a:t>
              </a:r>
              <a:endParaRPr lang="en-US" altLang="zh-CN" sz="2200" b="1">
                <a:latin typeface="微软雅黑" panose="020B0503020204020204" pitchFamily="34" charset="-122"/>
                <a:ea typeface="微软雅黑" panose="020B0503020204020204" pitchFamily="34" charset="-122"/>
              </a:endParaRPr>
            </a:p>
          </p:txBody>
        </p:sp>
        <p:sp>
          <p:nvSpPr>
            <p:cNvPr id="22" name="Text Box 20"/>
            <p:cNvSpPr txBox="1">
              <a:spLocks noChangeArrowheads="1"/>
            </p:cNvSpPr>
            <p:nvPr/>
          </p:nvSpPr>
          <p:spPr bwMode="auto">
            <a:xfrm>
              <a:off x="9431339" y="1781175"/>
              <a:ext cx="166687" cy="255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1700" b="1">
                  <a:solidFill>
                    <a:srgbClr val="000000"/>
                  </a:solidFill>
                  <a:latin typeface="微软雅黑" panose="020B0503020204020204" pitchFamily="34" charset="-122"/>
                  <a:ea typeface="微软雅黑" panose="020B0503020204020204" pitchFamily="34" charset="-122"/>
                </a:rPr>
                <a:t>B</a:t>
              </a:r>
              <a:endParaRPr lang="en-US" altLang="zh-CN" sz="2200">
                <a:latin typeface="微软雅黑" panose="020B0503020204020204" pitchFamily="34" charset="-122"/>
                <a:ea typeface="微软雅黑" panose="020B0503020204020204" pitchFamily="34" charset="-122"/>
              </a:endParaRPr>
            </a:p>
          </p:txBody>
        </p:sp>
        <p:sp>
          <p:nvSpPr>
            <p:cNvPr id="23" name="Line 21"/>
            <p:cNvSpPr>
              <a:spLocks noChangeShapeType="1"/>
            </p:cNvSpPr>
            <p:nvPr/>
          </p:nvSpPr>
          <p:spPr bwMode="auto">
            <a:xfrm flipV="1">
              <a:off x="5281613" y="3176589"/>
              <a:ext cx="0" cy="14922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4" name="Text Box 22"/>
            <p:cNvSpPr txBox="1">
              <a:spLocks noChangeArrowheads="1"/>
            </p:cNvSpPr>
            <p:nvPr/>
          </p:nvSpPr>
          <p:spPr bwMode="auto">
            <a:xfrm>
              <a:off x="6246813" y="4389438"/>
              <a:ext cx="819150"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zh-CN" altLang="en-US" sz="1900" b="1" i="1">
                  <a:solidFill>
                    <a:schemeClr val="folHlink"/>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源失配</a:t>
              </a:r>
              <a:endParaRPr lang="zh-CN" altLang="en-US" sz="2200" b="1" i="1">
                <a:solidFill>
                  <a:schemeClr val="folHlink"/>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25" name="Freeform 23"/>
            <p:cNvSpPr>
              <a:spLocks/>
            </p:cNvSpPr>
            <p:nvPr/>
          </p:nvSpPr>
          <p:spPr bwMode="auto">
            <a:xfrm>
              <a:off x="6591300" y="3673476"/>
              <a:ext cx="355600" cy="238125"/>
            </a:xfrm>
            <a:custGeom>
              <a:avLst/>
              <a:gdLst>
                <a:gd name="T0" fmla="*/ 0 w 247"/>
                <a:gd name="T1" fmla="*/ 0 h 171"/>
                <a:gd name="T2" fmla="*/ 0 w 247"/>
                <a:gd name="T3" fmla="*/ 0 h 171"/>
                <a:gd name="T4" fmla="*/ 15 w 247"/>
                <a:gd name="T5" fmla="*/ 1 h 171"/>
                <a:gd name="T6" fmla="*/ 31 w 247"/>
                <a:gd name="T7" fmla="*/ 1 h 171"/>
                <a:gd name="T8" fmla="*/ 46 w 247"/>
                <a:gd name="T9" fmla="*/ 2 h 171"/>
                <a:gd name="T10" fmla="*/ 61 w 247"/>
                <a:gd name="T11" fmla="*/ 3 h 171"/>
                <a:gd name="T12" fmla="*/ 76 w 247"/>
                <a:gd name="T13" fmla="*/ 5 h 171"/>
                <a:gd name="T14" fmla="*/ 91 w 247"/>
                <a:gd name="T15" fmla="*/ 6 h 171"/>
                <a:gd name="T16" fmla="*/ 105 w 247"/>
                <a:gd name="T17" fmla="*/ 9 h 171"/>
                <a:gd name="T18" fmla="*/ 119 w 247"/>
                <a:gd name="T19" fmla="*/ 10 h 171"/>
                <a:gd name="T20" fmla="*/ 132 w 247"/>
                <a:gd name="T21" fmla="*/ 14 h 171"/>
                <a:gd name="T22" fmla="*/ 144 w 247"/>
                <a:gd name="T23" fmla="*/ 17 h 171"/>
                <a:gd name="T24" fmla="*/ 157 w 247"/>
                <a:gd name="T25" fmla="*/ 20 h 171"/>
                <a:gd name="T26" fmla="*/ 169 w 247"/>
                <a:gd name="T27" fmla="*/ 23 h 171"/>
                <a:gd name="T28" fmla="*/ 179 w 247"/>
                <a:gd name="T29" fmla="*/ 28 h 171"/>
                <a:gd name="T30" fmla="*/ 190 w 247"/>
                <a:gd name="T31" fmla="*/ 31 h 171"/>
                <a:gd name="T32" fmla="*/ 199 w 247"/>
                <a:gd name="T33" fmla="*/ 35 h 171"/>
                <a:gd name="T34" fmla="*/ 208 w 247"/>
                <a:gd name="T35" fmla="*/ 40 h 171"/>
                <a:gd name="T36" fmla="*/ 215 w 247"/>
                <a:gd name="T37" fmla="*/ 44 h 171"/>
                <a:gd name="T38" fmla="*/ 223 w 247"/>
                <a:gd name="T39" fmla="*/ 49 h 171"/>
                <a:gd name="T40" fmla="*/ 229 w 247"/>
                <a:gd name="T41" fmla="*/ 54 h 171"/>
                <a:gd name="T42" fmla="*/ 234 w 247"/>
                <a:gd name="T43" fmla="*/ 59 h 171"/>
                <a:gd name="T44" fmla="*/ 239 w 247"/>
                <a:gd name="T45" fmla="*/ 64 h 171"/>
                <a:gd name="T46" fmla="*/ 241 w 247"/>
                <a:gd name="T47" fmla="*/ 69 h 171"/>
                <a:gd name="T48" fmla="*/ 244 w 247"/>
                <a:gd name="T49" fmla="*/ 75 h 171"/>
                <a:gd name="T50" fmla="*/ 245 w 247"/>
                <a:gd name="T51" fmla="*/ 80 h 171"/>
                <a:gd name="T52" fmla="*/ 246 w 247"/>
                <a:gd name="T53" fmla="*/ 86 h 171"/>
                <a:gd name="T54" fmla="*/ 245 w 247"/>
                <a:gd name="T55" fmla="*/ 90 h 171"/>
                <a:gd name="T56" fmla="*/ 244 w 247"/>
                <a:gd name="T57" fmla="*/ 96 h 171"/>
                <a:gd name="T58" fmla="*/ 241 w 247"/>
                <a:gd name="T59" fmla="*/ 101 h 171"/>
                <a:gd name="T60" fmla="*/ 239 w 247"/>
                <a:gd name="T61" fmla="*/ 106 h 171"/>
                <a:gd name="T62" fmla="*/ 234 w 247"/>
                <a:gd name="T63" fmla="*/ 112 h 171"/>
                <a:gd name="T64" fmla="*/ 229 w 247"/>
                <a:gd name="T65" fmla="*/ 117 h 171"/>
                <a:gd name="T66" fmla="*/ 223 w 247"/>
                <a:gd name="T67" fmla="*/ 122 h 171"/>
                <a:gd name="T68" fmla="*/ 215 w 247"/>
                <a:gd name="T69" fmla="*/ 126 h 171"/>
                <a:gd name="T70" fmla="*/ 208 w 247"/>
                <a:gd name="T71" fmla="*/ 131 h 171"/>
                <a:gd name="T72" fmla="*/ 199 w 247"/>
                <a:gd name="T73" fmla="*/ 135 h 171"/>
                <a:gd name="T74" fmla="*/ 190 w 247"/>
                <a:gd name="T75" fmla="*/ 140 h 171"/>
                <a:gd name="T76" fmla="*/ 179 w 247"/>
                <a:gd name="T77" fmla="*/ 144 h 171"/>
                <a:gd name="T78" fmla="*/ 169 w 247"/>
                <a:gd name="T79" fmla="*/ 147 h 171"/>
                <a:gd name="T80" fmla="*/ 157 w 247"/>
                <a:gd name="T81" fmla="*/ 151 h 171"/>
                <a:gd name="T82" fmla="*/ 144 w 247"/>
                <a:gd name="T83" fmla="*/ 154 h 171"/>
                <a:gd name="T84" fmla="*/ 132 w 247"/>
                <a:gd name="T85" fmla="*/ 157 h 171"/>
                <a:gd name="T86" fmla="*/ 119 w 247"/>
                <a:gd name="T87" fmla="*/ 160 h 171"/>
                <a:gd name="T88" fmla="*/ 105 w 247"/>
                <a:gd name="T89" fmla="*/ 162 h 171"/>
                <a:gd name="T90" fmla="*/ 91 w 247"/>
                <a:gd name="T91" fmla="*/ 164 h 171"/>
                <a:gd name="T92" fmla="*/ 76 w 247"/>
                <a:gd name="T93" fmla="*/ 166 h 171"/>
                <a:gd name="T94" fmla="*/ 61 w 247"/>
                <a:gd name="T95" fmla="*/ 168 h 171"/>
                <a:gd name="T96" fmla="*/ 46 w 247"/>
                <a:gd name="T97" fmla="*/ 169 h 171"/>
                <a:gd name="T98" fmla="*/ 31 w 247"/>
                <a:gd name="T99" fmla="*/ 170 h 171"/>
                <a:gd name="T100" fmla="*/ 15 w 247"/>
                <a:gd name="T101" fmla="*/ 170 h 171"/>
                <a:gd name="T102" fmla="*/ 0 w 247"/>
                <a:gd name="T103" fmla="*/ 17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47" h="171">
                  <a:moveTo>
                    <a:pt x="0" y="0"/>
                  </a:moveTo>
                  <a:lnTo>
                    <a:pt x="0" y="0"/>
                  </a:lnTo>
                  <a:lnTo>
                    <a:pt x="15" y="1"/>
                  </a:lnTo>
                  <a:lnTo>
                    <a:pt x="31" y="1"/>
                  </a:lnTo>
                  <a:lnTo>
                    <a:pt x="46" y="2"/>
                  </a:lnTo>
                  <a:lnTo>
                    <a:pt x="61" y="3"/>
                  </a:lnTo>
                  <a:lnTo>
                    <a:pt x="76" y="5"/>
                  </a:lnTo>
                  <a:lnTo>
                    <a:pt x="91" y="6"/>
                  </a:lnTo>
                  <a:lnTo>
                    <a:pt x="105" y="9"/>
                  </a:lnTo>
                  <a:lnTo>
                    <a:pt x="119" y="10"/>
                  </a:lnTo>
                  <a:lnTo>
                    <a:pt x="132" y="14"/>
                  </a:lnTo>
                  <a:lnTo>
                    <a:pt x="144" y="17"/>
                  </a:lnTo>
                  <a:lnTo>
                    <a:pt x="157" y="20"/>
                  </a:lnTo>
                  <a:lnTo>
                    <a:pt x="169" y="23"/>
                  </a:lnTo>
                  <a:lnTo>
                    <a:pt x="179" y="28"/>
                  </a:lnTo>
                  <a:lnTo>
                    <a:pt x="190" y="31"/>
                  </a:lnTo>
                  <a:lnTo>
                    <a:pt x="199" y="35"/>
                  </a:lnTo>
                  <a:lnTo>
                    <a:pt x="208" y="40"/>
                  </a:lnTo>
                  <a:lnTo>
                    <a:pt x="215" y="44"/>
                  </a:lnTo>
                  <a:lnTo>
                    <a:pt x="223" y="49"/>
                  </a:lnTo>
                  <a:lnTo>
                    <a:pt x="229" y="54"/>
                  </a:lnTo>
                  <a:lnTo>
                    <a:pt x="234" y="59"/>
                  </a:lnTo>
                  <a:lnTo>
                    <a:pt x="239" y="64"/>
                  </a:lnTo>
                  <a:lnTo>
                    <a:pt x="241" y="69"/>
                  </a:lnTo>
                  <a:lnTo>
                    <a:pt x="244" y="75"/>
                  </a:lnTo>
                  <a:lnTo>
                    <a:pt x="245" y="80"/>
                  </a:lnTo>
                  <a:lnTo>
                    <a:pt x="246" y="86"/>
                  </a:lnTo>
                  <a:lnTo>
                    <a:pt x="245" y="90"/>
                  </a:lnTo>
                  <a:lnTo>
                    <a:pt x="244" y="96"/>
                  </a:lnTo>
                  <a:lnTo>
                    <a:pt x="241" y="101"/>
                  </a:lnTo>
                  <a:lnTo>
                    <a:pt x="239" y="106"/>
                  </a:lnTo>
                  <a:lnTo>
                    <a:pt x="234" y="112"/>
                  </a:lnTo>
                  <a:lnTo>
                    <a:pt x="229" y="117"/>
                  </a:lnTo>
                  <a:lnTo>
                    <a:pt x="223" y="122"/>
                  </a:lnTo>
                  <a:lnTo>
                    <a:pt x="215" y="126"/>
                  </a:lnTo>
                  <a:lnTo>
                    <a:pt x="208" y="131"/>
                  </a:lnTo>
                  <a:lnTo>
                    <a:pt x="199" y="135"/>
                  </a:lnTo>
                  <a:lnTo>
                    <a:pt x="190" y="140"/>
                  </a:lnTo>
                  <a:lnTo>
                    <a:pt x="179" y="144"/>
                  </a:lnTo>
                  <a:lnTo>
                    <a:pt x="169" y="147"/>
                  </a:lnTo>
                  <a:lnTo>
                    <a:pt x="157" y="151"/>
                  </a:lnTo>
                  <a:lnTo>
                    <a:pt x="144" y="154"/>
                  </a:lnTo>
                  <a:lnTo>
                    <a:pt x="132" y="157"/>
                  </a:lnTo>
                  <a:lnTo>
                    <a:pt x="119" y="160"/>
                  </a:lnTo>
                  <a:lnTo>
                    <a:pt x="105" y="162"/>
                  </a:lnTo>
                  <a:lnTo>
                    <a:pt x="91" y="164"/>
                  </a:lnTo>
                  <a:lnTo>
                    <a:pt x="76" y="166"/>
                  </a:lnTo>
                  <a:lnTo>
                    <a:pt x="61" y="168"/>
                  </a:lnTo>
                  <a:lnTo>
                    <a:pt x="46" y="169"/>
                  </a:lnTo>
                  <a:lnTo>
                    <a:pt x="31" y="170"/>
                  </a:lnTo>
                  <a:lnTo>
                    <a:pt x="15" y="170"/>
                  </a:lnTo>
                  <a:lnTo>
                    <a:pt x="0" y="17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6" name="Freeform 24"/>
            <p:cNvSpPr>
              <a:spLocks/>
            </p:cNvSpPr>
            <p:nvPr/>
          </p:nvSpPr>
          <p:spPr bwMode="auto">
            <a:xfrm>
              <a:off x="6219826" y="3911601"/>
              <a:ext cx="365125" cy="250825"/>
            </a:xfrm>
            <a:custGeom>
              <a:avLst/>
              <a:gdLst>
                <a:gd name="T0" fmla="*/ 252 w 253"/>
                <a:gd name="T1" fmla="*/ 0 h 180"/>
                <a:gd name="T2" fmla="*/ 252 w 253"/>
                <a:gd name="T3" fmla="*/ 0 h 180"/>
                <a:gd name="T4" fmla="*/ 236 w 253"/>
                <a:gd name="T5" fmla="*/ 0 h 180"/>
                <a:gd name="T6" fmla="*/ 220 w 253"/>
                <a:gd name="T7" fmla="*/ 1 h 180"/>
                <a:gd name="T8" fmla="*/ 205 w 253"/>
                <a:gd name="T9" fmla="*/ 2 h 180"/>
                <a:gd name="T10" fmla="*/ 189 w 253"/>
                <a:gd name="T11" fmla="*/ 3 h 180"/>
                <a:gd name="T12" fmla="*/ 174 w 253"/>
                <a:gd name="T13" fmla="*/ 5 h 180"/>
                <a:gd name="T14" fmla="*/ 160 w 253"/>
                <a:gd name="T15" fmla="*/ 6 h 180"/>
                <a:gd name="T16" fmla="*/ 145 w 253"/>
                <a:gd name="T17" fmla="*/ 9 h 180"/>
                <a:gd name="T18" fmla="*/ 130 w 253"/>
                <a:gd name="T19" fmla="*/ 12 h 180"/>
                <a:gd name="T20" fmla="*/ 117 w 253"/>
                <a:gd name="T21" fmla="*/ 14 h 180"/>
                <a:gd name="T22" fmla="*/ 104 w 253"/>
                <a:gd name="T23" fmla="*/ 17 h 180"/>
                <a:gd name="T24" fmla="*/ 92 w 253"/>
                <a:gd name="T25" fmla="*/ 21 h 180"/>
                <a:gd name="T26" fmla="*/ 80 w 253"/>
                <a:gd name="T27" fmla="*/ 25 h 180"/>
                <a:gd name="T28" fmla="*/ 69 w 253"/>
                <a:gd name="T29" fmla="*/ 28 h 180"/>
                <a:gd name="T30" fmla="*/ 58 w 253"/>
                <a:gd name="T31" fmla="*/ 33 h 180"/>
                <a:gd name="T32" fmla="*/ 49 w 253"/>
                <a:gd name="T33" fmla="*/ 37 h 180"/>
                <a:gd name="T34" fmla="*/ 40 w 253"/>
                <a:gd name="T35" fmla="*/ 42 h 180"/>
                <a:gd name="T36" fmla="*/ 32 w 253"/>
                <a:gd name="T37" fmla="*/ 46 h 180"/>
                <a:gd name="T38" fmla="*/ 24 w 253"/>
                <a:gd name="T39" fmla="*/ 52 h 180"/>
                <a:gd name="T40" fmla="*/ 19 w 253"/>
                <a:gd name="T41" fmla="*/ 57 h 180"/>
                <a:gd name="T42" fmla="*/ 14 w 253"/>
                <a:gd name="T43" fmla="*/ 62 h 180"/>
                <a:gd name="T44" fmla="*/ 9 w 253"/>
                <a:gd name="T45" fmla="*/ 68 h 180"/>
                <a:gd name="T46" fmla="*/ 6 w 253"/>
                <a:gd name="T47" fmla="*/ 73 h 180"/>
                <a:gd name="T48" fmla="*/ 3 w 253"/>
                <a:gd name="T49" fmla="*/ 78 h 180"/>
                <a:gd name="T50" fmla="*/ 2 w 253"/>
                <a:gd name="T51" fmla="*/ 84 h 180"/>
                <a:gd name="T52" fmla="*/ 0 w 253"/>
                <a:gd name="T53" fmla="*/ 90 h 180"/>
                <a:gd name="T54" fmla="*/ 2 w 253"/>
                <a:gd name="T55" fmla="*/ 96 h 180"/>
                <a:gd name="T56" fmla="*/ 3 w 253"/>
                <a:gd name="T57" fmla="*/ 101 h 180"/>
                <a:gd name="T58" fmla="*/ 6 w 253"/>
                <a:gd name="T59" fmla="*/ 107 h 180"/>
                <a:gd name="T60" fmla="*/ 9 w 253"/>
                <a:gd name="T61" fmla="*/ 112 h 180"/>
                <a:gd name="T62" fmla="*/ 14 w 253"/>
                <a:gd name="T63" fmla="*/ 118 h 180"/>
                <a:gd name="T64" fmla="*/ 19 w 253"/>
                <a:gd name="T65" fmla="*/ 123 h 180"/>
                <a:gd name="T66" fmla="*/ 24 w 253"/>
                <a:gd name="T67" fmla="*/ 128 h 180"/>
                <a:gd name="T68" fmla="*/ 32 w 253"/>
                <a:gd name="T69" fmla="*/ 133 h 180"/>
                <a:gd name="T70" fmla="*/ 40 w 253"/>
                <a:gd name="T71" fmla="*/ 138 h 180"/>
                <a:gd name="T72" fmla="*/ 49 w 253"/>
                <a:gd name="T73" fmla="*/ 142 h 180"/>
                <a:gd name="T74" fmla="*/ 58 w 253"/>
                <a:gd name="T75" fmla="*/ 147 h 180"/>
                <a:gd name="T76" fmla="*/ 69 w 253"/>
                <a:gd name="T77" fmla="*/ 151 h 180"/>
                <a:gd name="T78" fmla="*/ 80 w 253"/>
                <a:gd name="T79" fmla="*/ 155 h 180"/>
                <a:gd name="T80" fmla="*/ 92 w 253"/>
                <a:gd name="T81" fmla="*/ 159 h 180"/>
                <a:gd name="T82" fmla="*/ 104 w 253"/>
                <a:gd name="T83" fmla="*/ 162 h 180"/>
                <a:gd name="T84" fmla="*/ 117 w 253"/>
                <a:gd name="T85" fmla="*/ 166 h 180"/>
                <a:gd name="T86" fmla="*/ 130 w 253"/>
                <a:gd name="T87" fmla="*/ 168 h 180"/>
                <a:gd name="T88" fmla="*/ 145 w 253"/>
                <a:gd name="T89" fmla="*/ 171 h 180"/>
                <a:gd name="T90" fmla="*/ 160 w 253"/>
                <a:gd name="T91" fmla="*/ 174 h 180"/>
                <a:gd name="T92" fmla="*/ 174 w 253"/>
                <a:gd name="T93" fmla="*/ 176 h 180"/>
                <a:gd name="T94" fmla="*/ 189 w 253"/>
                <a:gd name="T95" fmla="*/ 177 h 180"/>
                <a:gd name="T96" fmla="*/ 205 w 253"/>
                <a:gd name="T97" fmla="*/ 178 h 180"/>
                <a:gd name="T98" fmla="*/ 220 w 253"/>
                <a:gd name="T99" fmla="*/ 179 h 180"/>
                <a:gd name="T100" fmla="*/ 236 w 253"/>
                <a:gd name="T101" fmla="*/ 179 h 180"/>
                <a:gd name="T102" fmla="*/ 252 w 253"/>
                <a:gd name="T103" fmla="*/ 179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3" h="180">
                  <a:moveTo>
                    <a:pt x="252" y="0"/>
                  </a:moveTo>
                  <a:lnTo>
                    <a:pt x="252" y="0"/>
                  </a:lnTo>
                  <a:lnTo>
                    <a:pt x="236" y="0"/>
                  </a:lnTo>
                  <a:lnTo>
                    <a:pt x="220" y="1"/>
                  </a:lnTo>
                  <a:lnTo>
                    <a:pt x="205" y="2"/>
                  </a:lnTo>
                  <a:lnTo>
                    <a:pt x="189" y="3"/>
                  </a:lnTo>
                  <a:lnTo>
                    <a:pt x="174" y="5"/>
                  </a:lnTo>
                  <a:lnTo>
                    <a:pt x="160" y="6"/>
                  </a:lnTo>
                  <a:lnTo>
                    <a:pt x="145" y="9"/>
                  </a:lnTo>
                  <a:lnTo>
                    <a:pt x="130" y="12"/>
                  </a:lnTo>
                  <a:lnTo>
                    <a:pt x="117" y="14"/>
                  </a:lnTo>
                  <a:lnTo>
                    <a:pt x="104" y="17"/>
                  </a:lnTo>
                  <a:lnTo>
                    <a:pt x="92" y="21"/>
                  </a:lnTo>
                  <a:lnTo>
                    <a:pt x="80" y="25"/>
                  </a:lnTo>
                  <a:lnTo>
                    <a:pt x="69" y="28"/>
                  </a:lnTo>
                  <a:lnTo>
                    <a:pt x="58" y="33"/>
                  </a:lnTo>
                  <a:lnTo>
                    <a:pt x="49" y="37"/>
                  </a:lnTo>
                  <a:lnTo>
                    <a:pt x="40" y="42"/>
                  </a:lnTo>
                  <a:lnTo>
                    <a:pt x="32" y="46"/>
                  </a:lnTo>
                  <a:lnTo>
                    <a:pt x="24" y="52"/>
                  </a:lnTo>
                  <a:lnTo>
                    <a:pt x="19" y="57"/>
                  </a:lnTo>
                  <a:lnTo>
                    <a:pt x="14" y="62"/>
                  </a:lnTo>
                  <a:lnTo>
                    <a:pt x="9" y="68"/>
                  </a:lnTo>
                  <a:lnTo>
                    <a:pt x="6" y="73"/>
                  </a:lnTo>
                  <a:lnTo>
                    <a:pt x="3" y="78"/>
                  </a:lnTo>
                  <a:lnTo>
                    <a:pt x="2" y="84"/>
                  </a:lnTo>
                  <a:lnTo>
                    <a:pt x="0" y="90"/>
                  </a:lnTo>
                  <a:lnTo>
                    <a:pt x="2" y="96"/>
                  </a:lnTo>
                  <a:lnTo>
                    <a:pt x="3" y="101"/>
                  </a:lnTo>
                  <a:lnTo>
                    <a:pt x="6" y="107"/>
                  </a:lnTo>
                  <a:lnTo>
                    <a:pt x="9" y="112"/>
                  </a:lnTo>
                  <a:lnTo>
                    <a:pt x="14" y="118"/>
                  </a:lnTo>
                  <a:lnTo>
                    <a:pt x="19" y="123"/>
                  </a:lnTo>
                  <a:lnTo>
                    <a:pt x="24" y="128"/>
                  </a:lnTo>
                  <a:lnTo>
                    <a:pt x="32" y="133"/>
                  </a:lnTo>
                  <a:lnTo>
                    <a:pt x="40" y="138"/>
                  </a:lnTo>
                  <a:lnTo>
                    <a:pt x="49" y="142"/>
                  </a:lnTo>
                  <a:lnTo>
                    <a:pt x="58" y="147"/>
                  </a:lnTo>
                  <a:lnTo>
                    <a:pt x="69" y="151"/>
                  </a:lnTo>
                  <a:lnTo>
                    <a:pt x="80" y="155"/>
                  </a:lnTo>
                  <a:lnTo>
                    <a:pt x="92" y="159"/>
                  </a:lnTo>
                  <a:lnTo>
                    <a:pt x="104" y="162"/>
                  </a:lnTo>
                  <a:lnTo>
                    <a:pt x="117" y="166"/>
                  </a:lnTo>
                  <a:lnTo>
                    <a:pt x="130" y="168"/>
                  </a:lnTo>
                  <a:lnTo>
                    <a:pt x="145" y="171"/>
                  </a:lnTo>
                  <a:lnTo>
                    <a:pt x="160" y="174"/>
                  </a:lnTo>
                  <a:lnTo>
                    <a:pt x="174" y="176"/>
                  </a:lnTo>
                  <a:lnTo>
                    <a:pt x="189" y="177"/>
                  </a:lnTo>
                  <a:lnTo>
                    <a:pt x="205" y="178"/>
                  </a:lnTo>
                  <a:lnTo>
                    <a:pt x="220" y="179"/>
                  </a:lnTo>
                  <a:lnTo>
                    <a:pt x="236" y="179"/>
                  </a:lnTo>
                  <a:lnTo>
                    <a:pt x="252" y="179"/>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7" name="Line 25"/>
            <p:cNvSpPr>
              <a:spLocks noChangeShapeType="1"/>
            </p:cNvSpPr>
            <p:nvPr/>
          </p:nvSpPr>
          <p:spPr bwMode="auto">
            <a:xfrm>
              <a:off x="6583364" y="4160838"/>
              <a:ext cx="30003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8" name="Line 26"/>
            <p:cNvSpPr>
              <a:spLocks noChangeShapeType="1"/>
            </p:cNvSpPr>
            <p:nvPr/>
          </p:nvSpPr>
          <p:spPr bwMode="auto">
            <a:xfrm>
              <a:off x="6283325" y="3671888"/>
              <a:ext cx="30003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9" name="Freeform 27"/>
            <p:cNvSpPr>
              <a:spLocks/>
            </p:cNvSpPr>
            <p:nvPr/>
          </p:nvSpPr>
          <p:spPr bwMode="auto">
            <a:xfrm>
              <a:off x="6500814" y="3865563"/>
              <a:ext cx="103187" cy="100012"/>
            </a:xfrm>
            <a:custGeom>
              <a:avLst/>
              <a:gdLst>
                <a:gd name="T0" fmla="*/ 70 w 71"/>
                <a:gd name="T1" fmla="*/ 0 h 71"/>
                <a:gd name="T2" fmla="*/ 70 w 71"/>
                <a:gd name="T3" fmla="*/ 70 h 71"/>
                <a:gd name="T4" fmla="*/ 0 w 71"/>
                <a:gd name="T5" fmla="*/ 36 h 71"/>
                <a:gd name="T6" fmla="*/ 70 w 71"/>
                <a:gd name="T7" fmla="*/ 0 h 71"/>
                <a:gd name="T8" fmla="*/ 70 w 71"/>
                <a:gd name="T9" fmla="*/ 0 h 71"/>
              </a:gdLst>
              <a:ahLst/>
              <a:cxnLst>
                <a:cxn ang="0">
                  <a:pos x="T0" y="T1"/>
                </a:cxn>
                <a:cxn ang="0">
                  <a:pos x="T2" y="T3"/>
                </a:cxn>
                <a:cxn ang="0">
                  <a:pos x="T4" y="T5"/>
                </a:cxn>
                <a:cxn ang="0">
                  <a:pos x="T6" y="T7"/>
                </a:cxn>
                <a:cxn ang="0">
                  <a:pos x="T8" y="T9"/>
                </a:cxn>
              </a:cxnLst>
              <a:rect l="0" t="0" r="r" b="b"/>
              <a:pathLst>
                <a:path w="71" h="71">
                  <a:moveTo>
                    <a:pt x="70" y="0"/>
                  </a:moveTo>
                  <a:lnTo>
                    <a:pt x="70" y="70"/>
                  </a:lnTo>
                  <a:lnTo>
                    <a:pt x="0" y="36"/>
                  </a:lnTo>
                  <a:lnTo>
                    <a:pt x="70" y="0"/>
                  </a:lnTo>
                  <a:lnTo>
                    <a:pt x="70" y="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0" name="Freeform 28"/>
            <p:cNvSpPr>
              <a:spLocks/>
            </p:cNvSpPr>
            <p:nvPr/>
          </p:nvSpPr>
          <p:spPr bwMode="auto">
            <a:xfrm>
              <a:off x="6524625" y="3627438"/>
              <a:ext cx="103188" cy="100012"/>
            </a:xfrm>
            <a:custGeom>
              <a:avLst/>
              <a:gdLst>
                <a:gd name="T0" fmla="*/ 0 w 71"/>
                <a:gd name="T1" fmla="*/ 0 h 71"/>
                <a:gd name="T2" fmla="*/ 0 w 71"/>
                <a:gd name="T3" fmla="*/ 70 h 71"/>
                <a:gd name="T4" fmla="*/ 70 w 71"/>
                <a:gd name="T5" fmla="*/ 35 h 71"/>
                <a:gd name="T6" fmla="*/ 0 w 71"/>
                <a:gd name="T7" fmla="*/ 0 h 71"/>
                <a:gd name="T8" fmla="*/ 0 w 71"/>
                <a:gd name="T9" fmla="*/ 0 h 71"/>
              </a:gdLst>
              <a:ahLst/>
              <a:cxnLst>
                <a:cxn ang="0">
                  <a:pos x="T0" y="T1"/>
                </a:cxn>
                <a:cxn ang="0">
                  <a:pos x="T2" y="T3"/>
                </a:cxn>
                <a:cxn ang="0">
                  <a:pos x="T4" y="T5"/>
                </a:cxn>
                <a:cxn ang="0">
                  <a:pos x="T6" y="T7"/>
                </a:cxn>
                <a:cxn ang="0">
                  <a:pos x="T8" y="T9"/>
                </a:cxn>
              </a:cxnLst>
              <a:rect l="0" t="0" r="r" b="b"/>
              <a:pathLst>
                <a:path w="71" h="71">
                  <a:moveTo>
                    <a:pt x="0" y="0"/>
                  </a:moveTo>
                  <a:lnTo>
                    <a:pt x="0" y="70"/>
                  </a:lnTo>
                  <a:lnTo>
                    <a:pt x="70" y="35"/>
                  </a:lnTo>
                  <a:lnTo>
                    <a:pt x="0" y="0"/>
                  </a:lnTo>
                  <a:lnTo>
                    <a:pt x="0" y="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1" name="Freeform 29"/>
            <p:cNvSpPr>
              <a:spLocks/>
            </p:cNvSpPr>
            <p:nvPr/>
          </p:nvSpPr>
          <p:spPr bwMode="auto">
            <a:xfrm>
              <a:off x="6773864" y="4110038"/>
              <a:ext cx="103187" cy="100012"/>
            </a:xfrm>
            <a:custGeom>
              <a:avLst/>
              <a:gdLst>
                <a:gd name="T0" fmla="*/ 0 w 71"/>
                <a:gd name="T1" fmla="*/ 0 h 72"/>
                <a:gd name="T2" fmla="*/ 0 w 71"/>
                <a:gd name="T3" fmla="*/ 71 h 72"/>
                <a:gd name="T4" fmla="*/ 70 w 71"/>
                <a:gd name="T5" fmla="*/ 36 h 72"/>
                <a:gd name="T6" fmla="*/ 0 w 71"/>
                <a:gd name="T7" fmla="*/ 0 h 72"/>
                <a:gd name="T8" fmla="*/ 0 w 71"/>
                <a:gd name="T9" fmla="*/ 0 h 72"/>
              </a:gdLst>
              <a:ahLst/>
              <a:cxnLst>
                <a:cxn ang="0">
                  <a:pos x="T0" y="T1"/>
                </a:cxn>
                <a:cxn ang="0">
                  <a:pos x="T2" y="T3"/>
                </a:cxn>
                <a:cxn ang="0">
                  <a:pos x="T4" y="T5"/>
                </a:cxn>
                <a:cxn ang="0">
                  <a:pos x="T6" y="T7"/>
                </a:cxn>
                <a:cxn ang="0">
                  <a:pos x="T8" y="T9"/>
                </a:cxn>
              </a:cxnLst>
              <a:rect l="0" t="0" r="r" b="b"/>
              <a:pathLst>
                <a:path w="71" h="72">
                  <a:moveTo>
                    <a:pt x="0" y="0"/>
                  </a:moveTo>
                  <a:lnTo>
                    <a:pt x="0" y="71"/>
                  </a:lnTo>
                  <a:lnTo>
                    <a:pt x="70" y="36"/>
                  </a:lnTo>
                  <a:lnTo>
                    <a:pt x="0" y="0"/>
                  </a:lnTo>
                  <a:lnTo>
                    <a:pt x="0" y="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2" name="Freeform 30"/>
            <p:cNvSpPr>
              <a:spLocks/>
            </p:cNvSpPr>
            <p:nvPr/>
          </p:nvSpPr>
          <p:spPr bwMode="auto">
            <a:xfrm>
              <a:off x="8786814" y="3673476"/>
              <a:ext cx="357187" cy="238125"/>
            </a:xfrm>
            <a:custGeom>
              <a:avLst/>
              <a:gdLst>
                <a:gd name="T0" fmla="*/ 0 w 248"/>
                <a:gd name="T1" fmla="*/ 0 h 171"/>
                <a:gd name="T2" fmla="*/ 0 w 248"/>
                <a:gd name="T3" fmla="*/ 0 h 171"/>
                <a:gd name="T4" fmla="*/ 15 w 248"/>
                <a:gd name="T5" fmla="*/ 1 h 171"/>
                <a:gd name="T6" fmla="*/ 32 w 248"/>
                <a:gd name="T7" fmla="*/ 1 h 171"/>
                <a:gd name="T8" fmla="*/ 46 w 248"/>
                <a:gd name="T9" fmla="*/ 2 h 171"/>
                <a:gd name="T10" fmla="*/ 62 w 248"/>
                <a:gd name="T11" fmla="*/ 3 h 171"/>
                <a:gd name="T12" fmla="*/ 76 w 248"/>
                <a:gd name="T13" fmla="*/ 5 h 171"/>
                <a:gd name="T14" fmla="*/ 92 w 248"/>
                <a:gd name="T15" fmla="*/ 6 h 171"/>
                <a:gd name="T16" fmla="*/ 105 w 248"/>
                <a:gd name="T17" fmla="*/ 9 h 171"/>
                <a:gd name="T18" fmla="*/ 119 w 248"/>
                <a:gd name="T19" fmla="*/ 10 h 171"/>
                <a:gd name="T20" fmla="*/ 132 w 248"/>
                <a:gd name="T21" fmla="*/ 14 h 171"/>
                <a:gd name="T22" fmla="*/ 144 w 248"/>
                <a:gd name="T23" fmla="*/ 17 h 171"/>
                <a:gd name="T24" fmla="*/ 157 w 248"/>
                <a:gd name="T25" fmla="*/ 20 h 171"/>
                <a:gd name="T26" fmla="*/ 169 w 248"/>
                <a:gd name="T27" fmla="*/ 23 h 171"/>
                <a:gd name="T28" fmla="*/ 180 w 248"/>
                <a:gd name="T29" fmla="*/ 28 h 171"/>
                <a:gd name="T30" fmla="*/ 190 w 248"/>
                <a:gd name="T31" fmla="*/ 31 h 171"/>
                <a:gd name="T32" fmla="*/ 200 w 248"/>
                <a:gd name="T33" fmla="*/ 35 h 171"/>
                <a:gd name="T34" fmla="*/ 208 w 248"/>
                <a:gd name="T35" fmla="*/ 40 h 171"/>
                <a:gd name="T36" fmla="*/ 216 w 248"/>
                <a:gd name="T37" fmla="*/ 44 h 171"/>
                <a:gd name="T38" fmla="*/ 223 w 248"/>
                <a:gd name="T39" fmla="*/ 49 h 171"/>
                <a:gd name="T40" fmla="*/ 229 w 248"/>
                <a:gd name="T41" fmla="*/ 54 h 171"/>
                <a:gd name="T42" fmla="*/ 234 w 248"/>
                <a:gd name="T43" fmla="*/ 59 h 171"/>
                <a:gd name="T44" fmla="*/ 239 w 248"/>
                <a:gd name="T45" fmla="*/ 64 h 171"/>
                <a:gd name="T46" fmla="*/ 242 w 248"/>
                <a:gd name="T47" fmla="*/ 69 h 171"/>
                <a:gd name="T48" fmla="*/ 245 w 248"/>
                <a:gd name="T49" fmla="*/ 75 h 171"/>
                <a:gd name="T50" fmla="*/ 246 w 248"/>
                <a:gd name="T51" fmla="*/ 80 h 171"/>
                <a:gd name="T52" fmla="*/ 247 w 248"/>
                <a:gd name="T53" fmla="*/ 86 h 171"/>
                <a:gd name="T54" fmla="*/ 246 w 248"/>
                <a:gd name="T55" fmla="*/ 90 h 171"/>
                <a:gd name="T56" fmla="*/ 245 w 248"/>
                <a:gd name="T57" fmla="*/ 96 h 171"/>
                <a:gd name="T58" fmla="*/ 242 w 248"/>
                <a:gd name="T59" fmla="*/ 101 h 171"/>
                <a:gd name="T60" fmla="*/ 239 w 248"/>
                <a:gd name="T61" fmla="*/ 106 h 171"/>
                <a:gd name="T62" fmla="*/ 234 w 248"/>
                <a:gd name="T63" fmla="*/ 112 h 171"/>
                <a:gd name="T64" fmla="*/ 229 w 248"/>
                <a:gd name="T65" fmla="*/ 117 h 171"/>
                <a:gd name="T66" fmla="*/ 223 w 248"/>
                <a:gd name="T67" fmla="*/ 122 h 171"/>
                <a:gd name="T68" fmla="*/ 216 w 248"/>
                <a:gd name="T69" fmla="*/ 126 h 171"/>
                <a:gd name="T70" fmla="*/ 208 w 248"/>
                <a:gd name="T71" fmla="*/ 131 h 171"/>
                <a:gd name="T72" fmla="*/ 200 w 248"/>
                <a:gd name="T73" fmla="*/ 135 h 171"/>
                <a:gd name="T74" fmla="*/ 190 w 248"/>
                <a:gd name="T75" fmla="*/ 140 h 171"/>
                <a:gd name="T76" fmla="*/ 180 w 248"/>
                <a:gd name="T77" fmla="*/ 144 h 171"/>
                <a:gd name="T78" fmla="*/ 169 w 248"/>
                <a:gd name="T79" fmla="*/ 147 h 171"/>
                <a:gd name="T80" fmla="*/ 157 w 248"/>
                <a:gd name="T81" fmla="*/ 151 h 171"/>
                <a:gd name="T82" fmla="*/ 144 w 248"/>
                <a:gd name="T83" fmla="*/ 154 h 171"/>
                <a:gd name="T84" fmla="*/ 132 w 248"/>
                <a:gd name="T85" fmla="*/ 157 h 171"/>
                <a:gd name="T86" fmla="*/ 119 w 248"/>
                <a:gd name="T87" fmla="*/ 160 h 171"/>
                <a:gd name="T88" fmla="*/ 105 w 248"/>
                <a:gd name="T89" fmla="*/ 162 h 171"/>
                <a:gd name="T90" fmla="*/ 92 w 248"/>
                <a:gd name="T91" fmla="*/ 164 h 171"/>
                <a:gd name="T92" fmla="*/ 76 w 248"/>
                <a:gd name="T93" fmla="*/ 166 h 171"/>
                <a:gd name="T94" fmla="*/ 62 w 248"/>
                <a:gd name="T95" fmla="*/ 168 h 171"/>
                <a:gd name="T96" fmla="*/ 46 w 248"/>
                <a:gd name="T97" fmla="*/ 169 h 171"/>
                <a:gd name="T98" fmla="*/ 32 w 248"/>
                <a:gd name="T99" fmla="*/ 170 h 171"/>
                <a:gd name="T100" fmla="*/ 15 w 248"/>
                <a:gd name="T101" fmla="*/ 170 h 171"/>
                <a:gd name="T102" fmla="*/ 0 w 248"/>
                <a:gd name="T103" fmla="*/ 17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48" h="171">
                  <a:moveTo>
                    <a:pt x="0" y="0"/>
                  </a:moveTo>
                  <a:lnTo>
                    <a:pt x="0" y="0"/>
                  </a:lnTo>
                  <a:lnTo>
                    <a:pt x="15" y="1"/>
                  </a:lnTo>
                  <a:lnTo>
                    <a:pt x="32" y="1"/>
                  </a:lnTo>
                  <a:lnTo>
                    <a:pt x="46" y="2"/>
                  </a:lnTo>
                  <a:lnTo>
                    <a:pt x="62" y="3"/>
                  </a:lnTo>
                  <a:lnTo>
                    <a:pt x="76" y="5"/>
                  </a:lnTo>
                  <a:lnTo>
                    <a:pt x="92" y="6"/>
                  </a:lnTo>
                  <a:lnTo>
                    <a:pt x="105" y="9"/>
                  </a:lnTo>
                  <a:lnTo>
                    <a:pt x="119" y="10"/>
                  </a:lnTo>
                  <a:lnTo>
                    <a:pt x="132" y="14"/>
                  </a:lnTo>
                  <a:lnTo>
                    <a:pt x="144" y="17"/>
                  </a:lnTo>
                  <a:lnTo>
                    <a:pt x="157" y="20"/>
                  </a:lnTo>
                  <a:lnTo>
                    <a:pt x="169" y="23"/>
                  </a:lnTo>
                  <a:lnTo>
                    <a:pt x="180" y="28"/>
                  </a:lnTo>
                  <a:lnTo>
                    <a:pt x="190" y="31"/>
                  </a:lnTo>
                  <a:lnTo>
                    <a:pt x="200" y="35"/>
                  </a:lnTo>
                  <a:lnTo>
                    <a:pt x="208" y="40"/>
                  </a:lnTo>
                  <a:lnTo>
                    <a:pt x="216" y="44"/>
                  </a:lnTo>
                  <a:lnTo>
                    <a:pt x="223" y="49"/>
                  </a:lnTo>
                  <a:lnTo>
                    <a:pt x="229" y="54"/>
                  </a:lnTo>
                  <a:lnTo>
                    <a:pt x="234" y="59"/>
                  </a:lnTo>
                  <a:lnTo>
                    <a:pt x="239" y="64"/>
                  </a:lnTo>
                  <a:lnTo>
                    <a:pt x="242" y="69"/>
                  </a:lnTo>
                  <a:lnTo>
                    <a:pt x="245" y="75"/>
                  </a:lnTo>
                  <a:lnTo>
                    <a:pt x="246" y="80"/>
                  </a:lnTo>
                  <a:lnTo>
                    <a:pt x="247" y="86"/>
                  </a:lnTo>
                  <a:lnTo>
                    <a:pt x="246" y="90"/>
                  </a:lnTo>
                  <a:lnTo>
                    <a:pt x="245" y="96"/>
                  </a:lnTo>
                  <a:lnTo>
                    <a:pt x="242" y="101"/>
                  </a:lnTo>
                  <a:lnTo>
                    <a:pt x="239" y="106"/>
                  </a:lnTo>
                  <a:lnTo>
                    <a:pt x="234" y="112"/>
                  </a:lnTo>
                  <a:lnTo>
                    <a:pt x="229" y="117"/>
                  </a:lnTo>
                  <a:lnTo>
                    <a:pt x="223" y="122"/>
                  </a:lnTo>
                  <a:lnTo>
                    <a:pt x="216" y="126"/>
                  </a:lnTo>
                  <a:lnTo>
                    <a:pt x="208" y="131"/>
                  </a:lnTo>
                  <a:lnTo>
                    <a:pt x="200" y="135"/>
                  </a:lnTo>
                  <a:lnTo>
                    <a:pt x="190" y="140"/>
                  </a:lnTo>
                  <a:lnTo>
                    <a:pt x="180" y="144"/>
                  </a:lnTo>
                  <a:lnTo>
                    <a:pt x="169" y="147"/>
                  </a:lnTo>
                  <a:lnTo>
                    <a:pt x="157" y="151"/>
                  </a:lnTo>
                  <a:lnTo>
                    <a:pt x="144" y="154"/>
                  </a:lnTo>
                  <a:lnTo>
                    <a:pt x="132" y="157"/>
                  </a:lnTo>
                  <a:lnTo>
                    <a:pt x="119" y="160"/>
                  </a:lnTo>
                  <a:lnTo>
                    <a:pt x="105" y="162"/>
                  </a:lnTo>
                  <a:lnTo>
                    <a:pt x="92" y="164"/>
                  </a:lnTo>
                  <a:lnTo>
                    <a:pt x="76" y="166"/>
                  </a:lnTo>
                  <a:lnTo>
                    <a:pt x="62" y="168"/>
                  </a:lnTo>
                  <a:lnTo>
                    <a:pt x="46" y="169"/>
                  </a:lnTo>
                  <a:lnTo>
                    <a:pt x="32" y="170"/>
                  </a:lnTo>
                  <a:lnTo>
                    <a:pt x="15" y="170"/>
                  </a:lnTo>
                  <a:lnTo>
                    <a:pt x="0" y="17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3" name="Freeform 31"/>
            <p:cNvSpPr>
              <a:spLocks/>
            </p:cNvSpPr>
            <p:nvPr/>
          </p:nvSpPr>
          <p:spPr bwMode="auto">
            <a:xfrm>
              <a:off x="8416925" y="3911601"/>
              <a:ext cx="363538" cy="250825"/>
            </a:xfrm>
            <a:custGeom>
              <a:avLst/>
              <a:gdLst>
                <a:gd name="T0" fmla="*/ 251 w 252"/>
                <a:gd name="T1" fmla="*/ 0 h 180"/>
                <a:gd name="T2" fmla="*/ 251 w 252"/>
                <a:gd name="T3" fmla="*/ 0 h 180"/>
                <a:gd name="T4" fmla="*/ 235 w 252"/>
                <a:gd name="T5" fmla="*/ 0 h 180"/>
                <a:gd name="T6" fmla="*/ 220 w 252"/>
                <a:gd name="T7" fmla="*/ 1 h 180"/>
                <a:gd name="T8" fmla="*/ 204 w 252"/>
                <a:gd name="T9" fmla="*/ 2 h 180"/>
                <a:gd name="T10" fmla="*/ 188 w 252"/>
                <a:gd name="T11" fmla="*/ 3 h 180"/>
                <a:gd name="T12" fmla="*/ 174 w 252"/>
                <a:gd name="T13" fmla="*/ 5 h 180"/>
                <a:gd name="T14" fmla="*/ 159 w 252"/>
                <a:gd name="T15" fmla="*/ 6 h 180"/>
                <a:gd name="T16" fmla="*/ 145 w 252"/>
                <a:gd name="T17" fmla="*/ 9 h 180"/>
                <a:gd name="T18" fmla="*/ 130 w 252"/>
                <a:gd name="T19" fmla="*/ 12 h 180"/>
                <a:gd name="T20" fmla="*/ 116 w 252"/>
                <a:gd name="T21" fmla="*/ 14 h 180"/>
                <a:gd name="T22" fmla="*/ 104 w 252"/>
                <a:gd name="T23" fmla="*/ 17 h 180"/>
                <a:gd name="T24" fmla="*/ 91 w 252"/>
                <a:gd name="T25" fmla="*/ 21 h 180"/>
                <a:gd name="T26" fmla="*/ 79 w 252"/>
                <a:gd name="T27" fmla="*/ 25 h 180"/>
                <a:gd name="T28" fmla="*/ 68 w 252"/>
                <a:gd name="T29" fmla="*/ 28 h 180"/>
                <a:gd name="T30" fmla="*/ 58 w 252"/>
                <a:gd name="T31" fmla="*/ 33 h 180"/>
                <a:gd name="T32" fmla="*/ 48 w 252"/>
                <a:gd name="T33" fmla="*/ 37 h 180"/>
                <a:gd name="T34" fmla="*/ 40 w 252"/>
                <a:gd name="T35" fmla="*/ 42 h 180"/>
                <a:gd name="T36" fmla="*/ 31 w 252"/>
                <a:gd name="T37" fmla="*/ 46 h 180"/>
                <a:gd name="T38" fmla="*/ 24 w 252"/>
                <a:gd name="T39" fmla="*/ 52 h 180"/>
                <a:gd name="T40" fmla="*/ 18 w 252"/>
                <a:gd name="T41" fmla="*/ 57 h 180"/>
                <a:gd name="T42" fmla="*/ 12 w 252"/>
                <a:gd name="T43" fmla="*/ 62 h 180"/>
                <a:gd name="T44" fmla="*/ 8 w 252"/>
                <a:gd name="T45" fmla="*/ 68 h 180"/>
                <a:gd name="T46" fmla="*/ 5 w 252"/>
                <a:gd name="T47" fmla="*/ 73 h 180"/>
                <a:gd name="T48" fmla="*/ 2 w 252"/>
                <a:gd name="T49" fmla="*/ 78 h 180"/>
                <a:gd name="T50" fmla="*/ 0 w 252"/>
                <a:gd name="T51" fmla="*/ 84 h 180"/>
                <a:gd name="T52" fmla="*/ 0 w 252"/>
                <a:gd name="T53" fmla="*/ 90 h 180"/>
                <a:gd name="T54" fmla="*/ 0 w 252"/>
                <a:gd name="T55" fmla="*/ 96 h 180"/>
                <a:gd name="T56" fmla="*/ 2 w 252"/>
                <a:gd name="T57" fmla="*/ 101 h 180"/>
                <a:gd name="T58" fmla="*/ 5 w 252"/>
                <a:gd name="T59" fmla="*/ 107 h 180"/>
                <a:gd name="T60" fmla="*/ 8 w 252"/>
                <a:gd name="T61" fmla="*/ 112 h 180"/>
                <a:gd name="T62" fmla="*/ 12 w 252"/>
                <a:gd name="T63" fmla="*/ 118 h 180"/>
                <a:gd name="T64" fmla="*/ 18 w 252"/>
                <a:gd name="T65" fmla="*/ 123 h 180"/>
                <a:gd name="T66" fmla="*/ 24 w 252"/>
                <a:gd name="T67" fmla="*/ 128 h 180"/>
                <a:gd name="T68" fmla="*/ 31 w 252"/>
                <a:gd name="T69" fmla="*/ 133 h 180"/>
                <a:gd name="T70" fmla="*/ 40 w 252"/>
                <a:gd name="T71" fmla="*/ 138 h 180"/>
                <a:gd name="T72" fmla="*/ 48 w 252"/>
                <a:gd name="T73" fmla="*/ 142 h 180"/>
                <a:gd name="T74" fmla="*/ 58 w 252"/>
                <a:gd name="T75" fmla="*/ 147 h 180"/>
                <a:gd name="T76" fmla="*/ 68 w 252"/>
                <a:gd name="T77" fmla="*/ 151 h 180"/>
                <a:gd name="T78" fmla="*/ 79 w 252"/>
                <a:gd name="T79" fmla="*/ 155 h 180"/>
                <a:gd name="T80" fmla="*/ 91 w 252"/>
                <a:gd name="T81" fmla="*/ 159 h 180"/>
                <a:gd name="T82" fmla="*/ 104 w 252"/>
                <a:gd name="T83" fmla="*/ 162 h 180"/>
                <a:gd name="T84" fmla="*/ 116 w 252"/>
                <a:gd name="T85" fmla="*/ 166 h 180"/>
                <a:gd name="T86" fmla="*/ 130 w 252"/>
                <a:gd name="T87" fmla="*/ 168 h 180"/>
                <a:gd name="T88" fmla="*/ 145 w 252"/>
                <a:gd name="T89" fmla="*/ 171 h 180"/>
                <a:gd name="T90" fmla="*/ 159 w 252"/>
                <a:gd name="T91" fmla="*/ 174 h 180"/>
                <a:gd name="T92" fmla="*/ 174 w 252"/>
                <a:gd name="T93" fmla="*/ 176 h 180"/>
                <a:gd name="T94" fmla="*/ 188 w 252"/>
                <a:gd name="T95" fmla="*/ 177 h 180"/>
                <a:gd name="T96" fmla="*/ 204 w 252"/>
                <a:gd name="T97" fmla="*/ 178 h 180"/>
                <a:gd name="T98" fmla="*/ 220 w 252"/>
                <a:gd name="T99" fmla="*/ 179 h 180"/>
                <a:gd name="T100" fmla="*/ 235 w 252"/>
                <a:gd name="T101" fmla="*/ 179 h 180"/>
                <a:gd name="T102" fmla="*/ 251 w 252"/>
                <a:gd name="T103" fmla="*/ 179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2" h="180">
                  <a:moveTo>
                    <a:pt x="251" y="0"/>
                  </a:moveTo>
                  <a:lnTo>
                    <a:pt x="251" y="0"/>
                  </a:lnTo>
                  <a:lnTo>
                    <a:pt x="235" y="0"/>
                  </a:lnTo>
                  <a:lnTo>
                    <a:pt x="220" y="1"/>
                  </a:lnTo>
                  <a:lnTo>
                    <a:pt x="204" y="2"/>
                  </a:lnTo>
                  <a:lnTo>
                    <a:pt x="188" y="3"/>
                  </a:lnTo>
                  <a:lnTo>
                    <a:pt x="174" y="5"/>
                  </a:lnTo>
                  <a:lnTo>
                    <a:pt x="159" y="6"/>
                  </a:lnTo>
                  <a:lnTo>
                    <a:pt x="145" y="9"/>
                  </a:lnTo>
                  <a:lnTo>
                    <a:pt x="130" y="12"/>
                  </a:lnTo>
                  <a:lnTo>
                    <a:pt x="116" y="14"/>
                  </a:lnTo>
                  <a:lnTo>
                    <a:pt x="104" y="17"/>
                  </a:lnTo>
                  <a:lnTo>
                    <a:pt x="91" y="21"/>
                  </a:lnTo>
                  <a:lnTo>
                    <a:pt x="79" y="25"/>
                  </a:lnTo>
                  <a:lnTo>
                    <a:pt x="68" y="28"/>
                  </a:lnTo>
                  <a:lnTo>
                    <a:pt x="58" y="33"/>
                  </a:lnTo>
                  <a:lnTo>
                    <a:pt x="48" y="37"/>
                  </a:lnTo>
                  <a:lnTo>
                    <a:pt x="40" y="42"/>
                  </a:lnTo>
                  <a:lnTo>
                    <a:pt x="31" y="46"/>
                  </a:lnTo>
                  <a:lnTo>
                    <a:pt x="24" y="52"/>
                  </a:lnTo>
                  <a:lnTo>
                    <a:pt x="18" y="57"/>
                  </a:lnTo>
                  <a:lnTo>
                    <a:pt x="12" y="62"/>
                  </a:lnTo>
                  <a:lnTo>
                    <a:pt x="8" y="68"/>
                  </a:lnTo>
                  <a:lnTo>
                    <a:pt x="5" y="73"/>
                  </a:lnTo>
                  <a:lnTo>
                    <a:pt x="2" y="78"/>
                  </a:lnTo>
                  <a:lnTo>
                    <a:pt x="0" y="84"/>
                  </a:lnTo>
                  <a:lnTo>
                    <a:pt x="0" y="90"/>
                  </a:lnTo>
                  <a:lnTo>
                    <a:pt x="0" y="96"/>
                  </a:lnTo>
                  <a:lnTo>
                    <a:pt x="2" y="101"/>
                  </a:lnTo>
                  <a:lnTo>
                    <a:pt x="5" y="107"/>
                  </a:lnTo>
                  <a:lnTo>
                    <a:pt x="8" y="112"/>
                  </a:lnTo>
                  <a:lnTo>
                    <a:pt x="12" y="118"/>
                  </a:lnTo>
                  <a:lnTo>
                    <a:pt x="18" y="123"/>
                  </a:lnTo>
                  <a:lnTo>
                    <a:pt x="24" y="128"/>
                  </a:lnTo>
                  <a:lnTo>
                    <a:pt x="31" y="133"/>
                  </a:lnTo>
                  <a:lnTo>
                    <a:pt x="40" y="138"/>
                  </a:lnTo>
                  <a:lnTo>
                    <a:pt x="48" y="142"/>
                  </a:lnTo>
                  <a:lnTo>
                    <a:pt x="58" y="147"/>
                  </a:lnTo>
                  <a:lnTo>
                    <a:pt x="68" y="151"/>
                  </a:lnTo>
                  <a:lnTo>
                    <a:pt x="79" y="155"/>
                  </a:lnTo>
                  <a:lnTo>
                    <a:pt x="91" y="159"/>
                  </a:lnTo>
                  <a:lnTo>
                    <a:pt x="104" y="162"/>
                  </a:lnTo>
                  <a:lnTo>
                    <a:pt x="116" y="166"/>
                  </a:lnTo>
                  <a:lnTo>
                    <a:pt x="130" y="168"/>
                  </a:lnTo>
                  <a:lnTo>
                    <a:pt x="145" y="171"/>
                  </a:lnTo>
                  <a:lnTo>
                    <a:pt x="159" y="174"/>
                  </a:lnTo>
                  <a:lnTo>
                    <a:pt x="174" y="176"/>
                  </a:lnTo>
                  <a:lnTo>
                    <a:pt x="188" y="177"/>
                  </a:lnTo>
                  <a:lnTo>
                    <a:pt x="204" y="178"/>
                  </a:lnTo>
                  <a:lnTo>
                    <a:pt x="220" y="179"/>
                  </a:lnTo>
                  <a:lnTo>
                    <a:pt x="235" y="179"/>
                  </a:lnTo>
                  <a:lnTo>
                    <a:pt x="251" y="179"/>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8778875" y="4160838"/>
              <a:ext cx="30003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5" name="Line 33"/>
            <p:cNvSpPr>
              <a:spLocks noChangeShapeType="1"/>
            </p:cNvSpPr>
            <p:nvPr/>
          </p:nvSpPr>
          <p:spPr bwMode="auto">
            <a:xfrm>
              <a:off x="8478839" y="3671888"/>
              <a:ext cx="30003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6" name="Freeform 34"/>
            <p:cNvSpPr>
              <a:spLocks/>
            </p:cNvSpPr>
            <p:nvPr/>
          </p:nvSpPr>
          <p:spPr bwMode="auto">
            <a:xfrm>
              <a:off x="8696326" y="3865563"/>
              <a:ext cx="104775" cy="100012"/>
            </a:xfrm>
            <a:custGeom>
              <a:avLst/>
              <a:gdLst>
                <a:gd name="T0" fmla="*/ 71 w 72"/>
                <a:gd name="T1" fmla="*/ 0 h 71"/>
                <a:gd name="T2" fmla="*/ 71 w 72"/>
                <a:gd name="T3" fmla="*/ 70 h 71"/>
                <a:gd name="T4" fmla="*/ 0 w 72"/>
                <a:gd name="T5" fmla="*/ 36 h 71"/>
                <a:gd name="T6" fmla="*/ 71 w 72"/>
                <a:gd name="T7" fmla="*/ 0 h 71"/>
                <a:gd name="T8" fmla="*/ 71 w 72"/>
                <a:gd name="T9" fmla="*/ 0 h 71"/>
              </a:gdLst>
              <a:ahLst/>
              <a:cxnLst>
                <a:cxn ang="0">
                  <a:pos x="T0" y="T1"/>
                </a:cxn>
                <a:cxn ang="0">
                  <a:pos x="T2" y="T3"/>
                </a:cxn>
                <a:cxn ang="0">
                  <a:pos x="T4" y="T5"/>
                </a:cxn>
                <a:cxn ang="0">
                  <a:pos x="T6" y="T7"/>
                </a:cxn>
                <a:cxn ang="0">
                  <a:pos x="T8" y="T9"/>
                </a:cxn>
              </a:cxnLst>
              <a:rect l="0" t="0" r="r" b="b"/>
              <a:pathLst>
                <a:path w="72" h="71">
                  <a:moveTo>
                    <a:pt x="71" y="0"/>
                  </a:moveTo>
                  <a:lnTo>
                    <a:pt x="71" y="70"/>
                  </a:lnTo>
                  <a:lnTo>
                    <a:pt x="0" y="36"/>
                  </a:lnTo>
                  <a:lnTo>
                    <a:pt x="71" y="0"/>
                  </a:lnTo>
                  <a:lnTo>
                    <a:pt x="71" y="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7" name="Freeform 35"/>
            <p:cNvSpPr>
              <a:spLocks/>
            </p:cNvSpPr>
            <p:nvPr/>
          </p:nvSpPr>
          <p:spPr bwMode="auto">
            <a:xfrm>
              <a:off x="8720139" y="3627438"/>
              <a:ext cx="103187" cy="100012"/>
            </a:xfrm>
            <a:custGeom>
              <a:avLst/>
              <a:gdLst>
                <a:gd name="T0" fmla="*/ 0 w 72"/>
                <a:gd name="T1" fmla="*/ 0 h 71"/>
                <a:gd name="T2" fmla="*/ 0 w 72"/>
                <a:gd name="T3" fmla="*/ 70 h 71"/>
                <a:gd name="T4" fmla="*/ 71 w 72"/>
                <a:gd name="T5" fmla="*/ 35 h 71"/>
                <a:gd name="T6" fmla="*/ 0 w 72"/>
                <a:gd name="T7" fmla="*/ 0 h 71"/>
                <a:gd name="T8" fmla="*/ 0 w 72"/>
                <a:gd name="T9" fmla="*/ 0 h 71"/>
              </a:gdLst>
              <a:ahLst/>
              <a:cxnLst>
                <a:cxn ang="0">
                  <a:pos x="T0" y="T1"/>
                </a:cxn>
                <a:cxn ang="0">
                  <a:pos x="T2" y="T3"/>
                </a:cxn>
                <a:cxn ang="0">
                  <a:pos x="T4" y="T5"/>
                </a:cxn>
                <a:cxn ang="0">
                  <a:pos x="T6" y="T7"/>
                </a:cxn>
                <a:cxn ang="0">
                  <a:pos x="T8" y="T9"/>
                </a:cxn>
              </a:cxnLst>
              <a:rect l="0" t="0" r="r" b="b"/>
              <a:pathLst>
                <a:path w="72" h="71">
                  <a:moveTo>
                    <a:pt x="0" y="0"/>
                  </a:moveTo>
                  <a:lnTo>
                    <a:pt x="0" y="70"/>
                  </a:lnTo>
                  <a:lnTo>
                    <a:pt x="71" y="35"/>
                  </a:lnTo>
                  <a:lnTo>
                    <a:pt x="0" y="0"/>
                  </a:lnTo>
                  <a:lnTo>
                    <a:pt x="0" y="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8" name="Freeform 36"/>
            <p:cNvSpPr>
              <a:spLocks/>
            </p:cNvSpPr>
            <p:nvPr/>
          </p:nvSpPr>
          <p:spPr bwMode="auto">
            <a:xfrm>
              <a:off x="8970963" y="4110038"/>
              <a:ext cx="101600" cy="100012"/>
            </a:xfrm>
            <a:custGeom>
              <a:avLst/>
              <a:gdLst>
                <a:gd name="T0" fmla="*/ 0 w 71"/>
                <a:gd name="T1" fmla="*/ 0 h 72"/>
                <a:gd name="T2" fmla="*/ 0 w 71"/>
                <a:gd name="T3" fmla="*/ 71 h 72"/>
                <a:gd name="T4" fmla="*/ 70 w 71"/>
                <a:gd name="T5" fmla="*/ 36 h 72"/>
                <a:gd name="T6" fmla="*/ 0 w 71"/>
                <a:gd name="T7" fmla="*/ 0 h 72"/>
                <a:gd name="T8" fmla="*/ 0 w 71"/>
                <a:gd name="T9" fmla="*/ 0 h 72"/>
              </a:gdLst>
              <a:ahLst/>
              <a:cxnLst>
                <a:cxn ang="0">
                  <a:pos x="T0" y="T1"/>
                </a:cxn>
                <a:cxn ang="0">
                  <a:pos x="T2" y="T3"/>
                </a:cxn>
                <a:cxn ang="0">
                  <a:pos x="T4" y="T5"/>
                </a:cxn>
                <a:cxn ang="0">
                  <a:pos x="T6" y="T7"/>
                </a:cxn>
                <a:cxn ang="0">
                  <a:pos x="T8" y="T9"/>
                </a:cxn>
              </a:cxnLst>
              <a:rect l="0" t="0" r="r" b="b"/>
              <a:pathLst>
                <a:path w="71" h="72">
                  <a:moveTo>
                    <a:pt x="0" y="0"/>
                  </a:moveTo>
                  <a:lnTo>
                    <a:pt x="0" y="71"/>
                  </a:lnTo>
                  <a:lnTo>
                    <a:pt x="70" y="36"/>
                  </a:lnTo>
                  <a:lnTo>
                    <a:pt x="0" y="0"/>
                  </a:lnTo>
                  <a:lnTo>
                    <a:pt x="0" y="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9" name="Text Box 37"/>
            <p:cNvSpPr txBox="1">
              <a:spLocks noChangeArrowheads="1"/>
            </p:cNvSpPr>
            <p:nvPr/>
          </p:nvSpPr>
          <p:spPr bwMode="auto">
            <a:xfrm>
              <a:off x="8154989" y="4389438"/>
              <a:ext cx="1290637"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zh-CN" altLang="en-US" sz="1900" b="1" i="1">
                  <a:solidFill>
                    <a:srgbClr val="CC6600"/>
                  </a:solidFill>
                  <a:latin typeface="微软雅黑" panose="020B0503020204020204" pitchFamily="34" charset="-122"/>
                  <a:ea typeface="微软雅黑" panose="020B0503020204020204" pitchFamily="34" charset="-122"/>
                </a:rPr>
                <a:t>负载失配</a:t>
              </a:r>
              <a:endParaRPr lang="zh-CN" altLang="en-US" sz="2200" b="1" i="1">
                <a:solidFill>
                  <a:srgbClr val="CC6600"/>
                </a:solidFill>
                <a:latin typeface="微软雅黑" panose="020B0503020204020204" pitchFamily="34" charset="-122"/>
                <a:ea typeface="微软雅黑" panose="020B0503020204020204" pitchFamily="34" charset="-122"/>
              </a:endParaRPr>
            </a:p>
          </p:txBody>
        </p:sp>
        <p:sp>
          <p:nvSpPr>
            <p:cNvPr id="40" name="Text Box 38"/>
            <p:cNvSpPr txBox="1">
              <a:spLocks noChangeArrowheads="1"/>
            </p:cNvSpPr>
            <p:nvPr/>
          </p:nvSpPr>
          <p:spPr bwMode="auto">
            <a:xfrm>
              <a:off x="6978650" y="1908176"/>
              <a:ext cx="10922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zh-CN" altLang="en-US" sz="1900" b="1" i="1">
                  <a:solidFill>
                    <a:srgbClr val="0000FF"/>
                  </a:solidFill>
                  <a:latin typeface="微软雅黑" panose="020B0503020204020204" pitchFamily="34" charset="-122"/>
                  <a:ea typeface="微软雅黑" panose="020B0503020204020204" pitchFamily="34" charset="-122"/>
                </a:rPr>
                <a:t>串扰</a:t>
              </a:r>
              <a:endParaRPr lang="zh-CN" altLang="en-US" sz="2200" b="1" i="1">
                <a:latin typeface="微软雅黑" panose="020B0503020204020204" pitchFamily="34" charset="-122"/>
                <a:ea typeface="微软雅黑" panose="020B0503020204020204" pitchFamily="34" charset="-122"/>
              </a:endParaRPr>
            </a:p>
          </p:txBody>
        </p:sp>
        <p:grpSp>
          <p:nvGrpSpPr>
            <p:cNvPr id="41" name="Group 39"/>
            <p:cNvGrpSpPr>
              <a:grpSpLocks/>
            </p:cNvGrpSpPr>
            <p:nvPr/>
          </p:nvGrpSpPr>
          <p:grpSpPr bwMode="auto">
            <a:xfrm>
              <a:off x="4103689" y="2382838"/>
              <a:ext cx="1006475" cy="596900"/>
              <a:chOff x="1787" y="1701"/>
              <a:chExt cx="698" cy="426"/>
            </a:xfrm>
          </p:grpSpPr>
          <p:sp>
            <p:nvSpPr>
              <p:cNvPr id="68" name="Freeform 40"/>
              <p:cNvSpPr>
                <a:spLocks/>
              </p:cNvSpPr>
              <p:nvPr/>
            </p:nvSpPr>
            <p:spPr bwMode="auto">
              <a:xfrm>
                <a:off x="1787" y="1866"/>
                <a:ext cx="663" cy="261"/>
              </a:xfrm>
              <a:custGeom>
                <a:avLst/>
                <a:gdLst>
                  <a:gd name="T0" fmla="*/ 0 w 663"/>
                  <a:gd name="T1" fmla="*/ 260 h 261"/>
                  <a:gd name="T2" fmla="*/ 262 w 663"/>
                  <a:gd name="T3" fmla="*/ 260 h 261"/>
                  <a:gd name="T4" fmla="*/ 381 w 663"/>
                  <a:gd name="T5" fmla="*/ 259 h 261"/>
                  <a:gd name="T6" fmla="*/ 479 w 663"/>
                  <a:gd name="T7" fmla="*/ 257 h 261"/>
                  <a:gd name="T8" fmla="*/ 514 w 663"/>
                  <a:gd name="T9" fmla="*/ 254 h 261"/>
                  <a:gd name="T10" fmla="*/ 533 w 663"/>
                  <a:gd name="T11" fmla="*/ 251 h 261"/>
                  <a:gd name="T12" fmla="*/ 551 w 663"/>
                  <a:gd name="T13" fmla="*/ 244 h 261"/>
                  <a:gd name="T14" fmla="*/ 563 w 663"/>
                  <a:gd name="T15" fmla="*/ 238 h 261"/>
                  <a:gd name="T16" fmla="*/ 576 w 663"/>
                  <a:gd name="T17" fmla="*/ 230 h 261"/>
                  <a:gd name="T18" fmla="*/ 591 w 663"/>
                  <a:gd name="T19" fmla="*/ 214 h 261"/>
                  <a:gd name="T20" fmla="*/ 602 w 663"/>
                  <a:gd name="T21" fmla="*/ 200 h 261"/>
                  <a:gd name="T22" fmla="*/ 618 w 663"/>
                  <a:gd name="T23" fmla="*/ 178 h 261"/>
                  <a:gd name="T24" fmla="*/ 629 w 663"/>
                  <a:gd name="T25" fmla="*/ 152 h 261"/>
                  <a:gd name="T26" fmla="*/ 640 w 663"/>
                  <a:gd name="T27" fmla="*/ 123 h 261"/>
                  <a:gd name="T28" fmla="*/ 650 w 663"/>
                  <a:gd name="T29" fmla="*/ 82 h 261"/>
                  <a:gd name="T30" fmla="*/ 662 w 663"/>
                  <a:gd name="T31" fmla="*/ 0 h 261"/>
                  <a:gd name="T32" fmla="*/ 662 w 663"/>
                  <a:gd name="T33" fmla="*/ 0 h 261"/>
                  <a:gd name="T34" fmla="*/ 662 w 663"/>
                  <a:gd name="T35" fmla="*/ 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63" h="261">
                    <a:moveTo>
                      <a:pt x="0" y="260"/>
                    </a:moveTo>
                    <a:lnTo>
                      <a:pt x="262" y="260"/>
                    </a:lnTo>
                    <a:lnTo>
                      <a:pt x="381" y="259"/>
                    </a:lnTo>
                    <a:lnTo>
                      <a:pt x="479" y="257"/>
                    </a:lnTo>
                    <a:lnTo>
                      <a:pt x="514" y="254"/>
                    </a:lnTo>
                    <a:lnTo>
                      <a:pt x="533" y="251"/>
                    </a:lnTo>
                    <a:lnTo>
                      <a:pt x="551" y="244"/>
                    </a:lnTo>
                    <a:lnTo>
                      <a:pt x="563" y="238"/>
                    </a:lnTo>
                    <a:lnTo>
                      <a:pt x="576" y="230"/>
                    </a:lnTo>
                    <a:lnTo>
                      <a:pt x="591" y="214"/>
                    </a:lnTo>
                    <a:lnTo>
                      <a:pt x="602" y="200"/>
                    </a:lnTo>
                    <a:lnTo>
                      <a:pt x="618" y="178"/>
                    </a:lnTo>
                    <a:lnTo>
                      <a:pt x="629" y="152"/>
                    </a:lnTo>
                    <a:lnTo>
                      <a:pt x="640" y="123"/>
                    </a:lnTo>
                    <a:lnTo>
                      <a:pt x="650" y="82"/>
                    </a:lnTo>
                    <a:lnTo>
                      <a:pt x="662" y="0"/>
                    </a:lnTo>
                    <a:lnTo>
                      <a:pt x="662" y="0"/>
                    </a:lnTo>
                    <a:lnTo>
                      <a:pt x="662" y="0"/>
                    </a:lnTo>
                  </a:path>
                </a:pathLst>
              </a:custGeom>
              <a:noFill/>
              <a:ln w="25400" cap="flat">
                <a:solidFill>
                  <a:srgbClr val="000000"/>
                </a:solidFill>
                <a:prstDash val="lg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9" name="Freeform 41"/>
              <p:cNvSpPr>
                <a:spLocks/>
              </p:cNvSpPr>
              <p:nvPr/>
            </p:nvSpPr>
            <p:spPr bwMode="auto">
              <a:xfrm>
                <a:off x="2412" y="1701"/>
                <a:ext cx="73" cy="168"/>
              </a:xfrm>
              <a:custGeom>
                <a:avLst/>
                <a:gdLst>
                  <a:gd name="T0" fmla="*/ 47 w 73"/>
                  <a:gd name="T1" fmla="*/ 0 h 168"/>
                  <a:gd name="T2" fmla="*/ 0 w 73"/>
                  <a:gd name="T3" fmla="*/ 161 h 168"/>
                  <a:gd name="T4" fmla="*/ 38 w 73"/>
                  <a:gd name="T5" fmla="*/ 138 h 168"/>
                  <a:gd name="T6" fmla="*/ 72 w 73"/>
                  <a:gd name="T7" fmla="*/ 167 h 168"/>
                  <a:gd name="T8" fmla="*/ 47 w 73"/>
                  <a:gd name="T9" fmla="*/ 0 h 168"/>
                  <a:gd name="T10" fmla="*/ 47 w 73"/>
                  <a:gd name="T11" fmla="*/ 0 h 168"/>
                </a:gdLst>
                <a:ahLst/>
                <a:cxnLst>
                  <a:cxn ang="0">
                    <a:pos x="T0" y="T1"/>
                  </a:cxn>
                  <a:cxn ang="0">
                    <a:pos x="T2" y="T3"/>
                  </a:cxn>
                  <a:cxn ang="0">
                    <a:pos x="T4" y="T5"/>
                  </a:cxn>
                  <a:cxn ang="0">
                    <a:pos x="T6" y="T7"/>
                  </a:cxn>
                  <a:cxn ang="0">
                    <a:pos x="T8" y="T9"/>
                  </a:cxn>
                  <a:cxn ang="0">
                    <a:pos x="T10" y="T11"/>
                  </a:cxn>
                </a:cxnLst>
                <a:rect l="0" t="0" r="r" b="b"/>
                <a:pathLst>
                  <a:path w="73" h="168">
                    <a:moveTo>
                      <a:pt x="47" y="0"/>
                    </a:moveTo>
                    <a:lnTo>
                      <a:pt x="0" y="161"/>
                    </a:lnTo>
                    <a:lnTo>
                      <a:pt x="38" y="138"/>
                    </a:lnTo>
                    <a:lnTo>
                      <a:pt x="72" y="167"/>
                    </a:lnTo>
                    <a:lnTo>
                      <a:pt x="47" y="0"/>
                    </a:lnTo>
                    <a:lnTo>
                      <a:pt x="47" y="0"/>
                    </a:lnTo>
                  </a:path>
                </a:pathLst>
              </a:custGeom>
              <a:solidFill>
                <a:srgbClr val="000000"/>
              </a:solidFill>
              <a:ln w="2540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42" name="Text Box 42"/>
            <p:cNvSpPr txBox="1">
              <a:spLocks noChangeArrowheads="1"/>
            </p:cNvSpPr>
            <p:nvPr/>
          </p:nvSpPr>
          <p:spPr bwMode="auto">
            <a:xfrm>
              <a:off x="3852864" y="1989138"/>
              <a:ext cx="1608137"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zh-CN" altLang="en-US" sz="2100" b="1" i="1">
                  <a:solidFill>
                    <a:srgbClr val="009900"/>
                  </a:solidFill>
                  <a:latin typeface="微软雅黑" panose="020B0503020204020204" pitchFamily="34" charset="-122"/>
                  <a:ea typeface="微软雅黑" panose="020B0503020204020204" pitchFamily="34" charset="-122"/>
                </a:rPr>
                <a:t>方向性误差</a:t>
              </a:r>
            </a:p>
          </p:txBody>
        </p:sp>
        <p:grpSp>
          <p:nvGrpSpPr>
            <p:cNvPr id="43" name="Group 43"/>
            <p:cNvGrpSpPr>
              <a:grpSpLocks/>
            </p:cNvGrpSpPr>
            <p:nvPr/>
          </p:nvGrpSpPr>
          <p:grpSpPr bwMode="auto">
            <a:xfrm>
              <a:off x="6399214" y="2266950"/>
              <a:ext cx="2693987" cy="877888"/>
              <a:chOff x="3378" y="1618"/>
              <a:chExt cx="1867" cy="627"/>
            </a:xfrm>
          </p:grpSpPr>
          <p:sp>
            <p:nvSpPr>
              <p:cNvPr id="66" name="Freeform 44"/>
              <p:cNvSpPr>
                <a:spLocks/>
              </p:cNvSpPr>
              <p:nvPr/>
            </p:nvSpPr>
            <p:spPr bwMode="auto">
              <a:xfrm>
                <a:off x="3378" y="1618"/>
                <a:ext cx="1831" cy="462"/>
              </a:xfrm>
              <a:custGeom>
                <a:avLst/>
                <a:gdLst>
                  <a:gd name="T0" fmla="*/ 0 w 1831"/>
                  <a:gd name="T1" fmla="*/ 459 h 462"/>
                  <a:gd name="T2" fmla="*/ 0 w 1831"/>
                  <a:gd name="T3" fmla="*/ 459 h 462"/>
                  <a:gd name="T4" fmla="*/ 3 w 1831"/>
                  <a:gd name="T5" fmla="*/ 430 h 462"/>
                  <a:gd name="T6" fmla="*/ 8 w 1831"/>
                  <a:gd name="T7" fmla="*/ 402 h 462"/>
                  <a:gd name="T8" fmla="*/ 16 w 1831"/>
                  <a:gd name="T9" fmla="*/ 373 h 462"/>
                  <a:gd name="T10" fmla="*/ 28 w 1831"/>
                  <a:gd name="T11" fmla="*/ 345 h 462"/>
                  <a:gd name="T12" fmla="*/ 46 w 1831"/>
                  <a:gd name="T13" fmla="*/ 318 h 462"/>
                  <a:gd name="T14" fmla="*/ 64 w 1831"/>
                  <a:gd name="T15" fmla="*/ 290 h 462"/>
                  <a:gd name="T16" fmla="*/ 87 w 1831"/>
                  <a:gd name="T17" fmla="*/ 264 h 462"/>
                  <a:gd name="T18" fmla="*/ 112 w 1831"/>
                  <a:gd name="T19" fmla="*/ 238 h 462"/>
                  <a:gd name="T20" fmla="*/ 143 w 1831"/>
                  <a:gd name="T21" fmla="*/ 213 h 462"/>
                  <a:gd name="T22" fmla="*/ 175 w 1831"/>
                  <a:gd name="T23" fmla="*/ 189 h 462"/>
                  <a:gd name="T24" fmla="*/ 210 w 1831"/>
                  <a:gd name="T25" fmla="*/ 166 h 462"/>
                  <a:gd name="T26" fmla="*/ 247 w 1831"/>
                  <a:gd name="T27" fmla="*/ 145 h 462"/>
                  <a:gd name="T28" fmla="*/ 288 w 1831"/>
                  <a:gd name="T29" fmla="*/ 124 h 462"/>
                  <a:gd name="T30" fmla="*/ 331 w 1831"/>
                  <a:gd name="T31" fmla="*/ 105 h 462"/>
                  <a:gd name="T32" fmla="*/ 377 w 1831"/>
                  <a:gd name="T33" fmla="*/ 88 h 462"/>
                  <a:gd name="T34" fmla="*/ 423 w 1831"/>
                  <a:gd name="T35" fmla="*/ 72 h 462"/>
                  <a:gd name="T36" fmla="*/ 473 w 1831"/>
                  <a:gd name="T37" fmla="*/ 57 h 462"/>
                  <a:gd name="T38" fmla="*/ 524 w 1831"/>
                  <a:gd name="T39" fmla="*/ 44 h 462"/>
                  <a:gd name="T40" fmla="*/ 577 w 1831"/>
                  <a:gd name="T41" fmla="*/ 32 h 462"/>
                  <a:gd name="T42" fmla="*/ 631 w 1831"/>
                  <a:gd name="T43" fmla="*/ 22 h 462"/>
                  <a:gd name="T44" fmla="*/ 686 w 1831"/>
                  <a:gd name="T45" fmla="*/ 14 h 462"/>
                  <a:gd name="T46" fmla="*/ 742 w 1831"/>
                  <a:gd name="T47" fmla="*/ 8 h 462"/>
                  <a:gd name="T48" fmla="*/ 799 w 1831"/>
                  <a:gd name="T49" fmla="*/ 4 h 462"/>
                  <a:gd name="T50" fmla="*/ 856 w 1831"/>
                  <a:gd name="T51" fmla="*/ 1 h 462"/>
                  <a:gd name="T52" fmla="*/ 912 w 1831"/>
                  <a:gd name="T53" fmla="*/ 0 h 462"/>
                  <a:gd name="T54" fmla="*/ 970 w 1831"/>
                  <a:gd name="T55" fmla="*/ 1 h 462"/>
                  <a:gd name="T56" fmla="*/ 1027 w 1831"/>
                  <a:gd name="T57" fmla="*/ 4 h 462"/>
                  <a:gd name="T58" fmla="*/ 1084 w 1831"/>
                  <a:gd name="T59" fmla="*/ 8 h 462"/>
                  <a:gd name="T60" fmla="*/ 1140 w 1831"/>
                  <a:gd name="T61" fmla="*/ 14 h 462"/>
                  <a:gd name="T62" fmla="*/ 1194 w 1831"/>
                  <a:gd name="T63" fmla="*/ 22 h 462"/>
                  <a:gd name="T64" fmla="*/ 1249 w 1831"/>
                  <a:gd name="T65" fmla="*/ 32 h 462"/>
                  <a:gd name="T66" fmla="*/ 1301 w 1831"/>
                  <a:gd name="T67" fmla="*/ 44 h 462"/>
                  <a:gd name="T68" fmla="*/ 1352 w 1831"/>
                  <a:gd name="T69" fmla="*/ 57 h 462"/>
                  <a:gd name="T70" fmla="*/ 1402 w 1831"/>
                  <a:gd name="T71" fmla="*/ 72 h 462"/>
                  <a:gd name="T72" fmla="*/ 1449 w 1831"/>
                  <a:gd name="T73" fmla="*/ 88 h 462"/>
                  <a:gd name="T74" fmla="*/ 1495 w 1831"/>
                  <a:gd name="T75" fmla="*/ 105 h 462"/>
                  <a:gd name="T76" fmla="*/ 1538 w 1831"/>
                  <a:gd name="T77" fmla="*/ 124 h 462"/>
                  <a:gd name="T78" fmla="*/ 1578 w 1831"/>
                  <a:gd name="T79" fmla="*/ 145 h 462"/>
                  <a:gd name="T80" fmla="*/ 1616 w 1831"/>
                  <a:gd name="T81" fmla="*/ 166 h 462"/>
                  <a:gd name="T82" fmla="*/ 1651 w 1831"/>
                  <a:gd name="T83" fmla="*/ 189 h 462"/>
                  <a:gd name="T84" fmla="*/ 1682 w 1831"/>
                  <a:gd name="T85" fmla="*/ 213 h 462"/>
                  <a:gd name="T86" fmla="*/ 1712 w 1831"/>
                  <a:gd name="T87" fmla="*/ 238 h 462"/>
                  <a:gd name="T88" fmla="*/ 1739 w 1831"/>
                  <a:gd name="T89" fmla="*/ 264 h 462"/>
                  <a:gd name="T90" fmla="*/ 1761 w 1831"/>
                  <a:gd name="T91" fmla="*/ 290 h 462"/>
                  <a:gd name="T92" fmla="*/ 1780 w 1831"/>
                  <a:gd name="T93" fmla="*/ 318 h 462"/>
                  <a:gd name="T94" fmla="*/ 1797 w 1831"/>
                  <a:gd name="T95" fmla="*/ 345 h 462"/>
                  <a:gd name="T96" fmla="*/ 1808 w 1831"/>
                  <a:gd name="T97" fmla="*/ 373 h 462"/>
                  <a:gd name="T98" fmla="*/ 1818 w 1831"/>
                  <a:gd name="T99" fmla="*/ 402 h 462"/>
                  <a:gd name="T100" fmla="*/ 1823 w 1831"/>
                  <a:gd name="T101" fmla="*/ 430 h 462"/>
                  <a:gd name="T102" fmla="*/ 1830 w 1831"/>
                  <a:gd name="T103" fmla="*/ 461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831" h="462">
                    <a:moveTo>
                      <a:pt x="0" y="459"/>
                    </a:moveTo>
                    <a:lnTo>
                      <a:pt x="0" y="459"/>
                    </a:lnTo>
                    <a:lnTo>
                      <a:pt x="3" y="430"/>
                    </a:lnTo>
                    <a:lnTo>
                      <a:pt x="8" y="402"/>
                    </a:lnTo>
                    <a:lnTo>
                      <a:pt x="16" y="373"/>
                    </a:lnTo>
                    <a:lnTo>
                      <a:pt x="28" y="345"/>
                    </a:lnTo>
                    <a:lnTo>
                      <a:pt x="46" y="318"/>
                    </a:lnTo>
                    <a:lnTo>
                      <a:pt x="64" y="290"/>
                    </a:lnTo>
                    <a:lnTo>
                      <a:pt x="87" y="264"/>
                    </a:lnTo>
                    <a:lnTo>
                      <a:pt x="112" y="238"/>
                    </a:lnTo>
                    <a:lnTo>
                      <a:pt x="143" y="213"/>
                    </a:lnTo>
                    <a:lnTo>
                      <a:pt x="175" y="189"/>
                    </a:lnTo>
                    <a:lnTo>
                      <a:pt x="210" y="166"/>
                    </a:lnTo>
                    <a:lnTo>
                      <a:pt x="247" y="145"/>
                    </a:lnTo>
                    <a:lnTo>
                      <a:pt x="288" y="124"/>
                    </a:lnTo>
                    <a:lnTo>
                      <a:pt x="331" y="105"/>
                    </a:lnTo>
                    <a:lnTo>
                      <a:pt x="377" y="88"/>
                    </a:lnTo>
                    <a:lnTo>
                      <a:pt x="423" y="72"/>
                    </a:lnTo>
                    <a:lnTo>
                      <a:pt x="473" y="57"/>
                    </a:lnTo>
                    <a:lnTo>
                      <a:pt x="524" y="44"/>
                    </a:lnTo>
                    <a:lnTo>
                      <a:pt x="577" y="32"/>
                    </a:lnTo>
                    <a:lnTo>
                      <a:pt x="631" y="22"/>
                    </a:lnTo>
                    <a:lnTo>
                      <a:pt x="686" y="14"/>
                    </a:lnTo>
                    <a:lnTo>
                      <a:pt x="742" y="8"/>
                    </a:lnTo>
                    <a:lnTo>
                      <a:pt x="799" y="4"/>
                    </a:lnTo>
                    <a:lnTo>
                      <a:pt x="856" y="1"/>
                    </a:lnTo>
                    <a:lnTo>
                      <a:pt x="912" y="0"/>
                    </a:lnTo>
                    <a:lnTo>
                      <a:pt x="970" y="1"/>
                    </a:lnTo>
                    <a:lnTo>
                      <a:pt x="1027" y="4"/>
                    </a:lnTo>
                    <a:lnTo>
                      <a:pt x="1084" y="8"/>
                    </a:lnTo>
                    <a:lnTo>
                      <a:pt x="1140" y="14"/>
                    </a:lnTo>
                    <a:lnTo>
                      <a:pt x="1194" y="22"/>
                    </a:lnTo>
                    <a:lnTo>
                      <a:pt x="1249" y="32"/>
                    </a:lnTo>
                    <a:lnTo>
                      <a:pt x="1301" y="44"/>
                    </a:lnTo>
                    <a:lnTo>
                      <a:pt x="1352" y="57"/>
                    </a:lnTo>
                    <a:lnTo>
                      <a:pt x="1402" y="72"/>
                    </a:lnTo>
                    <a:lnTo>
                      <a:pt x="1449" y="88"/>
                    </a:lnTo>
                    <a:lnTo>
                      <a:pt x="1495" y="105"/>
                    </a:lnTo>
                    <a:lnTo>
                      <a:pt x="1538" y="124"/>
                    </a:lnTo>
                    <a:lnTo>
                      <a:pt x="1578" y="145"/>
                    </a:lnTo>
                    <a:lnTo>
                      <a:pt x="1616" y="166"/>
                    </a:lnTo>
                    <a:lnTo>
                      <a:pt x="1651" y="189"/>
                    </a:lnTo>
                    <a:lnTo>
                      <a:pt x="1682" y="213"/>
                    </a:lnTo>
                    <a:lnTo>
                      <a:pt x="1712" y="238"/>
                    </a:lnTo>
                    <a:lnTo>
                      <a:pt x="1739" y="264"/>
                    </a:lnTo>
                    <a:lnTo>
                      <a:pt x="1761" y="290"/>
                    </a:lnTo>
                    <a:lnTo>
                      <a:pt x="1780" y="318"/>
                    </a:lnTo>
                    <a:lnTo>
                      <a:pt x="1797" y="345"/>
                    </a:lnTo>
                    <a:lnTo>
                      <a:pt x="1808" y="373"/>
                    </a:lnTo>
                    <a:lnTo>
                      <a:pt x="1818" y="402"/>
                    </a:lnTo>
                    <a:lnTo>
                      <a:pt x="1823" y="430"/>
                    </a:lnTo>
                    <a:lnTo>
                      <a:pt x="1830" y="461"/>
                    </a:lnTo>
                  </a:path>
                </a:pathLst>
              </a:custGeom>
              <a:noFill/>
              <a:ln w="25400" cap="flat">
                <a:solidFill>
                  <a:srgbClr val="808000"/>
                </a:solidFill>
                <a:prstDash val="lg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7" name="Freeform 45"/>
              <p:cNvSpPr>
                <a:spLocks/>
              </p:cNvSpPr>
              <p:nvPr/>
            </p:nvSpPr>
            <p:spPr bwMode="auto">
              <a:xfrm>
                <a:off x="5173" y="2077"/>
                <a:ext cx="72" cy="168"/>
              </a:xfrm>
              <a:custGeom>
                <a:avLst/>
                <a:gdLst>
                  <a:gd name="T0" fmla="*/ 59 w 72"/>
                  <a:gd name="T1" fmla="*/ 167 h 168"/>
                  <a:gd name="T2" fmla="*/ 71 w 72"/>
                  <a:gd name="T3" fmla="*/ 0 h 168"/>
                  <a:gd name="T4" fmla="*/ 39 w 72"/>
                  <a:gd name="T5" fmla="*/ 31 h 168"/>
                  <a:gd name="T6" fmla="*/ 0 w 72"/>
                  <a:gd name="T7" fmla="*/ 11 h 168"/>
                  <a:gd name="T8" fmla="*/ 59 w 72"/>
                  <a:gd name="T9" fmla="*/ 167 h 168"/>
                  <a:gd name="T10" fmla="*/ 59 w 72"/>
                  <a:gd name="T11" fmla="*/ 167 h 168"/>
                </a:gdLst>
                <a:ahLst/>
                <a:cxnLst>
                  <a:cxn ang="0">
                    <a:pos x="T0" y="T1"/>
                  </a:cxn>
                  <a:cxn ang="0">
                    <a:pos x="T2" y="T3"/>
                  </a:cxn>
                  <a:cxn ang="0">
                    <a:pos x="T4" y="T5"/>
                  </a:cxn>
                  <a:cxn ang="0">
                    <a:pos x="T6" y="T7"/>
                  </a:cxn>
                  <a:cxn ang="0">
                    <a:pos x="T8" y="T9"/>
                  </a:cxn>
                  <a:cxn ang="0">
                    <a:pos x="T10" y="T11"/>
                  </a:cxn>
                </a:cxnLst>
                <a:rect l="0" t="0" r="r" b="b"/>
                <a:pathLst>
                  <a:path w="72" h="168">
                    <a:moveTo>
                      <a:pt x="59" y="167"/>
                    </a:moveTo>
                    <a:lnTo>
                      <a:pt x="71" y="0"/>
                    </a:lnTo>
                    <a:lnTo>
                      <a:pt x="39" y="31"/>
                    </a:lnTo>
                    <a:lnTo>
                      <a:pt x="0" y="11"/>
                    </a:lnTo>
                    <a:lnTo>
                      <a:pt x="59" y="167"/>
                    </a:lnTo>
                    <a:lnTo>
                      <a:pt x="59" y="167"/>
                    </a:lnTo>
                  </a:path>
                </a:pathLst>
              </a:custGeom>
              <a:solidFill>
                <a:srgbClr val="000000"/>
              </a:solidFill>
              <a:ln w="25400" cap="flat" cmpd="sng">
                <a:solidFill>
                  <a:srgbClr val="808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44" name="Freeform 46"/>
            <p:cNvSpPr>
              <a:spLocks/>
            </p:cNvSpPr>
            <p:nvPr/>
          </p:nvSpPr>
          <p:spPr bwMode="auto">
            <a:xfrm>
              <a:off x="6980239" y="2976564"/>
              <a:ext cx="1487487" cy="573087"/>
            </a:xfrm>
            <a:custGeom>
              <a:avLst/>
              <a:gdLst>
                <a:gd name="T0" fmla="*/ 1029 w 1030"/>
                <a:gd name="T1" fmla="*/ 0 h 409"/>
                <a:gd name="T2" fmla="*/ 1029 w 1030"/>
                <a:gd name="T3" fmla="*/ 408 h 409"/>
                <a:gd name="T4" fmla="*/ 0 w 1030"/>
                <a:gd name="T5" fmla="*/ 408 h 409"/>
                <a:gd name="T6" fmla="*/ 0 w 1030"/>
                <a:gd name="T7" fmla="*/ 0 h 409"/>
                <a:gd name="T8" fmla="*/ 1029 w 1030"/>
                <a:gd name="T9" fmla="*/ 0 h 409"/>
                <a:gd name="T10" fmla="*/ 1029 w 1030"/>
                <a:gd name="T11" fmla="*/ 0 h 409"/>
              </a:gdLst>
              <a:ahLst/>
              <a:cxnLst>
                <a:cxn ang="0">
                  <a:pos x="T0" y="T1"/>
                </a:cxn>
                <a:cxn ang="0">
                  <a:pos x="T2" y="T3"/>
                </a:cxn>
                <a:cxn ang="0">
                  <a:pos x="T4" y="T5"/>
                </a:cxn>
                <a:cxn ang="0">
                  <a:pos x="T6" y="T7"/>
                </a:cxn>
                <a:cxn ang="0">
                  <a:pos x="T8" y="T9"/>
                </a:cxn>
                <a:cxn ang="0">
                  <a:pos x="T10" y="T11"/>
                </a:cxn>
              </a:cxnLst>
              <a:rect l="0" t="0" r="r" b="b"/>
              <a:pathLst>
                <a:path w="1030" h="409">
                  <a:moveTo>
                    <a:pt x="1029" y="0"/>
                  </a:moveTo>
                  <a:lnTo>
                    <a:pt x="1029" y="408"/>
                  </a:lnTo>
                  <a:lnTo>
                    <a:pt x="0" y="408"/>
                  </a:lnTo>
                  <a:lnTo>
                    <a:pt x="0" y="0"/>
                  </a:lnTo>
                  <a:lnTo>
                    <a:pt x="1029" y="0"/>
                  </a:lnTo>
                  <a:lnTo>
                    <a:pt x="1029" y="0"/>
                  </a:lnTo>
                </a:path>
              </a:pathLst>
            </a:custGeom>
            <a:solidFill>
              <a:srgbClr val="000000"/>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5" name="Freeform 47"/>
            <p:cNvSpPr>
              <a:spLocks/>
            </p:cNvSpPr>
            <p:nvPr/>
          </p:nvSpPr>
          <p:spPr bwMode="auto">
            <a:xfrm>
              <a:off x="6696076" y="3140076"/>
              <a:ext cx="282575" cy="277813"/>
            </a:xfrm>
            <a:custGeom>
              <a:avLst/>
              <a:gdLst>
                <a:gd name="T0" fmla="*/ 195 w 196"/>
                <a:gd name="T1" fmla="*/ 0 h 198"/>
                <a:gd name="T2" fmla="*/ 195 w 196"/>
                <a:gd name="T3" fmla="*/ 197 h 198"/>
                <a:gd name="T4" fmla="*/ 0 w 196"/>
                <a:gd name="T5" fmla="*/ 197 h 198"/>
                <a:gd name="T6" fmla="*/ 0 w 196"/>
                <a:gd name="T7" fmla="*/ 0 h 198"/>
                <a:gd name="T8" fmla="*/ 195 w 196"/>
                <a:gd name="T9" fmla="*/ 0 h 198"/>
                <a:gd name="T10" fmla="*/ 195 w 196"/>
                <a:gd name="T11" fmla="*/ 0 h 198"/>
              </a:gdLst>
              <a:ahLst/>
              <a:cxnLst>
                <a:cxn ang="0">
                  <a:pos x="T0" y="T1"/>
                </a:cxn>
                <a:cxn ang="0">
                  <a:pos x="T2" y="T3"/>
                </a:cxn>
                <a:cxn ang="0">
                  <a:pos x="T4" y="T5"/>
                </a:cxn>
                <a:cxn ang="0">
                  <a:pos x="T6" y="T7"/>
                </a:cxn>
                <a:cxn ang="0">
                  <a:pos x="T8" y="T9"/>
                </a:cxn>
                <a:cxn ang="0">
                  <a:pos x="T10" y="T11"/>
                </a:cxn>
              </a:cxnLst>
              <a:rect l="0" t="0" r="r" b="b"/>
              <a:pathLst>
                <a:path w="196" h="198">
                  <a:moveTo>
                    <a:pt x="195" y="0"/>
                  </a:moveTo>
                  <a:lnTo>
                    <a:pt x="195" y="197"/>
                  </a:lnTo>
                  <a:lnTo>
                    <a:pt x="0" y="197"/>
                  </a:lnTo>
                  <a:lnTo>
                    <a:pt x="0" y="0"/>
                  </a:lnTo>
                  <a:lnTo>
                    <a:pt x="195" y="0"/>
                  </a:lnTo>
                  <a:lnTo>
                    <a:pt x="195" y="0"/>
                  </a:lnTo>
                </a:path>
              </a:pathLst>
            </a:custGeom>
            <a:solidFill>
              <a:srgbClr val="000000"/>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6" name="Freeform 48"/>
            <p:cNvSpPr>
              <a:spLocks/>
            </p:cNvSpPr>
            <p:nvPr/>
          </p:nvSpPr>
          <p:spPr bwMode="auto">
            <a:xfrm>
              <a:off x="8466139" y="3144838"/>
              <a:ext cx="287337" cy="273050"/>
            </a:xfrm>
            <a:custGeom>
              <a:avLst/>
              <a:gdLst>
                <a:gd name="T0" fmla="*/ 198 w 199"/>
                <a:gd name="T1" fmla="*/ 0 h 195"/>
                <a:gd name="T2" fmla="*/ 198 w 199"/>
                <a:gd name="T3" fmla="*/ 194 h 195"/>
                <a:gd name="T4" fmla="*/ 0 w 199"/>
                <a:gd name="T5" fmla="*/ 194 h 195"/>
                <a:gd name="T6" fmla="*/ 0 w 199"/>
                <a:gd name="T7" fmla="*/ 0 h 195"/>
                <a:gd name="T8" fmla="*/ 198 w 199"/>
                <a:gd name="T9" fmla="*/ 0 h 195"/>
                <a:gd name="T10" fmla="*/ 198 w 199"/>
                <a:gd name="T11" fmla="*/ 0 h 195"/>
              </a:gdLst>
              <a:ahLst/>
              <a:cxnLst>
                <a:cxn ang="0">
                  <a:pos x="T0" y="T1"/>
                </a:cxn>
                <a:cxn ang="0">
                  <a:pos x="T2" y="T3"/>
                </a:cxn>
                <a:cxn ang="0">
                  <a:pos x="T4" y="T5"/>
                </a:cxn>
                <a:cxn ang="0">
                  <a:pos x="T6" y="T7"/>
                </a:cxn>
                <a:cxn ang="0">
                  <a:pos x="T8" y="T9"/>
                </a:cxn>
                <a:cxn ang="0">
                  <a:pos x="T10" y="T11"/>
                </a:cxn>
              </a:cxnLst>
              <a:rect l="0" t="0" r="r" b="b"/>
              <a:pathLst>
                <a:path w="199" h="195">
                  <a:moveTo>
                    <a:pt x="198" y="0"/>
                  </a:moveTo>
                  <a:lnTo>
                    <a:pt x="198" y="194"/>
                  </a:lnTo>
                  <a:lnTo>
                    <a:pt x="0" y="194"/>
                  </a:lnTo>
                  <a:lnTo>
                    <a:pt x="0" y="0"/>
                  </a:lnTo>
                  <a:lnTo>
                    <a:pt x="198" y="0"/>
                  </a:lnTo>
                  <a:lnTo>
                    <a:pt x="198" y="0"/>
                  </a:lnTo>
                </a:path>
              </a:pathLst>
            </a:custGeom>
            <a:solidFill>
              <a:srgbClr val="000000"/>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7" name="Freeform 49"/>
            <p:cNvSpPr>
              <a:spLocks/>
            </p:cNvSpPr>
            <p:nvPr/>
          </p:nvSpPr>
          <p:spPr bwMode="auto">
            <a:xfrm>
              <a:off x="6945313" y="2930525"/>
              <a:ext cx="1485900" cy="573088"/>
            </a:xfrm>
            <a:custGeom>
              <a:avLst/>
              <a:gdLst>
                <a:gd name="T0" fmla="*/ 1029 w 1030"/>
                <a:gd name="T1" fmla="*/ 0 h 409"/>
                <a:gd name="T2" fmla="*/ 1029 w 1030"/>
                <a:gd name="T3" fmla="*/ 408 h 409"/>
                <a:gd name="T4" fmla="*/ 0 w 1030"/>
                <a:gd name="T5" fmla="*/ 408 h 409"/>
                <a:gd name="T6" fmla="*/ 0 w 1030"/>
                <a:gd name="T7" fmla="*/ 0 h 409"/>
                <a:gd name="T8" fmla="*/ 1029 w 1030"/>
                <a:gd name="T9" fmla="*/ 0 h 409"/>
                <a:gd name="T10" fmla="*/ 1029 w 1030"/>
                <a:gd name="T11" fmla="*/ 0 h 409"/>
              </a:gdLst>
              <a:ahLst/>
              <a:cxnLst>
                <a:cxn ang="0">
                  <a:pos x="T0" y="T1"/>
                </a:cxn>
                <a:cxn ang="0">
                  <a:pos x="T2" y="T3"/>
                </a:cxn>
                <a:cxn ang="0">
                  <a:pos x="T4" y="T5"/>
                </a:cxn>
                <a:cxn ang="0">
                  <a:pos x="T6" y="T7"/>
                </a:cxn>
                <a:cxn ang="0">
                  <a:pos x="T8" y="T9"/>
                </a:cxn>
                <a:cxn ang="0">
                  <a:pos x="T10" y="T11"/>
                </a:cxn>
              </a:cxnLst>
              <a:rect l="0" t="0" r="r" b="b"/>
              <a:pathLst>
                <a:path w="1030" h="409">
                  <a:moveTo>
                    <a:pt x="1029" y="0"/>
                  </a:moveTo>
                  <a:lnTo>
                    <a:pt x="1029" y="408"/>
                  </a:lnTo>
                  <a:lnTo>
                    <a:pt x="0" y="408"/>
                  </a:lnTo>
                  <a:lnTo>
                    <a:pt x="0" y="0"/>
                  </a:lnTo>
                  <a:lnTo>
                    <a:pt x="1029" y="0"/>
                  </a:lnTo>
                  <a:lnTo>
                    <a:pt x="1029" y="0"/>
                  </a:lnTo>
                </a:path>
              </a:pathLst>
            </a:custGeom>
            <a:gradFill rotWithShape="0">
              <a:gsLst>
                <a:gs pos="0">
                  <a:srgbClr val="80FF80"/>
                </a:gs>
                <a:gs pos="50000">
                  <a:srgbClr val="FFFFFF"/>
                </a:gs>
                <a:gs pos="100000">
                  <a:srgbClr val="80FF80"/>
                </a:gs>
              </a:gsLst>
              <a:lin ang="5400000" scaled="1"/>
            </a:gra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8" name="Freeform 50"/>
            <p:cNvSpPr>
              <a:spLocks/>
            </p:cNvSpPr>
            <p:nvPr/>
          </p:nvSpPr>
          <p:spPr bwMode="auto">
            <a:xfrm>
              <a:off x="6659563" y="3094038"/>
              <a:ext cx="284162" cy="277812"/>
            </a:xfrm>
            <a:custGeom>
              <a:avLst/>
              <a:gdLst>
                <a:gd name="T0" fmla="*/ 196 w 197"/>
                <a:gd name="T1" fmla="*/ 0 h 198"/>
                <a:gd name="T2" fmla="*/ 196 w 197"/>
                <a:gd name="T3" fmla="*/ 197 h 198"/>
                <a:gd name="T4" fmla="*/ 0 w 197"/>
                <a:gd name="T5" fmla="*/ 197 h 198"/>
                <a:gd name="T6" fmla="*/ 0 w 197"/>
                <a:gd name="T7" fmla="*/ 0 h 198"/>
                <a:gd name="T8" fmla="*/ 196 w 197"/>
                <a:gd name="T9" fmla="*/ 0 h 198"/>
                <a:gd name="T10" fmla="*/ 196 w 197"/>
                <a:gd name="T11" fmla="*/ 0 h 198"/>
              </a:gdLst>
              <a:ahLst/>
              <a:cxnLst>
                <a:cxn ang="0">
                  <a:pos x="T0" y="T1"/>
                </a:cxn>
                <a:cxn ang="0">
                  <a:pos x="T2" y="T3"/>
                </a:cxn>
                <a:cxn ang="0">
                  <a:pos x="T4" y="T5"/>
                </a:cxn>
                <a:cxn ang="0">
                  <a:pos x="T6" y="T7"/>
                </a:cxn>
                <a:cxn ang="0">
                  <a:pos x="T8" y="T9"/>
                </a:cxn>
                <a:cxn ang="0">
                  <a:pos x="T10" y="T11"/>
                </a:cxn>
              </a:cxnLst>
              <a:rect l="0" t="0" r="r" b="b"/>
              <a:pathLst>
                <a:path w="197" h="198">
                  <a:moveTo>
                    <a:pt x="196" y="0"/>
                  </a:moveTo>
                  <a:lnTo>
                    <a:pt x="196" y="197"/>
                  </a:lnTo>
                  <a:lnTo>
                    <a:pt x="0" y="197"/>
                  </a:lnTo>
                  <a:lnTo>
                    <a:pt x="0" y="0"/>
                  </a:lnTo>
                  <a:lnTo>
                    <a:pt x="196" y="0"/>
                  </a:lnTo>
                  <a:lnTo>
                    <a:pt x="196" y="0"/>
                  </a:lnTo>
                </a:path>
              </a:pathLst>
            </a:custGeom>
            <a:solidFill>
              <a:srgbClr val="FFFFFF"/>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9" name="Freeform 51"/>
            <p:cNvSpPr>
              <a:spLocks/>
            </p:cNvSpPr>
            <p:nvPr/>
          </p:nvSpPr>
          <p:spPr bwMode="auto">
            <a:xfrm>
              <a:off x="8429625" y="3098800"/>
              <a:ext cx="285750" cy="273050"/>
            </a:xfrm>
            <a:custGeom>
              <a:avLst/>
              <a:gdLst>
                <a:gd name="T0" fmla="*/ 197 w 198"/>
                <a:gd name="T1" fmla="*/ 0 h 195"/>
                <a:gd name="T2" fmla="*/ 197 w 198"/>
                <a:gd name="T3" fmla="*/ 194 h 195"/>
                <a:gd name="T4" fmla="*/ 0 w 198"/>
                <a:gd name="T5" fmla="*/ 194 h 195"/>
                <a:gd name="T6" fmla="*/ 0 w 198"/>
                <a:gd name="T7" fmla="*/ 0 h 195"/>
                <a:gd name="T8" fmla="*/ 197 w 198"/>
                <a:gd name="T9" fmla="*/ 0 h 195"/>
                <a:gd name="T10" fmla="*/ 197 w 198"/>
                <a:gd name="T11" fmla="*/ 0 h 195"/>
              </a:gdLst>
              <a:ahLst/>
              <a:cxnLst>
                <a:cxn ang="0">
                  <a:pos x="T0" y="T1"/>
                </a:cxn>
                <a:cxn ang="0">
                  <a:pos x="T2" y="T3"/>
                </a:cxn>
                <a:cxn ang="0">
                  <a:pos x="T4" y="T5"/>
                </a:cxn>
                <a:cxn ang="0">
                  <a:pos x="T6" y="T7"/>
                </a:cxn>
                <a:cxn ang="0">
                  <a:pos x="T8" y="T9"/>
                </a:cxn>
                <a:cxn ang="0">
                  <a:pos x="T10" y="T11"/>
                </a:cxn>
              </a:cxnLst>
              <a:rect l="0" t="0" r="r" b="b"/>
              <a:pathLst>
                <a:path w="198" h="195">
                  <a:moveTo>
                    <a:pt x="197" y="0"/>
                  </a:moveTo>
                  <a:lnTo>
                    <a:pt x="197" y="194"/>
                  </a:lnTo>
                  <a:lnTo>
                    <a:pt x="0" y="194"/>
                  </a:lnTo>
                  <a:lnTo>
                    <a:pt x="0" y="0"/>
                  </a:lnTo>
                  <a:lnTo>
                    <a:pt x="197" y="0"/>
                  </a:lnTo>
                  <a:lnTo>
                    <a:pt x="197" y="0"/>
                  </a:lnTo>
                </a:path>
              </a:pathLst>
            </a:custGeom>
            <a:solidFill>
              <a:srgbClr val="FFFFFF"/>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0" name="Text Box 52"/>
            <p:cNvSpPr txBox="1">
              <a:spLocks noChangeArrowheads="1"/>
            </p:cNvSpPr>
            <p:nvPr/>
          </p:nvSpPr>
          <p:spPr bwMode="auto">
            <a:xfrm>
              <a:off x="7294564" y="2978151"/>
              <a:ext cx="84772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2900" b="1">
                  <a:solidFill>
                    <a:srgbClr val="000000"/>
                  </a:solidFill>
                  <a:latin typeface="微软雅黑" panose="020B0503020204020204" pitchFamily="34" charset="-122"/>
                  <a:ea typeface="微软雅黑" panose="020B0503020204020204" pitchFamily="34" charset="-122"/>
                </a:rPr>
                <a:t>DUT</a:t>
              </a:r>
              <a:endParaRPr lang="en-US" altLang="zh-CN" sz="2200">
                <a:latin typeface="微软雅黑" panose="020B0503020204020204" pitchFamily="34" charset="-122"/>
                <a:ea typeface="微软雅黑" panose="020B0503020204020204" pitchFamily="34" charset="-122"/>
              </a:endParaRPr>
            </a:p>
          </p:txBody>
        </p:sp>
        <p:sp>
          <p:nvSpPr>
            <p:cNvPr id="51" name="Oval 54"/>
            <p:cNvSpPr>
              <a:spLocks noChangeArrowheads="1"/>
            </p:cNvSpPr>
            <p:nvPr/>
          </p:nvSpPr>
          <p:spPr bwMode="auto">
            <a:xfrm>
              <a:off x="2012950" y="2584450"/>
              <a:ext cx="615950" cy="598488"/>
            </a:xfrm>
            <a:prstGeom prst="ellipse">
              <a:avLst/>
            </a:prstGeom>
            <a:gradFill rotWithShape="0">
              <a:gsLst>
                <a:gs pos="0">
                  <a:srgbClr val="FFFFFF"/>
                </a:gs>
                <a:gs pos="50000">
                  <a:srgbClr val="0000FF"/>
                </a:gs>
                <a:gs pos="100000">
                  <a:srgbClr val="FFFFFF"/>
                </a:gs>
              </a:gsLst>
              <a:lin ang="5400000" scaled="1"/>
            </a:gradFill>
            <a:ln w="19050">
              <a:solidFill>
                <a:srgbClr val="0000FF"/>
              </a:solidFill>
              <a:round/>
              <a:headEnd/>
              <a:tailEnd/>
            </a:ln>
            <a:effectLst>
              <a:outerShdw dist="107763" dir="2700000" algn="ctr" rotWithShape="0">
                <a:srgbClr val="404040"/>
              </a:outerShdw>
            </a:effec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2" name="Freeform 55"/>
            <p:cNvSpPr>
              <a:spLocks/>
            </p:cNvSpPr>
            <p:nvPr/>
          </p:nvSpPr>
          <p:spPr bwMode="auto">
            <a:xfrm>
              <a:off x="2187576" y="2771775"/>
              <a:ext cx="284163" cy="236538"/>
            </a:xfrm>
            <a:custGeom>
              <a:avLst/>
              <a:gdLst>
                <a:gd name="T0" fmla="*/ 2 w 197"/>
                <a:gd name="T1" fmla="*/ 78 h 169"/>
                <a:gd name="T2" fmla="*/ 5 w 197"/>
                <a:gd name="T3" fmla="*/ 68 h 169"/>
                <a:gd name="T4" fmla="*/ 10 w 197"/>
                <a:gd name="T5" fmla="*/ 58 h 169"/>
                <a:gd name="T6" fmla="*/ 14 w 197"/>
                <a:gd name="T7" fmla="*/ 49 h 169"/>
                <a:gd name="T8" fmla="*/ 17 w 197"/>
                <a:gd name="T9" fmla="*/ 39 h 169"/>
                <a:gd name="T10" fmla="*/ 20 w 197"/>
                <a:gd name="T11" fmla="*/ 30 h 169"/>
                <a:gd name="T12" fmla="*/ 25 w 197"/>
                <a:gd name="T13" fmla="*/ 23 h 169"/>
                <a:gd name="T14" fmla="*/ 28 w 197"/>
                <a:gd name="T15" fmla="*/ 15 h 169"/>
                <a:gd name="T16" fmla="*/ 33 w 197"/>
                <a:gd name="T17" fmla="*/ 10 h 169"/>
                <a:gd name="T18" fmla="*/ 36 w 197"/>
                <a:gd name="T19" fmla="*/ 5 h 169"/>
                <a:gd name="T20" fmla="*/ 40 w 197"/>
                <a:gd name="T21" fmla="*/ 2 h 169"/>
                <a:gd name="T22" fmla="*/ 45 w 197"/>
                <a:gd name="T23" fmla="*/ 0 h 169"/>
                <a:gd name="T24" fmla="*/ 48 w 197"/>
                <a:gd name="T25" fmla="*/ 0 h 169"/>
                <a:gd name="T26" fmla="*/ 52 w 197"/>
                <a:gd name="T27" fmla="*/ 0 h 169"/>
                <a:gd name="T28" fmla="*/ 56 w 197"/>
                <a:gd name="T29" fmla="*/ 2 h 169"/>
                <a:gd name="T30" fmla="*/ 60 w 197"/>
                <a:gd name="T31" fmla="*/ 5 h 169"/>
                <a:gd name="T32" fmla="*/ 64 w 197"/>
                <a:gd name="T33" fmla="*/ 10 h 169"/>
                <a:gd name="T34" fmla="*/ 68 w 197"/>
                <a:gd name="T35" fmla="*/ 15 h 169"/>
                <a:gd name="T36" fmla="*/ 73 w 197"/>
                <a:gd name="T37" fmla="*/ 25 h 169"/>
                <a:gd name="T38" fmla="*/ 76 w 197"/>
                <a:gd name="T39" fmla="*/ 30 h 169"/>
                <a:gd name="T40" fmla="*/ 80 w 197"/>
                <a:gd name="T41" fmla="*/ 38 h 169"/>
                <a:gd name="T42" fmla="*/ 83 w 197"/>
                <a:gd name="T43" fmla="*/ 49 h 169"/>
                <a:gd name="T44" fmla="*/ 87 w 197"/>
                <a:gd name="T45" fmla="*/ 58 h 169"/>
                <a:gd name="T46" fmla="*/ 92 w 197"/>
                <a:gd name="T47" fmla="*/ 68 h 169"/>
                <a:gd name="T48" fmla="*/ 94 w 197"/>
                <a:gd name="T49" fmla="*/ 78 h 169"/>
                <a:gd name="T50" fmla="*/ 97 w 197"/>
                <a:gd name="T51" fmla="*/ 85 h 169"/>
                <a:gd name="T52" fmla="*/ 102 w 197"/>
                <a:gd name="T53" fmla="*/ 95 h 169"/>
                <a:gd name="T54" fmla="*/ 104 w 197"/>
                <a:gd name="T55" fmla="*/ 105 h 169"/>
                <a:gd name="T56" fmla="*/ 108 w 197"/>
                <a:gd name="T57" fmla="*/ 115 h 169"/>
                <a:gd name="T58" fmla="*/ 113 w 197"/>
                <a:gd name="T59" fmla="*/ 125 h 169"/>
                <a:gd name="T60" fmla="*/ 117 w 197"/>
                <a:gd name="T61" fmla="*/ 134 h 169"/>
                <a:gd name="T62" fmla="*/ 121 w 197"/>
                <a:gd name="T63" fmla="*/ 143 h 169"/>
                <a:gd name="T64" fmla="*/ 124 w 197"/>
                <a:gd name="T65" fmla="*/ 149 h 169"/>
                <a:gd name="T66" fmla="*/ 128 w 197"/>
                <a:gd name="T67" fmla="*/ 156 h 169"/>
                <a:gd name="T68" fmla="*/ 133 w 197"/>
                <a:gd name="T69" fmla="*/ 161 h 169"/>
                <a:gd name="T70" fmla="*/ 136 w 197"/>
                <a:gd name="T71" fmla="*/ 164 h 169"/>
                <a:gd name="T72" fmla="*/ 140 w 197"/>
                <a:gd name="T73" fmla="*/ 167 h 169"/>
                <a:gd name="T74" fmla="*/ 144 w 197"/>
                <a:gd name="T75" fmla="*/ 168 h 169"/>
                <a:gd name="T76" fmla="*/ 148 w 197"/>
                <a:gd name="T77" fmla="*/ 168 h 169"/>
                <a:gd name="T78" fmla="*/ 151 w 197"/>
                <a:gd name="T79" fmla="*/ 167 h 169"/>
                <a:gd name="T80" fmla="*/ 156 w 197"/>
                <a:gd name="T81" fmla="*/ 164 h 169"/>
                <a:gd name="T82" fmla="*/ 160 w 197"/>
                <a:gd name="T83" fmla="*/ 161 h 169"/>
                <a:gd name="T84" fmla="*/ 164 w 197"/>
                <a:gd name="T85" fmla="*/ 156 h 169"/>
                <a:gd name="T86" fmla="*/ 167 w 197"/>
                <a:gd name="T87" fmla="*/ 149 h 169"/>
                <a:gd name="T88" fmla="*/ 172 w 197"/>
                <a:gd name="T89" fmla="*/ 143 h 169"/>
                <a:gd name="T90" fmla="*/ 175 w 197"/>
                <a:gd name="T91" fmla="*/ 134 h 169"/>
                <a:gd name="T92" fmla="*/ 179 w 197"/>
                <a:gd name="T93" fmla="*/ 125 h 169"/>
                <a:gd name="T94" fmla="*/ 184 w 197"/>
                <a:gd name="T95" fmla="*/ 116 h 169"/>
                <a:gd name="T96" fmla="*/ 186 w 197"/>
                <a:gd name="T97" fmla="*/ 105 h 169"/>
                <a:gd name="T98" fmla="*/ 191 w 197"/>
                <a:gd name="T99" fmla="*/ 95 h 169"/>
                <a:gd name="T100" fmla="*/ 196 w 197"/>
                <a:gd name="T101" fmla="*/ 85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97" h="169">
                  <a:moveTo>
                    <a:pt x="0" y="85"/>
                  </a:moveTo>
                  <a:lnTo>
                    <a:pt x="2" y="78"/>
                  </a:lnTo>
                  <a:lnTo>
                    <a:pt x="4" y="75"/>
                  </a:lnTo>
                  <a:lnTo>
                    <a:pt x="5" y="68"/>
                  </a:lnTo>
                  <a:lnTo>
                    <a:pt x="7" y="63"/>
                  </a:lnTo>
                  <a:lnTo>
                    <a:pt x="10" y="58"/>
                  </a:lnTo>
                  <a:lnTo>
                    <a:pt x="11" y="53"/>
                  </a:lnTo>
                  <a:lnTo>
                    <a:pt x="14" y="49"/>
                  </a:lnTo>
                  <a:lnTo>
                    <a:pt x="15" y="43"/>
                  </a:lnTo>
                  <a:lnTo>
                    <a:pt x="17" y="39"/>
                  </a:lnTo>
                  <a:lnTo>
                    <a:pt x="19" y="35"/>
                  </a:lnTo>
                  <a:lnTo>
                    <a:pt x="20" y="30"/>
                  </a:lnTo>
                  <a:lnTo>
                    <a:pt x="24" y="27"/>
                  </a:lnTo>
                  <a:lnTo>
                    <a:pt x="25" y="23"/>
                  </a:lnTo>
                  <a:lnTo>
                    <a:pt x="27" y="19"/>
                  </a:lnTo>
                  <a:lnTo>
                    <a:pt x="28" y="15"/>
                  </a:lnTo>
                  <a:lnTo>
                    <a:pt x="31" y="13"/>
                  </a:lnTo>
                  <a:lnTo>
                    <a:pt x="33" y="10"/>
                  </a:lnTo>
                  <a:lnTo>
                    <a:pt x="35" y="8"/>
                  </a:lnTo>
                  <a:lnTo>
                    <a:pt x="36" y="5"/>
                  </a:lnTo>
                  <a:lnTo>
                    <a:pt x="38" y="3"/>
                  </a:lnTo>
                  <a:lnTo>
                    <a:pt x="40" y="2"/>
                  </a:lnTo>
                  <a:lnTo>
                    <a:pt x="43" y="1"/>
                  </a:lnTo>
                  <a:lnTo>
                    <a:pt x="45" y="0"/>
                  </a:lnTo>
                  <a:lnTo>
                    <a:pt x="46" y="0"/>
                  </a:lnTo>
                  <a:lnTo>
                    <a:pt x="48" y="0"/>
                  </a:lnTo>
                  <a:lnTo>
                    <a:pt x="50" y="0"/>
                  </a:lnTo>
                  <a:lnTo>
                    <a:pt x="52" y="0"/>
                  </a:lnTo>
                  <a:lnTo>
                    <a:pt x="54" y="1"/>
                  </a:lnTo>
                  <a:lnTo>
                    <a:pt x="56" y="2"/>
                  </a:lnTo>
                  <a:lnTo>
                    <a:pt x="58" y="3"/>
                  </a:lnTo>
                  <a:lnTo>
                    <a:pt x="60" y="5"/>
                  </a:lnTo>
                  <a:lnTo>
                    <a:pt x="62" y="8"/>
                  </a:lnTo>
                  <a:lnTo>
                    <a:pt x="64" y="10"/>
                  </a:lnTo>
                  <a:lnTo>
                    <a:pt x="66" y="13"/>
                  </a:lnTo>
                  <a:lnTo>
                    <a:pt x="68" y="15"/>
                  </a:lnTo>
                  <a:lnTo>
                    <a:pt x="69" y="19"/>
                  </a:lnTo>
                  <a:lnTo>
                    <a:pt x="73" y="25"/>
                  </a:lnTo>
                  <a:lnTo>
                    <a:pt x="74" y="27"/>
                  </a:lnTo>
                  <a:lnTo>
                    <a:pt x="76" y="30"/>
                  </a:lnTo>
                  <a:lnTo>
                    <a:pt x="77" y="35"/>
                  </a:lnTo>
                  <a:lnTo>
                    <a:pt x="80" y="38"/>
                  </a:lnTo>
                  <a:lnTo>
                    <a:pt x="82" y="43"/>
                  </a:lnTo>
                  <a:lnTo>
                    <a:pt x="83" y="49"/>
                  </a:lnTo>
                  <a:lnTo>
                    <a:pt x="85" y="53"/>
                  </a:lnTo>
                  <a:lnTo>
                    <a:pt x="87" y="58"/>
                  </a:lnTo>
                  <a:lnTo>
                    <a:pt x="90" y="63"/>
                  </a:lnTo>
                  <a:lnTo>
                    <a:pt x="92" y="68"/>
                  </a:lnTo>
                  <a:lnTo>
                    <a:pt x="93" y="75"/>
                  </a:lnTo>
                  <a:lnTo>
                    <a:pt x="94" y="78"/>
                  </a:lnTo>
                  <a:lnTo>
                    <a:pt x="97" y="85"/>
                  </a:lnTo>
                  <a:lnTo>
                    <a:pt x="97" y="85"/>
                  </a:lnTo>
                  <a:lnTo>
                    <a:pt x="100" y="89"/>
                  </a:lnTo>
                  <a:lnTo>
                    <a:pt x="102" y="95"/>
                  </a:lnTo>
                  <a:lnTo>
                    <a:pt x="103" y="99"/>
                  </a:lnTo>
                  <a:lnTo>
                    <a:pt x="104" y="105"/>
                  </a:lnTo>
                  <a:lnTo>
                    <a:pt x="107" y="109"/>
                  </a:lnTo>
                  <a:lnTo>
                    <a:pt x="108" y="115"/>
                  </a:lnTo>
                  <a:lnTo>
                    <a:pt x="110" y="120"/>
                  </a:lnTo>
                  <a:lnTo>
                    <a:pt x="113" y="125"/>
                  </a:lnTo>
                  <a:lnTo>
                    <a:pt x="115" y="129"/>
                  </a:lnTo>
                  <a:lnTo>
                    <a:pt x="117" y="134"/>
                  </a:lnTo>
                  <a:lnTo>
                    <a:pt x="118" y="139"/>
                  </a:lnTo>
                  <a:lnTo>
                    <a:pt x="121" y="143"/>
                  </a:lnTo>
                  <a:lnTo>
                    <a:pt x="123" y="145"/>
                  </a:lnTo>
                  <a:lnTo>
                    <a:pt x="124" y="149"/>
                  </a:lnTo>
                  <a:lnTo>
                    <a:pt x="126" y="153"/>
                  </a:lnTo>
                  <a:lnTo>
                    <a:pt x="128" y="156"/>
                  </a:lnTo>
                  <a:lnTo>
                    <a:pt x="130" y="159"/>
                  </a:lnTo>
                  <a:lnTo>
                    <a:pt x="133" y="161"/>
                  </a:lnTo>
                  <a:lnTo>
                    <a:pt x="134" y="164"/>
                  </a:lnTo>
                  <a:lnTo>
                    <a:pt x="136" y="164"/>
                  </a:lnTo>
                  <a:lnTo>
                    <a:pt x="138" y="165"/>
                  </a:lnTo>
                  <a:lnTo>
                    <a:pt x="140" y="167"/>
                  </a:lnTo>
                  <a:lnTo>
                    <a:pt x="142" y="167"/>
                  </a:lnTo>
                  <a:lnTo>
                    <a:pt x="144" y="168"/>
                  </a:lnTo>
                  <a:lnTo>
                    <a:pt x="146" y="168"/>
                  </a:lnTo>
                  <a:lnTo>
                    <a:pt x="148" y="168"/>
                  </a:lnTo>
                  <a:lnTo>
                    <a:pt x="150" y="167"/>
                  </a:lnTo>
                  <a:lnTo>
                    <a:pt x="151" y="167"/>
                  </a:lnTo>
                  <a:lnTo>
                    <a:pt x="154" y="165"/>
                  </a:lnTo>
                  <a:lnTo>
                    <a:pt x="156" y="164"/>
                  </a:lnTo>
                  <a:lnTo>
                    <a:pt x="158" y="164"/>
                  </a:lnTo>
                  <a:lnTo>
                    <a:pt x="160" y="161"/>
                  </a:lnTo>
                  <a:lnTo>
                    <a:pt x="162" y="159"/>
                  </a:lnTo>
                  <a:lnTo>
                    <a:pt x="164" y="156"/>
                  </a:lnTo>
                  <a:lnTo>
                    <a:pt x="166" y="153"/>
                  </a:lnTo>
                  <a:lnTo>
                    <a:pt x="167" y="149"/>
                  </a:lnTo>
                  <a:lnTo>
                    <a:pt x="169" y="145"/>
                  </a:lnTo>
                  <a:lnTo>
                    <a:pt x="172" y="143"/>
                  </a:lnTo>
                  <a:lnTo>
                    <a:pt x="173" y="139"/>
                  </a:lnTo>
                  <a:lnTo>
                    <a:pt x="175" y="134"/>
                  </a:lnTo>
                  <a:lnTo>
                    <a:pt x="176" y="130"/>
                  </a:lnTo>
                  <a:lnTo>
                    <a:pt x="179" y="125"/>
                  </a:lnTo>
                  <a:lnTo>
                    <a:pt x="181" y="120"/>
                  </a:lnTo>
                  <a:lnTo>
                    <a:pt x="184" y="116"/>
                  </a:lnTo>
                  <a:lnTo>
                    <a:pt x="184" y="109"/>
                  </a:lnTo>
                  <a:lnTo>
                    <a:pt x="186" y="105"/>
                  </a:lnTo>
                  <a:lnTo>
                    <a:pt x="189" y="99"/>
                  </a:lnTo>
                  <a:lnTo>
                    <a:pt x="191" y="95"/>
                  </a:lnTo>
                  <a:lnTo>
                    <a:pt x="192" y="89"/>
                  </a:lnTo>
                  <a:lnTo>
                    <a:pt x="196" y="85"/>
                  </a:lnTo>
                </a:path>
              </a:pathLst>
            </a:custGeom>
            <a:noFill/>
            <a:ln w="31750" cap="flat" cmpd="sng">
              <a:solidFill>
                <a:srgbClr val="FFFF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nvGrpSpPr>
            <p:cNvPr id="53" name="Group 56"/>
            <p:cNvGrpSpPr>
              <a:grpSpLocks/>
            </p:cNvGrpSpPr>
            <p:nvPr/>
          </p:nvGrpSpPr>
          <p:grpSpPr bwMode="auto">
            <a:xfrm>
              <a:off x="2673351" y="2446338"/>
              <a:ext cx="981075" cy="863600"/>
              <a:chOff x="796" y="1747"/>
              <a:chExt cx="680" cy="616"/>
            </a:xfrm>
          </p:grpSpPr>
          <p:sp>
            <p:nvSpPr>
              <p:cNvPr id="62" name="Freeform 57"/>
              <p:cNvSpPr>
                <a:spLocks/>
              </p:cNvSpPr>
              <p:nvPr/>
            </p:nvSpPr>
            <p:spPr bwMode="auto">
              <a:xfrm>
                <a:off x="1008" y="1762"/>
                <a:ext cx="419" cy="601"/>
              </a:xfrm>
              <a:custGeom>
                <a:avLst/>
                <a:gdLst>
                  <a:gd name="T0" fmla="*/ 0 w 419"/>
                  <a:gd name="T1" fmla="*/ 600 h 601"/>
                  <a:gd name="T2" fmla="*/ 242 w 419"/>
                  <a:gd name="T3" fmla="*/ 600 h 601"/>
                  <a:gd name="T4" fmla="*/ 418 w 419"/>
                  <a:gd name="T5" fmla="*/ 346 h 601"/>
                  <a:gd name="T6" fmla="*/ 418 w 419"/>
                  <a:gd name="T7" fmla="*/ 232 h 601"/>
                  <a:gd name="T8" fmla="*/ 243 w 419"/>
                  <a:gd name="T9" fmla="*/ 0 h 601"/>
                  <a:gd name="T10" fmla="*/ 0 w 419"/>
                  <a:gd name="T11" fmla="*/ 0 h 601"/>
                  <a:gd name="T12" fmla="*/ 0 w 419"/>
                  <a:gd name="T13" fmla="*/ 600 h 601"/>
                  <a:gd name="T14" fmla="*/ 0 w 419"/>
                  <a:gd name="T15" fmla="*/ 600 h 60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9" h="601">
                    <a:moveTo>
                      <a:pt x="0" y="600"/>
                    </a:moveTo>
                    <a:lnTo>
                      <a:pt x="242" y="600"/>
                    </a:lnTo>
                    <a:lnTo>
                      <a:pt x="418" y="346"/>
                    </a:lnTo>
                    <a:lnTo>
                      <a:pt x="418" y="232"/>
                    </a:lnTo>
                    <a:lnTo>
                      <a:pt x="243" y="0"/>
                    </a:lnTo>
                    <a:lnTo>
                      <a:pt x="0" y="0"/>
                    </a:lnTo>
                    <a:lnTo>
                      <a:pt x="0" y="600"/>
                    </a:lnTo>
                    <a:lnTo>
                      <a:pt x="0" y="600"/>
                    </a:lnTo>
                  </a:path>
                </a:pathLst>
              </a:custGeom>
              <a:solidFill>
                <a:srgbClr val="000000"/>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3" name="Freeform 58"/>
              <p:cNvSpPr>
                <a:spLocks/>
              </p:cNvSpPr>
              <p:nvPr/>
            </p:nvSpPr>
            <p:spPr bwMode="auto">
              <a:xfrm>
                <a:off x="999" y="1747"/>
                <a:ext cx="419" cy="601"/>
              </a:xfrm>
              <a:custGeom>
                <a:avLst/>
                <a:gdLst>
                  <a:gd name="T0" fmla="*/ 0 w 419"/>
                  <a:gd name="T1" fmla="*/ 600 h 601"/>
                  <a:gd name="T2" fmla="*/ 241 w 419"/>
                  <a:gd name="T3" fmla="*/ 600 h 601"/>
                  <a:gd name="T4" fmla="*/ 418 w 419"/>
                  <a:gd name="T5" fmla="*/ 347 h 601"/>
                  <a:gd name="T6" fmla="*/ 418 w 419"/>
                  <a:gd name="T7" fmla="*/ 232 h 601"/>
                  <a:gd name="T8" fmla="*/ 243 w 419"/>
                  <a:gd name="T9" fmla="*/ 0 h 601"/>
                  <a:gd name="T10" fmla="*/ 0 w 419"/>
                  <a:gd name="T11" fmla="*/ 0 h 601"/>
                  <a:gd name="T12" fmla="*/ 0 w 419"/>
                  <a:gd name="T13" fmla="*/ 600 h 601"/>
                  <a:gd name="T14" fmla="*/ 0 w 419"/>
                  <a:gd name="T15" fmla="*/ 600 h 60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9" h="601">
                    <a:moveTo>
                      <a:pt x="0" y="600"/>
                    </a:moveTo>
                    <a:lnTo>
                      <a:pt x="241" y="600"/>
                    </a:lnTo>
                    <a:lnTo>
                      <a:pt x="418" y="347"/>
                    </a:lnTo>
                    <a:lnTo>
                      <a:pt x="418" y="232"/>
                    </a:lnTo>
                    <a:lnTo>
                      <a:pt x="243" y="0"/>
                    </a:lnTo>
                    <a:lnTo>
                      <a:pt x="0" y="0"/>
                    </a:lnTo>
                    <a:lnTo>
                      <a:pt x="0" y="600"/>
                    </a:lnTo>
                    <a:lnTo>
                      <a:pt x="0" y="600"/>
                    </a:lnTo>
                  </a:path>
                </a:pathLst>
              </a:custGeom>
              <a:solidFill>
                <a:srgbClr val="FFFFFF"/>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4" name="Line 59"/>
              <p:cNvSpPr>
                <a:spLocks noChangeShapeType="1"/>
              </p:cNvSpPr>
              <p:nvPr/>
            </p:nvSpPr>
            <p:spPr bwMode="auto">
              <a:xfrm flipH="1">
                <a:off x="796" y="2046"/>
                <a:ext cx="27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5" name="Freeform 60"/>
              <p:cNvSpPr>
                <a:spLocks/>
              </p:cNvSpPr>
              <p:nvPr/>
            </p:nvSpPr>
            <p:spPr bwMode="auto">
              <a:xfrm>
                <a:off x="1069" y="1796"/>
                <a:ext cx="407" cy="525"/>
              </a:xfrm>
              <a:custGeom>
                <a:avLst/>
                <a:gdLst>
                  <a:gd name="T0" fmla="*/ 406 w 407"/>
                  <a:gd name="T1" fmla="*/ 524 h 525"/>
                  <a:gd name="T2" fmla="*/ 231 w 407"/>
                  <a:gd name="T3" fmla="*/ 524 h 525"/>
                  <a:gd name="T4" fmla="*/ 160 w 407"/>
                  <a:gd name="T5" fmla="*/ 450 h 525"/>
                  <a:gd name="T6" fmla="*/ 159 w 407"/>
                  <a:gd name="T7" fmla="*/ 452 h 525"/>
                  <a:gd name="T8" fmla="*/ 169 w 407"/>
                  <a:gd name="T9" fmla="*/ 412 h 525"/>
                  <a:gd name="T10" fmla="*/ 113 w 407"/>
                  <a:gd name="T11" fmla="*/ 446 h 525"/>
                  <a:gd name="T12" fmla="*/ 148 w 407"/>
                  <a:gd name="T13" fmla="*/ 372 h 525"/>
                  <a:gd name="T14" fmla="*/ 88 w 407"/>
                  <a:gd name="T15" fmla="*/ 413 h 525"/>
                  <a:gd name="T16" fmla="*/ 119 w 407"/>
                  <a:gd name="T17" fmla="*/ 344 h 525"/>
                  <a:gd name="T18" fmla="*/ 63 w 407"/>
                  <a:gd name="T19" fmla="*/ 385 h 525"/>
                  <a:gd name="T20" fmla="*/ 89 w 407"/>
                  <a:gd name="T21" fmla="*/ 316 h 525"/>
                  <a:gd name="T22" fmla="*/ 37 w 407"/>
                  <a:gd name="T23" fmla="*/ 350 h 525"/>
                  <a:gd name="T24" fmla="*/ 48 w 407"/>
                  <a:gd name="T25" fmla="*/ 300 h 525"/>
                  <a:gd name="T26" fmla="*/ 44 w 407"/>
                  <a:gd name="T27" fmla="*/ 300 h 525"/>
                  <a:gd name="T28" fmla="*/ 0 w 407"/>
                  <a:gd name="T29" fmla="*/ 251 h 525"/>
                  <a:gd name="T30" fmla="*/ 52 w 407"/>
                  <a:gd name="T31" fmla="*/ 184 h 525"/>
                  <a:gd name="T32" fmla="*/ 95 w 407"/>
                  <a:gd name="T33" fmla="*/ 198 h 525"/>
                  <a:gd name="T34" fmla="*/ 52 w 407"/>
                  <a:gd name="T35" fmla="*/ 142 h 525"/>
                  <a:gd name="T36" fmla="*/ 124 w 407"/>
                  <a:gd name="T37" fmla="*/ 175 h 525"/>
                  <a:gd name="T38" fmla="*/ 79 w 407"/>
                  <a:gd name="T39" fmla="*/ 111 h 525"/>
                  <a:gd name="T40" fmla="*/ 148 w 407"/>
                  <a:gd name="T41" fmla="*/ 142 h 525"/>
                  <a:gd name="T42" fmla="*/ 101 w 407"/>
                  <a:gd name="T43" fmla="*/ 76 h 525"/>
                  <a:gd name="T44" fmla="*/ 169 w 407"/>
                  <a:gd name="T45" fmla="*/ 107 h 525"/>
                  <a:gd name="T46" fmla="*/ 129 w 407"/>
                  <a:gd name="T47" fmla="*/ 45 h 525"/>
                  <a:gd name="T48" fmla="*/ 169 w 407"/>
                  <a:gd name="T49" fmla="*/ 59 h 525"/>
                  <a:gd name="T50" fmla="*/ 172 w 407"/>
                  <a:gd name="T51" fmla="*/ 58 h 525"/>
                  <a:gd name="T52" fmla="*/ 226 w 407"/>
                  <a:gd name="T53" fmla="*/ 0 h 525"/>
                  <a:gd name="T54" fmla="*/ 405 w 407"/>
                  <a:gd name="T5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7" h="525">
                    <a:moveTo>
                      <a:pt x="406" y="524"/>
                    </a:moveTo>
                    <a:lnTo>
                      <a:pt x="231" y="524"/>
                    </a:lnTo>
                    <a:lnTo>
                      <a:pt x="160" y="450"/>
                    </a:lnTo>
                    <a:lnTo>
                      <a:pt x="159" y="452"/>
                    </a:lnTo>
                    <a:lnTo>
                      <a:pt x="169" y="412"/>
                    </a:lnTo>
                    <a:lnTo>
                      <a:pt x="113" y="446"/>
                    </a:lnTo>
                    <a:lnTo>
                      <a:pt x="148" y="372"/>
                    </a:lnTo>
                    <a:lnTo>
                      <a:pt x="88" y="413"/>
                    </a:lnTo>
                    <a:lnTo>
                      <a:pt x="119" y="344"/>
                    </a:lnTo>
                    <a:lnTo>
                      <a:pt x="63" y="385"/>
                    </a:lnTo>
                    <a:lnTo>
                      <a:pt x="89" y="316"/>
                    </a:lnTo>
                    <a:lnTo>
                      <a:pt x="37" y="350"/>
                    </a:lnTo>
                    <a:lnTo>
                      <a:pt x="48" y="300"/>
                    </a:lnTo>
                    <a:lnTo>
                      <a:pt x="44" y="300"/>
                    </a:lnTo>
                    <a:lnTo>
                      <a:pt x="0" y="251"/>
                    </a:lnTo>
                    <a:lnTo>
                      <a:pt x="52" y="184"/>
                    </a:lnTo>
                    <a:lnTo>
                      <a:pt x="95" y="198"/>
                    </a:lnTo>
                    <a:lnTo>
                      <a:pt x="52" y="142"/>
                    </a:lnTo>
                    <a:lnTo>
                      <a:pt x="124" y="175"/>
                    </a:lnTo>
                    <a:lnTo>
                      <a:pt x="79" y="111"/>
                    </a:lnTo>
                    <a:lnTo>
                      <a:pt x="148" y="142"/>
                    </a:lnTo>
                    <a:lnTo>
                      <a:pt x="101" y="76"/>
                    </a:lnTo>
                    <a:lnTo>
                      <a:pt x="169" y="107"/>
                    </a:lnTo>
                    <a:lnTo>
                      <a:pt x="129" y="45"/>
                    </a:lnTo>
                    <a:lnTo>
                      <a:pt x="169" y="59"/>
                    </a:lnTo>
                    <a:lnTo>
                      <a:pt x="172" y="58"/>
                    </a:lnTo>
                    <a:lnTo>
                      <a:pt x="226" y="0"/>
                    </a:lnTo>
                    <a:lnTo>
                      <a:pt x="405"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54" name="Freeform 61"/>
            <p:cNvSpPr>
              <a:spLocks/>
            </p:cNvSpPr>
            <p:nvPr/>
          </p:nvSpPr>
          <p:spPr bwMode="auto">
            <a:xfrm>
              <a:off x="3651251" y="2149475"/>
              <a:ext cx="284163" cy="368300"/>
            </a:xfrm>
            <a:custGeom>
              <a:avLst/>
              <a:gdLst>
                <a:gd name="T0" fmla="*/ 0 w 197"/>
                <a:gd name="T1" fmla="*/ 263 h 264"/>
                <a:gd name="T2" fmla="*/ 95 w 197"/>
                <a:gd name="T3" fmla="*/ 263 h 264"/>
                <a:gd name="T4" fmla="*/ 99 w 197"/>
                <a:gd name="T5" fmla="*/ 262 h 264"/>
                <a:gd name="T6" fmla="*/ 99 w 197"/>
                <a:gd name="T7" fmla="*/ 262 h 264"/>
                <a:gd name="T8" fmla="*/ 104 w 197"/>
                <a:gd name="T9" fmla="*/ 262 h 264"/>
                <a:gd name="T10" fmla="*/ 111 w 197"/>
                <a:gd name="T11" fmla="*/ 262 h 264"/>
                <a:gd name="T12" fmla="*/ 116 w 197"/>
                <a:gd name="T13" fmla="*/ 260 h 264"/>
                <a:gd name="T14" fmla="*/ 123 w 197"/>
                <a:gd name="T15" fmla="*/ 259 h 264"/>
                <a:gd name="T16" fmla="*/ 128 w 197"/>
                <a:gd name="T17" fmla="*/ 258 h 264"/>
                <a:gd name="T18" fmla="*/ 134 w 197"/>
                <a:gd name="T19" fmla="*/ 255 h 264"/>
                <a:gd name="T20" fmla="*/ 140 w 197"/>
                <a:gd name="T21" fmla="*/ 252 h 264"/>
                <a:gd name="T22" fmla="*/ 146 w 197"/>
                <a:gd name="T23" fmla="*/ 249 h 264"/>
                <a:gd name="T24" fmla="*/ 151 w 197"/>
                <a:gd name="T25" fmla="*/ 246 h 264"/>
                <a:gd name="T26" fmla="*/ 156 w 197"/>
                <a:gd name="T27" fmla="*/ 242 h 264"/>
                <a:gd name="T28" fmla="*/ 161 w 197"/>
                <a:gd name="T29" fmla="*/ 238 h 264"/>
                <a:gd name="T30" fmla="*/ 164 w 197"/>
                <a:gd name="T31" fmla="*/ 234 h 264"/>
                <a:gd name="T32" fmla="*/ 170 w 197"/>
                <a:gd name="T33" fmla="*/ 229 h 264"/>
                <a:gd name="T34" fmla="*/ 173 w 197"/>
                <a:gd name="T35" fmla="*/ 224 h 264"/>
                <a:gd name="T36" fmla="*/ 177 w 197"/>
                <a:gd name="T37" fmla="*/ 218 h 264"/>
                <a:gd name="T38" fmla="*/ 181 w 197"/>
                <a:gd name="T39" fmla="*/ 213 h 264"/>
                <a:gd name="T40" fmla="*/ 184 w 197"/>
                <a:gd name="T41" fmla="*/ 207 h 264"/>
                <a:gd name="T42" fmla="*/ 186 w 197"/>
                <a:gd name="T43" fmla="*/ 201 h 264"/>
                <a:gd name="T44" fmla="*/ 189 w 197"/>
                <a:gd name="T45" fmla="*/ 194 h 264"/>
                <a:gd name="T46" fmla="*/ 191 w 197"/>
                <a:gd name="T47" fmla="*/ 189 h 264"/>
                <a:gd name="T48" fmla="*/ 192 w 197"/>
                <a:gd name="T49" fmla="*/ 182 h 264"/>
                <a:gd name="T50" fmla="*/ 194 w 197"/>
                <a:gd name="T51" fmla="*/ 176 h 264"/>
                <a:gd name="T52" fmla="*/ 195 w 197"/>
                <a:gd name="T53" fmla="*/ 169 h 264"/>
                <a:gd name="T54" fmla="*/ 196 w 197"/>
                <a:gd name="T55" fmla="*/ 162 h 264"/>
                <a:gd name="T56" fmla="*/ 196 w 197"/>
                <a:gd name="T57" fmla="*/ 156 h 264"/>
                <a:gd name="T58" fmla="*/ 196 w 197"/>
                <a:gd name="T59" fmla="*/ 149 h 264"/>
                <a:gd name="T60" fmla="*/ 196 w 197"/>
                <a:gd name="T61" fmla="*/ 0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7" h="264">
                  <a:moveTo>
                    <a:pt x="0" y="263"/>
                  </a:moveTo>
                  <a:lnTo>
                    <a:pt x="95" y="263"/>
                  </a:lnTo>
                  <a:lnTo>
                    <a:pt x="99" y="262"/>
                  </a:lnTo>
                  <a:lnTo>
                    <a:pt x="99" y="262"/>
                  </a:lnTo>
                  <a:lnTo>
                    <a:pt x="104" y="262"/>
                  </a:lnTo>
                  <a:lnTo>
                    <a:pt x="111" y="262"/>
                  </a:lnTo>
                  <a:lnTo>
                    <a:pt x="116" y="260"/>
                  </a:lnTo>
                  <a:lnTo>
                    <a:pt x="123" y="259"/>
                  </a:lnTo>
                  <a:lnTo>
                    <a:pt x="128" y="258"/>
                  </a:lnTo>
                  <a:lnTo>
                    <a:pt x="134" y="255"/>
                  </a:lnTo>
                  <a:lnTo>
                    <a:pt x="140" y="252"/>
                  </a:lnTo>
                  <a:lnTo>
                    <a:pt x="146" y="249"/>
                  </a:lnTo>
                  <a:lnTo>
                    <a:pt x="151" y="246"/>
                  </a:lnTo>
                  <a:lnTo>
                    <a:pt x="156" y="242"/>
                  </a:lnTo>
                  <a:lnTo>
                    <a:pt x="161" y="238"/>
                  </a:lnTo>
                  <a:lnTo>
                    <a:pt x="164" y="234"/>
                  </a:lnTo>
                  <a:lnTo>
                    <a:pt x="170" y="229"/>
                  </a:lnTo>
                  <a:lnTo>
                    <a:pt x="173" y="224"/>
                  </a:lnTo>
                  <a:lnTo>
                    <a:pt x="177" y="218"/>
                  </a:lnTo>
                  <a:lnTo>
                    <a:pt x="181" y="213"/>
                  </a:lnTo>
                  <a:lnTo>
                    <a:pt x="184" y="207"/>
                  </a:lnTo>
                  <a:lnTo>
                    <a:pt x="186" y="201"/>
                  </a:lnTo>
                  <a:lnTo>
                    <a:pt x="189" y="194"/>
                  </a:lnTo>
                  <a:lnTo>
                    <a:pt x="191" y="189"/>
                  </a:lnTo>
                  <a:lnTo>
                    <a:pt x="192" y="182"/>
                  </a:lnTo>
                  <a:lnTo>
                    <a:pt x="194" y="176"/>
                  </a:lnTo>
                  <a:lnTo>
                    <a:pt x="195" y="169"/>
                  </a:lnTo>
                  <a:lnTo>
                    <a:pt x="196" y="162"/>
                  </a:lnTo>
                  <a:lnTo>
                    <a:pt x="196" y="156"/>
                  </a:lnTo>
                  <a:lnTo>
                    <a:pt x="196" y="149"/>
                  </a:lnTo>
                  <a:lnTo>
                    <a:pt x="196"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5" name="Text Box 62"/>
            <p:cNvSpPr txBox="1">
              <a:spLocks noChangeArrowheads="1"/>
            </p:cNvSpPr>
            <p:nvPr/>
          </p:nvSpPr>
          <p:spPr bwMode="auto">
            <a:xfrm>
              <a:off x="3852863" y="1781175"/>
              <a:ext cx="169862" cy="255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1700" b="1">
                  <a:solidFill>
                    <a:srgbClr val="000000"/>
                  </a:solidFill>
                  <a:latin typeface="微软雅黑" panose="020B0503020204020204" pitchFamily="34" charset="-122"/>
                  <a:ea typeface="微软雅黑" panose="020B0503020204020204" pitchFamily="34" charset="-122"/>
                </a:rPr>
                <a:t>R</a:t>
              </a:r>
              <a:endParaRPr lang="en-US" altLang="zh-CN" sz="2200">
                <a:latin typeface="微软雅黑" panose="020B0503020204020204" pitchFamily="34" charset="-122"/>
                <a:ea typeface="微软雅黑" panose="020B0503020204020204" pitchFamily="34" charset="-122"/>
              </a:endParaRPr>
            </a:p>
          </p:txBody>
        </p:sp>
        <p:sp>
          <p:nvSpPr>
            <p:cNvPr id="56" name="Freeform 64"/>
            <p:cNvSpPr>
              <a:spLocks/>
            </p:cNvSpPr>
            <p:nvPr/>
          </p:nvSpPr>
          <p:spPr bwMode="auto">
            <a:xfrm>
              <a:off x="4043363" y="3994151"/>
              <a:ext cx="1593850" cy="481013"/>
            </a:xfrm>
            <a:custGeom>
              <a:avLst/>
              <a:gdLst>
                <a:gd name="T0" fmla="*/ 12 w 1104"/>
                <a:gd name="T1" fmla="*/ 36 h 343"/>
                <a:gd name="T2" fmla="*/ 42 w 1104"/>
                <a:gd name="T3" fmla="*/ 8 h 343"/>
                <a:gd name="T4" fmla="*/ 73 w 1104"/>
                <a:gd name="T5" fmla="*/ 2 h 343"/>
                <a:gd name="T6" fmla="*/ 112 w 1104"/>
                <a:gd name="T7" fmla="*/ 9 h 343"/>
                <a:gd name="T8" fmla="*/ 143 w 1104"/>
                <a:gd name="T9" fmla="*/ 25 h 343"/>
                <a:gd name="T10" fmla="*/ 176 w 1104"/>
                <a:gd name="T11" fmla="*/ 47 h 343"/>
                <a:gd name="T12" fmla="*/ 211 w 1104"/>
                <a:gd name="T13" fmla="*/ 58 h 343"/>
                <a:gd name="T14" fmla="*/ 240 w 1104"/>
                <a:gd name="T15" fmla="*/ 58 h 343"/>
                <a:gd name="T16" fmla="*/ 272 w 1104"/>
                <a:gd name="T17" fmla="*/ 48 h 343"/>
                <a:gd name="T18" fmla="*/ 290 w 1104"/>
                <a:gd name="T19" fmla="*/ 43 h 343"/>
                <a:gd name="T20" fmla="*/ 309 w 1104"/>
                <a:gd name="T21" fmla="*/ 39 h 343"/>
                <a:gd name="T22" fmla="*/ 323 w 1104"/>
                <a:gd name="T23" fmla="*/ 29 h 343"/>
                <a:gd name="T24" fmla="*/ 338 w 1104"/>
                <a:gd name="T25" fmla="*/ 16 h 343"/>
                <a:gd name="T26" fmla="*/ 356 w 1104"/>
                <a:gd name="T27" fmla="*/ 8 h 343"/>
                <a:gd name="T28" fmla="*/ 377 w 1104"/>
                <a:gd name="T29" fmla="*/ 4 h 343"/>
                <a:gd name="T30" fmla="*/ 396 w 1104"/>
                <a:gd name="T31" fmla="*/ 4 h 343"/>
                <a:gd name="T32" fmla="*/ 418 w 1104"/>
                <a:gd name="T33" fmla="*/ 17 h 343"/>
                <a:gd name="T34" fmla="*/ 441 w 1104"/>
                <a:gd name="T35" fmla="*/ 35 h 343"/>
                <a:gd name="T36" fmla="*/ 462 w 1104"/>
                <a:gd name="T37" fmla="*/ 47 h 343"/>
                <a:gd name="T38" fmla="*/ 485 w 1104"/>
                <a:gd name="T39" fmla="*/ 58 h 343"/>
                <a:gd name="T40" fmla="*/ 502 w 1104"/>
                <a:gd name="T41" fmla="*/ 60 h 343"/>
                <a:gd name="T42" fmla="*/ 513 w 1104"/>
                <a:gd name="T43" fmla="*/ 60 h 343"/>
                <a:gd name="T44" fmla="*/ 525 w 1104"/>
                <a:gd name="T45" fmla="*/ 56 h 343"/>
                <a:gd name="T46" fmla="*/ 534 w 1104"/>
                <a:gd name="T47" fmla="*/ 47 h 343"/>
                <a:gd name="T48" fmla="*/ 544 w 1104"/>
                <a:gd name="T49" fmla="*/ 31 h 343"/>
                <a:gd name="T50" fmla="*/ 556 w 1104"/>
                <a:gd name="T51" fmla="*/ 24 h 343"/>
                <a:gd name="T52" fmla="*/ 569 w 1104"/>
                <a:gd name="T53" fmla="*/ 20 h 343"/>
                <a:gd name="T54" fmla="*/ 580 w 1104"/>
                <a:gd name="T55" fmla="*/ 16 h 343"/>
                <a:gd name="T56" fmla="*/ 593 w 1104"/>
                <a:gd name="T57" fmla="*/ 6 h 343"/>
                <a:gd name="T58" fmla="*/ 606 w 1104"/>
                <a:gd name="T59" fmla="*/ 1 h 343"/>
                <a:gd name="T60" fmla="*/ 629 w 1104"/>
                <a:gd name="T61" fmla="*/ 4 h 343"/>
                <a:gd name="T62" fmla="*/ 651 w 1104"/>
                <a:gd name="T63" fmla="*/ 10 h 343"/>
                <a:gd name="T64" fmla="*/ 673 w 1104"/>
                <a:gd name="T65" fmla="*/ 20 h 343"/>
                <a:gd name="T66" fmla="*/ 697 w 1104"/>
                <a:gd name="T67" fmla="*/ 33 h 343"/>
                <a:gd name="T68" fmla="*/ 714 w 1104"/>
                <a:gd name="T69" fmla="*/ 41 h 343"/>
                <a:gd name="T70" fmla="*/ 729 w 1104"/>
                <a:gd name="T71" fmla="*/ 48 h 343"/>
                <a:gd name="T72" fmla="*/ 743 w 1104"/>
                <a:gd name="T73" fmla="*/ 51 h 343"/>
                <a:gd name="T74" fmla="*/ 756 w 1104"/>
                <a:gd name="T75" fmla="*/ 51 h 343"/>
                <a:gd name="T76" fmla="*/ 768 w 1104"/>
                <a:gd name="T77" fmla="*/ 50 h 343"/>
                <a:gd name="T78" fmla="*/ 787 w 1104"/>
                <a:gd name="T79" fmla="*/ 46 h 343"/>
                <a:gd name="T80" fmla="*/ 808 w 1104"/>
                <a:gd name="T81" fmla="*/ 39 h 343"/>
                <a:gd name="T82" fmla="*/ 825 w 1104"/>
                <a:gd name="T83" fmla="*/ 38 h 343"/>
                <a:gd name="T84" fmla="*/ 846 w 1104"/>
                <a:gd name="T85" fmla="*/ 40 h 343"/>
                <a:gd name="T86" fmla="*/ 866 w 1104"/>
                <a:gd name="T87" fmla="*/ 44 h 343"/>
                <a:gd name="T88" fmla="*/ 896 w 1104"/>
                <a:gd name="T89" fmla="*/ 52 h 343"/>
                <a:gd name="T90" fmla="*/ 923 w 1104"/>
                <a:gd name="T91" fmla="*/ 62 h 343"/>
                <a:gd name="T92" fmla="*/ 946 w 1104"/>
                <a:gd name="T93" fmla="*/ 78 h 343"/>
                <a:gd name="T94" fmla="*/ 968 w 1104"/>
                <a:gd name="T95" fmla="*/ 98 h 343"/>
                <a:gd name="T96" fmla="*/ 982 w 1104"/>
                <a:gd name="T97" fmla="*/ 114 h 343"/>
                <a:gd name="T98" fmla="*/ 999 w 1104"/>
                <a:gd name="T99" fmla="*/ 133 h 343"/>
                <a:gd name="T100" fmla="*/ 1010 w 1104"/>
                <a:gd name="T101" fmla="*/ 152 h 343"/>
                <a:gd name="T102" fmla="*/ 1022 w 1104"/>
                <a:gd name="T103" fmla="*/ 181 h 343"/>
                <a:gd name="T104" fmla="*/ 1031 w 1104"/>
                <a:gd name="T105" fmla="*/ 204 h 343"/>
                <a:gd name="T106" fmla="*/ 1038 w 1104"/>
                <a:gd name="T107" fmla="*/ 225 h 343"/>
                <a:gd name="T108" fmla="*/ 1049 w 1104"/>
                <a:gd name="T109" fmla="*/ 244 h 343"/>
                <a:gd name="T110" fmla="*/ 1060 w 1104"/>
                <a:gd name="T111" fmla="*/ 264 h 343"/>
                <a:gd name="T112" fmla="*/ 1074 w 1104"/>
                <a:gd name="T113" fmla="*/ 282 h 343"/>
                <a:gd name="T114" fmla="*/ 1086 w 1104"/>
                <a:gd name="T115" fmla="*/ 307 h 343"/>
                <a:gd name="T116" fmla="*/ 1099 w 1104"/>
                <a:gd name="T117" fmla="*/ 336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04" h="343">
                  <a:moveTo>
                    <a:pt x="0" y="50"/>
                  </a:moveTo>
                  <a:lnTo>
                    <a:pt x="0" y="50"/>
                  </a:lnTo>
                  <a:lnTo>
                    <a:pt x="0" y="48"/>
                  </a:lnTo>
                  <a:lnTo>
                    <a:pt x="2" y="47"/>
                  </a:lnTo>
                  <a:lnTo>
                    <a:pt x="5" y="43"/>
                  </a:lnTo>
                  <a:lnTo>
                    <a:pt x="8" y="40"/>
                  </a:lnTo>
                  <a:lnTo>
                    <a:pt x="12" y="36"/>
                  </a:lnTo>
                  <a:lnTo>
                    <a:pt x="15" y="32"/>
                  </a:lnTo>
                  <a:lnTo>
                    <a:pt x="20" y="27"/>
                  </a:lnTo>
                  <a:lnTo>
                    <a:pt x="24" y="23"/>
                  </a:lnTo>
                  <a:lnTo>
                    <a:pt x="28" y="19"/>
                  </a:lnTo>
                  <a:lnTo>
                    <a:pt x="32" y="16"/>
                  </a:lnTo>
                  <a:lnTo>
                    <a:pt x="38" y="11"/>
                  </a:lnTo>
                  <a:lnTo>
                    <a:pt x="42" y="8"/>
                  </a:lnTo>
                  <a:lnTo>
                    <a:pt x="46" y="6"/>
                  </a:lnTo>
                  <a:lnTo>
                    <a:pt x="50" y="4"/>
                  </a:lnTo>
                  <a:lnTo>
                    <a:pt x="54" y="2"/>
                  </a:lnTo>
                  <a:lnTo>
                    <a:pt x="58" y="2"/>
                  </a:lnTo>
                  <a:lnTo>
                    <a:pt x="63" y="2"/>
                  </a:lnTo>
                  <a:lnTo>
                    <a:pt x="67" y="2"/>
                  </a:lnTo>
                  <a:lnTo>
                    <a:pt x="73" y="2"/>
                  </a:lnTo>
                  <a:lnTo>
                    <a:pt x="78" y="3"/>
                  </a:lnTo>
                  <a:lnTo>
                    <a:pt x="84" y="3"/>
                  </a:lnTo>
                  <a:lnTo>
                    <a:pt x="90" y="4"/>
                  </a:lnTo>
                  <a:lnTo>
                    <a:pt x="95" y="4"/>
                  </a:lnTo>
                  <a:lnTo>
                    <a:pt x="100" y="6"/>
                  </a:lnTo>
                  <a:lnTo>
                    <a:pt x="106" y="7"/>
                  </a:lnTo>
                  <a:lnTo>
                    <a:pt x="112" y="9"/>
                  </a:lnTo>
                  <a:lnTo>
                    <a:pt x="117" y="10"/>
                  </a:lnTo>
                  <a:lnTo>
                    <a:pt x="121" y="13"/>
                  </a:lnTo>
                  <a:lnTo>
                    <a:pt x="126" y="15"/>
                  </a:lnTo>
                  <a:lnTo>
                    <a:pt x="130" y="17"/>
                  </a:lnTo>
                  <a:lnTo>
                    <a:pt x="136" y="19"/>
                  </a:lnTo>
                  <a:lnTo>
                    <a:pt x="139" y="23"/>
                  </a:lnTo>
                  <a:lnTo>
                    <a:pt x="143" y="25"/>
                  </a:lnTo>
                  <a:lnTo>
                    <a:pt x="146" y="29"/>
                  </a:lnTo>
                  <a:lnTo>
                    <a:pt x="152" y="31"/>
                  </a:lnTo>
                  <a:lnTo>
                    <a:pt x="156" y="35"/>
                  </a:lnTo>
                  <a:lnTo>
                    <a:pt x="161" y="37"/>
                  </a:lnTo>
                  <a:lnTo>
                    <a:pt x="167" y="41"/>
                  </a:lnTo>
                  <a:lnTo>
                    <a:pt x="173" y="43"/>
                  </a:lnTo>
                  <a:lnTo>
                    <a:pt x="176" y="47"/>
                  </a:lnTo>
                  <a:lnTo>
                    <a:pt x="182" y="48"/>
                  </a:lnTo>
                  <a:lnTo>
                    <a:pt x="188" y="52"/>
                  </a:lnTo>
                  <a:lnTo>
                    <a:pt x="193" y="54"/>
                  </a:lnTo>
                  <a:lnTo>
                    <a:pt x="197" y="55"/>
                  </a:lnTo>
                  <a:lnTo>
                    <a:pt x="202" y="57"/>
                  </a:lnTo>
                  <a:lnTo>
                    <a:pt x="206" y="58"/>
                  </a:lnTo>
                  <a:lnTo>
                    <a:pt x="211" y="58"/>
                  </a:lnTo>
                  <a:lnTo>
                    <a:pt x="214" y="60"/>
                  </a:lnTo>
                  <a:lnTo>
                    <a:pt x="218" y="60"/>
                  </a:lnTo>
                  <a:lnTo>
                    <a:pt x="221" y="60"/>
                  </a:lnTo>
                  <a:lnTo>
                    <a:pt x="226" y="60"/>
                  </a:lnTo>
                  <a:lnTo>
                    <a:pt x="229" y="60"/>
                  </a:lnTo>
                  <a:lnTo>
                    <a:pt x="235" y="58"/>
                  </a:lnTo>
                  <a:lnTo>
                    <a:pt x="240" y="58"/>
                  </a:lnTo>
                  <a:lnTo>
                    <a:pt x="246" y="56"/>
                  </a:lnTo>
                  <a:lnTo>
                    <a:pt x="249" y="56"/>
                  </a:lnTo>
                  <a:lnTo>
                    <a:pt x="254" y="55"/>
                  </a:lnTo>
                  <a:lnTo>
                    <a:pt x="258" y="54"/>
                  </a:lnTo>
                  <a:lnTo>
                    <a:pt x="264" y="52"/>
                  </a:lnTo>
                  <a:lnTo>
                    <a:pt x="268" y="50"/>
                  </a:lnTo>
                  <a:lnTo>
                    <a:pt x="272" y="48"/>
                  </a:lnTo>
                  <a:lnTo>
                    <a:pt x="276" y="47"/>
                  </a:lnTo>
                  <a:lnTo>
                    <a:pt x="280" y="45"/>
                  </a:lnTo>
                  <a:lnTo>
                    <a:pt x="282" y="45"/>
                  </a:lnTo>
                  <a:lnTo>
                    <a:pt x="284" y="44"/>
                  </a:lnTo>
                  <a:lnTo>
                    <a:pt x="286" y="44"/>
                  </a:lnTo>
                  <a:lnTo>
                    <a:pt x="288" y="43"/>
                  </a:lnTo>
                  <a:lnTo>
                    <a:pt x="290" y="43"/>
                  </a:lnTo>
                  <a:lnTo>
                    <a:pt x="293" y="43"/>
                  </a:lnTo>
                  <a:lnTo>
                    <a:pt x="295" y="43"/>
                  </a:lnTo>
                  <a:lnTo>
                    <a:pt x="299" y="41"/>
                  </a:lnTo>
                  <a:lnTo>
                    <a:pt x="300" y="41"/>
                  </a:lnTo>
                  <a:lnTo>
                    <a:pt x="303" y="41"/>
                  </a:lnTo>
                  <a:lnTo>
                    <a:pt x="305" y="41"/>
                  </a:lnTo>
                  <a:lnTo>
                    <a:pt x="309" y="39"/>
                  </a:lnTo>
                  <a:lnTo>
                    <a:pt x="310" y="39"/>
                  </a:lnTo>
                  <a:lnTo>
                    <a:pt x="313" y="37"/>
                  </a:lnTo>
                  <a:lnTo>
                    <a:pt x="315" y="35"/>
                  </a:lnTo>
                  <a:lnTo>
                    <a:pt x="318" y="34"/>
                  </a:lnTo>
                  <a:lnTo>
                    <a:pt x="319" y="33"/>
                  </a:lnTo>
                  <a:lnTo>
                    <a:pt x="321" y="31"/>
                  </a:lnTo>
                  <a:lnTo>
                    <a:pt x="323" y="29"/>
                  </a:lnTo>
                  <a:lnTo>
                    <a:pt x="325" y="27"/>
                  </a:lnTo>
                  <a:lnTo>
                    <a:pt x="327" y="25"/>
                  </a:lnTo>
                  <a:lnTo>
                    <a:pt x="329" y="24"/>
                  </a:lnTo>
                  <a:lnTo>
                    <a:pt x="331" y="22"/>
                  </a:lnTo>
                  <a:lnTo>
                    <a:pt x="335" y="19"/>
                  </a:lnTo>
                  <a:lnTo>
                    <a:pt x="337" y="18"/>
                  </a:lnTo>
                  <a:lnTo>
                    <a:pt x="338" y="16"/>
                  </a:lnTo>
                  <a:lnTo>
                    <a:pt x="340" y="14"/>
                  </a:lnTo>
                  <a:lnTo>
                    <a:pt x="344" y="12"/>
                  </a:lnTo>
                  <a:lnTo>
                    <a:pt x="346" y="12"/>
                  </a:lnTo>
                  <a:lnTo>
                    <a:pt x="348" y="10"/>
                  </a:lnTo>
                  <a:lnTo>
                    <a:pt x="350" y="10"/>
                  </a:lnTo>
                  <a:lnTo>
                    <a:pt x="354" y="8"/>
                  </a:lnTo>
                  <a:lnTo>
                    <a:pt x="356" y="8"/>
                  </a:lnTo>
                  <a:lnTo>
                    <a:pt x="358" y="8"/>
                  </a:lnTo>
                  <a:lnTo>
                    <a:pt x="360" y="8"/>
                  </a:lnTo>
                  <a:lnTo>
                    <a:pt x="364" y="6"/>
                  </a:lnTo>
                  <a:lnTo>
                    <a:pt x="366" y="6"/>
                  </a:lnTo>
                  <a:lnTo>
                    <a:pt x="369" y="6"/>
                  </a:lnTo>
                  <a:lnTo>
                    <a:pt x="373" y="6"/>
                  </a:lnTo>
                  <a:lnTo>
                    <a:pt x="377" y="4"/>
                  </a:lnTo>
                  <a:lnTo>
                    <a:pt x="378" y="4"/>
                  </a:lnTo>
                  <a:lnTo>
                    <a:pt x="382" y="4"/>
                  </a:lnTo>
                  <a:lnTo>
                    <a:pt x="385" y="4"/>
                  </a:lnTo>
                  <a:lnTo>
                    <a:pt x="389" y="3"/>
                  </a:lnTo>
                  <a:lnTo>
                    <a:pt x="391" y="4"/>
                  </a:lnTo>
                  <a:lnTo>
                    <a:pt x="394" y="4"/>
                  </a:lnTo>
                  <a:lnTo>
                    <a:pt x="396" y="4"/>
                  </a:lnTo>
                  <a:lnTo>
                    <a:pt x="400" y="4"/>
                  </a:lnTo>
                  <a:lnTo>
                    <a:pt x="402" y="6"/>
                  </a:lnTo>
                  <a:lnTo>
                    <a:pt x="405" y="7"/>
                  </a:lnTo>
                  <a:lnTo>
                    <a:pt x="407" y="9"/>
                  </a:lnTo>
                  <a:lnTo>
                    <a:pt x="411" y="11"/>
                  </a:lnTo>
                  <a:lnTo>
                    <a:pt x="414" y="15"/>
                  </a:lnTo>
                  <a:lnTo>
                    <a:pt x="418" y="17"/>
                  </a:lnTo>
                  <a:lnTo>
                    <a:pt x="422" y="20"/>
                  </a:lnTo>
                  <a:lnTo>
                    <a:pt x="425" y="22"/>
                  </a:lnTo>
                  <a:lnTo>
                    <a:pt x="428" y="25"/>
                  </a:lnTo>
                  <a:lnTo>
                    <a:pt x="432" y="27"/>
                  </a:lnTo>
                  <a:lnTo>
                    <a:pt x="435" y="31"/>
                  </a:lnTo>
                  <a:lnTo>
                    <a:pt x="439" y="33"/>
                  </a:lnTo>
                  <a:lnTo>
                    <a:pt x="441" y="35"/>
                  </a:lnTo>
                  <a:lnTo>
                    <a:pt x="445" y="37"/>
                  </a:lnTo>
                  <a:lnTo>
                    <a:pt x="448" y="39"/>
                  </a:lnTo>
                  <a:lnTo>
                    <a:pt x="452" y="40"/>
                  </a:lnTo>
                  <a:lnTo>
                    <a:pt x="454" y="42"/>
                  </a:lnTo>
                  <a:lnTo>
                    <a:pt x="456" y="44"/>
                  </a:lnTo>
                  <a:lnTo>
                    <a:pt x="458" y="45"/>
                  </a:lnTo>
                  <a:lnTo>
                    <a:pt x="462" y="47"/>
                  </a:lnTo>
                  <a:lnTo>
                    <a:pt x="464" y="48"/>
                  </a:lnTo>
                  <a:lnTo>
                    <a:pt x="468" y="50"/>
                  </a:lnTo>
                  <a:lnTo>
                    <a:pt x="472" y="52"/>
                  </a:lnTo>
                  <a:lnTo>
                    <a:pt x="475" y="53"/>
                  </a:lnTo>
                  <a:lnTo>
                    <a:pt x="477" y="55"/>
                  </a:lnTo>
                  <a:lnTo>
                    <a:pt x="481" y="56"/>
                  </a:lnTo>
                  <a:lnTo>
                    <a:pt x="485" y="58"/>
                  </a:lnTo>
                  <a:lnTo>
                    <a:pt x="488" y="58"/>
                  </a:lnTo>
                  <a:lnTo>
                    <a:pt x="490" y="60"/>
                  </a:lnTo>
                  <a:lnTo>
                    <a:pt x="494" y="60"/>
                  </a:lnTo>
                  <a:lnTo>
                    <a:pt x="496" y="60"/>
                  </a:lnTo>
                  <a:lnTo>
                    <a:pt x="500" y="60"/>
                  </a:lnTo>
                  <a:lnTo>
                    <a:pt x="500" y="60"/>
                  </a:lnTo>
                  <a:lnTo>
                    <a:pt x="502" y="60"/>
                  </a:lnTo>
                  <a:lnTo>
                    <a:pt x="503" y="60"/>
                  </a:lnTo>
                  <a:lnTo>
                    <a:pt x="505" y="60"/>
                  </a:lnTo>
                  <a:lnTo>
                    <a:pt x="506" y="60"/>
                  </a:lnTo>
                  <a:lnTo>
                    <a:pt x="508" y="60"/>
                  </a:lnTo>
                  <a:lnTo>
                    <a:pt x="510" y="60"/>
                  </a:lnTo>
                  <a:lnTo>
                    <a:pt x="512" y="60"/>
                  </a:lnTo>
                  <a:lnTo>
                    <a:pt x="513" y="60"/>
                  </a:lnTo>
                  <a:lnTo>
                    <a:pt x="515" y="60"/>
                  </a:lnTo>
                  <a:lnTo>
                    <a:pt x="517" y="60"/>
                  </a:lnTo>
                  <a:lnTo>
                    <a:pt x="519" y="59"/>
                  </a:lnTo>
                  <a:lnTo>
                    <a:pt x="520" y="59"/>
                  </a:lnTo>
                  <a:lnTo>
                    <a:pt x="522" y="58"/>
                  </a:lnTo>
                  <a:lnTo>
                    <a:pt x="523" y="58"/>
                  </a:lnTo>
                  <a:lnTo>
                    <a:pt x="525" y="56"/>
                  </a:lnTo>
                  <a:lnTo>
                    <a:pt x="525" y="56"/>
                  </a:lnTo>
                  <a:lnTo>
                    <a:pt x="527" y="55"/>
                  </a:lnTo>
                  <a:lnTo>
                    <a:pt x="528" y="54"/>
                  </a:lnTo>
                  <a:lnTo>
                    <a:pt x="530" y="52"/>
                  </a:lnTo>
                  <a:lnTo>
                    <a:pt x="531" y="50"/>
                  </a:lnTo>
                  <a:lnTo>
                    <a:pt x="533" y="48"/>
                  </a:lnTo>
                  <a:lnTo>
                    <a:pt x="534" y="47"/>
                  </a:lnTo>
                  <a:lnTo>
                    <a:pt x="536" y="44"/>
                  </a:lnTo>
                  <a:lnTo>
                    <a:pt x="536" y="42"/>
                  </a:lnTo>
                  <a:lnTo>
                    <a:pt x="538" y="40"/>
                  </a:lnTo>
                  <a:lnTo>
                    <a:pt x="540" y="38"/>
                  </a:lnTo>
                  <a:lnTo>
                    <a:pt x="542" y="35"/>
                  </a:lnTo>
                  <a:lnTo>
                    <a:pt x="543" y="33"/>
                  </a:lnTo>
                  <a:lnTo>
                    <a:pt x="544" y="31"/>
                  </a:lnTo>
                  <a:lnTo>
                    <a:pt x="546" y="29"/>
                  </a:lnTo>
                  <a:lnTo>
                    <a:pt x="548" y="27"/>
                  </a:lnTo>
                  <a:lnTo>
                    <a:pt x="548" y="27"/>
                  </a:lnTo>
                  <a:lnTo>
                    <a:pt x="550" y="26"/>
                  </a:lnTo>
                  <a:lnTo>
                    <a:pt x="552" y="26"/>
                  </a:lnTo>
                  <a:lnTo>
                    <a:pt x="554" y="24"/>
                  </a:lnTo>
                  <a:lnTo>
                    <a:pt x="556" y="24"/>
                  </a:lnTo>
                  <a:lnTo>
                    <a:pt x="558" y="24"/>
                  </a:lnTo>
                  <a:lnTo>
                    <a:pt x="560" y="24"/>
                  </a:lnTo>
                  <a:lnTo>
                    <a:pt x="561" y="22"/>
                  </a:lnTo>
                  <a:lnTo>
                    <a:pt x="563" y="22"/>
                  </a:lnTo>
                  <a:lnTo>
                    <a:pt x="565" y="22"/>
                  </a:lnTo>
                  <a:lnTo>
                    <a:pt x="567" y="22"/>
                  </a:lnTo>
                  <a:lnTo>
                    <a:pt x="569" y="20"/>
                  </a:lnTo>
                  <a:lnTo>
                    <a:pt x="570" y="20"/>
                  </a:lnTo>
                  <a:lnTo>
                    <a:pt x="572" y="19"/>
                  </a:lnTo>
                  <a:lnTo>
                    <a:pt x="574" y="19"/>
                  </a:lnTo>
                  <a:lnTo>
                    <a:pt x="576" y="17"/>
                  </a:lnTo>
                  <a:lnTo>
                    <a:pt x="576" y="17"/>
                  </a:lnTo>
                  <a:lnTo>
                    <a:pt x="578" y="16"/>
                  </a:lnTo>
                  <a:lnTo>
                    <a:pt x="580" y="16"/>
                  </a:lnTo>
                  <a:lnTo>
                    <a:pt x="581" y="14"/>
                  </a:lnTo>
                  <a:lnTo>
                    <a:pt x="583" y="14"/>
                  </a:lnTo>
                  <a:lnTo>
                    <a:pt x="585" y="12"/>
                  </a:lnTo>
                  <a:lnTo>
                    <a:pt x="587" y="10"/>
                  </a:lnTo>
                  <a:lnTo>
                    <a:pt x="590" y="8"/>
                  </a:lnTo>
                  <a:lnTo>
                    <a:pt x="591" y="8"/>
                  </a:lnTo>
                  <a:lnTo>
                    <a:pt x="593" y="6"/>
                  </a:lnTo>
                  <a:lnTo>
                    <a:pt x="595" y="6"/>
                  </a:lnTo>
                  <a:lnTo>
                    <a:pt x="597" y="4"/>
                  </a:lnTo>
                  <a:lnTo>
                    <a:pt x="599" y="4"/>
                  </a:lnTo>
                  <a:lnTo>
                    <a:pt x="601" y="2"/>
                  </a:lnTo>
                  <a:lnTo>
                    <a:pt x="602" y="2"/>
                  </a:lnTo>
                  <a:lnTo>
                    <a:pt x="604" y="0"/>
                  </a:lnTo>
                  <a:lnTo>
                    <a:pt x="606" y="1"/>
                  </a:lnTo>
                  <a:lnTo>
                    <a:pt x="610" y="1"/>
                  </a:lnTo>
                  <a:lnTo>
                    <a:pt x="611" y="1"/>
                  </a:lnTo>
                  <a:lnTo>
                    <a:pt x="615" y="1"/>
                  </a:lnTo>
                  <a:lnTo>
                    <a:pt x="618" y="3"/>
                  </a:lnTo>
                  <a:lnTo>
                    <a:pt x="622" y="3"/>
                  </a:lnTo>
                  <a:lnTo>
                    <a:pt x="626" y="4"/>
                  </a:lnTo>
                  <a:lnTo>
                    <a:pt x="629" y="4"/>
                  </a:lnTo>
                  <a:lnTo>
                    <a:pt x="632" y="6"/>
                  </a:lnTo>
                  <a:lnTo>
                    <a:pt x="636" y="6"/>
                  </a:lnTo>
                  <a:lnTo>
                    <a:pt x="639" y="7"/>
                  </a:lnTo>
                  <a:lnTo>
                    <a:pt x="643" y="7"/>
                  </a:lnTo>
                  <a:lnTo>
                    <a:pt x="645" y="9"/>
                  </a:lnTo>
                  <a:lnTo>
                    <a:pt x="649" y="9"/>
                  </a:lnTo>
                  <a:lnTo>
                    <a:pt x="651" y="10"/>
                  </a:lnTo>
                  <a:lnTo>
                    <a:pt x="655" y="10"/>
                  </a:lnTo>
                  <a:lnTo>
                    <a:pt x="657" y="12"/>
                  </a:lnTo>
                  <a:lnTo>
                    <a:pt x="660" y="14"/>
                  </a:lnTo>
                  <a:lnTo>
                    <a:pt x="662" y="16"/>
                  </a:lnTo>
                  <a:lnTo>
                    <a:pt x="666" y="17"/>
                  </a:lnTo>
                  <a:lnTo>
                    <a:pt x="669" y="18"/>
                  </a:lnTo>
                  <a:lnTo>
                    <a:pt x="673" y="20"/>
                  </a:lnTo>
                  <a:lnTo>
                    <a:pt x="677" y="22"/>
                  </a:lnTo>
                  <a:lnTo>
                    <a:pt x="680" y="24"/>
                  </a:lnTo>
                  <a:lnTo>
                    <a:pt x="684" y="25"/>
                  </a:lnTo>
                  <a:lnTo>
                    <a:pt x="688" y="27"/>
                  </a:lnTo>
                  <a:lnTo>
                    <a:pt x="691" y="29"/>
                  </a:lnTo>
                  <a:lnTo>
                    <a:pt x="695" y="31"/>
                  </a:lnTo>
                  <a:lnTo>
                    <a:pt x="697" y="33"/>
                  </a:lnTo>
                  <a:lnTo>
                    <a:pt x="700" y="35"/>
                  </a:lnTo>
                  <a:lnTo>
                    <a:pt x="704" y="37"/>
                  </a:lnTo>
                  <a:lnTo>
                    <a:pt x="707" y="37"/>
                  </a:lnTo>
                  <a:lnTo>
                    <a:pt x="709" y="39"/>
                  </a:lnTo>
                  <a:lnTo>
                    <a:pt x="710" y="39"/>
                  </a:lnTo>
                  <a:lnTo>
                    <a:pt x="712" y="41"/>
                  </a:lnTo>
                  <a:lnTo>
                    <a:pt x="714" y="41"/>
                  </a:lnTo>
                  <a:lnTo>
                    <a:pt x="716" y="43"/>
                  </a:lnTo>
                  <a:lnTo>
                    <a:pt x="718" y="43"/>
                  </a:lnTo>
                  <a:lnTo>
                    <a:pt x="720" y="45"/>
                  </a:lnTo>
                  <a:lnTo>
                    <a:pt x="724" y="45"/>
                  </a:lnTo>
                  <a:lnTo>
                    <a:pt x="726" y="47"/>
                  </a:lnTo>
                  <a:lnTo>
                    <a:pt x="727" y="47"/>
                  </a:lnTo>
                  <a:lnTo>
                    <a:pt x="729" y="48"/>
                  </a:lnTo>
                  <a:lnTo>
                    <a:pt x="732" y="48"/>
                  </a:lnTo>
                  <a:lnTo>
                    <a:pt x="734" y="50"/>
                  </a:lnTo>
                  <a:lnTo>
                    <a:pt x="736" y="50"/>
                  </a:lnTo>
                  <a:lnTo>
                    <a:pt x="738" y="50"/>
                  </a:lnTo>
                  <a:lnTo>
                    <a:pt x="741" y="50"/>
                  </a:lnTo>
                  <a:lnTo>
                    <a:pt x="741" y="51"/>
                  </a:lnTo>
                  <a:lnTo>
                    <a:pt x="743" y="51"/>
                  </a:lnTo>
                  <a:lnTo>
                    <a:pt x="745" y="51"/>
                  </a:lnTo>
                  <a:lnTo>
                    <a:pt x="747" y="51"/>
                  </a:lnTo>
                  <a:lnTo>
                    <a:pt x="748" y="51"/>
                  </a:lnTo>
                  <a:lnTo>
                    <a:pt x="750" y="51"/>
                  </a:lnTo>
                  <a:lnTo>
                    <a:pt x="752" y="51"/>
                  </a:lnTo>
                  <a:lnTo>
                    <a:pt x="754" y="51"/>
                  </a:lnTo>
                  <a:lnTo>
                    <a:pt x="756" y="51"/>
                  </a:lnTo>
                  <a:lnTo>
                    <a:pt x="757" y="51"/>
                  </a:lnTo>
                  <a:lnTo>
                    <a:pt x="759" y="51"/>
                  </a:lnTo>
                  <a:lnTo>
                    <a:pt x="761" y="51"/>
                  </a:lnTo>
                  <a:lnTo>
                    <a:pt x="762" y="51"/>
                  </a:lnTo>
                  <a:lnTo>
                    <a:pt x="764" y="51"/>
                  </a:lnTo>
                  <a:lnTo>
                    <a:pt x="766" y="51"/>
                  </a:lnTo>
                  <a:lnTo>
                    <a:pt x="768" y="50"/>
                  </a:lnTo>
                  <a:lnTo>
                    <a:pt x="770" y="50"/>
                  </a:lnTo>
                  <a:lnTo>
                    <a:pt x="772" y="50"/>
                  </a:lnTo>
                  <a:lnTo>
                    <a:pt x="774" y="50"/>
                  </a:lnTo>
                  <a:lnTo>
                    <a:pt x="778" y="48"/>
                  </a:lnTo>
                  <a:lnTo>
                    <a:pt x="780" y="48"/>
                  </a:lnTo>
                  <a:lnTo>
                    <a:pt x="784" y="46"/>
                  </a:lnTo>
                  <a:lnTo>
                    <a:pt x="787" y="46"/>
                  </a:lnTo>
                  <a:lnTo>
                    <a:pt x="791" y="44"/>
                  </a:lnTo>
                  <a:lnTo>
                    <a:pt x="793" y="44"/>
                  </a:lnTo>
                  <a:lnTo>
                    <a:pt x="797" y="42"/>
                  </a:lnTo>
                  <a:lnTo>
                    <a:pt x="800" y="42"/>
                  </a:lnTo>
                  <a:lnTo>
                    <a:pt x="804" y="40"/>
                  </a:lnTo>
                  <a:lnTo>
                    <a:pt x="805" y="40"/>
                  </a:lnTo>
                  <a:lnTo>
                    <a:pt x="808" y="39"/>
                  </a:lnTo>
                  <a:lnTo>
                    <a:pt x="810" y="39"/>
                  </a:lnTo>
                  <a:lnTo>
                    <a:pt x="814" y="37"/>
                  </a:lnTo>
                  <a:lnTo>
                    <a:pt x="816" y="38"/>
                  </a:lnTo>
                  <a:lnTo>
                    <a:pt x="818" y="38"/>
                  </a:lnTo>
                  <a:lnTo>
                    <a:pt x="820" y="38"/>
                  </a:lnTo>
                  <a:lnTo>
                    <a:pt x="823" y="38"/>
                  </a:lnTo>
                  <a:lnTo>
                    <a:pt x="825" y="38"/>
                  </a:lnTo>
                  <a:lnTo>
                    <a:pt x="828" y="38"/>
                  </a:lnTo>
                  <a:lnTo>
                    <a:pt x="831" y="38"/>
                  </a:lnTo>
                  <a:lnTo>
                    <a:pt x="835" y="38"/>
                  </a:lnTo>
                  <a:lnTo>
                    <a:pt x="836" y="40"/>
                  </a:lnTo>
                  <a:lnTo>
                    <a:pt x="840" y="40"/>
                  </a:lnTo>
                  <a:lnTo>
                    <a:pt x="842" y="40"/>
                  </a:lnTo>
                  <a:lnTo>
                    <a:pt x="846" y="40"/>
                  </a:lnTo>
                  <a:lnTo>
                    <a:pt x="848" y="40"/>
                  </a:lnTo>
                  <a:lnTo>
                    <a:pt x="851" y="40"/>
                  </a:lnTo>
                  <a:lnTo>
                    <a:pt x="853" y="40"/>
                  </a:lnTo>
                  <a:lnTo>
                    <a:pt x="856" y="40"/>
                  </a:lnTo>
                  <a:lnTo>
                    <a:pt x="858" y="42"/>
                  </a:lnTo>
                  <a:lnTo>
                    <a:pt x="862" y="42"/>
                  </a:lnTo>
                  <a:lnTo>
                    <a:pt x="866" y="44"/>
                  </a:lnTo>
                  <a:lnTo>
                    <a:pt x="870" y="44"/>
                  </a:lnTo>
                  <a:lnTo>
                    <a:pt x="873" y="46"/>
                  </a:lnTo>
                  <a:lnTo>
                    <a:pt x="878" y="47"/>
                  </a:lnTo>
                  <a:lnTo>
                    <a:pt x="882" y="48"/>
                  </a:lnTo>
                  <a:lnTo>
                    <a:pt x="888" y="48"/>
                  </a:lnTo>
                  <a:lnTo>
                    <a:pt x="892" y="50"/>
                  </a:lnTo>
                  <a:lnTo>
                    <a:pt x="896" y="52"/>
                  </a:lnTo>
                  <a:lnTo>
                    <a:pt x="900" y="54"/>
                  </a:lnTo>
                  <a:lnTo>
                    <a:pt x="906" y="55"/>
                  </a:lnTo>
                  <a:lnTo>
                    <a:pt x="910" y="56"/>
                  </a:lnTo>
                  <a:lnTo>
                    <a:pt x="913" y="58"/>
                  </a:lnTo>
                  <a:lnTo>
                    <a:pt x="917" y="60"/>
                  </a:lnTo>
                  <a:lnTo>
                    <a:pt x="921" y="60"/>
                  </a:lnTo>
                  <a:lnTo>
                    <a:pt x="923" y="62"/>
                  </a:lnTo>
                  <a:lnTo>
                    <a:pt x="926" y="64"/>
                  </a:lnTo>
                  <a:lnTo>
                    <a:pt x="928" y="66"/>
                  </a:lnTo>
                  <a:lnTo>
                    <a:pt x="931" y="68"/>
                  </a:lnTo>
                  <a:lnTo>
                    <a:pt x="934" y="72"/>
                  </a:lnTo>
                  <a:lnTo>
                    <a:pt x="938" y="74"/>
                  </a:lnTo>
                  <a:lnTo>
                    <a:pt x="942" y="76"/>
                  </a:lnTo>
                  <a:lnTo>
                    <a:pt x="946" y="78"/>
                  </a:lnTo>
                  <a:lnTo>
                    <a:pt x="948" y="82"/>
                  </a:lnTo>
                  <a:lnTo>
                    <a:pt x="952" y="85"/>
                  </a:lnTo>
                  <a:lnTo>
                    <a:pt x="956" y="88"/>
                  </a:lnTo>
                  <a:lnTo>
                    <a:pt x="960" y="90"/>
                  </a:lnTo>
                  <a:lnTo>
                    <a:pt x="961" y="94"/>
                  </a:lnTo>
                  <a:lnTo>
                    <a:pt x="965" y="96"/>
                  </a:lnTo>
                  <a:lnTo>
                    <a:pt x="968" y="98"/>
                  </a:lnTo>
                  <a:lnTo>
                    <a:pt x="971" y="100"/>
                  </a:lnTo>
                  <a:lnTo>
                    <a:pt x="972" y="103"/>
                  </a:lnTo>
                  <a:lnTo>
                    <a:pt x="974" y="105"/>
                  </a:lnTo>
                  <a:lnTo>
                    <a:pt x="976" y="106"/>
                  </a:lnTo>
                  <a:lnTo>
                    <a:pt x="979" y="108"/>
                  </a:lnTo>
                  <a:lnTo>
                    <a:pt x="981" y="112"/>
                  </a:lnTo>
                  <a:lnTo>
                    <a:pt x="982" y="114"/>
                  </a:lnTo>
                  <a:lnTo>
                    <a:pt x="984" y="116"/>
                  </a:lnTo>
                  <a:lnTo>
                    <a:pt x="988" y="118"/>
                  </a:lnTo>
                  <a:lnTo>
                    <a:pt x="990" y="122"/>
                  </a:lnTo>
                  <a:lnTo>
                    <a:pt x="992" y="124"/>
                  </a:lnTo>
                  <a:lnTo>
                    <a:pt x="994" y="128"/>
                  </a:lnTo>
                  <a:lnTo>
                    <a:pt x="997" y="130"/>
                  </a:lnTo>
                  <a:lnTo>
                    <a:pt x="999" y="133"/>
                  </a:lnTo>
                  <a:lnTo>
                    <a:pt x="1001" y="135"/>
                  </a:lnTo>
                  <a:lnTo>
                    <a:pt x="1002" y="137"/>
                  </a:lnTo>
                  <a:lnTo>
                    <a:pt x="1004" y="139"/>
                  </a:lnTo>
                  <a:lnTo>
                    <a:pt x="1004" y="143"/>
                  </a:lnTo>
                  <a:lnTo>
                    <a:pt x="1006" y="145"/>
                  </a:lnTo>
                  <a:lnTo>
                    <a:pt x="1008" y="149"/>
                  </a:lnTo>
                  <a:lnTo>
                    <a:pt x="1010" y="152"/>
                  </a:lnTo>
                  <a:lnTo>
                    <a:pt x="1012" y="156"/>
                  </a:lnTo>
                  <a:lnTo>
                    <a:pt x="1014" y="160"/>
                  </a:lnTo>
                  <a:lnTo>
                    <a:pt x="1016" y="164"/>
                  </a:lnTo>
                  <a:lnTo>
                    <a:pt x="1018" y="168"/>
                  </a:lnTo>
                  <a:lnTo>
                    <a:pt x="1018" y="173"/>
                  </a:lnTo>
                  <a:lnTo>
                    <a:pt x="1020" y="177"/>
                  </a:lnTo>
                  <a:lnTo>
                    <a:pt x="1022" y="181"/>
                  </a:lnTo>
                  <a:lnTo>
                    <a:pt x="1024" y="185"/>
                  </a:lnTo>
                  <a:lnTo>
                    <a:pt x="1024" y="189"/>
                  </a:lnTo>
                  <a:lnTo>
                    <a:pt x="1026" y="193"/>
                  </a:lnTo>
                  <a:lnTo>
                    <a:pt x="1028" y="196"/>
                  </a:lnTo>
                  <a:lnTo>
                    <a:pt x="1030" y="198"/>
                  </a:lnTo>
                  <a:lnTo>
                    <a:pt x="1030" y="202"/>
                  </a:lnTo>
                  <a:lnTo>
                    <a:pt x="1031" y="204"/>
                  </a:lnTo>
                  <a:lnTo>
                    <a:pt x="1031" y="207"/>
                  </a:lnTo>
                  <a:lnTo>
                    <a:pt x="1033" y="209"/>
                  </a:lnTo>
                  <a:lnTo>
                    <a:pt x="1033" y="212"/>
                  </a:lnTo>
                  <a:lnTo>
                    <a:pt x="1035" y="216"/>
                  </a:lnTo>
                  <a:lnTo>
                    <a:pt x="1036" y="220"/>
                  </a:lnTo>
                  <a:lnTo>
                    <a:pt x="1038" y="221"/>
                  </a:lnTo>
                  <a:lnTo>
                    <a:pt x="1038" y="225"/>
                  </a:lnTo>
                  <a:lnTo>
                    <a:pt x="1040" y="229"/>
                  </a:lnTo>
                  <a:lnTo>
                    <a:pt x="1041" y="232"/>
                  </a:lnTo>
                  <a:lnTo>
                    <a:pt x="1043" y="234"/>
                  </a:lnTo>
                  <a:lnTo>
                    <a:pt x="1043" y="238"/>
                  </a:lnTo>
                  <a:lnTo>
                    <a:pt x="1045" y="240"/>
                  </a:lnTo>
                  <a:lnTo>
                    <a:pt x="1047" y="242"/>
                  </a:lnTo>
                  <a:lnTo>
                    <a:pt x="1049" y="244"/>
                  </a:lnTo>
                  <a:lnTo>
                    <a:pt x="1049" y="248"/>
                  </a:lnTo>
                  <a:lnTo>
                    <a:pt x="1050" y="250"/>
                  </a:lnTo>
                  <a:lnTo>
                    <a:pt x="1052" y="252"/>
                  </a:lnTo>
                  <a:lnTo>
                    <a:pt x="1054" y="254"/>
                  </a:lnTo>
                  <a:lnTo>
                    <a:pt x="1056" y="258"/>
                  </a:lnTo>
                  <a:lnTo>
                    <a:pt x="1058" y="260"/>
                  </a:lnTo>
                  <a:lnTo>
                    <a:pt x="1060" y="264"/>
                  </a:lnTo>
                  <a:lnTo>
                    <a:pt x="1063" y="266"/>
                  </a:lnTo>
                  <a:lnTo>
                    <a:pt x="1065" y="269"/>
                  </a:lnTo>
                  <a:lnTo>
                    <a:pt x="1067" y="271"/>
                  </a:lnTo>
                  <a:lnTo>
                    <a:pt x="1069" y="275"/>
                  </a:lnTo>
                  <a:lnTo>
                    <a:pt x="1070" y="277"/>
                  </a:lnTo>
                  <a:lnTo>
                    <a:pt x="1072" y="281"/>
                  </a:lnTo>
                  <a:lnTo>
                    <a:pt x="1074" y="282"/>
                  </a:lnTo>
                  <a:lnTo>
                    <a:pt x="1076" y="284"/>
                  </a:lnTo>
                  <a:lnTo>
                    <a:pt x="1078" y="286"/>
                  </a:lnTo>
                  <a:lnTo>
                    <a:pt x="1079" y="290"/>
                  </a:lnTo>
                  <a:lnTo>
                    <a:pt x="1080" y="293"/>
                  </a:lnTo>
                  <a:lnTo>
                    <a:pt x="1082" y="298"/>
                  </a:lnTo>
                  <a:lnTo>
                    <a:pt x="1084" y="301"/>
                  </a:lnTo>
                  <a:lnTo>
                    <a:pt x="1086" y="307"/>
                  </a:lnTo>
                  <a:lnTo>
                    <a:pt x="1088" y="310"/>
                  </a:lnTo>
                  <a:lnTo>
                    <a:pt x="1090" y="316"/>
                  </a:lnTo>
                  <a:lnTo>
                    <a:pt x="1092" y="319"/>
                  </a:lnTo>
                  <a:lnTo>
                    <a:pt x="1094" y="325"/>
                  </a:lnTo>
                  <a:lnTo>
                    <a:pt x="1096" y="329"/>
                  </a:lnTo>
                  <a:lnTo>
                    <a:pt x="1097" y="332"/>
                  </a:lnTo>
                  <a:lnTo>
                    <a:pt x="1099" y="336"/>
                  </a:lnTo>
                  <a:lnTo>
                    <a:pt x="1100" y="339"/>
                  </a:lnTo>
                  <a:lnTo>
                    <a:pt x="1102" y="340"/>
                  </a:lnTo>
                  <a:lnTo>
                    <a:pt x="1102" y="342"/>
                  </a:lnTo>
                  <a:lnTo>
                    <a:pt x="1103" y="342"/>
                  </a:lnTo>
                </a:path>
              </a:pathLst>
            </a:custGeom>
            <a:noFill/>
            <a:ln w="3175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7" name="Text Box 65"/>
            <p:cNvSpPr txBox="1">
              <a:spLocks noChangeArrowheads="1"/>
            </p:cNvSpPr>
            <p:nvPr/>
          </p:nvSpPr>
          <p:spPr bwMode="auto">
            <a:xfrm>
              <a:off x="5684838" y="2036763"/>
              <a:ext cx="1128514"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0" hangingPunct="0">
                <a:lnSpc>
                  <a:spcPct val="150000"/>
                </a:lnSpc>
              </a:pPr>
              <a:r>
                <a:rPr lang="zh-CN" altLang="en-US" sz="2200" b="1">
                  <a:solidFill>
                    <a:srgbClr val="FF6600"/>
                  </a:solidFill>
                  <a:latin typeface="微软雅黑" panose="020B0503020204020204" pitchFamily="34" charset="-122"/>
                  <a:ea typeface="微软雅黑" panose="020B0503020204020204" pitchFamily="34" charset="-122"/>
                </a:rPr>
                <a:t>反射信号</a:t>
              </a:r>
            </a:p>
          </p:txBody>
        </p:sp>
        <p:sp>
          <p:nvSpPr>
            <p:cNvPr id="58" name="Line 67"/>
            <p:cNvSpPr>
              <a:spLocks noChangeShapeType="1"/>
            </p:cNvSpPr>
            <p:nvPr/>
          </p:nvSpPr>
          <p:spPr bwMode="auto">
            <a:xfrm flipH="1">
              <a:off x="4495801" y="1433514"/>
              <a:ext cx="2570163" cy="555625"/>
            </a:xfrm>
            <a:prstGeom prst="line">
              <a:avLst/>
            </a:prstGeom>
            <a:noFill/>
            <a:ln w="25400">
              <a:solidFill>
                <a:srgbClr val="FF66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9" name="Line 68"/>
            <p:cNvSpPr>
              <a:spLocks noChangeShapeType="1"/>
            </p:cNvSpPr>
            <p:nvPr/>
          </p:nvSpPr>
          <p:spPr bwMode="auto">
            <a:xfrm flipH="1">
              <a:off x="6627813" y="1433514"/>
              <a:ext cx="666750" cy="2116137"/>
            </a:xfrm>
            <a:prstGeom prst="line">
              <a:avLst/>
            </a:prstGeom>
            <a:noFill/>
            <a:ln w="25400">
              <a:solidFill>
                <a:srgbClr val="FF66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0" name="Line 69"/>
            <p:cNvSpPr>
              <a:spLocks noChangeShapeType="1"/>
            </p:cNvSpPr>
            <p:nvPr/>
          </p:nvSpPr>
          <p:spPr bwMode="auto">
            <a:xfrm>
              <a:off x="7594601" y="1460501"/>
              <a:ext cx="1228725" cy="2043113"/>
            </a:xfrm>
            <a:prstGeom prst="line">
              <a:avLst/>
            </a:prstGeom>
            <a:noFill/>
            <a:ln w="25400">
              <a:solidFill>
                <a:srgbClr val="FF66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1" name="Freeform 70"/>
            <p:cNvSpPr>
              <a:spLocks/>
            </p:cNvSpPr>
            <p:nvPr/>
          </p:nvSpPr>
          <p:spPr bwMode="auto">
            <a:xfrm>
              <a:off x="5630863" y="2286000"/>
              <a:ext cx="419100" cy="406400"/>
            </a:xfrm>
            <a:custGeom>
              <a:avLst/>
              <a:gdLst>
                <a:gd name="T0" fmla="*/ 1 w 291"/>
                <a:gd name="T1" fmla="*/ 0 h 291"/>
                <a:gd name="T2" fmla="*/ 0 w 291"/>
                <a:gd name="T3" fmla="*/ 32 h 291"/>
                <a:gd name="T4" fmla="*/ 1 w 291"/>
                <a:gd name="T5" fmla="*/ 62 h 291"/>
                <a:gd name="T6" fmla="*/ 6 w 291"/>
                <a:gd name="T7" fmla="*/ 91 h 291"/>
                <a:gd name="T8" fmla="*/ 15 w 291"/>
                <a:gd name="T9" fmla="*/ 118 h 291"/>
                <a:gd name="T10" fmla="*/ 26 w 291"/>
                <a:gd name="T11" fmla="*/ 145 h 291"/>
                <a:gd name="T12" fmla="*/ 40 w 291"/>
                <a:gd name="T13" fmla="*/ 170 h 291"/>
                <a:gd name="T14" fmla="*/ 57 w 291"/>
                <a:gd name="T15" fmla="*/ 193 h 291"/>
                <a:gd name="T16" fmla="*/ 77 w 291"/>
                <a:gd name="T17" fmla="*/ 213 h 291"/>
                <a:gd name="T18" fmla="*/ 97 w 291"/>
                <a:gd name="T19" fmla="*/ 233 h 291"/>
                <a:gd name="T20" fmla="*/ 120 w 291"/>
                <a:gd name="T21" fmla="*/ 250 h 291"/>
                <a:gd name="T22" fmla="*/ 145 w 291"/>
                <a:gd name="T23" fmla="*/ 264 h 291"/>
                <a:gd name="T24" fmla="*/ 172 w 291"/>
                <a:gd name="T25" fmla="*/ 275 h 291"/>
                <a:gd name="T26" fmla="*/ 199 w 291"/>
                <a:gd name="T27" fmla="*/ 284 h 291"/>
                <a:gd name="T28" fmla="*/ 228 w 291"/>
                <a:gd name="T29" fmla="*/ 288 h 291"/>
                <a:gd name="T30" fmla="*/ 258 w 291"/>
                <a:gd name="T31" fmla="*/ 290 h 291"/>
                <a:gd name="T32" fmla="*/ 290 w 291"/>
                <a:gd name="T33" fmla="*/ 288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1" h="291">
                  <a:moveTo>
                    <a:pt x="1" y="0"/>
                  </a:moveTo>
                  <a:lnTo>
                    <a:pt x="0" y="32"/>
                  </a:lnTo>
                  <a:lnTo>
                    <a:pt x="1" y="62"/>
                  </a:lnTo>
                  <a:lnTo>
                    <a:pt x="6" y="91"/>
                  </a:lnTo>
                  <a:lnTo>
                    <a:pt x="15" y="118"/>
                  </a:lnTo>
                  <a:lnTo>
                    <a:pt x="26" y="145"/>
                  </a:lnTo>
                  <a:lnTo>
                    <a:pt x="40" y="170"/>
                  </a:lnTo>
                  <a:lnTo>
                    <a:pt x="57" y="193"/>
                  </a:lnTo>
                  <a:lnTo>
                    <a:pt x="77" y="213"/>
                  </a:lnTo>
                  <a:lnTo>
                    <a:pt x="97" y="233"/>
                  </a:lnTo>
                  <a:lnTo>
                    <a:pt x="120" y="250"/>
                  </a:lnTo>
                  <a:lnTo>
                    <a:pt x="145" y="264"/>
                  </a:lnTo>
                  <a:lnTo>
                    <a:pt x="172" y="275"/>
                  </a:lnTo>
                  <a:lnTo>
                    <a:pt x="199" y="284"/>
                  </a:lnTo>
                  <a:lnTo>
                    <a:pt x="228" y="288"/>
                  </a:lnTo>
                  <a:lnTo>
                    <a:pt x="258" y="290"/>
                  </a:lnTo>
                  <a:lnTo>
                    <a:pt x="290" y="288"/>
                  </a:lnTo>
                </a:path>
              </a:pathLst>
            </a:custGeom>
            <a:noFill/>
            <a:ln w="25400" cap="flat" cmpd="sng">
              <a:solidFill>
                <a:srgbClr val="FF6600"/>
              </a:solidFill>
              <a:prstDash val="sysDot"/>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70" name="Text Box 66"/>
          <p:cNvSpPr txBox="1">
            <a:spLocks noChangeArrowheads="1"/>
          </p:cNvSpPr>
          <p:nvPr/>
        </p:nvSpPr>
        <p:spPr bwMode="auto">
          <a:xfrm>
            <a:off x="2946940" y="2364046"/>
            <a:ext cx="5299528" cy="484748"/>
          </a:xfrm>
          <a:prstGeom prst="rect">
            <a:avLst/>
          </a:prstGeom>
          <a:solidFill>
            <a:schemeClr val="bg1">
              <a:lumMod val="95000"/>
            </a:schemeClr>
          </a:solidFill>
          <a:ln>
            <a:solidFill>
              <a:schemeClr val="bg1">
                <a:lumMod val="85000"/>
              </a:schemeClr>
            </a:solidFill>
          </a:ln>
          <a:extLst/>
        </p:spPr>
        <p:style>
          <a:lnRef idx="1">
            <a:schemeClr val="accent3"/>
          </a:lnRef>
          <a:fillRef idx="2">
            <a:schemeClr val="accent3"/>
          </a:fillRef>
          <a:effectRef idx="1">
            <a:schemeClr val="accent3"/>
          </a:effectRef>
          <a:fontRef idx="minor">
            <a:schemeClr val="dk1"/>
          </a:fontRef>
        </p:style>
        <p:txBody>
          <a:bodyPr wrap="none" lIns="0" tIns="0" rIns="0" bIns="0">
            <a:spAutoFit/>
          </a:bodyPr>
          <a:lstStyle/>
          <a:p>
            <a:pPr eaLnBrk="0" hangingPunct="0">
              <a:lnSpc>
                <a:spcPct val="150000"/>
              </a:lnSpc>
            </a:pPr>
            <a:r>
              <a:rPr lang="en-US" altLang="zh-CN" sz="2100" dirty="0">
                <a:latin typeface="微软雅黑" panose="020B0503020204020204" pitchFamily="34" charset="-122"/>
                <a:ea typeface="微软雅黑" panose="020B0503020204020204" pitchFamily="34" charset="-122"/>
              </a:rPr>
              <a:t>  A</a:t>
            </a:r>
            <a:r>
              <a:rPr lang="zh-CN" altLang="en-US" sz="2100" dirty="0">
                <a:latin typeface="微软雅黑" panose="020B0503020204020204" pitchFamily="34" charset="-122"/>
                <a:ea typeface="微软雅黑" panose="020B0503020204020204" pitchFamily="34" charset="-122"/>
              </a:rPr>
              <a:t>接收机信号</a:t>
            </a:r>
            <a:r>
              <a:rPr lang="en-US" altLang="zh-CN" sz="2100" dirty="0">
                <a:latin typeface="微软雅黑" panose="020B0503020204020204" pitchFamily="34" charset="-122"/>
                <a:ea typeface="微软雅黑" panose="020B0503020204020204" pitchFamily="34" charset="-122"/>
              </a:rPr>
              <a:t>= </a:t>
            </a:r>
            <a:r>
              <a:rPr lang="zh-CN" altLang="en-US" sz="2100" dirty="0">
                <a:latin typeface="微软雅黑" panose="020B0503020204020204" pitchFamily="34" charset="-122"/>
                <a:ea typeface="微软雅黑" panose="020B0503020204020204" pitchFamily="34" charset="-122"/>
              </a:rPr>
              <a:t>被测件反射信号</a:t>
            </a:r>
            <a:r>
              <a:rPr lang="en-US" altLang="zh-CN" sz="2100" dirty="0">
                <a:latin typeface="微软雅黑" panose="020B0503020204020204" pitchFamily="34" charset="-122"/>
                <a:ea typeface="微软雅黑" panose="020B0503020204020204" pitchFamily="34" charset="-122"/>
              </a:rPr>
              <a:t>+</a:t>
            </a:r>
            <a:r>
              <a:rPr lang="zh-CN" altLang="en-US" sz="2100" dirty="0">
                <a:latin typeface="微软雅黑" panose="020B0503020204020204" pitchFamily="34" charset="-122"/>
                <a:ea typeface="微软雅黑" panose="020B0503020204020204" pitchFamily="34" charset="-122"/>
              </a:rPr>
              <a:t>误差信号  </a:t>
            </a:r>
          </a:p>
        </p:txBody>
      </p:sp>
      <p:sp>
        <p:nvSpPr>
          <p:cNvPr id="71" name="Text Box 53"/>
          <p:cNvSpPr txBox="1">
            <a:spLocks noChangeArrowheads="1"/>
          </p:cNvSpPr>
          <p:nvPr/>
        </p:nvSpPr>
        <p:spPr bwMode="auto">
          <a:xfrm>
            <a:off x="9139038" y="2364046"/>
            <a:ext cx="2478881" cy="1103946"/>
          </a:xfrm>
          <a:prstGeom prst="rect">
            <a:avLst/>
          </a:prstGeom>
          <a:solidFill>
            <a:schemeClr val="bg1">
              <a:lumMod val="95000"/>
            </a:schemeClr>
          </a:solidFill>
          <a:ln>
            <a:solidFill>
              <a:schemeClr val="bg1">
                <a:lumMod val="85000"/>
              </a:schemeClr>
            </a:solidFill>
          </a:ln>
          <a:extLst/>
        </p:spPr>
        <p:style>
          <a:lnRef idx="2">
            <a:schemeClr val="accent3">
              <a:shade val="50000"/>
            </a:schemeClr>
          </a:lnRef>
          <a:fillRef idx="1">
            <a:schemeClr val="accent3"/>
          </a:fillRef>
          <a:effectRef idx="0">
            <a:schemeClr val="accent3"/>
          </a:effectRef>
          <a:fontRef idx="minor">
            <a:schemeClr val="lt1"/>
          </a:fontRef>
        </p:style>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573088" indent="-163513" defTabSz="409575">
              <a:defRPr>
                <a:solidFill>
                  <a:schemeClr val="tx1"/>
                </a:solidFill>
                <a:latin typeface="Arial" panose="020B0604020202020204" pitchFamily="34" charset="0"/>
                <a:ea typeface="宋体" panose="02010600030101010101" pitchFamily="2" charset="-122"/>
              </a:defRPr>
            </a:lvl2pPr>
            <a:lvl3pPr marL="915988" indent="-95250"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eaLnBrk="0" hangingPunct="0">
              <a:lnSpc>
                <a:spcPct val="150000"/>
              </a:lnSpc>
              <a:buClr>
                <a:srgbClr val="000000"/>
              </a:buClr>
              <a:buSzPct val="90000"/>
              <a:buFont typeface="Arial" panose="020B0604020202020204" pitchFamily="34" charset="0"/>
              <a:buChar char="•"/>
            </a:pPr>
            <a:r>
              <a:rPr lang="zh-CN" altLang="en-US" dirty="0" smtClean="0">
                <a:latin typeface="微软雅黑" panose="020B0503020204020204" pitchFamily="34" charset="-122"/>
                <a:ea typeface="微软雅黑" panose="020B0503020204020204" pitchFamily="34" charset="-122"/>
              </a:rPr>
              <a:t>频率响应</a:t>
            </a:r>
            <a:r>
              <a:rPr lang="zh-CN" altLang="en-US" dirty="0">
                <a:latin typeface="微软雅黑" panose="020B0503020204020204" pitchFamily="34" charset="-122"/>
                <a:ea typeface="微软雅黑" panose="020B0503020204020204" pitchFamily="34" charset="-122"/>
              </a:rPr>
              <a:t>误差</a:t>
            </a:r>
          </a:p>
          <a:p>
            <a:pPr lvl="1" eaLnBrk="0" hangingPunct="0">
              <a:lnSpc>
                <a:spcPct val="150000"/>
              </a:lnSpc>
              <a:buClr>
                <a:srgbClr val="000000"/>
              </a:buClr>
              <a:buSzPct val="46000"/>
              <a:buFont typeface="Monotype Sorts" pitchFamily="2" charset="2"/>
              <a:buChar char="l"/>
            </a:pPr>
            <a:r>
              <a:rPr lang="zh-CN" altLang="en-US" sz="1600" dirty="0">
                <a:latin typeface="微软雅黑" panose="020B0503020204020204" pitchFamily="34" charset="-122"/>
                <a:ea typeface="微软雅黑" panose="020B0503020204020204" pitchFamily="34" charset="-122"/>
              </a:rPr>
              <a:t>反射跟踪误差</a:t>
            </a:r>
          </a:p>
          <a:p>
            <a:pPr lvl="1" eaLnBrk="0" hangingPunct="0">
              <a:lnSpc>
                <a:spcPct val="150000"/>
              </a:lnSpc>
              <a:buClr>
                <a:srgbClr val="000000"/>
              </a:buClr>
              <a:buSzPct val="46000"/>
              <a:buFont typeface="Monotype Sorts" pitchFamily="2" charset="2"/>
              <a:buChar char="l"/>
            </a:pPr>
            <a:r>
              <a:rPr lang="zh-CN" altLang="en-US" sz="1600" dirty="0">
                <a:latin typeface="微软雅黑" panose="020B0503020204020204" pitchFamily="34" charset="-122"/>
                <a:ea typeface="微软雅黑" panose="020B0503020204020204" pitchFamily="34" charset="-122"/>
              </a:rPr>
              <a:t>传输跟踪误差</a:t>
            </a:r>
          </a:p>
        </p:txBody>
      </p:sp>
      <p:sp>
        <p:nvSpPr>
          <p:cNvPr id="72" name="Text Box 63"/>
          <p:cNvSpPr txBox="1">
            <a:spLocks noChangeArrowheads="1"/>
          </p:cNvSpPr>
          <p:nvPr/>
        </p:nvSpPr>
        <p:spPr bwMode="auto">
          <a:xfrm>
            <a:off x="9139038" y="3698718"/>
            <a:ext cx="2478881" cy="1103946"/>
          </a:xfrm>
          <a:prstGeom prst="rect">
            <a:avLst/>
          </a:prstGeom>
          <a:solidFill>
            <a:schemeClr val="bg1">
              <a:lumMod val="95000"/>
            </a:schemeClr>
          </a:solidFill>
          <a:ln>
            <a:solidFill>
              <a:schemeClr val="bg1">
                <a:lumMod val="85000"/>
              </a:schemeClr>
            </a:solidFill>
          </a:ln>
          <a:extLst/>
        </p:spPr>
        <p:style>
          <a:lnRef idx="2">
            <a:schemeClr val="accent3">
              <a:shade val="50000"/>
            </a:schemeClr>
          </a:lnRef>
          <a:fillRef idx="1">
            <a:schemeClr val="accent3"/>
          </a:fillRef>
          <a:effectRef idx="0">
            <a:schemeClr val="accent3"/>
          </a:effectRef>
          <a:fontRef idx="minor">
            <a:schemeClr val="lt1"/>
          </a:fontRef>
        </p:style>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573088" indent="-163513" defTabSz="409575">
              <a:defRPr>
                <a:solidFill>
                  <a:schemeClr val="tx1"/>
                </a:solidFill>
                <a:latin typeface="Arial" panose="020B0604020202020204" pitchFamily="34" charset="0"/>
                <a:ea typeface="宋体" panose="02010600030101010101" pitchFamily="2" charset="-122"/>
              </a:defRPr>
            </a:lvl2pPr>
            <a:lvl3pPr marL="915988" indent="-95250"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eaLnBrk="0" hangingPunct="0">
              <a:lnSpc>
                <a:spcPct val="150000"/>
              </a:lnSpc>
              <a:buClr>
                <a:srgbClr val="000000"/>
              </a:buClr>
              <a:buSzPct val="90000"/>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单端口共  </a:t>
            </a:r>
            <a:r>
              <a:rPr lang="en-US" altLang="zh-CN" sz="1600" dirty="0">
                <a:latin typeface="微软雅黑" panose="020B0503020204020204" pitchFamily="34" charset="-122"/>
                <a:ea typeface="微软雅黑" panose="020B0503020204020204" pitchFamily="34" charset="-122"/>
              </a:rPr>
              <a:t>6 </a:t>
            </a:r>
            <a:r>
              <a:rPr lang="zh-CN" altLang="en-US" sz="1600" dirty="0">
                <a:latin typeface="微软雅黑" panose="020B0503020204020204" pitchFamily="34" charset="-122"/>
                <a:ea typeface="微软雅黑" panose="020B0503020204020204" pitchFamily="34" charset="-122"/>
              </a:rPr>
              <a:t>项误差</a:t>
            </a:r>
          </a:p>
          <a:p>
            <a:pPr marL="285750" indent="-285750" eaLnBrk="0" hangingPunct="0">
              <a:lnSpc>
                <a:spcPct val="150000"/>
              </a:lnSpc>
              <a:buClr>
                <a:srgbClr val="000000"/>
              </a:buClr>
              <a:buSzPct val="9000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  双端口共 </a:t>
            </a:r>
            <a:r>
              <a:rPr lang="en-US" altLang="zh-CN" sz="1600" dirty="0">
                <a:latin typeface="微软雅黑" panose="020B0503020204020204" pitchFamily="34" charset="-122"/>
                <a:ea typeface="微软雅黑" panose="020B0503020204020204" pitchFamily="34" charset="-122"/>
              </a:rPr>
              <a:t>12 </a:t>
            </a:r>
            <a:r>
              <a:rPr lang="zh-CN" altLang="en-US" sz="1600" dirty="0">
                <a:latin typeface="微软雅黑" panose="020B0503020204020204" pitchFamily="34" charset="-122"/>
                <a:ea typeface="微软雅黑" panose="020B0503020204020204" pitchFamily="34" charset="-122"/>
              </a:rPr>
              <a:t>项误差 </a:t>
            </a:r>
          </a:p>
        </p:txBody>
      </p:sp>
    </p:spTree>
    <p:extLst>
      <p:ext uri="{BB962C8B-B14F-4D97-AF65-F5344CB8AC3E}">
        <p14:creationId xmlns:p14="http://schemas.microsoft.com/office/powerpoint/2010/main" val="249597561"/>
      </p:ext>
    </p:extLst>
  </p:cSld>
  <p:clrMapOvr>
    <a:masterClrMapping/>
  </p:clrMapOvr>
  <p:transition spd="slow">
    <p:push di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校准的基本</a:t>
            </a:r>
            <a:r>
              <a:rPr lang="zh-CN" altLang="en-US" dirty="0" smtClean="0"/>
              <a:t>分类</a:t>
            </a:r>
            <a:endParaRPr lang="zh-CN" altLang="en-US" dirty="0"/>
          </a:p>
        </p:txBody>
      </p:sp>
      <p:sp>
        <p:nvSpPr>
          <p:cNvPr id="96" name="内容占位符 95"/>
          <p:cNvSpPr>
            <a:spLocks noGrp="1"/>
          </p:cNvSpPr>
          <p:nvPr>
            <p:ph idx="1"/>
          </p:nvPr>
        </p:nvSpPr>
        <p:spPr/>
        <p:txBody>
          <a:bodyPr>
            <a:normAutofit fontScale="85000" lnSpcReduction="20000"/>
          </a:bodyPr>
          <a:lstStyle/>
          <a:p>
            <a:r>
              <a:rPr lang="zh-CN" altLang="en-US" dirty="0"/>
              <a:t>频响校准 </a:t>
            </a:r>
            <a:r>
              <a:rPr lang="en-US" altLang="zh-CN" dirty="0"/>
              <a:t>(response</a:t>
            </a:r>
            <a:r>
              <a:rPr lang="zh-CN" altLang="en-US" dirty="0"/>
              <a:t>校准</a:t>
            </a:r>
            <a:r>
              <a:rPr lang="en-US" altLang="zh-CN" dirty="0"/>
              <a:t>)=</a:t>
            </a:r>
            <a:r>
              <a:rPr lang="zh-CN" altLang="en-US" dirty="0"/>
              <a:t>归一化处理</a:t>
            </a:r>
            <a:r>
              <a:rPr lang="en-US" altLang="zh-CN" dirty="0"/>
              <a:t>(normalization)</a:t>
            </a:r>
          </a:p>
          <a:p>
            <a:pPr lvl="1"/>
            <a:r>
              <a:rPr lang="en-US" altLang="zh-CN" dirty="0"/>
              <a:t> </a:t>
            </a:r>
            <a:r>
              <a:rPr lang="zh-CN" altLang="en-US" dirty="0"/>
              <a:t>简单</a:t>
            </a:r>
          </a:p>
          <a:p>
            <a:pPr lvl="1"/>
            <a:r>
              <a:rPr lang="zh-CN" altLang="en-US" dirty="0"/>
              <a:t> 只能消除跟踪误差</a:t>
            </a:r>
            <a:r>
              <a:rPr lang="en-US" altLang="zh-CN" dirty="0"/>
              <a:t>(</a:t>
            </a:r>
            <a:r>
              <a:rPr lang="zh-CN" altLang="en-US" dirty="0"/>
              <a:t>频响误差</a:t>
            </a:r>
            <a:r>
              <a:rPr lang="en-US" altLang="zh-CN" dirty="0"/>
              <a:t>)</a:t>
            </a:r>
          </a:p>
          <a:p>
            <a:pPr lvl="1"/>
            <a:r>
              <a:rPr lang="en-US" altLang="zh-CN" dirty="0"/>
              <a:t> </a:t>
            </a:r>
            <a:r>
              <a:rPr lang="zh-CN" altLang="en-US" dirty="0"/>
              <a:t>相当于归一化处理</a:t>
            </a:r>
            <a:r>
              <a:rPr lang="en-US" altLang="zh-CN" dirty="0"/>
              <a:t>(</a:t>
            </a:r>
            <a:r>
              <a:rPr lang="en-US" altLang="zh-CN" dirty="0" err="1"/>
              <a:t>Datamem</a:t>
            </a:r>
            <a:r>
              <a:rPr lang="en-US" altLang="zh-CN" dirty="0"/>
              <a:t>, Data/mem)</a:t>
            </a:r>
          </a:p>
          <a:p>
            <a:endParaRPr lang="en-US" altLang="zh-CN" dirty="0"/>
          </a:p>
          <a:p>
            <a:r>
              <a:rPr lang="en-US" altLang="zh-CN" dirty="0"/>
              <a:t> </a:t>
            </a:r>
            <a:r>
              <a:rPr lang="zh-CN" altLang="en-US" dirty="0"/>
              <a:t>矢量校准</a:t>
            </a:r>
          </a:p>
          <a:p>
            <a:pPr lvl="1"/>
            <a:r>
              <a:rPr lang="zh-CN" altLang="en-US" dirty="0"/>
              <a:t>需要测试更多校准件</a:t>
            </a:r>
          </a:p>
          <a:p>
            <a:pPr lvl="1"/>
            <a:r>
              <a:rPr lang="zh-CN" altLang="en-US" dirty="0"/>
              <a:t>可消除更多误差项目</a:t>
            </a:r>
          </a:p>
          <a:p>
            <a:pPr lvl="1"/>
            <a:r>
              <a:rPr lang="zh-CN" altLang="en-US" dirty="0"/>
              <a:t>要求矢量测试能力</a:t>
            </a:r>
          </a:p>
          <a:p>
            <a:endParaRPr lang="zh-CN" altLang="en-US" dirty="0"/>
          </a:p>
        </p:txBody>
      </p:sp>
      <p:sp>
        <p:nvSpPr>
          <p:cNvPr id="97" name="日期占位符 96"/>
          <p:cNvSpPr>
            <a:spLocks noGrp="1"/>
          </p:cNvSpPr>
          <p:nvPr>
            <p:ph type="dt" sz="half" idx="10"/>
          </p:nvPr>
        </p:nvSpPr>
        <p:spPr/>
        <p:txBody>
          <a:bodyPr/>
          <a:lstStyle/>
          <a:p>
            <a:fld id="{9E087A81-5E1B-4273-B400-FAA56EDD58A1}" type="datetime3">
              <a:rPr lang="zh-CN" altLang="en-US" smtClean="0"/>
              <a:t>2019年5月6日星期一</a:t>
            </a:fld>
            <a:endParaRPr lang="zh-CN" altLang="en-US"/>
          </a:p>
        </p:txBody>
      </p:sp>
      <p:sp>
        <p:nvSpPr>
          <p:cNvPr id="98" name="页脚占位符 97"/>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99" name="灯片编号占位符 98"/>
          <p:cNvSpPr>
            <a:spLocks noGrp="1"/>
          </p:cNvSpPr>
          <p:nvPr>
            <p:ph type="sldNum" sz="quarter" idx="12"/>
          </p:nvPr>
        </p:nvSpPr>
        <p:spPr/>
        <p:txBody>
          <a:bodyPr/>
          <a:lstStyle/>
          <a:p>
            <a:fld id="{D5BA5A3D-E723-4639-877B-B187790AC552}" type="slidenum">
              <a:rPr lang="zh-CN" altLang="en-US" smtClean="0"/>
              <a:pPr/>
              <a:t>17</a:t>
            </a:fld>
            <a:endParaRPr lang="zh-CN" altLang="en-US"/>
          </a:p>
        </p:txBody>
      </p:sp>
      <p:grpSp>
        <p:nvGrpSpPr>
          <p:cNvPr id="4" name="组合 3"/>
          <p:cNvGrpSpPr/>
          <p:nvPr/>
        </p:nvGrpSpPr>
        <p:grpSpPr>
          <a:xfrm>
            <a:off x="7815263" y="3936206"/>
            <a:ext cx="3538537" cy="2555875"/>
            <a:chOff x="6872289" y="3025776"/>
            <a:chExt cx="3538537" cy="2555875"/>
          </a:xfrm>
        </p:grpSpPr>
        <p:grpSp>
          <p:nvGrpSpPr>
            <p:cNvPr id="5" name="Group 3"/>
            <p:cNvGrpSpPr>
              <a:grpSpLocks/>
            </p:cNvGrpSpPr>
            <p:nvPr/>
          </p:nvGrpSpPr>
          <p:grpSpPr bwMode="auto">
            <a:xfrm>
              <a:off x="8847139" y="3324226"/>
              <a:ext cx="1563687" cy="1674813"/>
              <a:chOff x="1000" y="3412"/>
              <a:chExt cx="1184" cy="1306"/>
            </a:xfrm>
          </p:grpSpPr>
          <p:sp>
            <p:nvSpPr>
              <p:cNvPr id="82" name="Line 4"/>
              <p:cNvSpPr>
                <a:spLocks noChangeShapeType="1"/>
              </p:cNvSpPr>
              <p:nvPr/>
            </p:nvSpPr>
            <p:spPr bwMode="auto">
              <a:xfrm flipV="1">
                <a:off x="1219" y="3955"/>
                <a:ext cx="310" cy="757"/>
              </a:xfrm>
              <a:prstGeom prst="line">
                <a:avLst/>
              </a:prstGeom>
              <a:noFill/>
              <a:ln w="317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83" name="Line 5"/>
              <p:cNvSpPr>
                <a:spLocks noChangeShapeType="1"/>
              </p:cNvSpPr>
              <p:nvPr/>
            </p:nvSpPr>
            <p:spPr bwMode="auto">
              <a:xfrm flipH="1" flipV="1">
                <a:off x="1484" y="3444"/>
                <a:ext cx="53" cy="467"/>
              </a:xfrm>
              <a:prstGeom prst="line">
                <a:avLst/>
              </a:prstGeom>
              <a:noFill/>
              <a:ln w="317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84" name="Line 6"/>
              <p:cNvSpPr>
                <a:spLocks noChangeShapeType="1"/>
              </p:cNvSpPr>
              <p:nvPr/>
            </p:nvSpPr>
            <p:spPr bwMode="auto">
              <a:xfrm>
                <a:off x="1484" y="3412"/>
                <a:ext cx="612" cy="146"/>
              </a:xfrm>
              <a:prstGeom prst="line">
                <a:avLst/>
              </a:prstGeom>
              <a:noFill/>
              <a:ln w="317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85" name="Line 7"/>
              <p:cNvSpPr>
                <a:spLocks noChangeShapeType="1"/>
              </p:cNvSpPr>
              <p:nvPr/>
            </p:nvSpPr>
            <p:spPr bwMode="auto">
              <a:xfrm>
                <a:off x="2133" y="3572"/>
                <a:ext cx="50" cy="308"/>
              </a:xfrm>
              <a:prstGeom prst="line">
                <a:avLst/>
              </a:prstGeom>
              <a:noFill/>
              <a:ln w="317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sp>
            <p:nvSpPr>
              <p:cNvPr id="86" name="Line 8"/>
              <p:cNvSpPr>
                <a:spLocks noChangeShapeType="1"/>
              </p:cNvSpPr>
              <p:nvPr/>
            </p:nvSpPr>
            <p:spPr bwMode="auto">
              <a:xfrm flipV="1">
                <a:off x="1214" y="3942"/>
                <a:ext cx="946" cy="776"/>
              </a:xfrm>
              <a:prstGeom prst="line">
                <a:avLst/>
              </a:prstGeom>
              <a:noFill/>
              <a:ln w="317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nSpc>
                    <a:spcPct val="150000"/>
                  </a:lnSpc>
                </a:pPr>
                <a:endParaRPr lang="zh-CN" altLang="en-US"/>
              </a:p>
            </p:txBody>
          </p:sp>
          <p:grpSp>
            <p:nvGrpSpPr>
              <p:cNvPr id="87" name="Group 9"/>
              <p:cNvGrpSpPr>
                <a:grpSpLocks/>
              </p:cNvGrpSpPr>
              <p:nvPr/>
            </p:nvGrpSpPr>
            <p:grpSpPr bwMode="auto">
              <a:xfrm>
                <a:off x="1825" y="4310"/>
                <a:ext cx="359" cy="298"/>
                <a:chOff x="1825" y="4310"/>
                <a:chExt cx="359" cy="298"/>
              </a:xfrm>
            </p:grpSpPr>
            <p:sp>
              <p:nvSpPr>
                <p:cNvPr id="92" name="Text Box 10"/>
                <p:cNvSpPr txBox="1">
                  <a:spLocks noChangeArrowheads="1"/>
                </p:cNvSpPr>
                <p:nvPr/>
              </p:nvSpPr>
              <p:spPr bwMode="auto">
                <a:xfrm>
                  <a:off x="1825" y="4310"/>
                  <a:ext cx="143"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2000">
                      <a:solidFill>
                        <a:srgbClr val="0000FF"/>
                      </a:solidFill>
                    </a:rPr>
                    <a:t>S</a:t>
                  </a:r>
                  <a:endParaRPr lang="en-US" altLang="zh-CN" sz="2200">
                    <a:latin typeface="Times New Roman" panose="02020603050405020304" pitchFamily="18" charset="0"/>
                  </a:endParaRPr>
                </a:p>
              </p:txBody>
            </p:sp>
            <p:sp>
              <p:nvSpPr>
                <p:cNvPr id="93" name="Text Box 11"/>
                <p:cNvSpPr txBox="1">
                  <a:spLocks noChangeArrowheads="1"/>
                </p:cNvSpPr>
                <p:nvPr/>
              </p:nvSpPr>
              <p:spPr bwMode="auto">
                <a:xfrm>
                  <a:off x="1937" y="4419"/>
                  <a:ext cx="158" cy="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1300">
                      <a:solidFill>
                        <a:srgbClr val="0000FF"/>
                      </a:solidFill>
                    </a:rPr>
                    <a:t>11</a:t>
                  </a:r>
                  <a:endParaRPr lang="en-US" altLang="zh-CN" sz="2200">
                    <a:latin typeface="Times New Roman" panose="02020603050405020304" pitchFamily="18" charset="0"/>
                  </a:endParaRPr>
                </a:p>
              </p:txBody>
            </p:sp>
            <p:sp>
              <p:nvSpPr>
                <p:cNvPr id="94" name="Text Box 12"/>
                <p:cNvSpPr txBox="1">
                  <a:spLocks noChangeArrowheads="1"/>
                </p:cNvSpPr>
                <p:nvPr/>
              </p:nvSpPr>
              <p:spPr bwMode="auto">
                <a:xfrm>
                  <a:off x="2061" y="4484"/>
                  <a:ext cx="123" cy="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1000">
                      <a:solidFill>
                        <a:srgbClr val="0000FF"/>
                      </a:solidFill>
                    </a:rPr>
                    <a:t>M</a:t>
                  </a:r>
                  <a:endParaRPr lang="en-US" altLang="zh-CN" sz="2200">
                    <a:latin typeface="Times New Roman" panose="02020603050405020304" pitchFamily="18" charset="0"/>
                  </a:endParaRPr>
                </a:p>
              </p:txBody>
            </p:sp>
          </p:grpSp>
          <p:grpSp>
            <p:nvGrpSpPr>
              <p:cNvPr id="88" name="Group 13"/>
              <p:cNvGrpSpPr>
                <a:grpSpLocks/>
              </p:cNvGrpSpPr>
              <p:nvPr/>
            </p:nvGrpSpPr>
            <p:grpSpPr bwMode="auto">
              <a:xfrm>
                <a:off x="1000" y="4025"/>
                <a:ext cx="357" cy="298"/>
                <a:chOff x="1000" y="4025"/>
                <a:chExt cx="357" cy="298"/>
              </a:xfrm>
            </p:grpSpPr>
            <p:sp>
              <p:nvSpPr>
                <p:cNvPr id="89" name="Text Box 14"/>
                <p:cNvSpPr txBox="1">
                  <a:spLocks noChangeArrowheads="1"/>
                </p:cNvSpPr>
                <p:nvPr/>
              </p:nvSpPr>
              <p:spPr bwMode="auto">
                <a:xfrm>
                  <a:off x="1000" y="4025"/>
                  <a:ext cx="143" cy="2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2000">
                      <a:solidFill>
                        <a:srgbClr val="000000"/>
                      </a:solidFill>
                    </a:rPr>
                    <a:t>S</a:t>
                  </a:r>
                  <a:endParaRPr lang="en-US" altLang="zh-CN" sz="2200">
                    <a:latin typeface="Times New Roman" panose="02020603050405020304" pitchFamily="18" charset="0"/>
                  </a:endParaRPr>
                </a:p>
              </p:txBody>
            </p:sp>
            <p:sp>
              <p:nvSpPr>
                <p:cNvPr id="90" name="Text Box 15"/>
                <p:cNvSpPr txBox="1">
                  <a:spLocks noChangeArrowheads="1"/>
                </p:cNvSpPr>
                <p:nvPr/>
              </p:nvSpPr>
              <p:spPr bwMode="auto">
                <a:xfrm>
                  <a:off x="1117" y="4142"/>
                  <a:ext cx="143" cy="1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1300">
                      <a:solidFill>
                        <a:srgbClr val="000000"/>
                      </a:solidFill>
                    </a:rPr>
                    <a:t>11</a:t>
                  </a:r>
                  <a:endParaRPr lang="en-US" altLang="zh-CN" sz="2200">
                    <a:latin typeface="Times New Roman" panose="02020603050405020304" pitchFamily="18" charset="0"/>
                  </a:endParaRPr>
                </a:p>
              </p:txBody>
            </p:sp>
            <p:sp>
              <p:nvSpPr>
                <p:cNvPr id="91" name="Text Box 16"/>
                <p:cNvSpPr txBox="1">
                  <a:spLocks noChangeArrowheads="1"/>
                </p:cNvSpPr>
                <p:nvPr/>
              </p:nvSpPr>
              <p:spPr bwMode="auto">
                <a:xfrm>
                  <a:off x="1235" y="4200"/>
                  <a:ext cx="122" cy="12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104160"/>
                    </a:buClr>
                    <a:buSzPct val="90000"/>
                    <a:buFont typeface="Monotype Sorts" pitchFamily="2" charset="2"/>
                    <a:buNone/>
                  </a:pPr>
                  <a:r>
                    <a:rPr lang="en-US" altLang="zh-CN" sz="1000">
                      <a:solidFill>
                        <a:srgbClr val="000000"/>
                      </a:solidFill>
                    </a:rPr>
                    <a:t>A</a:t>
                  </a:r>
                  <a:endParaRPr lang="en-US" altLang="zh-CN" sz="2200">
                    <a:latin typeface="Times New Roman" panose="02020603050405020304" pitchFamily="18" charset="0"/>
                  </a:endParaRPr>
                </a:p>
              </p:txBody>
            </p:sp>
          </p:grpSp>
        </p:grpSp>
        <p:sp>
          <p:nvSpPr>
            <p:cNvPr id="6" name="AutoShape 17"/>
            <p:cNvSpPr>
              <a:spLocks noChangeArrowheads="1"/>
            </p:cNvSpPr>
            <p:nvPr/>
          </p:nvSpPr>
          <p:spPr bwMode="auto">
            <a:xfrm flipV="1">
              <a:off x="6892926" y="3756025"/>
              <a:ext cx="511175" cy="254000"/>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7" name="AutoShape 18"/>
            <p:cNvSpPr>
              <a:spLocks noChangeArrowheads="1"/>
            </p:cNvSpPr>
            <p:nvPr/>
          </p:nvSpPr>
          <p:spPr bwMode="auto">
            <a:xfrm flipV="1">
              <a:off x="7404100" y="3768725"/>
              <a:ext cx="242888" cy="173038"/>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8" name="AutoShape 19"/>
            <p:cNvSpPr>
              <a:spLocks noChangeArrowheads="1"/>
            </p:cNvSpPr>
            <p:nvPr/>
          </p:nvSpPr>
          <p:spPr bwMode="auto">
            <a:xfrm flipV="1">
              <a:off x="7643813" y="3813176"/>
              <a:ext cx="120650" cy="87313"/>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9" name="Line 20"/>
            <p:cNvSpPr>
              <a:spLocks noChangeShapeType="1"/>
            </p:cNvSpPr>
            <p:nvPr/>
          </p:nvSpPr>
          <p:spPr bwMode="auto">
            <a:xfrm>
              <a:off x="7656513" y="3821113"/>
              <a:ext cx="4762"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0" name="Line 21"/>
            <p:cNvSpPr>
              <a:spLocks noChangeShapeType="1"/>
            </p:cNvSpPr>
            <p:nvPr/>
          </p:nvSpPr>
          <p:spPr bwMode="auto">
            <a:xfrm>
              <a:off x="7672388" y="3821113"/>
              <a:ext cx="4762"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1" name="Line 22"/>
            <p:cNvSpPr>
              <a:spLocks noChangeShapeType="1"/>
            </p:cNvSpPr>
            <p:nvPr/>
          </p:nvSpPr>
          <p:spPr bwMode="auto">
            <a:xfrm>
              <a:off x="7686675" y="3819525"/>
              <a:ext cx="6350"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2" name="Line 23"/>
            <p:cNvSpPr>
              <a:spLocks noChangeShapeType="1"/>
            </p:cNvSpPr>
            <p:nvPr/>
          </p:nvSpPr>
          <p:spPr bwMode="auto">
            <a:xfrm>
              <a:off x="7702551" y="3819526"/>
              <a:ext cx="4763"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3" name="Line 24"/>
            <p:cNvSpPr>
              <a:spLocks noChangeShapeType="1"/>
            </p:cNvSpPr>
            <p:nvPr/>
          </p:nvSpPr>
          <p:spPr bwMode="auto">
            <a:xfrm>
              <a:off x="7716838" y="3821113"/>
              <a:ext cx="4762"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4" name="Line 25"/>
            <p:cNvSpPr>
              <a:spLocks noChangeShapeType="1"/>
            </p:cNvSpPr>
            <p:nvPr/>
          </p:nvSpPr>
          <p:spPr bwMode="auto">
            <a:xfrm>
              <a:off x="7734301" y="3821113"/>
              <a:ext cx="4763"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5" name="Line 26"/>
            <p:cNvSpPr>
              <a:spLocks noChangeShapeType="1"/>
            </p:cNvSpPr>
            <p:nvPr/>
          </p:nvSpPr>
          <p:spPr bwMode="auto">
            <a:xfrm>
              <a:off x="7748588" y="3819525"/>
              <a:ext cx="4762"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6" name="AutoShape 27"/>
            <p:cNvSpPr>
              <a:spLocks noChangeArrowheads="1"/>
            </p:cNvSpPr>
            <p:nvPr/>
          </p:nvSpPr>
          <p:spPr bwMode="auto">
            <a:xfrm flipV="1">
              <a:off x="6872289" y="3662364"/>
              <a:ext cx="511175" cy="307975"/>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7" name="AutoShape 28"/>
            <p:cNvSpPr>
              <a:spLocks noChangeArrowheads="1"/>
            </p:cNvSpPr>
            <p:nvPr/>
          </p:nvSpPr>
          <p:spPr bwMode="auto">
            <a:xfrm flipV="1">
              <a:off x="7383464" y="3730626"/>
              <a:ext cx="242887" cy="169863"/>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8" name="AutoShape 29"/>
            <p:cNvSpPr>
              <a:spLocks noChangeArrowheads="1"/>
            </p:cNvSpPr>
            <p:nvPr/>
          </p:nvSpPr>
          <p:spPr bwMode="auto">
            <a:xfrm flipV="1">
              <a:off x="7626351" y="3771901"/>
              <a:ext cx="119063" cy="87313"/>
            </a:xfrm>
            <a:prstGeom prst="roundRect">
              <a:avLst>
                <a:gd name="adj" fmla="val 0"/>
              </a:avLst>
            </a:prstGeom>
            <a:gradFill rotWithShape="0">
              <a:gsLst>
                <a:gs pos="0">
                  <a:srgbClr val="C0C0C0"/>
                </a:gs>
                <a:gs pos="50000">
                  <a:srgbClr val="EFEFEF"/>
                </a:gs>
                <a:gs pos="100000">
                  <a:srgbClr val="C0C0C0"/>
                </a:gs>
              </a:gsLst>
              <a:lin ang="189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9" name="Line 30"/>
            <p:cNvSpPr>
              <a:spLocks noChangeShapeType="1"/>
            </p:cNvSpPr>
            <p:nvPr/>
          </p:nvSpPr>
          <p:spPr bwMode="auto">
            <a:xfrm>
              <a:off x="7637463" y="3781426"/>
              <a:ext cx="4762"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0" name="Line 31"/>
            <p:cNvSpPr>
              <a:spLocks noChangeShapeType="1"/>
            </p:cNvSpPr>
            <p:nvPr/>
          </p:nvSpPr>
          <p:spPr bwMode="auto">
            <a:xfrm>
              <a:off x="7653339" y="3781426"/>
              <a:ext cx="3175"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1" name="Line 32"/>
            <p:cNvSpPr>
              <a:spLocks noChangeShapeType="1"/>
            </p:cNvSpPr>
            <p:nvPr/>
          </p:nvSpPr>
          <p:spPr bwMode="auto">
            <a:xfrm>
              <a:off x="7667626" y="3781426"/>
              <a:ext cx="4763"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2" name="Line 33"/>
            <p:cNvSpPr>
              <a:spLocks noChangeShapeType="1"/>
            </p:cNvSpPr>
            <p:nvPr/>
          </p:nvSpPr>
          <p:spPr bwMode="auto">
            <a:xfrm>
              <a:off x="7681913" y="3781426"/>
              <a:ext cx="4762"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3" name="Line 34"/>
            <p:cNvSpPr>
              <a:spLocks noChangeShapeType="1"/>
            </p:cNvSpPr>
            <p:nvPr/>
          </p:nvSpPr>
          <p:spPr bwMode="auto">
            <a:xfrm>
              <a:off x="7697788" y="3781426"/>
              <a:ext cx="4762"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4" name="Line 35"/>
            <p:cNvSpPr>
              <a:spLocks noChangeShapeType="1"/>
            </p:cNvSpPr>
            <p:nvPr/>
          </p:nvSpPr>
          <p:spPr bwMode="auto">
            <a:xfrm>
              <a:off x="7713663" y="3781426"/>
              <a:ext cx="6350"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5" name="Line 36"/>
            <p:cNvSpPr>
              <a:spLocks noChangeShapeType="1"/>
            </p:cNvSpPr>
            <p:nvPr/>
          </p:nvSpPr>
          <p:spPr bwMode="auto">
            <a:xfrm>
              <a:off x="7727950" y="3781426"/>
              <a:ext cx="6350"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6" name="Text Box 37"/>
            <p:cNvSpPr txBox="1">
              <a:spLocks noChangeArrowheads="1"/>
            </p:cNvSpPr>
            <p:nvPr/>
          </p:nvSpPr>
          <p:spPr bwMode="auto">
            <a:xfrm>
              <a:off x="6951663" y="3754438"/>
              <a:ext cx="404812" cy="12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484188" indent="-74613" defTabSz="409575">
                <a:defRPr>
                  <a:solidFill>
                    <a:schemeClr val="tx1"/>
                  </a:solidFill>
                  <a:latin typeface="Arial" panose="020B0604020202020204" pitchFamily="34" charset="0"/>
                  <a:ea typeface="宋体" panose="02010600030101010101" pitchFamily="2" charset="-122"/>
                </a:defRPr>
              </a:lvl2pPr>
              <a:lvl3pPr marL="882650" indent="-61913"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800" b="1">
                  <a:solidFill>
                    <a:srgbClr val="000000"/>
                  </a:solidFill>
                  <a:latin typeface="ITCCentury Book" charset="0"/>
                </a:rPr>
                <a:t>SHORT</a:t>
              </a:r>
              <a:endParaRPr lang="en-US" altLang="zh-CN" sz="2200">
                <a:latin typeface="Times New Roman" panose="02020603050405020304" pitchFamily="18" charset="0"/>
              </a:endParaRPr>
            </a:p>
          </p:txBody>
        </p:sp>
        <p:sp>
          <p:nvSpPr>
            <p:cNvPr id="27" name="AutoShape 38"/>
            <p:cNvSpPr>
              <a:spLocks noChangeArrowheads="1"/>
            </p:cNvSpPr>
            <p:nvPr/>
          </p:nvSpPr>
          <p:spPr bwMode="auto">
            <a:xfrm flipV="1">
              <a:off x="7334251" y="4164013"/>
              <a:ext cx="511175" cy="258762"/>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8" name="AutoShape 39"/>
            <p:cNvSpPr>
              <a:spLocks noChangeArrowheads="1"/>
            </p:cNvSpPr>
            <p:nvPr/>
          </p:nvSpPr>
          <p:spPr bwMode="auto">
            <a:xfrm flipV="1">
              <a:off x="7843839" y="4181475"/>
              <a:ext cx="244475" cy="171450"/>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9" name="AutoShape 40"/>
            <p:cNvSpPr>
              <a:spLocks noChangeArrowheads="1"/>
            </p:cNvSpPr>
            <p:nvPr/>
          </p:nvSpPr>
          <p:spPr bwMode="auto">
            <a:xfrm flipV="1">
              <a:off x="8086726" y="4224338"/>
              <a:ext cx="119063" cy="87312"/>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0" name="Line 41"/>
            <p:cNvSpPr>
              <a:spLocks noChangeShapeType="1"/>
            </p:cNvSpPr>
            <p:nvPr/>
          </p:nvSpPr>
          <p:spPr bwMode="auto">
            <a:xfrm>
              <a:off x="8099426" y="4233863"/>
              <a:ext cx="4763"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1" name="Line 42"/>
            <p:cNvSpPr>
              <a:spLocks noChangeShapeType="1"/>
            </p:cNvSpPr>
            <p:nvPr/>
          </p:nvSpPr>
          <p:spPr bwMode="auto">
            <a:xfrm>
              <a:off x="8113713" y="4233863"/>
              <a:ext cx="4762"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2" name="Line 43"/>
            <p:cNvSpPr>
              <a:spLocks noChangeShapeType="1"/>
            </p:cNvSpPr>
            <p:nvPr/>
          </p:nvSpPr>
          <p:spPr bwMode="auto">
            <a:xfrm>
              <a:off x="8129588" y="4233864"/>
              <a:ext cx="4762"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3" name="Line 44"/>
            <p:cNvSpPr>
              <a:spLocks noChangeShapeType="1"/>
            </p:cNvSpPr>
            <p:nvPr/>
          </p:nvSpPr>
          <p:spPr bwMode="auto">
            <a:xfrm>
              <a:off x="8143876" y="4232276"/>
              <a:ext cx="4763"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4" name="Line 45"/>
            <p:cNvSpPr>
              <a:spLocks noChangeShapeType="1"/>
            </p:cNvSpPr>
            <p:nvPr/>
          </p:nvSpPr>
          <p:spPr bwMode="auto">
            <a:xfrm>
              <a:off x="8159751" y="4233863"/>
              <a:ext cx="4763"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5" name="Line 46"/>
            <p:cNvSpPr>
              <a:spLocks noChangeShapeType="1"/>
            </p:cNvSpPr>
            <p:nvPr/>
          </p:nvSpPr>
          <p:spPr bwMode="auto">
            <a:xfrm>
              <a:off x="8174039" y="4233863"/>
              <a:ext cx="7937"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6" name="Line 47"/>
            <p:cNvSpPr>
              <a:spLocks noChangeShapeType="1"/>
            </p:cNvSpPr>
            <p:nvPr/>
          </p:nvSpPr>
          <p:spPr bwMode="auto">
            <a:xfrm>
              <a:off x="8189913" y="4233864"/>
              <a:ext cx="6350"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7" name="AutoShape 48"/>
            <p:cNvSpPr>
              <a:spLocks noChangeArrowheads="1"/>
            </p:cNvSpPr>
            <p:nvPr/>
          </p:nvSpPr>
          <p:spPr bwMode="auto">
            <a:xfrm flipV="1">
              <a:off x="8104188" y="3975101"/>
              <a:ext cx="101600" cy="119063"/>
            </a:xfrm>
            <a:prstGeom prst="roundRect">
              <a:avLst>
                <a:gd name="adj" fmla="val 0"/>
              </a:avLst>
            </a:prstGeom>
            <a:solidFill>
              <a:srgbClr val="FFFFFF"/>
            </a:solidFill>
            <a:ln w="19050">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8" name="AutoShape 49"/>
            <p:cNvSpPr>
              <a:spLocks noChangeArrowheads="1"/>
            </p:cNvSpPr>
            <p:nvPr/>
          </p:nvSpPr>
          <p:spPr bwMode="auto">
            <a:xfrm flipV="1">
              <a:off x="7315200" y="4073526"/>
              <a:ext cx="509588" cy="307975"/>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9" name="AutoShape 50"/>
            <p:cNvSpPr>
              <a:spLocks noChangeArrowheads="1"/>
            </p:cNvSpPr>
            <p:nvPr/>
          </p:nvSpPr>
          <p:spPr bwMode="auto">
            <a:xfrm flipV="1">
              <a:off x="7824789" y="4141788"/>
              <a:ext cx="244475" cy="171450"/>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0" name="AutoShape 51"/>
            <p:cNvSpPr>
              <a:spLocks noChangeArrowheads="1"/>
            </p:cNvSpPr>
            <p:nvPr/>
          </p:nvSpPr>
          <p:spPr bwMode="auto">
            <a:xfrm flipV="1">
              <a:off x="8067676" y="4184651"/>
              <a:ext cx="119063" cy="85725"/>
            </a:xfrm>
            <a:prstGeom prst="roundRect">
              <a:avLst>
                <a:gd name="adj" fmla="val 0"/>
              </a:avLst>
            </a:prstGeom>
            <a:gradFill rotWithShape="0">
              <a:gsLst>
                <a:gs pos="0">
                  <a:srgbClr val="C0C0C0"/>
                </a:gs>
                <a:gs pos="50000">
                  <a:srgbClr val="EFEFEF"/>
                </a:gs>
                <a:gs pos="100000">
                  <a:srgbClr val="C0C0C0"/>
                </a:gs>
              </a:gsLst>
              <a:lin ang="189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1" name="Line 52"/>
            <p:cNvSpPr>
              <a:spLocks noChangeShapeType="1"/>
            </p:cNvSpPr>
            <p:nvPr/>
          </p:nvSpPr>
          <p:spPr bwMode="auto">
            <a:xfrm>
              <a:off x="8077200" y="4192588"/>
              <a:ext cx="7938"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2" name="Line 53"/>
            <p:cNvSpPr>
              <a:spLocks noChangeShapeType="1"/>
            </p:cNvSpPr>
            <p:nvPr/>
          </p:nvSpPr>
          <p:spPr bwMode="auto">
            <a:xfrm>
              <a:off x="8093075" y="4192588"/>
              <a:ext cx="6350"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3" name="Line 54"/>
            <p:cNvSpPr>
              <a:spLocks noChangeShapeType="1"/>
            </p:cNvSpPr>
            <p:nvPr/>
          </p:nvSpPr>
          <p:spPr bwMode="auto">
            <a:xfrm>
              <a:off x="8108951" y="4192589"/>
              <a:ext cx="4763"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4" name="Line 55"/>
            <p:cNvSpPr>
              <a:spLocks noChangeShapeType="1"/>
            </p:cNvSpPr>
            <p:nvPr/>
          </p:nvSpPr>
          <p:spPr bwMode="auto">
            <a:xfrm>
              <a:off x="8123238" y="4192589"/>
              <a:ext cx="6350"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5" name="Line 56"/>
            <p:cNvSpPr>
              <a:spLocks noChangeShapeType="1"/>
            </p:cNvSpPr>
            <p:nvPr/>
          </p:nvSpPr>
          <p:spPr bwMode="auto">
            <a:xfrm>
              <a:off x="8137525" y="4192588"/>
              <a:ext cx="6350"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6" name="Line 57"/>
            <p:cNvSpPr>
              <a:spLocks noChangeShapeType="1"/>
            </p:cNvSpPr>
            <p:nvPr/>
          </p:nvSpPr>
          <p:spPr bwMode="auto">
            <a:xfrm>
              <a:off x="8154988" y="4192588"/>
              <a:ext cx="6350"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7" name="Line 58"/>
            <p:cNvSpPr>
              <a:spLocks noChangeShapeType="1"/>
            </p:cNvSpPr>
            <p:nvPr/>
          </p:nvSpPr>
          <p:spPr bwMode="auto">
            <a:xfrm>
              <a:off x="8169276" y="4192589"/>
              <a:ext cx="4763"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8" name="Text Box 59"/>
            <p:cNvSpPr txBox="1">
              <a:spLocks noChangeArrowheads="1"/>
            </p:cNvSpPr>
            <p:nvPr/>
          </p:nvSpPr>
          <p:spPr bwMode="auto">
            <a:xfrm>
              <a:off x="7421564" y="4164013"/>
              <a:ext cx="331787" cy="131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484188" indent="-74613" defTabSz="409575">
                <a:defRPr>
                  <a:solidFill>
                    <a:schemeClr val="tx1"/>
                  </a:solidFill>
                  <a:latin typeface="Arial" panose="020B0604020202020204" pitchFamily="34" charset="0"/>
                  <a:ea typeface="宋体" panose="02010600030101010101" pitchFamily="2" charset="-122"/>
                </a:defRPr>
              </a:lvl2pPr>
              <a:lvl3pPr marL="882650" indent="-61913"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800" b="1">
                  <a:solidFill>
                    <a:srgbClr val="000000"/>
                  </a:solidFill>
                  <a:latin typeface="ITCCentury Book" charset="0"/>
                </a:rPr>
                <a:t>OPEN</a:t>
              </a:r>
              <a:endParaRPr lang="en-US" altLang="zh-CN" sz="2200">
                <a:latin typeface="Times New Roman" panose="02020603050405020304" pitchFamily="18" charset="0"/>
              </a:endParaRPr>
            </a:p>
          </p:txBody>
        </p:sp>
        <p:sp>
          <p:nvSpPr>
            <p:cNvPr id="49" name="AutoShape 60"/>
            <p:cNvSpPr>
              <a:spLocks noChangeArrowheads="1"/>
            </p:cNvSpPr>
            <p:nvPr/>
          </p:nvSpPr>
          <p:spPr bwMode="auto">
            <a:xfrm flipV="1">
              <a:off x="7693026" y="4578350"/>
              <a:ext cx="511175" cy="261938"/>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0" name="AutoShape 61"/>
            <p:cNvSpPr>
              <a:spLocks noChangeArrowheads="1"/>
            </p:cNvSpPr>
            <p:nvPr/>
          </p:nvSpPr>
          <p:spPr bwMode="auto">
            <a:xfrm flipV="1">
              <a:off x="8202614" y="4598988"/>
              <a:ext cx="244475" cy="169862"/>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1" name="AutoShape 62"/>
            <p:cNvSpPr>
              <a:spLocks noChangeArrowheads="1"/>
            </p:cNvSpPr>
            <p:nvPr/>
          </p:nvSpPr>
          <p:spPr bwMode="auto">
            <a:xfrm flipV="1">
              <a:off x="8445501" y="4640263"/>
              <a:ext cx="119063" cy="87312"/>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2" name="Line 63"/>
            <p:cNvSpPr>
              <a:spLocks noChangeShapeType="1"/>
            </p:cNvSpPr>
            <p:nvPr/>
          </p:nvSpPr>
          <p:spPr bwMode="auto">
            <a:xfrm>
              <a:off x="8456613" y="4649788"/>
              <a:ext cx="6350"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3" name="Line 64"/>
            <p:cNvSpPr>
              <a:spLocks noChangeShapeType="1"/>
            </p:cNvSpPr>
            <p:nvPr/>
          </p:nvSpPr>
          <p:spPr bwMode="auto">
            <a:xfrm>
              <a:off x="8472488" y="4649788"/>
              <a:ext cx="6350"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4" name="Line 65"/>
            <p:cNvSpPr>
              <a:spLocks noChangeShapeType="1"/>
            </p:cNvSpPr>
            <p:nvPr/>
          </p:nvSpPr>
          <p:spPr bwMode="auto">
            <a:xfrm>
              <a:off x="8486775" y="4649788"/>
              <a:ext cx="6350"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5" name="Line 66"/>
            <p:cNvSpPr>
              <a:spLocks noChangeShapeType="1"/>
            </p:cNvSpPr>
            <p:nvPr/>
          </p:nvSpPr>
          <p:spPr bwMode="auto">
            <a:xfrm>
              <a:off x="8501063" y="4649788"/>
              <a:ext cx="6350"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6" name="Line 67"/>
            <p:cNvSpPr>
              <a:spLocks noChangeShapeType="1"/>
            </p:cNvSpPr>
            <p:nvPr/>
          </p:nvSpPr>
          <p:spPr bwMode="auto">
            <a:xfrm>
              <a:off x="8516938" y="4649788"/>
              <a:ext cx="6350"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7" name="Line 68"/>
            <p:cNvSpPr>
              <a:spLocks noChangeShapeType="1"/>
            </p:cNvSpPr>
            <p:nvPr/>
          </p:nvSpPr>
          <p:spPr bwMode="auto">
            <a:xfrm>
              <a:off x="8532814" y="4649788"/>
              <a:ext cx="7937"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8" name="Line 69"/>
            <p:cNvSpPr>
              <a:spLocks noChangeShapeType="1"/>
            </p:cNvSpPr>
            <p:nvPr/>
          </p:nvSpPr>
          <p:spPr bwMode="auto">
            <a:xfrm>
              <a:off x="8547100" y="4649788"/>
              <a:ext cx="6350"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9" name="AutoShape 70"/>
            <p:cNvSpPr>
              <a:spLocks noChangeArrowheads="1"/>
            </p:cNvSpPr>
            <p:nvPr/>
          </p:nvSpPr>
          <p:spPr bwMode="auto">
            <a:xfrm flipV="1">
              <a:off x="7673975" y="4489451"/>
              <a:ext cx="509588" cy="307975"/>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0" name="AutoShape 71"/>
            <p:cNvSpPr>
              <a:spLocks noChangeArrowheads="1"/>
            </p:cNvSpPr>
            <p:nvPr/>
          </p:nvSpPr>
          <p:spPr bwMode="auto">
            <a:xfrm flipV="1">
              <a:off x="8183564" y="4557713"/>
              <a:ext cx="244475" cy="171450"/>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1" name="AutoShape 72"/>
            <p:cNvSpPr>
              <a:spLocks noChangeArrowheads="1"/>
            </p:cNvSpPr>
            <p:nvPr/>
          </p:nvSpPr>
          <p:spPr bwMode="auto">
            <a:xfrm flipV="1">
              <a:off x="8426451" y="4600576"/>
              <a:ext cx="119063" cy="85725"/>
            </a:xfrm>
            <a:prstGeom prst="roundRect">
              <a:avLst>
                <a:gd name="adj" fmla="val 0"/>
              </a:avLst>
            </a:prstGeom>
            <a:gradFill rotWithShape="0">
              <a:gsLst>
                <a:gs pos="0">
                  <a:srgbClr val="C0C0C0"/>
                </a:gs>
                <a:gs pos="50000">
                  <a:srgbClr val="EFEFEF"/>
                </a:gs>
                <a:gs pos="100000">
                  <a:srgbClr val="C0C0C0"/>
                </a:gs>
              </a:gsLst>
              <a:lin ang="189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2" name="Line 73"/>
            <p:cNvSpPr>
              <a:spLocks noChangeShapeType="1"/>
            </p:cNvSpPr>
            <p:nvPr/>
          </p:nvSpPr>
          <p:spPr bwMode="auto">
            <a:xfrm>
              <a:off x="8437563" y="4610101"/>
              <a:ext cx="4762"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3" name="Line 74"/>
            <p:cNvSpPr>
              <a:spLocks noChangeShapeType="1"/>
            </p:cNvSpPr>
            <p:nvPr/>
          </p:nvSpPr>
          <p:spPr bwMode="auto">
            <a:xfrm>
              <a:off x="8451851" y="4610101"/>
              <a:ext cx="4763"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4" name="Line 75"/>
            <p:cNvSpPr>
              <a:spLocks noChangeShapeType="1"/>
            </p:cNvSpPr>
            <p:nvPr/>
          </p:nvSpPr>
          <p:spPr bwMode="auto">
            <a:xfrm>
              <a:off x="8467726" y="4610101"/>
              <a:ext cx="4763"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5" name="Line 76"/>
            <p:cNvSpPr>
              <a:spLocks noChangeShapeType="1"/>
            </p:cNvSpPr>
            <p:nvPr/>
          </p:nvSpPr>
          <p:spPr bwMode="auto">
            <a:xfrm>
              <a:off x="8483601" y="4608513"/>
              <a:ext cx="3175"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6" name="Line 77"/>
            <p:cNvSpPr>
              <a:spLocks noChangeShapeType="1"/>
            </p:cNvSpPr>
            <p:nvPr/>
          </p:nvSpPr>
          <p:spPr bwMode="auto">
            <a:xfrm>
              <a:off x="8497888" y="4610101"/>
              <a:ext cx="4762"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7" name="Line 78"/>
            <p:cNvSpPr>
              <a:spLocks noChangeShapeType="1"/>
            </p:cNvSpPr>
            <p:nvPr/>
          </p:nvSpPr>
          <p:spPr bwMode="auto">
            <a:xfrm>
              <a:off x="8515351" y="4610101"/>
              <a:ext cx="3175"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8" name="Line 79"/>
            <p:cNvSpPr>
              <a:spLocks noChangeShapeType="1"/>
            </p:cNvSpPr>
            <p:nvPr/>
          </p:nvSpPr>
          <p:spPr bwMode="auto">
            <a:xfrm>
              <a:off x="8528051" y="4610101"/>
              <a:ext cx="4763"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9" name="Text Box 80"/>
            <p:cNvSpPr txBox="1">
              <a:spLocks noChangeArrowheads="1"/>
            </p:cNvSpPr>
            <p:nvPr/>
          </p:nvSpPr>
          <p:spPr bwMode="auto">
            <a:xfrm>
              <a:off x="7785101" y="4578350"/>
              <a:ext cx="328613" cy="128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484188" indent="-74613" defTabSz="409575">
                <a:defRPr>
                  <a:solidFill>
                    <a:schemeClr val="tx1"/>
                  </a:solidFill>
                  <a:latin typeface="Arial" panose="020B0604020202020204" pitchFamily="34" charset="0"/>
                  <a:ea typeface="宋体" panose="02010600030101010101" pitchFamily="2" charset="-122"/>
                </a:defRPr>
              </a:lvl2pPr>
              <a:lvl3pPr marL="882650" indent="-61913"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800" b="1">
                  <a:solidFill>
                    <a:srgbClr val="000000"/>
                  </a:solidFill>
                  <a:latin typeface="ITCCentury Book" charset="0"/>
                </a:rPr>
                <a:t>LOAD</a:t>
              </a:r>
              <a:endParaRPr lang="en-US" altLang="zh-CN" sz="2200">
                <a:latin typeface="Times New Roman" panose="02020603050405020304" pitchFamily="18" charset="0"/>
              </a:endParaRPr>
            </a:p>
          </p:txBody>
        </p:sp>
        <p:grpSp>
          <p:nvGrpSpPr>
            <p:cNvPr id="70" name="Group 81"/>
            <p:cNvGrpSpPr>
              <a:grpSpLocks/>
            </p:cNvGrpSpPr>
            <p:nvPr/>
          </p:nvGrpSpPr>
          <p:grpSpPr bwMode="auto">
            <a:xfrm>
              <a:off x="8134351" y="5135564"/>
              <a:ext cx="1495425" cy="446087"/>
              <a:chOff x="4580" y="3666"/>
              <a:chExt cx="1037" cy="319"/>
            </a:xfrm>
          </p:grpSpPr>
          <p:sp>
            <p:nvSpPr>
              <p:cNvPr id="77" name="Text Box 82"/>
              <p:cNvSpPr txBox="1">
                <a:spLocks noChangeArrowheads="1"/>
              </p:cNvSpPr>
              <p:nvPr/>
            </p:nvSpPr>
            <p:spPr bwMode="auto">
              <a:xfrm>
                <a:off x="4955" y="3790"/>
                <a:ext cx="318" cy="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647700" indent="-238125" defTabSz="409575">
                  <a:defRPr>
                    <a:solidFill>
                      <a:schemeClr val="tx1"/>
                    </a:solidFill>
                    <a:latin typeface="Arial" panose="020B0604020202020204" pitchFamily="34" charset="0"/>
                    <a:ea typeface="宋体" panose="02010600030101010101" pitchFamily="2" charset="-122"/>
                  </a:defRPr>
                </a:lvl2pPr>
                <a:lvl3pPr marL="1108075" indent="-2873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700">
                    <a:solidFill>
                      <a:srgbClr val="000000"/>
                    </a:solidFill>
                  </a:rPr>
                  <a:t>thru</a:t>
                </a:r>
                <a:endParaRPr lang="en-US" altLang="zh-CN" sz="2200">
                  <a:latin typeface="Times New Roman" panose="02020603050405020304" pitchFamily="18" charset="0"/>
                </a:endParaRPr>
              </a:p>
            </p:txBody>
          </p:sp>
          <p:grpSp>
            <p:nvGrpSpPr>
              <p:cNvPr id="78" name="Group 83"/>
              <p:cNvGrpSpPr>
                <a:grpSpLocks/>
              </p:cNvGrpSpPr>
              <p:nvPr/>
            </p:nvGrpSpPr>
            <p:grpSpPr bwMode="auto">
              <a:xfrm>
                <a:off x="4580" y="3666"/>
                <a:ext cx="1037" cy="120"/>
                <a:chOff x="4580" y="3666"/>
                <a:chExt cx="1037" cy="120"/>
              </a:xfrm>
            </p:grpSpPr>
            <p:sp>
              <p:nvSpPr>
                <p:cNvPr id="79" name="Line 84"/>
                <p:cNvSpPr>
                  <a:spLocks noChangeShapeType="1"/>
                </p:cNvSpPr>
                <p:nvPr/>
              </p:nvSpPr>
              <p:spPr bwMode="auto">
                <a:xfrm>
                  <a:off x="4720" y="3725"/>
                  <a:ext cx="756" cy="0"/>
                </a:xfrm>
                <a:prstGeom prst="line">
                  <a:avLst/>
                </a:prstGeom>
                <a:noFill/>
                <a:ln w="476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p>
              </p:txBody>
            </p:sp>
            <p:sp>
              <p:nvSpPr>
                <p:cNvPr id="80" name="AutoShape 85"/>
                <p:cNvSpPr>
                  <a:spLocks noChangeArrowheads="1"/>
                </p:cNvSpPr>
                <p:nvPr/>
              </p:nvSpPr>
              <p:spPr bwMode="auto">
                <a:xfrm flipV="1">
                  <a:off x="4580" y="3666"/>
                  <a:ext cx="147" cy="120"/>
                </a:xfrm>
                <a:prstGeom prst="roundRect">
                  <a:avLst>
                    <a:gd name="adj" fmla="val 0"/>
                  </a:avLst>
                </a:prstGeom>
                <a:solidFill>
                  <a:srgbClr val="C0E1FF"/>
                </a:solidFill>
                <a:ln w="19050">
                  <a:solidFill>
                    <a:srgbClr val="C0E1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p>
              </p:txBody>
            </p:sp>
            <p:sp>
              <p:nvSpPr>
                <p:cNvPr id="81" name="AutoShape 86"/>
                <p:cNvSpPr>
                  <a:spLocks noChangeArrowheads="1"/>
                </p:cNvSpPr>
                <p:nvPr/>
              </p:nvSpPr>
              <p:spPr bwMode="auto">
                <a:xfrm flipV="1">
                  <a:off x="5470" y="3666"/>
                  <a:ext cx="147" cy="120"/>
                </a:xfrm>
                <a:prstGeom prst="roundRect">
                  <a:avLst>
                    <a:gd name="adj" fmla="val 0"/>
                  </a:avLst>
                </a:prstGeom>
                <a:solidFill>
                  <a:srgbClr val="C0E1FF"/>
                </a:solidFill>
                <a:ln w="19050">
                  <a:solidFill>
                    <a:srgbClr val="C0E1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p>
              </p:txBody>
            </p:sp>
          </p:grpSp>
        </p:grpSp>
        <p:grpSp>
          <p:nvGrpSpPr>
            <p:cNvPr id="71" name="Group 87"/>
            <p:cNvGrpSpPr>
              <a:grpSpLocks/>
            </p:cNvGrpSpPr>
            <p:nvPr/>
          </p:nvGrpSpPr>
          <p:grpSpPr bwMode="auto">
            <a:xfrm>
              <a:off x="7956551" y="3025776"/>
              <a:ext cx="1495425" cy="447675"/>
              <a:chOff x="4334" y="1841"/>
              <a:chExt cx="1036" cy="319"/>
            </a:xfrm>
          </p:grpSpPr>
          <p:sp>
            <p:nvSpPr>
              <p:cNvPr id="72" name="Text Box 88"/>
              <p:cNvSpPr txBox="1">
                <a:spLocks noChangeArrowheads="1"/>
              </p:cNvSpPr>
              <p:nvPr/>
            </p:nvSpPr>
            <p:spPr bwMode="auto">
              <a:xfrm>
                <a:off x="4708" y="1965"/>
                <a:ext cx="318" cy="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647700" indent="-238125" defTabSz="409575">
                  <a:defRPr>
                    <a:solidFill>
                      <a:schemeClr val="tx1"/>
                    </a:solidFill>
                    <a:latin typeface="Arial" panose="020B0604020202020204" pitchFamily="34" charset="0"/>
                    <a:ea typeface="宋体" panose="02010600030101010101" pitchFamily="2" charset="-122"/>
                  </a:defRPr>
                </a:lvl2pPr>
                <a:lvl3pPr marL="1108075" indent="-2873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700">
                    <a:solidFill>
                      <a:srgbClr val="000000"/>
                    </a:solidFill>
                  </a:rPr>
                  <a:t>thru</a:t>
                </a:r>
                <a:endParaRPr lang="en-US" altLang="zh-CN" sz="2200">
                  <a:latin typeface="Times New Roman" panose="02020603050405020304" pitchFamily="18" charset="0"/>
                </a:endParaRPr>
              </a:p>
            </p:txBody>
          </p:sp>
          <p:grpSp>
            <p:nvGrpSpPr>
              <p:cNvPr id="73" name="Group 89"/>
              <p:cNvGrpSpPr>
                <a:grpSpLocks/>
              </p:cNvGrpSpPr>
              <p:nvPr/>
            </p:nvGrpSpPr>
            <p:grpSpPr bwMode="auto">
              <a:xfrm>
                <a:off x="4334" y="1841"/>
                <a:ext cx="1036" cy="119"/>
                <a:chOff x="4334" y="1841"/>
                <a:chExt cx="1036" cy="119"/>
              </a:xfrm>
            </p:grpSpPr>
            <p:sp>
              <p:nvSpPr>
                <p:cNvPr id="74" name="Line 90"/>
                <p:cNvSpPr>
                  <a:spLocks noChangeShapeType="1"/>
                </p:cNvSpPr>
                <p:nvPr/>
              </p:nvSpPr>
              <p:spPr bwMode="auto">
                <a:xfrm>
                  <a:off x="4474" y="1900"/>
                  <a:ext cx="756" cy="0"/>
                </a:xfrm>
                <a:prstGeom prst="line">
                  <a:avLst/>
                </a:prstGeom>
                <a:noFill/>
                <a:ln w="476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p>
              </p:txBody>
            </p:sp>
            <p:sp>
              <p:nvSpPr>
                <p:cNvPr id="75" name="AutoShape 91"/>
                <p:cNvSpPr>
                  <a:spLocks noChangeArrowheads="1"/>
                </p:cNvSpPr>
                <p:nvPr/>
              </p:nvSpPr>
              <p:spPr bwMode="auto">
                <a:xfrm flipV="1">
                  <a:off x="4334" y="1841"/>
                  <a:ext cx="146" cy="119"/>
                </a:xfrm>
                <a:prstGeom prst="roundRect">
                  <a:avLst>
                    <a:gd name="adj" fmla="val 0"/>
                  </a:avLst>
                </a:prstGeom>
                <a:solidFill>
                  <a:srgbClr val="C0E1FF"/>
                </a:solidFill>
                <a:ln w="19050">
                  <a:solidFill>
                    <a:srgbClr val="C0E1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p>
              </p:txBody>
            </p:sp>
            <p:sp>
              <p:nvSpPr>
                <p:cNvPr id="76" name="AutoShape 92"/>
                <p:cNvSpPr>
                  <a:spLocks noChangeArrowheads="1"/>
                </p:cNvSpPr>
                <p:nvPr/>
              </p:nvSpPr>
              <p:spPr bwMode="auto">
                <a:xfrm flipV="1">
                  <a:off x="5224" y="1841"/>
                  <a:ext cx="146" cy="119"/>
                </a:xfrm>
                <a:prstGeom prst="roundRect">
                  <a:avLst>
                    <a:gd name="adj" fmla="val 0"/>
                  </a:avLst>
                </a:prstGeom>
                <a:solidFill>
                  <a:srgbClr val="C0E1FF"/>
                </a:solidFill>
                <a:ln w="19050">
                  <a:solidFill>
                    <a:srgbClr val="C0E1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p>
              </p:txBody>
            </p:sp>
          </p:grpSp>
        </p:grpSp>
      </p:grpSp>
      <p:pic>
        <p:nvPicPr>
          <p:cNvPr id="95" name="Picture 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7269" y="1478360"/>
            <a:ext cx="1914525" cy="218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4233579"/>
      </p:ext>
    </p:extLst>
  </p:cSld>
  <p:clrMapOvr>
    <a:masterClrMapping/>
  </p:clrMapOvr>
  <p:transition spd="slow">
    <p:push di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校准的</a:t>
            </a:r>
            <a:r>
              <a:rPr lang="zh-CN" altLang="en-US" dirty="0" smtClean="0"/>
              <a:t>概念</a:t>
            </a:r>
            <a:endParaRPr lang="zh-CN" altLang="en-US" dirty="0"/>
          </a:p>
        </p:txBody>
      </p:sp>
      <p:sp>
        <p:nvSpPr>
          <p:cNvPr id="69" name="内容占位符 68"/>
          <p:cNvSpPr>
            <a:spLocks noGrp="1"/>
          </p:cNvSpPr>
          <p:nvPr>
            <p:ph idx="1"/>
          </p:nvPr>
        </p:nvSpPr>
        <p:spPr/>
        <p:txBody>
          <a:bodyPr/>
          <a:lstStyle/>
          <a:p>
            <a:r>
              <a:rPr lang="zh-CN" altLang="en-US" dirty="0"/>
              <a:t>校准网络分析仪误差的过程</a:t>
            </a:r>
          </a:p>
          <a:p>
            <a:r>
              <a:rPr lang="zh-CN" altLang="en-US" dirty="0"/>
              <a:t>测量参数已知的标准件</a:t>
            </a:r>
            <a:r>
              <a:rPr lang="en-US" altLang="zh-CN" dirty="0"/>
              <a:t>,</a:t>
            </a:r>
            <a:r>
              <a:rPr lang="zh-CN" altLang="en-US" dirty="0"/>
              <a:t>得到误差项</a:t>
            </a:r>
          </a:p>
          <a:p>
            <a:r>
              <a:rPr lang="zh-CN" altLang="en-US" dirty="0"/>
              <a:t>将测试结果中误差项成份消除</a:t>
            </a:r>
          </a:p>
          <a:p>
            <a:r>
              <a:rPr lang="en-US" altLang="zh-CN" dirty="0" err="1"/>
              <a:t>cal</a:t>
            </a:r>
            <a:r>
              <a:rPr lang="en-US" altLang="zh-CN" dirty="0"/>
              <a:t> kit: </a:t>
            </a:r>
            <a:r>
              <a:rPr lang="zh-CN" altLang="en-US" dirty="0"/>
              <a:t>定义校准件数据 </a:t>
            </a:r>
            <a:r>
              <a:rPr lang="en-US" altLang="zh-CN" dirty="0"/>
              <a:t>definition file</a:t>
            </a:r>
          </a:p>
          <a:p>
            <a:r>
              <a:rPr lang="zh-CN" altLang="en-US" dirty="0"/>
              <a:t>用户可定义校准件</a:t>
            </a:r>
            <a:r>
              <a:rPr lang="en-US" altLang="zh-CN" dirty="0"/>
              <a:t>: </a:t>
            </a:r>
            <a:r>
              <a:rPr lang="zh-CN" altLang="en-US" dirty="0"/>
              <a:t>校准件定义必须和实际校准件相符</a:t>
            </a:r>
          </a:p>
          <a:p>
            <a:endParaRPr lang="zh-CN" altLang="en-US" dirty="0"/>
          </a:p>
        </p:txBody>
      </p:sp>
      <p:sp>
        <p:nvSpPr>
          <p:cNvPr id="71" name="日期占位符 70"/>
          <p:cNvSpPr>
            <a:spLocks noGrp="1"/>
          </p:cNvSpPr>
          <p:nvPr>
            <p:ph type="dt" sz="half" idx="10"/>
          </p:nvPr>
        </p:nvSpPr>
        <p:spPr/>
        <p:txBody>
          <a:bodyPr/>
          <a:lstStyle/>
          <a:p>
            <a:fld id="{4E0F5F3D-8F87-4B71-9E2A-227AC4AF0088}" type="datetime3">
              <a:rPr lang="zh-CN" altLang="en-US" smtClean="0"/>
              <a:t>2019年5月6日星期一</a:t>
            </a:fld>
            <a:endParaRPr lang="zh-CN" altLang="en-US"/>
          </a:p>
        </p:txBody>
      </p:sp>
      <p:sp>
        <p:nvSpPr>
          <p:cNvPr id="72" name="页脚占位符 71"/>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73" name="灯片编号占位符 72"/>
          <p:cNvSpPr>
            <a:spLocks noGrp="1"/>
          </p:cNvSpPr>
          <p:nvPr>
            <p:ph type="sldNum" sz="quarter" idx="12"/>
          </p:nvPr>
        </p:nvSpPr>
        <p:spPr/>
        <p:txBody>
          <a:bodyPr/>
          <a:lstStyle/>
          <a:p>
            <a:fld id="{D5BA5A3D-E723-4639-877B-B187790AC552}" type="slidenum">
              <a:rPr lang="zh-CN" altLang="en-US" smtClean="0"/>
              <a:pPr/>
              <a:t>18</a:t>
            </a:fld>
            <a:endParaRPr lang="zh-CN" altLang="en-US"/>
          </a:p>
        </p:txBody>
      </p:sp>
      <p:grpSp>
        <p:nvGrpSpPr>
          <p:cNvPr id="70" name="组合 69"/>
          <p:cNvGrpSpPr/>
          <p:nvPr/>
        </p:nvGrpSpPr>
        <p:grpSpPr>
          <a:xfrm>
            <a:off x="2827964" y="4002100"/>
            <a:ext cx="6536073" cy="2057400"/>
            <a:chOff x="2161504" y="4002100"/>
            <a:chExt cx="6536073" cy="2057400"/>
          </a:xfrm>
        </p:grpSpPr>
        <p:pic>
          <p:nvPicPr>
            <p:cNvPr id="4"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7989" y="4002100"/>
              <a:ext cx="1779588"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 name="Group 5"/>
            <p:cNvGrpSpPr>
              <a:grpSpLocks/>
            </p:cNvGrpSpPr>
            <p:nvPr/>
          </p:nvGrpSpPr>
          <p:grpSpPr bwMode="auto">
            <a:xfrm>
              <a:off x="2161504" y="4226731"/>
              <a:ext cx="2251075" cy="1560513"/>
              <a:chOff x="3504" y="981"/>
              <a:chExt cx="1418" cy="983"/>
            </a:xfrm>
          </p:grpSpPr>
          <p:sp>
            <p:nvSpPr>
              <p:cNvPr id="6" name="AutoShape 6"/>
              <p:cNvSpPr>
                <a:spLocks noChangeArrowheads="1"/>
              </p:cNvSpPr>
              <p:nvPr/>
            </p:nvSpPr>
            <p:spPr bwMode="auto">
              <a:xfrm flipV="1">
                <a:off x="3520" y="1057"/>
                <a:ext cx="410" cy="206"/>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7" name="AutoShape 7"/>
              <p:cNvSpPr>
                <a:spLocks noChangeArrowheads="1"/>
              </p:cNvSpPr>
              <p:nvPr/>
            </p:nvSpPr>
            <p:spPr bwMode="auto">
              <a:xfrm flipV="1">
                <a:off x="3930" y="1069"/>
                <a:ext cx="195" cy="136"/>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8" name="AutoShape 8"/>
              <p:cNvSpPr>
                <a:spLocks noChangeArrowheads="1"/>
              </p:cNvSpPr>
              <p:nvPr/>
            </p:nvSpPr>
            <p:spPr bwMode="auto">
              <a:xfrm flipV="1">
                <a:off x="4125" y="1103"/>
                <a:ext cx="94" cy="70"/>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9" name="Line 9"/>
              <p:cNvSpPr>
                <a:spLocks noChangeShapeType="1"/>
              </p:cNvSpPr>
              <p:nvPr/>
            </p:nvSpPr>
            <p:spPr bwMode="auto">
              <a:xfrm>
                <a:off x="4134" y="1110"/>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0" name="Line 10"/>
              <p:cNvSpPr>
                <a:spLocks noChangeShapeType="1"/>
              </p:cNvSpPr>
              <p:nvPr/>
            </p:nvSpPr>
            <p:spPr bwMode="auto">
              <a:xfrm>
                <a:off x="4145" y="1110"/>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1" name="Line 11"/>
              <p:cNvSpPr>
                <a:spLocks noChangeShapeType="1"/>
              </p:cNvSpPr>
              <p:nvPr/>
            </p:nvSpPr>
            <p:spPr bwMode="auto">
              <a:xfrm>
                <a:off x="4156" y="1110"/>
                <a:ext cx="6"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2" name="Line 12"/>
              <p:cNvSpPr>
                <a:spLocks noChangeShapeType="1"/>
              </p:cNvSpPr>
              <p:nvPr/>
            </p:nvSpPr>
            <p:spPr bwMode="auto">
              <a:xfrm>
                <a:off x="4169" y="1109"/>
                <a:ext cx="4" cy="5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3" name="Line 13"/>
              <p:cNvSpPr>
                <a:spLocks noChangeShapeType="1"/>
              </p:cNvSpPr>
              <p:nvPr/>
            </p:nvSpPr>
            <p:spPr bwMode="auto">
              <a:xfrm>
                <a:off x="4182" y="1110"/>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4" name="Line 14"/>
              <p:cNvSpPr>
                <a:spLocks noChangeShapeType="1"/>
              </p:cNvSpPr>
              <p:nvPr/>
            </p:nvSpPr>
            <p:spPr bwMode="auto">
              <a:xfrm>
                <a:off x="4195" y="1110"/>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5" name="Line 15"/>
              <p:cNvSpPr>
                <a:spLocks noChangeShapeType="1"/>
              </p:cNvSpPr>
              <p:nvPr/>
            </p:nvSpPr>
            <p:spPr bwMode="auto">
              <a:xfrm>
                <a:off x="4206" y="1110"/>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6" name="AutoShape 16"/>
              <p:cNvSpPr>
                <a:spLocks noChangeArrowheads="1"/>
              </p:cNvSpPr>
              <p:nvPr/>
            </p:nvSpPr>
            <p:spPr bwMode="auto">
              <a:xfrm flipV="1">
                <a:off x="3504" y="981"/>
                <a:ext cx="410" cy="248"/>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7" name="AutoShape 17"/>
              <p:cNvSpPr>
                <a:spLocks noChangeArrowheads="1"/>
              </p:cNvSpPr>
              <p:nvPr/>
            </p:nvSpPr>
            <p:spPr bwMode="auto">
              <a:xfrm flipV="1">
                <a:off x="3914" y="1038"/>
                <a:ext cx="196" cy="136"/>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8" name="AutoShape 18"/>
              <p:cNvSpPr>
                <a:spLocks noChangeArrowheads="1"/>
              </p:cNvSpPr>
              <p:nvPr/>
            </p:nvSpPr>
            <p:spPr bwMode="auto">
              <a:xfrm flipV="1">
                <a:off x="4108" y="1070"/>
                <a:ext cx="96" cy="70"/>
              </a:xfrm>
              <a:prstGeom prst="roundRect">
                <a:avLst>
                  <a:gd name="adj" fmla="val 0"/>
                </a:avLst>
              </a:prstGeom>
              <a:gradFill rotWithShape="0">
                <a:gsLst>
                  <a:gs pos="0">
                    <a:srgbClr val="C0C0C0"/>
                  </a:gs>
                  <a:gs pos="50000">
                    <a:srgbClr val="EFEFEF"/>
                  </a:gs>
                  <a:gs pos="100000">
                    <a:srgbClr val="C0C0C0"/>
                  </a:gs>
                </a:gsLst>
                <a:lin ang="189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9" name="Line 19"/>
              <p:cNvSpPr>
                <a:spLocks noChangeShapeType="1"/>
              </p:cNvSpPr>
              <p:nvPr/>
            </p:nvSpPr>
            <p:spPr bwMode="auto">
              <a:xfrm>
                <a:off x="4118" y="1077"/>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0" name="Line 20"/>
              <p:cNvSpPr>
                <a:spLocks noChangeShapeType="1"/>
              </p:cNvSpPr>
              <p:nvPr/>
            </p:nvSpPr>
            <p:spPr bwMode="auto">
              <a:xfrm>
                <a:off x="4129" y="1077"/>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1" name="Line 21"/>
              <p:cNvSpPr>
                <a:spLocks noChangeShapeType="1"/>
              </p:cNvSpPr>
              <p:nvPr/>
            </p:nvSpPr>
            <p:spPr bwMode="auto">
              <a:xfrm>
                <a:off x="4141" y="1077"/>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2" name="Line 22"/>
              <p:cNvSpPr>
                <a:spLocks noChangeShapeType="1"/>
              </p:cNvSpPr>
              <p:nvPr/>
            </p:nvSpPr>
            <p:spPr bwMode="auto">
              <a:xfrm>
                <a:off x="4153" y="1077"/>
                <a:ext cx="3"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3" name="Line 23"/>
              <p:cNvSpPr>
                <a:spLocks noChangeShapeType="1"/>
              </p:cNvSpPr>
              <p:nvPr/>
            </p:nvSpPr>
            <p:spPr bwMode="auto">
              <a:xfrm>
                <a:off x="4165" y="1077"/>
                <a:ext cx="5" cy="5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4" name="Line 24"/>
              <p:cNvSpPr>
                <a:spLocks noChangeShapeType="1"/>
              </p:cNvSpPr>
              <p:nvPr/>
            </p:nvSpPr>
            <p:spPr bwMode="auto">
              <a:xfrm>
                <a:off x="4179" y="1077"/>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5" name="Line 25"/>
              <p:cNvSpPr>
                <a:spLocks noChangeShapeType="1"/>
              </p:cNvSpPr>
              <p:nvPr/>
            </p:nvSpPr>
            <p:spPr bwMode="auto">
              <a:xfrm>
                <a:off x="4190" y="1077"/>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6" name="Text Box 26"/>
              <p:cNvSpPr txBox="1">
                <a:spLocks noChangeArrowheads="1"/>
              </p:cNvSpPr>
              <p:nvPr/>
            </p:nvSpPr>
            <p:spPr bwMode="auto">
              <a:xfrm>
                <a:off x="3567" y="1056"/>
                <a:ext cx="326" cy="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484188" indent="-74613" defTabSz="409575">
                  <a:defRPr>
                    <a:solidFill>
                      <a:schemeClr val="tx1"/>
                    </a:solidFill>
                    <a:latin typeface="Arial" panose="020B0604020202020204" pitchFamily="34" charset="0"/>
                    <a:ea typeface="宋体" panose="02010600030101010101" pitchFamily="2" charset="-122"/>
                  </a:defRPr>
                </a:lvl2pPr>
                <a:lvl3pPr marL="882650" indent="-61913"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100" b="1" i="1">
                    <a:solidFill>
                      <a:srgbClr val="000000"/>
                    </a:solidFill>
                    <a:latin typeface="ITCCentury Book" charset="0"/>
                  </a:rPr>
                  <a:t>SHORT</a:t>
                </a:r>
                <a:endParaRPr lang="en-US" altLang="zh-CN" sz="2200">
                  <a:latin typeface="Times New Roman" panose="02020603050405020304" pitchFamily="18" charset="0"/>
                </a:endParaRPr>
              </a:p>
            </p:txBody>
          </p:sp>
          <p:sp>
            <p:nvSpPr>
              <p:cNvPr id="27" name="AutoShape 27"/>
              <p:cNvSpPr>
                <a:spLocks noChangeArrowheads="1"/>
              </p:cNvSpPr>
              <p:nvPr/>
            </p:nvSpPr>
            <p:spPr bwMode="auto">
              <a:xfrm flipV="1">
                <a:off x="3861" y="1407"/>
                <a:ext cx="410" cy="206"/>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8" name="AutoShape 28"/>
              <p:cNvSpPr>
                <a:spLocks noChangeArrowheads="1"/>
              </p:cNvSpPr>
              <p:nvPr/>
            </p:nvSpPr>
            <p:spPr bwMode="auto">
              <a:xfrm flipV="1">
                <a:off x="4271" y="1420"/>
                <a:ext cx="195" cy="137"/>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9" name="AutoShape 29"/>
              <p:cNvSpPr>
                <a:spLocks noChangeArrowheads="1"/>
              </p:cNvSpPr>
              <p:nvPr/>
            </p:nvSpPr>
            <p:spPr bwMode="auto">
              <a:xfrm flipV="1">
                <a:off x="4465" y="1453"/>
                <a:ext cx="96" cy="71"/>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0" name="Line 30"/>
              <p:cNvSpPr>
                <a:spLocks noChangeShapeType="1"/>
              </p:cNvSpPr>
              <p:nvPr/>
            </p:nvSpPr>
            <p:spPr bwMode="auto">
              <a:xfrm>
                <a:off x="4475" y="1461"/>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1" name="Line 31"/>
              <p:cNvSpPr>
                <a:spLocks noChangeShapeType="1"/>
              </p:cNvSpPr>
              <p:nvPr/>
            </p:nvSpPr>
            <p:spPr bwMode="auto">
              <a:xfrm>
                <a:off x="4487" y="1461"/>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2" name="Line 32"/>
              <p:cNvSpPr>
                <a:spLocks noChangeShapeType="1"/>
              </p:cNvSpPr>
              <p:nvPr/>
            </p:nvSpPr>
            <p:spPr bwMode="auto">
              <a:xfrm>
                <a:off x="4499" y="1460"/>
                <a:ext cx="5" cy="5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3" name="Line 33"/>
              <p:cNvSpPr>
                <a:spLocks noChangeShapeType="1"/>
              </p:cNvSpPr>
              <p:nvPr/>
            </p:nvSpPr>
            <p:spPr bwMode="auto">
              <a:xfrm>
                <a:off x="4510" y="1460"/>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4" name="Line 34"/>
              <p:cNvSpPr>
                <a:spLocks noChangeShapeType="1"/>
              </p:cNvSpPr>
              <p:nvPr/>
            </p:nvSpPr>
            <p:spPr bwMode="auto">
              <a:xfrm>
                <a:off x="4524" y="1461"/>
                <a:ext cx="3"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5" name="Line 35"/>
              <p:cNvSpPr>
                <a:spLocks noChangeShapeType="1"/>
              </p:cNvSpPr>
              <p:nvPr/>
            </p:nvSpPr>
            <p:spPr bwMode="auto">
              <a:xfrm>
                <a:off x="4536" y="1461"/>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6" name="Line 36"/>
              <p:cNvSpPr>
                <a:spLocks noChangeShapeType="1"/>
              </p:cNvSpPr>
              <p:nvPr/>
            </p:nvSpPr>
            <p:spPr bwMode="auto">
              <a:xfrm>
                <a:off x="4548" y="1460"/>
                <a:ext cx="5" cy="5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7" name="AutoShape 37"/>
              <p:cNvSpPr>
                <a:spLocks noChangeArrowheads="1"/>
              </p:cNvSpPr>
              <p:nvPr/>
            </p:nvSpPr>
            <p:spPr bwMode="auto">
              <a:xfrm flipV="1">
                <a:off x="3845" y="1333"/>
                <a:ext cx="410" cy="247"/>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8" name="AutoShape 38"/>
              <p:cNvSpPr>
                <a:spLocks noChangeArrowheads="1"/>
              </p:cNvSpPr>
              <p:nvPr/>
            </p:nvSpPr>
            <p:spPr bwMode="auto">
              <a:xfrm flipV="1">
                <a:off x="4255" y="1388"/>
                <a:ext cx="196" cy="138"/>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9" name="AutoShape 39"/>
              <p:cNvSpPr>
                <a:spLocks noChangeArrowheads="1"/>
              </p:cNvSpPr>
              <p:nvPr/>
            </p:nvSpPr>
            <p:spPr bwMode="auto">
              <a:xfrm flipV="1">
                <a:off x="4450" y="1421"/>
                <a:ext cx="95" cy="70"/>
              </a:xfrm>
              <a:prstGeom prst="roundRect">
                <a:avLst>
                  <a:gd name="adj" fmla="val 0"/>
                </a:avLst>
              </a:prstGeom>
              <a:gradFill rotWithShape="0">
                <a:gsLst>
                  <a:gs pos="0">
                    <a:srgbClr val="C0C0C0"/>
                  </a:gs>
                  <a:gs pos="50000">
                    <a:srgbClr val="EFEFEF"/>
                  </a:gs>
                  <a:gs pos="100000">
                    <a:srgbClr val="C0C0C0"/>
                  </a:gs>
                </a:gsLst>
                <a:lin ang="189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0" name="Line 40"/>
              <p:cNvSpPr>
                <a:spLocks noChangeShapeType="1"/>
              </p:cNvSpPr>
              <p:nvPr/>
            </p:nvSpPr>
            <p:spPr bwMode="auto">
              <a:xfrm>
                <a:off x="4458" y="1428"/>
                <a:ext cx="6"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1" name="Line 41"/>
              <p:cNvSpPr>
                <a:spLocks noChangeShapeType="1"/>
              </p:cNvSpPr>
              <p:nvPr/>
            </p:nvSpPr>
            <p:spPr bwMode="auto">
              <a:xfrm>
                <a:off x="4471" y="1428"/>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2" name="Line 42"/>
              <p:cNvSpPr>
                <a:spLocks noChangeShapeType="1"/>
              </p:cNvSpPr>
              <p:nvPr/>
            </p:nvSpPr>
            <p:spPr bwMode="auto">
              <a:xfrm>
                <a:off x="4483" y="1428"/>
                <a:ext cx="4" cy="5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3" name="Line 43"/>
              <p:cNvSpPr>
                <a:spLocks noChangeShapeType="1"/>
              </p:cNvSpPr>
              <p:nvPr/>
            </p:nvSpPr>
            <p:spPr bwMode="auto">
              <a:xfrm>
                <a:off x="4495" y="1428"/>
                <a:ext cx="4" cy="5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4" name="Line 44"/>
              <p:cNvSpPr>
                <a:spLocks noChangeShapeType="1"/>
              </p:cNvSpPr>
              <p:nvPr/>
            </p:nvSpPr>
            <p:spPr bwMode="auto">
              <a:xfrm>
                <a:off x="4507" y="1429"/>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5" name="Line 45"/>
              <p:cNvSpPr>
                <a:spLocks noChangeShapeType="1"/>
              </p:cNvSpPr>
              <p:nvPr/>
            </p:nvSpPr>
            <p:spPr bwMode="auto">
              <a:xfrm>
                <a:off x="4520" y="1428"/>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6" name="Line 46"/>
              <p:cNvSpPr>
                <a:spLocks noChangeShapeType="1"/>
              </p:cNvSpPr>
              <p:nvPr/>
            </p:nvSpPr>
            <p:spPr bwMode="auto">
              <a:xfrm>
                <a:off x="4532" y="1428"/>
                <a:ext cx="4" cy="5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7" name="Text Box 47"/>
              <p:cNvSpPr txBox="1">
                <a:spLocks noChangeArrowheads="1"/>
              </p:cNvSpPr>
              <p:nvPr/>
            </p:nvSpPr>
            <p:spPr bwMode="auto">
              <a:xfrm>
                <a:off x="3932" y="1407"/>
                <a:ext cx="266" cy="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484188" indent="-74613" defTabSz="409575">
                  <a:defRPr>
                    <a:solidFill>
                      <a:schemeClr val="tx1"/>
                    </a:solidFill>
                    <a:latin typeface="Arial" panose="020B0604020202020204" pitchFamily="34" charset="0"/>
                    <a:ea typeface="宋体" panose="02010600030101010101" pitchFamily="2" charset="-122"/>
                  </a:defRPr>
                </a:lvl2pPr>
                <a:lvl3pPr marL="882650" indent="-61913"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100" b="1" i="1">
                    <a:solidFill>
                      <a:srgbClr val="000000"/>
                    </a:solidFill>
                    <a:latin typeface="ITCCentury Book" charset="0"/>
                  </a:rPr>
                  <a:t>OPEN</a:t>
                </a:r>
                <a:endParaRPr lang="en-US" altLang="zh-CN" sz="2200">
                  <a:latin typeface="Times New Roman" panose="02020603050405020304" pitchFamily="18" charset="0"/>
                </a:endParaRPr>
              </a:p>
            </p:txBody>
          </p:sp>
          <p:sp>
            <p:nvSpPr>
              <p:cNvPr id="48" name="AutoShape 48"/>
              <p:cNvSpPr>
                <a:spLocks noChangeArrowheads="1"/>
              </p:cNvSpPr>
              <p:nvPr/>
            </p:nvSpPr>
            <p:spPr bwMode="auto">
              <a:xfrm flipV="1">
                <a:off x="4222" y="1755"/>
                <a:ext cx="410" cy="209"/>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9" name="AutoShape 49"/>
              <p:cNvSpPr>
                <a:spLocks noChangeArrowheads="1"/>
              </p:cNvSpPr>
              <p:nvPr/>
            </p:nvSpPr>
            <p:spPr bwMode="auto">
              <a:xfrm flipV="1">
                <a:off x="4631" y="1771"/>
                <a:ext cx="196" cy="138"/>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0" name="AutoShape 50"/>
              <p:cNvSpPr>
                <a:spLocks noChangeArrowheads="1"/>
              </p:cNvSpPr>
              <p:nvPr/>
            </p:nvSpPr>
            <p:spPr bwMode="auto">
              <a:xfrm flipV="1">
                <a:off x="4826" y="1804"/>
                <a:ext cx="96" cy="71"/>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1" name="Line 51"/>
              <p:cNvSpPr>
                <a:spLocks noChangeShapeType="1"/>
              </p:cNvSpPr>
              <p:nvPr/>
            </p:nvSpPr>
            <p:spPr bwMode="auto">
              <a:xfrm>
                <a:off x="4836" y="1811"/>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2" name="Line 52"/>
              <p:cNvSpPr>
                <a:spLocks noChangeShapeType="1"/>
              </p:cNvSpPr>
              <p:nvPr/>
            </p:nvSpPr>
            <p:spPr bwMode="auto">
              <a:xfrm>
                <a:off x="4847" y="1811"/>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3" name="Line 53"/>
              <p:cNvSpPr>
                <a:spLocks noChangeShapeType="1"/>
              </p:cNvSpPr>
              <p:nvPr/>
            </p:nvSpPr>
            <p:spPr bwMode="auto">
              <a:xfrm>
                <a:off x="4859" y="1811"/>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4" name="Line 54"/>
              <p:cNvSpPr>
                <a:spLocks noChangeShapeType="1"/>
              </p:cNvSpPr>
              <p:nvPr/>
            </p:nvSpPr>
            <p:spPr bwMode="auto">
              <a:xfrm>
                <a:off x="4871" y="1811"/>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5" name="Line 55"/>
              <p:cNvSpPr>
                <a:spLocks noChangeShapeType="1"/>
              </p:cNvSpPr>
              <p:nvPr/>
            </p:nvSpPr>
            <p:spPr bwMode="auto">
              <a:xfrm>
                <a:off x="4884" y="1812"/>
                <a:ext cx="3" cy="5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6" name="Line 56"/>
              <p:cNvSpPr>
                <a:spLocks noChangeShapeType="1"/>
              </p:cNvSpPr>
              <p:nvPr/>
            </p:nvSpPr>
            <p:spPr bwMode="auto">
              <a:xfrm>
                <a:off x="4896" y="1811"/>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7" name="Line 57"/>
              <p:cNvSpPr>
                <a:spLocks noChangeShapeType="1"/>
              </p:cNvSpPr>
              <p:nvPr/>
            </p:nvSpPr>
            <p:spPr bwMode="auto">
              <a:xfrm>
                <a:off x="4908" y="1811"/>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8" name="AutoShape 58"/>
              <p:cNvSpPr>
                <a:spLocks noChangeArrowheads="1"/>
              </p:cNvSpPr>
              <p:nvPr/>
            </p:nvSpPr>
            <p:spPr bwMode="auto">
              <a:xfrm flipV="1">
                <a:off x="4205" y="1684"/>
                <a:ext cx="410" cy="247"/>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9" name="AutoShape 59"/>
              <p:cNvSpPr>
                <a:spLocks noChangeArrowheads="1"/>
              </p:cNvSpPr>
              <p:nvPr/>
            </p:nvSpPr>
            <p:spPr bwMode="auto">
              <a:xfrm flipV="1">
                <a:off x="4615" y="1738"/>
                <a:ext cx="196" cy="137"/>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0" name="AutoShape 60"/>
              <p:cNvSpPr>
                <a:spLocks noChangeArrowheads="1"/>
              </p:cNvSpPr>
              <p:nvPr/>
            </p:nvSpPr>
            <p:spPr bwMode="auto">
              <a:xfrm flipV="1">
                <a:off x="4810" y="1772"/>
                <a:ext cx="95" cy="70"/>
              </a:xfrm>
              <a:prstGeom prst="roundRect">
                <a:avLst>
                  <a:gd name="adj" fmla="val 0"/>
                </a:avLst>
              </a:prstGeom>
              <a:gradFill rotWithShape="0">
                <a:gsLst>
                  <a:gs pos="0">
                    <a:srgbClr val="C0C0C0"/>
                  </a:gs>
                  <a:gs pos="50000">
                    <a:srgbClr val="EFEFEF"/>
                  </a:gs>
                  <a:gs pos="100000">
                    <a:srgbClr val="C0C0C0"/>
                  </a:gs>
                </a:gsLst>
                <a:lin ang="189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1" name="Line 61"/>
              <p:cNvSpPr>
                <a:spLocks noChangeShapeType="1"/>
              </p:cNvSpPr>
              <p:nvPr/>
            </p:nvSpPr>
            <p:spPr bwMode="auto">
              <a:xfrm>
                <a:off x="4819" y="1780"/>
                <a:ext cx="5" cy="5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2" name="Line 62"/>
              <p:cNvSpPr>
                <a:spLocks noChangeShapeType="1"/>
              </p:cNvSpPr>
              <p:nvPr/>
            </p:nvSpPr>
            <p:spPr bwMode="auto">
              <a:xfrm>
                <a:off x="4831" y="1780"/>
                <a:ext cx="5" cy="5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3" name="Line 63"/>
              <p:cNvSpPr>
                <a:spLocks noChangeShapeType="1"/>
              </p:cNvSpPr>
              <p:nvPr/>
            </p:nvSpPr>
            <p:spPr bwMode="auto">
              <a:xfrm>
                <a:off x="4843" y="1779"/>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4" name="Line 64"/>
              <p:cNvSpPr>
                <a:spLocks noChangeShapeType="1"/>
              </p:cNvSpPr>
              <p:nvPr/>
            </p:nvSpPr>
            <p:spPr bwMode="auto">
              <a:xfrm>
                <a:off x="4855" y="1779"/>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5" name="Line 65"/>
              <p:cNvSpPr>
                <a:spLocks noChangeShapeType="1"/>
              </p:cNvSpPr>
              <p:nvPr/>
            </p:nvSpPr>
            <p:spPr bwMode="auto">
              <a:xfrm>
                <a:off x="4867" y="1780"/>
                <a:ext cx="5" cy="5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6" name="Line 66"/>
              <p:cNvSpPr>
                <a:spLocks noChangeShapeType="1"/>
              </p:cNvSpPr>
              <p:nvPr/>
            </p:nvSpPr>
            <p:spPr bwMode="auto">
              <a:xfrm>
                <a:off x="4880" y="1780"/>
                <a:ext cx="5" cy="5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7" name="Line 67"/>
              <p:cNvSpPr>
                <a:spLocks noChangeShapeType="1"/>
              </p:cNvSpPr>
              <p:nvPr/>
            </p:nvSpPr>
            <p:spPr bwMode="auto">
              <a:xfrm>
                <a:off x="4892" y="1779"/>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8" name="Text Box 68"/>
              <p:cNvSpPr txBox="1">
                <a:spLocks noChangeArrowheads="1"/>
              </p:cNvSpPr>
              <p:nvPr/>
            </p:nvSpPr>
            <p:spPr bwMode="auto">
              <a:xfrm>
                <a:off x="4296" y="1755"/>
                <a:ext cx="262" cy="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484188" indent="-74613" defTabSz="409575">
                  <a:defRPr>
                    <a:solidFill>
                      <a:schemeClr val="tx1"/>
                    </a:solidFill>
                    <a:latin typeface="Arial" panose="020B0604020202020204" pitchFamily="34" charset="0"/>
                    <a:ea typeface="宋体" panose="02010600030101010101" pitchFamily="2" charset="-122"/>
                  </a:defRPr>
                </a:lvl2pPr>
                <a:lvl3pPr marL="882650" indent="-61913"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100" b="1" i="1">
                    <a:solidFill>
                      <a:srgbClr val="000000"/>
                    </a:solidFill>
                    <a:latin typeface="ITCCentury Book" charset="0"/>
                  </a:rPr>
                  <a:t>LOAD</a:t>
                </a:r>
                <a:endParaRPr lang="en-US" altLang="zh-CN" sz="2200">
                  <a:latin typeface="Times New Roman" panose="02020603050405020304" pitchFamily="18" charset="0"/>
                </a:endParaRPr>
              </a:p>
            </p:txBody>
          </p:sp>
        </p:grpSp>
      </p:grpSp>
    </p:spTree>
    <p:extLst>
      <p:ext uri="{BB962C8B-B14F-4D97-AF65-F5344CB8AC3E}">
        <p14:creationId xmlns:p14="http://schemas.microsoft.com/office/powerpoint/2010/main" val="3222174914"/>
      </p:ext>
    </p:extLst>
  </p:cSld>
  <p:clrMapOvr>
    <a:masterClrMapping/>
  </p:clrMapOvr>
  <p:transition spd="slow">
    <p:push di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测试中的校准</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反射测试 </a:t>
            </a:r>
          </a:p>
          <a:p>
            <a:pPr lvl="1"/>
            <a:r>
              <a:rPr lang="zh-CN" altLang="en-US" dirty="0"/>
              <a:t>存在三项误差</a:t>
            </a:r>
            <a:r>
              <a:rPr lang="en-US" altLang="zh-CN" dirty="0"/>
              <a:t>:</a:t>
            </a:r>
            <a:r>
              <a:rPr lang="zh-CN" altLang="en-US" dirty="0"/>
              <a:t>方向性</a:t>
            </a:r>
            <a:r>
              <a:rPr lang="en-US" altLang="zh-CN" dirty="0"/>
              <a:t>,</a:t>
            </a:r>
            <a:r>
              <a:rPr lang="zh-CN" altLang="en-US" dirty="0"/>
              <a:t>源失配</a:t>
            </a:r>
            <a:r>
              <a:rPr lang="en-US" altLang="zh-CN" dirty="0"/>
              <a:t>, </a:t>
            </a:r>
            <a:r>
              <a:rPr lang="zh-CN" altLang="en-US" dirty="0"/>
              <a:t>反射通道频率响应</a:t>
            </a:r>
          </a:p>
          <a:p>
            <a:pPr lvl="1"/>
            <a:r>
              <a:rPr lang="zh-CN" altLang="en-US" dirty="0"/>
              <a:t>频响校准</a:t>
            </a:r>
            <a:r>
              <a:rPr lang="en-US" altLang="zh-CN" dirty="0"/>
              <a:t>(</a:t>
            </a:r>
            <a:r>
              <a:rPr lang="zh-CN" altLang="en-US" dirty="0"/>
              <a:t>推荐标准件</a:t>
            </a:r>
            <a:r>
              <a:rPr lang="en-US" altLang="zh-CN" dirty="0"/>
              <a:t>: short)</a:t>
            </a:r>
            <a:r>
              <a:rPr lang="zh-CN" altLang="en-US" dirty="0"/>
              <a:t>消除频响误差</a:t>
            </a:r>
          </a:p>
          <a:p>
            <a:pPr lvl="1"/>
            <a:r>
              <a:rPr lang="en-US" altLang="zh-CN" dirty="0"/>
              <a:t>1-port </a:t>
            </a:r>
            <a:r>
              <a:rPr lang="zh-CN" altLang="en-US" dirty="0"/>
              <a:t>单端校准 消除</a:t>
            </a:r>
            <a:r>
              <a:rPr lang="en-US" altLang="zh-CN" dirty="0"/>
              <a:t>3</a:t>
            </a:r>
            <a:r>
              <a:rPr lang="zh-CN" altLang="en-US" dirty="0"/>
              <a:t>项误差</a:t>
            </a:r>
          </a:p>
          <a:p>
            <a:r>
              <a:rPr lang="zh-CN" altLang="en-US" dirty="0"/>
              <a:t>反射传输测试</a:t>
            </a:r>
          </a:p>
          <a:p>
            <a:pPr lvl="1"/>
            <a:r>
              <a:rPr lang="zh-CN" altLang="en-US" dirty="0"/>
              <a:t>存在</a:t>
            </a:r>
            <a:r>
              <a:rPr lang="en-US" altLang="zh-CN" dirty="0"/>
              <a:t>12</a:t>
            </a:r>
            <a:r>
              <a:rPr lang="zh-CN" altLang="en-US" dirty="0"/>
              <a:t>项误差</a:t>
            </a:r>
          </a:p>
          <a:p>
            <a:r>
              <a:rPr lang="zh-CN" altLang="en-US" dirty="0"/>
              <a:t>频响校准</a:t>
            </a:r>
            <a:r>
              <a:rPr lang="en-US" altLang="zh-CN" dirty="0"/>
              <a:t>( </a:t>
            </a:r>
            <a:r>
              <a:rPr lang="zh-CN" altLang="en-US" dirty="0"/>
              <a:t>校准件</a:t>
            </a:r>
            <a:r>
              <a:rPr lang="en-US" altLang="zh-CN" dirty="0"/>
              <a:t>: through) </a:t>
            </a:r>
            <a:r>
              <a:rPr lang="zh-CN" altLang="en-US" dirty="0"/>
              <a:t>消除频响误差</a:t>
            </a:r>
          </a:p>
          <a:p>
            <a:r>
              <a:rPr lang="en-US" altLang="zh-CN" dirty="0"/>
              <a:t>full 2 port </a:t>
            </a:r>
            <a:r>
              <a:rPr lang="zh-CN" altLang="en-US" dirty="0"/>
              <a:t>双端口校准消除</a:t>
            </a:r>
            <a:r>
              <a:rPr lang="en-US" altLang="zh-CN" dirty="0"/>
              <a:t>12</a:t>
            </a:r>
            <a:r>
              <a:rPr lang="zh-CN" altLang="en-US" dirty="0"/>
              <a:t>项误差</a:t>
            </a:r>
          </a:p>
          <a:p>
            <a:endParaRPr lang="zh-CN" altLang="en-US" dirty="0"/>
          </a:p>
        </p:txBody>
      </p:sp>
      <p:sp>
        <p:nvSpPr>
          <p:cNvPr id="70" name="日期占位符 69"/>
          <p:cNvSpPr>
            <a:spLocks noGrp="1"/>
          </p:cNvSpPr>
          <p:nvPr>
            <p:ph type="dt" sz="half" idx="10"/>
          </p:nvPr>
        </p:nvSpPr>
        <p:spPr/>
        <p:txBody>
          <a:bodyPr/>
          <a:lstStyle/>
          <a:p>
            <a:fld id="{9E38E7F1-E352-46B6-9134-F85A902243E0}" type="datetime3">
              <a:rPr lang="zh-CN" altLang="en-US" smtClean="0"/>
              <a:t>2019年5月6日星期一</a:t>
            </a:fld>
            <a:endParaRPr lang="zh-CN" altLang="en-US"/>
          </a:p>
        </p:txBody>
      </p:sp>
      <p:sp>
        <p:nvSpPr>
          <p:cNvPr id="71" name="页脚占位符 70"/>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72" name="灯片编号占位符 71"/>
          <p:cNvSpPr>
            <a:spLocks noGrp="1"/>
          </p:cNvSpPr>
          <p:nvPr>
            <p:ph type="sldNum" sz="quarter" idx="12"/>
          </p:nvPr>
        </p:nvSpPr>
        <p:spPr/>
        <p:txBody>
          <a:bodyPr/>
          <a:lstStyle/>
          <a:p>
            <a:fld id="{D5BA5A3D-E723-4639-877B-B187790AC552}" type="slidenum">
              <a:rPr lang="zh-CN" altLang="en-US" smtClean="0"/>
              <a:pPr/>
              <a:t>19</a:t>
            </a:fld>
            <a:endParaRPr lang="zh-CN" altLang="en-US"/>
          </a:p>
        </p:txBody>
      </p:sp>
      <p:pic>
        <p:nvPicPr>
          <p:cNvPr id="4"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0037" y="3815846"/>
            <a:ext cx="1779588"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 name="Group 5"/>
          <p:cNvGrpSpPr>
            <a:grpSpLocks/>
          </p:cNvGrpSpPr>
          <p:nvPr/>
        </p:nvGrpSpPr>
        <p:grpSpPr bwMode="auto">
          <a:xfrm>
            <a:off x="8128550" y="1695450"/>
            <a:ext cx="2251075" cy="1560513"/>
            <a:chOff x="3504" y="981"/>
            <a:chExt cx="1418" cy="983"/>
          </a:xfrm>
        </p:grpSpPr>
        <p:sp>
          <p:nvSpPr>
            <p:cNvPr id="6" name="AutoShape 6"/>
            <p:cNvSpPr>
              <a:spLocks noChangeArrowheads="1"/>
            </p:cNvSpPr>
            <p:nvPr/>
          </p:nvSpPr>
          <p:spPr bwMode="auto">
            <a:xfrm flipV="1">
              <a:off x="3520" y="1057"/>
              <a:ext cx="410" cy="206"/>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7" name="AutoShape 7"/>
            <p:cNvSpPr>
              <a:spLocks noChangeArrowheads="1"/>
            </p:cNvSpPr>
            <p:nvPr/>
          </p:nvSpPr>
          <p:spPr bwMode="auto">
            <a:xfrm flipV="1">
              <a:off x="3930" y="1069"/>
              <a:ext cx="195" cy="136"/>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8" name="AutoShape 8"/>
            <p:cNvSpPr>
              <a:spLocks noChangeArrowheads="1"/>
            </p:cNvSpPr>
            <p:nvPr/>
          </p:nvSpPr>
          <p:spPr bwMode="auto">
            <a:xfrm flipV="1">
              <a:off x="4125" y="1103"/>
              <a:ext cx="94" cy="70"/>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9" name="Line 9"/>
            <p:cNvSpPr>
              <a:spLocks noChangeShapeType="1"/>
            </p:cNvSpPr>
            <p:nvPr/>
          </p:nvSpPr>
          <p:spPr bwMode="auto">
            <a:xfrm>
              <a:off x="4134" y="1110"/>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0" name="Line 10"/>
            <p:cNvSpPr>
              <a:spLocks noChangeShapeType="1"/>
            </p:cNvSpPr>
            <p:nvPr/>
          </p:nvSpPr>
          <p:spPr bwMode="auto">
            <a:xfrm>
              <a:off x="4145" y="1110"/>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1" name="Line 11"/>
            <p:cNvSpPr>
              <a:spLocks noChangeShapeType="1"/>
            </p:cNvSpPr>
            <p:nvPr/>
          </p:nvSpPr>
          <p:spPr bwMode="auto">
            <a:xfrm>
              <a:off x="4156" y="1110"/>
              <a:ext cx="6"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2" name="Line 12"/>
            <p:cNvSpPr>
              <a:spLocks noChangeShapeType="1"/>
            </p:cNvSpPr>
            <p:nvPr/>
          </p:nvSpPr>
          <p:spPr bwMode="auto">
            <a:xfrm>
              <a:off x="4169" y="1109"/>
              <a:ext cx="4" cy="5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3" name="Line 13"/>
            <p:cNvSpPr>
              <a:spLocks noChangeShapeType="1"/>
            </p:cNvSpPr>
            <p:nvPr/>
          </p:nvSpPr>
          <p:spPr bwMode="auto">
            <a:xfrm>
              <a:off x="4182" y="1110"/>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4" name="Line 14"/>
            <p:cNvSpPr>
              <a:spLocks noChangeShapeType="1"/>
            </p:cNvSpPr>
            <p:nvPr/>
          </p:nvSpPr>
          <p:spPr bwMode="auto">
            <a:xfrm>
              <a:off x="4195" y="1110"/>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5" name="Line 15"/>
            <p:cNvSpPr>
              <a:spLocks noChangeShapeType="1"/>
            </p:cNvSpPr>
            <p:nvPr/>
          </p:nvSpPr>
          <p:spPr bwMode="auto">
            <a:xfrm>
              <a:off x="4206" y="1110"/>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6" name="AutoShape 16"/>
            <p:cNvSpPr>
              <a:spLocks noChangeArrowheads="1"/>
            </p:cNvSpPr>
            <p:nvPr/>
          </p:nvSpPr>
          <p:spPr bwMode="auto">
            <a:xfrm flipV="1">
              <a:off x="3504" y="981"/>
              <a:ext cx="410" cy="248"/>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7" name="AutoShape 17"/>
            <p:cNvSpPr>
              <a:spLocks noChangeArrowheads="1"/>
            </p:cNvSpPr>
            <p:nvPr/>
          </p:nvSpPr>
          <p:spPr bwMode="auto">
            <a:xfrm flipV="1">
              <a:off x="3914" y="1038"/>
              <a:ext cx="196" cy="136"/>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8" name="AutoShape 18"/>
            <p:cNvSpPr>
              <a:spLocks noChangeArrowheads="1"/>
            </p:cNvSpPr>
            <p:nvPr/>
          </p:nvSpPr>
          <p:spPr bwMode="auto">
            <a:xfrm flipV="1">
              <a:off x="4108" y="1070"/>
              <a:ext cx="96" cy="70"/>
            </a:xfrm>
            <a:prstGeom prst="roundRect">
              <a:avLst>
                <a:gd name="adj" fmla="val 0"/>
              </a:avLst>
            </a:prstGeom>
            <a:gradFill rotWithShape="0">
              <a:gsLst>
                <a:gs pos="0">
                  <a:srgbClr val="C0C0C0"/>
                </a:gs>
                <a:gs pos="50000">
                  <a:srgbClr val="EFEFEF"/>
                </a:gs>
                <a:gs pos="100000">
                  <a:srgbClr val="C0C0C0"/>
                </a:gs>
              </a:gsLst>
              <a:lin ang="189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19" name="Line 19"/>
            <p:cNvSpPr>
              <a:spLocks noChangeShapeType="1"/>
            </p:cNvSpPr>
            <p:nvPr/>
          </p:nvSpPr>
          <p:spPr bwMode="auto">
            <a:xfrm>
              <a:off x="4118" y="1077"/>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0" name="Line 20"/>
            <p:cNvSpPr>
              <a:spLocks noChangeShapeType="1"/>
            </p:cNvSpPr>
            <p:nvPr/>
          </p:nvSpPr>
          <p:spPr bwMode="auto">
            <a:xfrm>
              <a:off x="4129" y="1077"/>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1" name="Line 21"/>
            <p:cNvSpPr>
              <a:spLocks noChangeShapeType="1"/>
            </p:cNvSpPr>
            <p:nvPr/>
          </p:nvSpPr>
          <p:spPr bwMode="auto">
            <a:xfrm>
              <a:off x="4141" y="1077"/>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2" name="Line 22"/>
            <p:cNvSpPr>
              <a:spLocks noChangeShapeType="1"/>
            </p:cNvSpPr>
            <p:nvPr/>
          </p:nvSpPr>
          <p:spPr bwMode="auto">
            <a:xfrm>
              <a:off x="4153" y="1077"/>
              <a:ext cx="3"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3" name="Line 23"/>
            <p:cNvSpPr>
              <a:spLocks noChangeShapeType="1"/>
            </p:cNvSpPr>
            <p:nvPr/>
          </p:nvSpPr>
          <p:spPr bwMode="auto">
            <a:xfrm>
              <a:off x="4165" y="1077"/>
              <a:ext cx="5" cy="5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4" name="Line 24"/>
            <p:cNvSpPr>
              <a:spLocks noChangeShapeType="1"/>
            </p:cNvSpPr>
            <p:nvPr/>
          </p:nvSpPr>
          <p:spPr bwMode="auto">
            <a:xfrm>
              <a:off x="4179" y="1077"/>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5" name="Line 25"/>
            <p:cNvSpPr>
              <a:spLocks noChangeShapeType="1"/>
            </p:cNvSpPr>
            <p:nvPr/>
          </p:nvSpPr>
          <p:spPr bwMode="auto">
            <a:xfrm>
              <a:off x="4190" y="1077"/>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6" name="Text Box 26"/>
            <p:cNvSpPr txBox="1">
              <a:spLocks noChangeArrowheads="1"/>
            </p:cNvSpPr>
            <p:nvPr/>
          </p:nvSpPr>
          <p:spPr bwMode="auto">
            <a:xfrm>
              <a:off x="3567" y="1056"/>
              <a:ext cx="326" cy="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484188" indent="-74613" defTabSz="409575">
                <a:defRPr>
                  <a:solidFill>
                    <a:schemeClr val="tx1"/>
                  </a:solidFill>
                  <a:latin typeface="Arial" panose="020B0604020202020204" pitchFamily="34" charset="0"/>
                  <a:ea typeface="宋体" panose="02010600030101010101" pitchFamily="2" charset="-122"/>
                </a:defRPr>
              </a:lvl2pPr>
              <a:lvl3pPr marL="882650" indent="-61913"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100" b="1" i="1">
                  <a:solidFill>
                    <a:srgbClr val="000000"/>
                  </a:solidFill>
                  <a:latin typeface="ITCCentury Book" charset="0"/>
                </a:rPr>
                <a:t>SHORT</a:t>
              </a:r>
              <a:endParaRPr lang="en-US" altLang="zh-CN" sz="2200">
                <a:latin typeface="Times New Roman" panose="02020603050405020304" pitchFamily="18" charset="0"/>
              </a:endParaRPr>
            </a:p>
          </p:txBody>
        </p:sp>
        <p:sp>
          <p:nvSpPr>
            <p:cNvPr id="27" name="AutoShape 27"/>
            <p:cNvSpPr>
              <a:spLocks noChangeArrowheads="1"/>
            </p:cNvSpPr>
            <p:nvPr/>
          </p:nvSpPr>
          <p:spPr bwMode="auto">
            <a:xfrm flipV="1">
              <a:off x="3861" y="1407"/>
              <a:ext cx="410" cy="206"/>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8" name="AutoShape 28"/>
            <p:cNvSpPr>
              <a:spLocks noChangeArrowheads="1"/>
            </p:cNvSpPr>
            <p:nvPr/>
          </p:nvSpPr>
          <p:spPr bwMode="auto">
            <a:xfrm flipV="1">
              <a:off x="4271" y="1420"/>
              <a:ext cx="195" cy="137"/>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29" name="AutoShape 29"/>
            <p:cNvSpPr>
              <a:spLocks noChangeArrowheads="1"/>
            </p:cNvSpPr>
            <p:nvPr/>
          </p:nvSpPr>
          <p:spPr bwMode="auto">
            <a:xfrm flipV="1">
              <a:off x="4465" y="1453"/>
              <a:ext cx="96" cy="71"/>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0" name="Line 30"/>
            <p:cNvSpPr>
              <a:spLocks noChangeShapeType="1"/>
            </p:cNvSpPr>
            <p:nvPr/>
          </p:nvSpPr>
          <p:spPr bwMode="auto">
            <a:xfrm>
              <a:off x="4475" y="1461"/>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1" name="Line 31"/>
            <p:cNvSpPr>
              <a:spLocks noChangeShapeType="1"/>
            </p:cNvSpPr>
            <p:nvPr/>
          </p:nvSpPr>
          <p:spPr bwMode="auto">
            <a:xfrm>
              <a:off x="4487" y="1461"/>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2" name="Line 32"/>
            <p:cNvSpPr>
              <a:spLocks noChangeShapeType="1"/>
            </p:cNvSpPr>
            <p:nvPr/>
          </p:nvSpPr>
          <p:spPr bwMode="auto">
            <a:xfrm>
              <a:off x="4499" y="1460"/>
              <a:ext cx="5" cy="5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3" name="Line 33"/>
            <p:cNvSpPr>
              <a:spLocks noChangeShapeType="1"/>
            </p:cNvSpPr>
            <p:nvPr/>
          </p:nvSpPr>
          <p:spPr bwMode="auto">
            <a:xfrm>
              <a:off x="4510" y="1460"/>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4" name="Line 34"/>
            <p:cNvSpPr>
              <a:spLocks noChangeShapeType="1"/>
            </p:cNvSpPr>
            <p:nvPr/>
          </p:nvSpPr>
          <p:spPr bwMode="auto">
            <a:xfrm>
              <a:off x="4524" y="1461"/>
              <a:ext cx="3"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5" name="Line 35"/>
            <p:cNvSpPr>
              <a:spLocks noChangeShapeType="1"/>
            </p:cNvSpPr>
            <p:nvPr/>
          </p:nvSpPr>
          <p:spPr bwMode="auto">
            <a:xfrm>
              <a:off x="4536" y="1461"/>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6" name="Line 36"/>
            <p:cNvSpPr>
              <a:spLocks noChangeShapeType="1"/>
            </p:cNvSpPr>
            <p:nvPr/>
          </p:nvSpPr>
          <p:spPr bwMode="auto">
            <a:xfrm>
              <a:off x="4548" y="1460"/>
              <a:ext cx="5" cy="5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7" name="AutoShape 37"/>
            <p:cNvSpPr>
              <a:spLocks noChangeArrowheads="1"/>
            </p:cNvSpPr>
            <p:nvPr/>
          </p:nvSpPr>
          <p:spPr bwMode="auto">
            <a:xfrm flipV="1">
              <a:off x="3845" y="1333"/>
              <a:ext cx="410" cy="247"/>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8" name="AutoShape 38"/>
            <p:cNvSpPr>
              <a:spLocks noChangeArrowheads="1"/>
            </p:cNvSpPr>
            <p:nvPr/>
          </p:nvSpPr>
          <p:spPr bwMode="auto">
            <a:xfrm flipV="1">
              <a:off x="4255" y="1388"/>
              <a:ext cx="196" cy="138"/>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39" name="AutoShape 39"/>
            <p:cNvSpPr>
              <a:spLocks noChangeArrowheads="1"/>
            </p:cNvSpPr>
            <p:nvPr/>
          </p:nvSpPr>
          <p:spPr bwMode="auto">
            <a:xfrm flipV="1">
              <a:off x="4450" y="1421"/>
              <a:ext cx="95" cy="70"/>
            </a:xfrm>
            <a:prstGeom prst="roundRect">
              <a:avLst>
                <a:gd name="adj" fmla="val 0"/>
              </a:avLst>
            </a:prstGeom>
            <a:gradFill rotWithShape="0">
              <a:gsLst>
                <a:gs pos="0">
                  <a:srgbClr val="C0C0C0"/>
                </a:gs>
                <a:gs pos="50000">
                  <a:srgbClr val="EFEFEF"/>
                </a:gs>
                <a:gs pos="100000">
                  <a:srgbClr val="C0C0C0"/>
                </a:gs>
              </a:gsLst>
              <a:lin ang="189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0" name="Line 40"/>
            <p:cNvSpPr>
              <a:spLocks noChangeShapeType="1"/>
            </p:cNvSpPr>
            <p:nvPr/>
          </p:nvSpPr>
          <p:spPr bwMode="auto">
            <a:xfrm>
              <a:off x="4458" y="1428"/>
              <a:ext cx="6"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1" name="Line 41"/>
            <p:cNvSpPr>
              <a:spLocks noChangeShapeType="1"/>
            </p:cNvSpPr>
            <p:nvPr/>
          </p:nvSpPr>
          <p:spPr bwMode="auto">
            <a:xfrm>
              <a:off x="4471" y="1428"/>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2" name="Line 42"/>
            <p:cNvSpPr>
              <a:spLocks noChangeShapeType="1"/>
            </p:cNvSpPr>
            <p:nvPr/>
          </p:nvSpPr>
          <p:spPr bwMode="auto">
            <a:xfrm>
              <a:off x="4483" y="1428"/>
              <a:ext cx="4" cy="5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3" name="Line 43"/>
            <p:cNvSpPr>
              <a:spLocks noChangeShapeType="1"/>
            </p:cNvSpPr>
            <p:nvPr/>
          </p:nvSpPr>
          <p:spPr bwMode="auto">
            <a:xfrm>
              <a:off x="4495" y="1428"/>
              <a:ext cx="4" cy="5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4" name="Line 44"/>
            <p:cNvSpPr>
              <a:spLocks noChangeShapeType="1"/>
            </p:cNvSpPr>
            <p:nvPr/>
          </p:nvSpPr>
          <p:spPr bwMode="auto">
            <a:xfrm>
              <a:off x="4507" y="1429"/>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5" name="Line 45"/>
            <p:cNvSpPr>
              <a:spLocks noChangeShapeType="1"/>
            </p:cNvSpPr>
            <p:nvPr/>
          </p:nvSpPr>
          <p:spPr bwMode="auto">
            <a:xfrm>
              <a:off x="4520" y="1428"/>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6" name="Line 46"/>
            <p:cNvSpPr>
              <a:spLocks noChangeShapeType="1"/>
            </p:cNvSpPr>
            <p:nvPr/>
          </p:nvSpPr>
          <p:spPr bwMode="auto">
            <a:xfrm>
              <a:off x="4532" y="1428"/>
              <a:ext cx="4" cy="5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7" name="Text Box 47"/>
            <p:cNvSpPr txBox="1">
              <a:spLocks noChangeArrowheads="1"/>
            </p:cNvSpPr>
            <p:nvPr/>
          </p:nvSpPr>
          <p:spPr bwMode="auto">
            <a:xfrm>
              <a:off x="3932" y="1407"/>
              <a:ext cx="266" cy="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484188" indent="-74613" defTabSz="409575">
                <a:defRPr>
                  <a:solidFill>
                    <a:schemeClr val="tx1"/>
                  </a:solidFill>
                  <a:latin typeface="Arial" panose="020B0604020202020204" pitchFamily="34" charset="0"/>
                  <a:ea typeface="宋体" panose="02010600030101010101" pitchFamily="2" charset="-122"/>
                </a:defRPr>
              </a:lvl2pPr>
              <a:lvl3pPr marL="882650" indent="-61913"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100" b="1" i="1">
                  <a:solidFill>
                    <a:srgbClr val="000000"/>
                  </a:solidFill>
                  <a:latin typeface="ITCCentury Book" charset="0"/>
                </a:rPr>
                <a:t>OPEN</a:t>
              </a:r>
              <a:endParaRPr lang="en-US" altLang="zh-CN" sz="2200">
                <a:latin typeface="Times New Roman" panose="02020603050405020304" pitchFamily="18" charset="0"/>
              </a:endParaRPr>
            </a:p>
          </p:txBody>
        </p:sp>
        <p:sp>
          <p:nvSpPr>
            <p:cNvPr id="48" name="AutoShape 48"/>
            <p:cNvSpPr>
              <a:spLocks noChangeArrowheads="1"/>
            </p:cNvSpPr>
            <p:nvPr/>
          </p:nvSpPr>
          <p:spPr bwMode="auto">
            <a:xfrm flipV="1">
              <a:off x="4222" y="1755"/>
              <a:ext cx="410" cy="209"/>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49" name="AutoShape 49"/>
            <p:cNvSpPr>
              <a:spLocks noChangeArrowheads="1"/>
            </p:cNvSpPr>
            <p:nvPr/>
          </p:nvSpPr>
          <p:spPr bwMode="auto">
            <a:xfrm flipV="1">
              <a:off x="4631" y="1771"/>
              <a:ext cx="196" cy="138"/>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0" name="AutoShape 50"/>
            <p:cNvSpPr>
              <a:spLocks noChangeArrowheads="1"/>
            </p:cNvSpPr>
            <p:nvPr/>
          </p:nvSpPr>
          <p:spPr bwMode="auto">
            <a:xfrm flipV="1">
              <a:off x="4826" y="1804"/>
              <a:ext cx="96" cy="71"/>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1" name="Line 51"/>
            <p:cNvSpPr>
              <a:spLocks noChangeShapeType="1"/>
            </p:cNvSpPr>
            <p:nvPr/>
          </p:nvSpPr>
          <p:spPr bwMode="auto">
            <a:xfrm>
              <a:off x="4836" y="1811"/>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2" name="Line 52"/>
            <p:cNvSpPr>
              <a:spLocks noChangeShapeType="1"/>
            </p:cNvSpPr>
            <p:nvPr/>
          </p:nvSpPr>
          <p:spPr bwMode="auto">
            <a:xfrm>
              <a:off x="4847" y="1811"/>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3" name="Line 53"/>
            <p:cNvSpPr>
              <a:spLocks noChangeShapeType="1"/>
            </p:cNvSpPr>
            <p:nvPr/>
          </p:nvSpPr>
          <p:spPr bwMode="auto">
            <a:xfrm>
              <a:off x="4859" y="1811"/>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4" name="Line 54"/>
            <p:cNvSpPr>
              <a:spLocks noChangeShapeType="1"/>
            </p:cNvSpPr>
            <p:nvPr/>
          </p:nvSpPr>
          <p:spPr bwMode="auto">
            <a:xfrm>
              <a:off x="4871" y="1811"/>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5" name="Line 55"/>
            <p:cNvSpPr>
              <a:spLocks noChangeShapeType="1"/>
            </p:cNvSpPr>
            <p:nvPr/>
          </p:nvSpPr>
          <p:spPr bwMode="auto">
            <a:xfrm>
              <a:off x="4884" y="1812"/>
              <a:ext cx="3" cy="5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6" name="Line 56"/>
            <p:cNvSpPr>
              <a:spLocks noChangeShapeType="1"/>
            </p:cNvSpPr>
            <p:nvPr/>
          </p:nvSpPr>
          <p:spPr bwMode="auto">
            <a:xfrm>
              <a:off x="4896" y="1811"/>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7" name="Line 57"/>
            <p:cNvSpPr>
              <a:spLocks noChangeShapeType="1"/>
            </p:cNvSpPr>
            <p:nvPr/>
          </p:nvSpPr>
          <p:spPr bwMode="auto">
            <a:xfrm>
              <a:off x="4908" y="1811"/>
              <a:ext cx="5"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8" name="AutoShape 58"/>
            <p:cNvSpPr>
              <a:spLocks noChangeArrowheads="1"/>
            </p:cNvSpPr>
            <p:nvPr/>
          </p:nvSpPr>
          <p:spPr bwMode="auto">
            <a:xfrm flipV="1">
              <a:off x="4205" y="1684"/>
              <a:ext cx="410" cy="247"/>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59" name="AutoShape 59"/>
            <p:cNvSpPr>
              <a:spLocks noChangeArrowheads="1"/>
            </p:cNvSpPr>
            <p:nvPr/>
          </p:nvSpPr>
          <p:spPr bwMode="auto">
            <a:xfrm flipV="1">
              <a:off x="4615" y="1738"/>
              <a:ext cx="196" cy="137"/>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0" name="AutoShape 60"/>
            <p:cNvSpPr>
              <a:spLocks noChangeArrowheads="1"/>
            </p:cNvSpPr>
            <p:nvPr/>
          </p:nvSpPr>
          <p:spPr bwMode="auto">
            <a:xfrm flipV="1">
              <a:off x="4810" y="1772"/>
              <a:ext cx="95" cy="70"/>
            </a:xfrm>
            <a:prstGeom prst="roundRect">
              <a:avLst>
                <a:gd name="adj" fmla="val 0"/>
              </a:avLst>
            </a:prstGeom>
            <a:gradFill rotWithShape="0">
              <a:gsLst>
                <a:gs pos="0">
                  <a:srgbClr val="C0C0C0"/>
                </a:gs>
                <a:gs pos="50000">
                  <a:srgbClr val="EFEFEF"/>
                </a:gs>
                <a:gs pos="100000">
                  <a:srgbClr val="C0C0C0"/>
                </a:gs>
              </a:gsLst>
              <a:lin ang="189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1" name="Line 61"/>
            <p:cNvSpPr>
              <a:spLocks noChangeShapeType="1"/>
            </p:cNvSpPr>
            <p:nvPr/>
          </p:nvSpPr>
          <p:spPr bwMode="auto">
            <a:xfrm>
              <a:off x="4819" y="1780"/>
              <a:ext cx="5" cy="5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2" name="Line 62"/>
            <p:cNvSpPr>
              <a:spLocks noChangeShapeType="1"/>
            </p:cNvSpPr>
            <p:nvPr/>
          </p:nvSpPr>
          <p:spPr bwMode="auto">
            <a:xfrm>
              <a:off x="4831" y="1780"/>
              <a:ext cx="5" cy="5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3" name="Line 63"/>
            <p:cNvSpPr>
              <a:spLocks noChangeShapeType="1"/>
            </p:cNvSpPr>
            <p:nvPr/>
          </p:nvSpPr>
          <p:spPr bwMode="auto">
            <a:xfrm>
              <a:off x="4843" y="1779"/>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4" name="Line 64"/>
            <p:cNvSpPr>
              <a:spLocks noChangeShapeType="1"/>
            </p:cNvSpPr>
            <p:nvPr/>
          </p:nvSpPr>
          <p:spPr bwMode="auto">
            <a:xfrm>
              <a:off x="4855" y="1779"/>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5" name="Line 65"/>
            <p:cNvSpPr>
              <a:spLocks noChangeShapeType="1"/>
            </p:cNvSpPr>
            <p:nvPr/>
          </p:nvSpPr>
          <p:spPr bwMode="auto">
            <a:xfrm>
              <a:off x="4867" y="1780"/>
              <a:ext cx="5" cy="5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6" name="Line 66"/>
            <p:cNvSpPr>
              <a:spLocks noChangeShapeType="1"/>
            </p:cNvSpPr>
            <p:nvPr/>
          </p:nvSpPr>
          <p:spPr bwMode="auto">
            <a:xfrm>
              <a:off x="4880" y="1780"/>
              <a:ext cx="5" cy="5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7" name="Line 67"/>
            <p:cNvSpPr>
              <a:spLocks noChangeShapeType="1"/>
            </p:cNvSpPr>
            <p:nvPr/>
          </p:nvSpPr>
          <p:spPr bwMode="auto">
            <a:xfrm>
              <a:off x="4892" y="1779"/>
              <a:ext cx="4" cy="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p>
          </p:txBody>
        </p:sp>
        <p:sp>
          <p:nvSpPr>
            <p:cNvPr id="68" name="Text Box 68"/>
            <p:cNvSpPr txBox="1">
              <a:spLocks noChangeArrowheads="1"/>
            </p:cNvSpPr>
            <p:nvPr/>
          </p:nvSpPr>
          <p:spPr bwMode="auto">
            <a:xfrm>
              <a:off x="4296" y="1755"/>
              <a:ext cx="262" cy="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484188" indent="-74613" defTabSz="409575">
                <a:defRPr>
                  <a:solidFill>
                    <a:schemeClr val="tx1"/>
                  </a:solidFill>
                  <a:latin typeface="Arial" panose="020B0604020202020204" pitchFamily="34" charset="0"/>
                  <a:ea typeface="宋体" panose="02010600030101010101" pitchFamily="2" charset="-122"/>
                </a:defRPr>
              </a:lvl2pPr>
              <a:lvl3pPr marL="882650" indent="-61913"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100" b="1" i="1">
                  <a:solidFill>
                    <a:srgbClr val="000000"/>
                  </a:solidFill>
                  <a:latin typeface="ITCCentury Book" charset="0"/>
                </a:rPr>
                <a:t>LOAD</a:t>
              </a:r>
              <a:endParaRPr lang="en-US" altLang="zh-CN" sz="2200">
                <a:latin typeface="Times New Roman" panose="02020603050405020304" pitchFamily="18" charset="0"/>
              </a:endParaRPr>
            </a:p>
          </p:txBody>
        </p:sp>
      </p:grpSp>
    </p:spTree>
    <p:extLst>
      <p:ext uri="{BB962C8B-B14F-4D97-AF65-F5344CB8AC3E}">
        <p14:creationId xmlns:p14="http://schemas.microsoft.com/office/powerpoint/2010/main" val="399681443"/>
      </p:ext>
    </p:extLst>
  </p:cSld>
  <p:clrMapOvr>
    <a:masterClrMapping/>
  </p:clrMapOvr>
  <p:transition spd="slow">
    <p:push di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TRL</a:t>
            </a:r>
            <a:r>
              <a:rPr lang="zh-CN" altLang="en-US" dirty="0"/>
              <a:t>校准（</a:t>
            </a:r>
            <a:r>
              <a:rPr lang="en-US" altLang="zh-CN" dirty="0"/>
              <a:t>Thru-Reflect-Line</a:t>
            </a:r>
            <a:r>
              <a:rPr lang="zh-CN" altLang="en-US" dirty="0" smtClean="0"/>
              <a:t>）特点</a:t>
            </a:r>
            <a:endParaRPr lang="zh-CN" altLang="en-US" dirty="0"/>
          </a:p>
        </p:txBody>
      </p:sp>
      <p:sp>
        <p:nvSpPr>
          <p:cNvPr id="197" name="内容占位符 196"/>
          <p:cNvSpPr>
            <a:spLocks noGrp="1"/>
          </p:cNvSpPr>
          <p:nvPr>
            <p:ph idx="1"/>
          </p:nvPr>
        </p:nvSpPr>
        <p:spPr/>
        <p:txBody>
          <a:bodyPr/>
          <a:lstStyle/>
          <a:p>
            <a:endParaRPr lang="zh-CN" altLang="en-US"/>
          </a:p>
        </p:txBody>
      </p:sp>
      <p:sp>
        <p:nvSpPr>
          <p:cNvPr id="198" name="日期占位符 197"/>
          <p:cNvSpPr>
            <a:spLocks noGrp="1"/>
          </p:cNvSpPr>
          <p:nvPr>
            <p:ph type="dt" sz="half" idx="10"/>
          </p:nvPr>
        </p:nvSpPr>
        <p:spPr/>
        <p:txBody>
          <a:bodyPr/>
          <a:lstStyle/>
          <a:p>
            <a:fld id="{D75CC2B7-4610-49DD-8FF5-F614BD097C16}" type="datetime3">
              <a:rPr lang="zh-CN" altLang="en-US" smtClean="0"/>
              <a:t>2019年5月6日星期一</a:t>
            </a:fld>
            <a:endParaRPr lang="zh-CN" altLang="en-US"/>
          </a:p>
        </p:txBody>
      </p:sp>
      <p:sp>
        <p:nvSpPr>
          <p:cNvPr id="199" name="页脚占位符 198"/>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200" name="灯片编号占位符 199"/>
          <p:cNvSpPr>
            <a:spLocks noGrp="1"/>
          </p:cNvSpPr>
          <p:nvPr>
            <p:ph type="sldNum" sz="quarter" idx="12"/>
          </p:nvPr>
        </p:nvSpPr>
        <p:spPr/>
        <p:txBody>
          <a:bodyPr/>
          <a:lstStyle/>
          <a:p>
            <a:fld id="{D5BA5A3D-E723-4639-877B-B187790AC552}" type="slidenum">
              <a:rPr lang="zh-CN" altLang="en-US" smtClean="0"/>
              <a:pPr/>
              <a:t>20</a:t>
            </a:fld>
            <a:endParaRPr lang="zh-CN" altLang="en-US"/>
          </a:p>
        </p:txBody>
      </p:sp>
      <p:sp>
        <p:nvSpPr>
          <p:cNvPr id="3" name="Text Box 4"/>
          <p:cNvSpPr txBox="1">
            <a:spLocks noChangeArrowheads="1"/>
          </p:cNvSpPr>
          <p:nvPr/>
        </p:nvSpPr>
        <p:spPr bwMode="auto">
          <a:xfrm>
            <a:off x="842675" y="1587499"/>
            <a:ext cx="8883650" cy="4264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573088" indent="-163513" defTabSz="409575">
              <a:defRPr>
                <a:solidFill>
                  <a:schemeClr val="tx1"/>
                </a:solidFill>
                <a:latin typeface="Arial" panose="020B0604020202020204" pitchFamily="34" charset="0"/>
                <a:ea typeface="宋体" panose="02010600030101010101" pitchFamily="2" charset="-122"/>
              </a:defRPr>
            </a:lvl2pPr>
            <a:lvl3pPr marL="915988" indent="-95250"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0" hangingPunct="0">
              <a:lnSpc>
                <a:spcPct val="150000"/>
              </a:lnSpc>
              <a:buClr>
                <a:srgbClr val="000000"/>
              </a:buClr>
              <a:buSzPct val="46000"/>
              <a:buFont typeface="Monotype Sorts" pitchFamily="2" charset="2"/>
              <a:buChar char="l"/>
            </a:pPr>
            <a:r>
              <a:rPr lang="zh-CN" altLang="en-US" sz="2400" dirty="0" smtClean="0">
                <a:solidFill>
                  <a:srgbClr val="000000"/>
                </a:solidFill>
                <a:latin typeface="微软雅黑" panose="020B0503020204020204" pitchFamily="34" charset="-122"/>
                <a:ea typeface="微软雅黑" panose="020B0503020204020204" pitchFamily="34" charset="-122"/>
              </a:rPr>
              <a:t>双端口校准技术</a:t>
            </a:r>
          </a:p>
          <a:p>
            <a:pPr lvl="1" eaLnBrk="0" hangingPunct="0">
              <a:lnSpc>
                <a:spcPct val="150000"/>
              </a:lnSpc>
              <a:buClr>
                <a:srgbClr val="000000"/>
              </a:buClr>
              <a:buSzPct val="46000"/>
              <a:buFont typeface="Monotype Sorts" pitchFamily="2" charset="2"/>
              <a:buChar char="l"/>
            </a:pPr>
            <a:r>
              <a:rPr lang="zh-CN" altLang="en-US" sz="2400" dirty="0" smtClean="0">
                <a:solidFill>
                  <a:srgbClr val="000000"/>
                </a:solidFill>
                <a:latin typeface="微软雅黑" panose="020B0503020204020204" pitchFamily="34" charset="-122"/>
                <a:ea typeface="微软雅黑" panose="020B0503020204020204" pitchFamily="34" charset="-122"/>
              </a:rPr>
              <a:t>适合</a:t>
            </a:r>
            <a:r>
              <a:rPr lang="zh-CN" altLang="en-US" sz="2400" dirty="0">
                <a:solidFill>
                  <a:srgbClr val="000000"/>
                </a:solidFill>
                <a:latin typeface="微软雅黑" panose="020B0503020204020204" pitchFamily="34" charset="-122"/>
                <a:ea typeface="微软雅黑" panose="020B0503020204020204" pitchFamily="34" charset="-122"/>
              </a:rPr>
              <a:t>非同轴系统测试 </a:t>
            </a:r>
            <a:r>
              <a:rPr lang="en-US" altLang="zh-CN" sz="2400" dirty="0">
                <a:solidFill>
                  <a:srgbClr val="000000"/>
                </a:solidFill>
                <a:latin typeface="微软雅黑" panose="020B0503020204020204" pitchFamily="34" charset="-122"/>
                <a:ea typeface="微软雅黑" panose="020B0503020204020204" pitchFamily="34" charset="-122"/>
              </a:rPr>
              <a:t>(waveguide, fixtures, wafer probing)</a:t>
            </a:r>
          </a:p>
          <a:p>
            <a:pPr lvl="1" eaLnBrk="0" hangingPunct="0">
              <a:lnSpc>
                <a:spcPct val="150000"/>
              </a:lnSpc>
              <a:buClr>
                <a:srgbClr val="000000"/>
              </a:buClr>
              <a:buSzPct val="46000"/>
              <a:buFont typeface="Monotype Sorts" pitchFamily="2" charset="2"/>
              <a:buChar char="l"/>
            </a:pPr>
            <a:r>
              <a:rPr lang="zh-CN" altLang="en-US" sz="2400" dirty="0">
                <a:solidFill>
                  <a:srgbClr val="000000"/>
                </a:solidFill>
                <a:latin typeface="微软雅黑" panose="020B0503020204020204" pitchFamily="34" charset="-122"/>
                <a:ea typeface="微软雅黑" panose="020B0503020204020204" pitchFamily="34" charset="-122"/>
              </a:rPr>
              <a:t>与</a:t>
            </a:r>
            <a:r>
              <a:rPr lang="en-US" altLang="zh-CN" sz="2400" dirty="0">
                <a:solidFill>
                  <a:srgbClr val="000000"/>
                </a:solidFill>
                <a:latin typeface="微软雅黑" panose="020B0503020204020204" pitchFamily="34" charset="-122"/>
                <a:ea typeface="微软雅黑" panose="020B0503020204020204" pitchFamily="34" charset="-122"/>
              </a:rPr>
              <a:t>SOLT </a:t>
            </a:r>
            <a:r>
              <a:rPr lang="zh-CN" altLang="en-US" sz="2400" dirty="0">
                <a:solidFill>
                  <a:srgbClr val="000000"/>
                </a:solidFill>
                <a:latin typeface="微软雅黑" panose="020B0503020204020204" pitchFamily="34" charset="-122"/>
                <a:ea typeface="微软雅黑" panose="020B0503020204020204" pitchFamily="34" charset="-122"/>
              </a:rPr>
              <a:t>校准使用相同的</a:t>
            </a:r>
            <a:r>
              <a:rPr lang="en-US" altLang="zh-CN" sz="2400" dirty="0">
                <a:solidFill>
                  <a:srgbClr val="000000"/>
                </a:solidFill>
                <a:latin typeface="微软雅黑" panose="020B0503020204020204" pitchFamily="34" charset="-122"/>
                <a:ea typeface="微软雅黑" panose="020B0503020204020204" pitchFamily="34" charset="-122"/>
              </a:rPr>
              <a:t>12</a:t>
            </a:r>
            <a:r>
              <a:rPr lang="zh-CN" altLang="en-US" sz="2400" dirty="0">
                <a:solidFill>
                  <a:srgbClr val="000000"/>
                </a:solidFill>
                <a:latin typeface="微软雅黑" panose="020B0503020204020204" pitchFamily="34" charset="-122"/>
                <a:ea typeface="微软雅黑" panose="020B0503020204020204" pitchFamily="34" charset="-122"/>
              </a:rPr>
              <a:t>项误差模型</a:t>
            </a:r>
          </a:p>
          <a:p>
            <a:pPr lvl="1" eaLnBrk="0" hangingPunct="0">
              <a:lnSpc>
                <a:spcPct val="150000"/>
              </a:lnSpc>
              <a:buClr>
                <a:srgbClr val="000000"/>
              </a:buClr>
              <a:buSzPct val="46000"/>
              <a:buFont typeface="Monotype Sorts" pitchFamily="2" charset="2"/>
              <a:buChar char="l"/>
            </a:pPr>
            <a:r>
              <a:rPr lang="zh-CN" altLang="en-US" sz="2400" dirty="0">
                <a:solidFill>
                  <a:srgbClr val="000000"/>
                </a:solidFill>
                <a:latin typeface="微软雅黑" panose="020B0503020204020204" pitchFamily="34" charset="-122"/>
                <a:ea typeface="微软雅黑" panose="020B0503020204020204" pitchFamily="34" charset="-122"/>
              </a:rPr>
              <a:t>要求网络分析仪 </a:t>
            </a:r>
            <a:r>
              <a:rPr lang="en-US" altLang="zh-CN" sz="2400" dirty="0">
                <a:solidFill>
                  <a:srgbClr val="000000"/>
                </a:solidFill>
                <a:latin typeface="微软雅黑" panose="020B0503020204020204" pitchFamily="34" charset="-122"/>
                <a:ea typeface="微软雅黑" panose="020B0503020204020204" pitchFamily="34" charset="-122"/>
              </a:rPr>
              <a:t>4 </a:t>
            </a:r>
            <a:r>
              <a:rPr lang="zh-CN" altLang="en-US" sz="2400" dirty="0">
                <a:solidFill>
                  <a:srgbClr val="000000"/>
                </a:solidFill>
                <a:latin typeface="微软雅黑" panose="020B0503020204020204" pitchFamily="34" charset="-122"/>
                <a:ea typeface="微软雅黑" panose="020B0503020204020204" pitchFamily="34" charset="-122"/>
              </a:rPr>
              <a:t>接收机</a:t>
            </a:r>
            <a:r>
              <a:rPr lang="en-US" altLang="zh-CN" sz="2400" dirty="0">
                <a:solidFill>
                  <a:srgbClr val="000000"/>
                </a:solidFill>
                <a:latin typeface="微软雅黑" panose="020B0503020204020204" pitchFamily="34" charset="-122"/>
                <a:ea typeface="微软雅黑" panose="020B0503020204020204" pitchFamily="34" charset="-122"/>
              </a:rPr>
              <a:t>, 3 </a:t>
            </a:r>
            <a:r>
              <a:rPr lang="zh-CN" altLang="en-US" sz="2400" dirty="0">
                <a:solidFill>
                  <a:srgbClr val="000000"/>
                </a:solidFill>
                <a:latin typeface="微软雅黑" panose="020B0503020204020204" pitchFamily="34" charset="-122"/>
                <a:ea typeface="微软雅黑" panose="020B0503020204020204" pitchFamily="34" charset="-122"/>
              </a:rPr>
              <a:t>接收机支持</a:t>
            </a:r>
            <a:r>
              <a:rPr lang="en-US" altLang="zh-CN" sz="2400" dirty="0">
                <a:solidFill>
                  <a:srgbClr val="000000"/>
                </a:solidFill>
                <a:latin typeface="微软雅黑" panose="020B0503020204020204" pitchFamily="34" charset="-122"/>
                <a:ea typeface="微软雅黑" panose="020B0503020204020204" pitchFamily="34" charset="-122"/>
              </a:rPr>
              <a:t>TRL*</a:t>
            </a:r>
            <a:r>
              <a:rPr lang="zh-CN" altLang="en-US" sz="2400" dirty="0" smtClean="0">
                <a:solidFill>
                  <a:srgbClr val="000000"/>
                </a:solidFill>
                <a:latin typeface="微软雅黑" panose="020B0503020204020204" pitchFamily="34" charset="-122"/>
                <a:ea typeface="微软雅黑" panose="020B0503020204020204" pitchFamily="34" charset="-122"/>
              </a:rPr>
              <a:t>校准</a:t>
            </a:r>
            <a:endParaRPr lang="zh-CN" altLang="en-US" sz="2400" dirty="0">
              <a:solidFill>
                <a:srgbClr val="000000"/>
              </a:solidFill>
              <a:latin typeface="微软雅黑" panose="020B0503020204020204" pitchFamily="34" charset="-122"/>
              <a:ea typeface="微软雅黑" panose="020B0503020204020204" pitchFamily="34" charset="-122"/>
            </a:endParaRPr>
          </a:p>
          <a:p>
            <a:pPr eaLnBrk="0" hangingPunct="0">
              <a:lnSpc>
                <a:spcPct val="150000"/>
              </a:lnSpc>
              <a:buClr>
                <a:srgbClr val="000000"/>
              </a:buClr>
              <a:buSzPct val="46000"/>
              <a:buFont typeface="Monotype Sorts" pitchFamily="2" charset="2"/>
              <a:buChar char="l"/>
            </a:pPr>
            <a:r>
              <a:rPr lang="zh-CN" altLang="en-US" sz="2400" dirty="0">
                <a:solidFill>
                  <a:srgbClr val="000000"/>
                </a:solidFill>
                <a:latin typeface="微软雅黑" panose="020B0503020204020204" pitchFamily="34" charset="-122"/>
                <a:ea typeface="微软雅黑" panose="020B0503020204020204" pitchFamily="34" charset="-122"/>
              </a:rPr>
              <a:t>其它校准</a:t>
            </a:r>
            <a:r>
              <a:rPr lang="zh-CN" altLang="en-US" sz="2400" dirty="0" smtClean="0">
                <a:solidFill>
                  <a:srgbClr val="000000"/>
                </a:solidFill>
                <a:latin typeface="微软雅黑" panose="020B0503020204020204" pitchFamily="34" charset="-122"/>
                <a:ea typeface="微软雅黑" panose="020B0503020204020204" pitchFamily="34" charset="-122"/>
              </a:rPr>
              <a:t>方法</a:t>
            </a:r>
            <a:endParaRPr lang="en-US" altLang="zh-CN" sz="2400" dirty="0">
              <a:solidFill>
                <a:srgbClr val="000000"/>
              </a:solidFill>
              <a:latin typeface="微软雅黑" panose="020B0503020204020204" pitchFamily="34" charset="-122"/>
              <a:ea typeface="微软雅黑" panose="020B0503020204020204" pitchFamily="34" charset="-122"/>
            </a:endParaRPr>
          </a:p>
          <a:p>
            <a:pPr lvl="1" eaLnBrk="0" hangingPunct="0">
              <a:lnSpc>
                <a:spcPct val="150000"/>
              </a:lnSpc>
              <a:buClr>
                <a:srgbClr val="000000"/>
              </a:buClr>
              <a:buSzPct val="46000"/>
              <a:buFont typeface="Monotype Sorts" pitchFamily="2" charset="2"/>
              <a:buChar char="l"/>
            </a:pPr>
            <a:r>
              <a:rPr lang="en-US" altLang="zh-CN" sz="2400" dirty="0">
                <a:solidFill>
                  <a:srgbClr val="000000"/>
                </a:solidFill>
                <a:latin typeface="微软雅黑" panose="020B0503020204020204" pitchFamily="34" charset="-122"/>
                <a:ea typeface="微软雅黑" panose="020B0503020204020204" pitchFamily="34" charset="-122"/>
              </a:rPr>
              <a:t> Line-Reflect-Match (LRM), Thru-Reflect-Match (TRM)</a:t>
            </a:r>
            <a:endParaRPr lang="en-US" altLang="zh-CN" sz="2800" dirty="0">
              <a:latin typeface="微软雅黑" panose="020B0503020204020204" pitchFamily="34" charset="-122"/>
              <a:ea typeface="微软雅黑" panose="020B0503020204020204" pitchFamily="34" charset="-122"/>
            </a:endParaRPr>
          </a:p>
        </p:txBody>
      </p:sp>
      <p:grpSp>
        <p:nvGrpSpPr>
          <p:cNvPr id="4" name="组合 3"/>
          <p:cNvGrpSpPr/>
          <p:nvPr/>
        </p:nvGrpSpPr>
        <p:grpSpPr>
          <a:xfrm>
            <a:off x="2720975" y="5114388"/>
            <a:ext cx="6750050" cy="862013"/>
            <a:chOff x="2530476" y="4832350"/>
            <a:chExt cx="6750050" cy="862013"/>
          </a:xfrm>
        </p:grpSpPr>
        <p:sp>
          <p:nvSpPr>
            <p:cNvPr id="5" name="Freeform 5"/>
            <p:cNvSpPr>
              <a:spLocks/>
            </p:cNvSpPr>
            <p:nvPr/>
          </p:nvSpPr>
          <p:spPr bwMode="auto">
            <a:xfrm>
              <a:off x="7772401" y="4837113"/>
              <a:ext cx="1389063" cy="842962"/>
            </a:xfrm>
            <a:custGeom>
              <a:avLst/>
              <a:gdLst>
                <a:gd name="T0" fmla="*/ 874 w 962"/>
                <a:gd name="T1" fmla="*/ 0 h 601"/>
                <a:gd name="T2" fmla="*/ 98 w 962"/>
                <a:gd name="T3" fmla="*/ 0 h 601"/>
                <a:gd name="T4" fmla="*/ 0 w 962"/>
                <a:gd name="T5" fmla="*/ 349 h 601"/>
                <a:gd name="T6" fmla="*/ 0 w 962"/>
                <a:gd name="T7" fmla="*/ 600 h 601"/>
                <a:gd name="T8" fmla="*/ 185 w 962"/>
                <a:gd name="T9" fmla="*/ 600 h 601"/>
                <a:gd name="T10" fmla="*/ 185 w 962"/>
                <a:gd name="T11" fmla="*/ 574 h 601"/>
                <a:gd name="T12" fmla="*/ 280 w 962"/>
                <a:gd name="T13" fmla="*/ 574 h 601"/>
                <a:gd name="T14" fmla="*/ 280 w 962"/>
                <a:gd name="T15" fmla="*/ 586 h 601"/>
                <a:gd name="T16" fmla="*/ 378 w 962"/>
                <a:gd name="T17" fmla="*/ 586 h 601"/>
                <a:gd name="T18" fmla="*/ 378 w 962"/>
                <a:gd name="T19" fmla="*/ 571 h 601"/>
                <a:gd name="T20" fmla="*/ 588 w 962"/>
                <a:gd name="T21" fmla="*/ 571 h 601"/>
                <a:gd name="T22" fmla="*/ 588 w 962"/>
                <a:gd name="T23" fmla="*/ 586 h 601"/>
                <a:gd name="T24" fmla="*/ 681 w 962"/>
                <a:gd name="T25" fmla="*/ 586 h 601"/>
                <a:gd name="T26" fmla="*/ 681 w 962"/>
                <a:gd name="T27" fmla="*/ 574 h 601"/>
                <a:gd name="T28" fmla="*/ 784 w 962"/>
                <a:gd name="T29" fmla="*/ 574 h 601"/>
                <a:gd name="T30" fmla="*/ 784 w 962"/>
                <a:gd name="T31" fmla="*/ 600 h 601"/>
                <a:gd name="T32" fmla="*/ 961 w 962"/>
                <a:gd name="T33" fmla="*/ 600 h 601"/>
                <a:gd name="T34" fmla="*/ 961 w 962"/>
                <a:gd name="T35" fmla="*/ 349 h 601"/>
                <a:gd name="T36" fmla="*/ 871 w 962"/>
                <a:gd name="T37" fmla="*/ 0 h 601"/>
                <a:gd name="T38" fmla="*/ 874 w 962"/>
                <a:gd name="T39" fmla="*/ 0 h 601"/>
                <a:gd name="T40" fmla="*/ 874 w 962"/>
                <a:gd name="T41" fmla="*/ 0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2" h="601">
                  <a:moveTo>
                    <a:pt x="874" y="0"/>
                  </a:moveTo>
                  <a:lnTo>
                    <a:pt x="98" y="0"/>
                  </a:lnTo>
                  <a:lnTo>
                    <a:pt x="0" y="349"/>
                  </a:lnTo>
                  <a:lnTo>
                    <a:pt x="0" y="600"/>
                  </a:lnTo>
                  <a:lnTo>
                    <a:pt x="185" y="600"/>
                  </a:lnTo>
                  <a:lnTo>
                    <a:pt x="185" y="574"/>
                  </a:lnTo>
                  <a:lnTo>
                    <a:pt x="280" y="574"/>
                  </a:lnTo>
                  <a:lnTo>
                    <a:pt x="280" y="586"/>
                  </a:lnTo>
                  <a:lnTo>
                    <a:pt x="378" y="586"/>
                  </a:lnTo>
                  <a:lnTo>
                    <a:pt x="378" y="571"/>
                  </a:lnTo>
                  <a:lnTo>
                    <a:pt x="588" y="571"/>
                  </a:lnTo>
                  <a:lnTo>
                    <a:pt x="588" y="586"/>
                  </a:lnTo>
                  <a:lnTo>
                    <a:pt x="681" y="586"/>
                  </a:lnTo>
                  <a:lnTo>
                    <a:pt x="681" y="574"/>
                  </a:lnTo>
                  <a:lnTo>
                    <a:pt x="784" y="574"/>
                  </a:lnTo>
                  <a:lnTo>
                    <a:pt x="784" y="600"/>
                  </a:lnTo>
                  <a:lnTo>
                    <a:pt x="961" y="600"/>
                  </a:lnTo>
                  <a:lnTo>
                    <a:pt x="961" y="349"/>
                  </a:lnTo>
                  <a:lnTo>
                    <a:pt x="871" y="0"/>
                  </a:lnTo>
                  <a:lnTo>
                    <a:pt x="874" y="0"/>
                  </a:lnTo>
                  <a:lnTo>
                    <a:pt x="874" y="0"/>
                  </a:lnTo>
                </a:path>
              </a:pathLst>
            </a:custGeom>
            <a:gradFill rotWithShape="0">
              <a:gsLst>
                <a:gs pos="0">
                  <a:srgbClr val="FFBF18"/>
                </a:gs>
                <a:gs pos="50000">
                  <a:srgbClr val="FFFF80"/>
                </a:gs>
                <a:gs pos="100000">
                  <a:srgbClr val="FFBF18"/>
                </a:gs>
              </a:gsLst>
              <a:lin ang="5400000" scaled="1"/>
            </a:gra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 name="Freeform 7"/>
            <p:cNvSpPr>
              <a:spLocks/>
            </p:cNvSpPr>
            <p:nvPr/>
          </p:nvSpPr>
          <p:spPr bwMode="auto">
            <a:xfrm>
              <a:off x="7773989" y="4835525"/>
              <a:ext cx="1385887" cy="490538"/>
            </a:xfrm>
            <a:custGeom>
              <a:avLst/>
              <a:gdLst>
                <a:gd name="T0" fmla="*/ 98 w 960"/>
                <a:gd name="T1" fmla="*/ 4 h 350"/>
                <a:gd name="T2" fmla="*/ 0 w 960"/>
                <a:gd name="T3" fmla="*/ 349 h 350"/>
                <a:gd name="T4" fmla="*/ 959 w 960"/>
                <a:gd name="T5" fmla="*/ 349 h 350"/>
                <a:gd name="T6" fmla="*/ 871 w 960"/>
                <a:gd name="T7" fmla="*/ 0 h 350"/>
                <a:gd name="T8" fmla="*/ 101 w 960"/>
                <a:gd name="T9" fmla="*/ 0 h 350"/>
              </a:gdLst>
              <a:ahLst/>
              <a:cxnLst>
                <a:cxn ang="0">
                  <a:pos x="T0" y="T1"/>
                </a:cxn>
                <a:cxn ang="0">
                  <a:pos x="T2" y="T3"/>
                </a:cxn>
                <a:cxn ang="0">
                  <a:pos x="T4" y="T5"/>
                </a:cxn>
                <a:cxn ang="0">
                  <a:pos x="T6" y="T7"/>
                </a:cxn>
                <a:cxn ang="0">
                  <a:pos x="T8" y="T9"/>
                </a:cxn>
              </a:cxnLst>
              <a:rect l="0" t="0" r="r" b="b"/>
              <a:pathLst>
                <a:path w="960" h="350">
                  <a:moveTo>
                    <a:pt x="98" y="4"/>
                  </a:moveTo>
                  <a:lnTo>
                    <a:pt x="0" y="349"/>
                  </a:lnTo>
                  <a:lnTo>
                    <a:pt x="959" y="349"/>
                  </a:lnTo>
                  <a:lnTo>
                    <a:pt x="871" y="0"/>
                  </a:lnTo>
                  <a:lnTo>
                    <a:pt x="101"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 name="Freeform 8"/>
            <p:cNvSpPr>
              <a:spLocks/>
            </p:cNvSpPr>
            <p:nvPr/>
          </p:nvSpPr>
          <p:spPr bwMode="auto">
            <a:xfrm>
              <a:off x="7773989" y="5324475"/>
              <a:ext cx="1385887" cy="357188"/>
            </a:xfrm>
            <a:custGeom>
              <a:avLst/>
              <a:gdLst>
                <a:gd name="T0" fmla="*/ 0 w 960"/>
                <a:gd name="T1" fmla="*/ 0 h 254"/>
                <a:gd name="T2" fmla="*/ 0 w 960"/>
                <a:gd name="T3" fmla="*/ 253 h 254"/>
                <a:gd name="T4" fmla="*/ 184 w 960"/>
                <a:gd name="T5" fmla="*/ 253 h 254"/>
                <a:gd name="T6" fmla="*/ 184 w 960"/>
                <a:gd name="T7" fmla="*/ 142 h 254"/>
                <a:gd name="T8" fmla="*/ 784 w 960"/>
                <a:gd name="T9" fmla="*/ 142 h 254"/>
                <a:gd name="T10" fmla="*/ 784 w 960"/>
                <a:gd name="T11" fmla="*/ 253 h 254"/>
                <a:gd name="T12" fmla="*/ 959 w 960"/>
                <a:gd name="T13" fmla="*/ 253 h 254"/>
                <a:gd name="T14" fmla="*/ 959 w 960"/>
                <a:gd name="T15" fmla="*/ 3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60" h="254">
                  <a:moveTo>
                    <a:pt x="0" y="0"/>
                  </a:moveTo>
                  <a:lnTo>
                    <a:pt x="0" y="253"/>
                  </a:lnTo>
                  <a:lnTo>
                    <a:pt x="184" y="253"/>
                  </a:lnTo>
                  <a:lnTo>
                    <a:pt x="184" y="142"/>
                  </a:lnTo>
                  <a:lnTo>
                    <a:pt x="784" y="142"/>
                  </a:lnTo>
                  <a:lnTo>
                    <a:pt x="784" y="253"/>
                  </a:lnTo>
                  <a:lnTo>
                    <a:pt x="959" y="253"/>
                  </a:lnTo>
                  <a:lnTo>
                    <a:pt x="959" y="3"/>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 name="Freeform 9"/>
            <p:cNvSpPr>
              <a:spLocks/>
            </p:cNvSpPr>
            <p:nvPr/>
          </p:nvSpPr>
          <p:spPr bwMode="auto">
            <a:xfrm>
              <a:off x="8901113" y="4919663"/>
              <a:ext cx="50800" cy="49212"/>
            </a:xfrm>
            <a:custGeom>
              <a:avLst/>
              <a:gdLst>
                <a:gd name="T0" fmla="*/ 0 w 35"/>
                <a:gd name="T1" fmla="*/ 0 h 35"/>
                <a:gd name="T2" fmla="*/ 0 w 35"/>
                <a:gd name="T3" fmla="*/ 0 h 35"/>
                <a:gd name="T4" fmla="*/ 2 w 35"/>
                <a:gd name="T5" fmla="*/ 0 h 35"/>
                <a:gd name="T6" fmla="*/ 5 w 35"/>
                <a:gd name="T7" fmla="*/ 1 h 35"/>
                <a:gd name="T8" fmla="*/ 7 w 35"/>
                <a:gd name="T9" fmla="*/ 1 h 35"/>
                <a:gd name="T10" fmla="*/ 9 w 35"/>
                <a:gd name="T11" fmla="*/ 1 h 35"/>
                <a:gd name="T12" fmla="*/ 11 w 35"/>
                <a:gd name="T13" fmla="*/ 2 h 35"/>
                <a:gd name="T14" fmla="*/ 14 w 35"/>
                <a:gd name="T15" fmla="*/ 3 h 35"/>
                <a:gd name="T16" fmla="*/ 16 w 35"/>
                <a:gd name="T17" fmla="*/ 3 h 35"/>
                <a:gd name="T18" fmla="*/ 17 w 35"/>
                <a:gd name="T19" fmla="*/ 4 h 35"/>
                <a:gd name="T20" fmla="*/ 19 w 35"/>
                <a:gd name="T21" fmla="*/ 5 h 35"/>
                <a:gd name="T22" fmla="*/ 20 w 35"/>
                <a:gd name="T23" fmla="*/ 7 h 35"/>
                <a:gd name="T24" fmla="*/ 22 w 35"/>
                <a:gd name="T25" fmla="*/ 8 h 35"/>
                <a:gd name="T26" fmla="*/ 24 w 35"/>
                <a:gd name="T27" fmla="*/ 9 h 35"/>
                <a:gd name="T28" fmla="*/ 26 w 35"/>
                <a:gd name="T29" fmla="*/ 11 h 35"/>
                <a:gd name="T30" fmla="*/ 27 w 35"/>
                <a:gd name="T31" fmla="*/ 13 h 35"/>
                <a:gd name="T32" fmla="*/ 28 w 35"/>
                <a:gd name="T33" fmla="*/ 14 h 35"/>
                <a:gd name="T34" fmla="*/ 30 w 35"/>
                <a:gd name="T35" fmla="*/ 16 h 35"/>
                <a:gd name="T36" fmla="*/ 30 w 35"/>
                <a:gd name="T37" fmla="*/ 19 h 35"/>
                <a:gd name="T38" fmla="*/ 32 w 35"/>
                <a:gd name="T39" fmla="*/ 19 h 35"/>
                <a:gd name="T40" fmla="*/ 32 w 35"/>
                <a:gd name="T41" fmla="*/ 22 h 35"/>
                <a:gd name="T42" fmla="*/ 33 w 35"/>
                <a:gd name="T43" fmla="*/ 24 h 35"/>
                <a:gd name="T44" fmla="*/ 33 w 35"/>
                <a:gd name="T45" fmla="*/ 26 h 35"/>
                <a:gd name="T46" fmla="*/ 34 w 35"/>
                <a:gd name="T47" fmla="*/ 28 h 35"/>
                <a:gd name="T48" fmla="*/ 34 w 35"/>
                <a:gd name="T49" fmla="*/ 30 h 35"/>
                <a:gd name="T50" fmla="*/ 34 w 35"/>
                <a:gd name="T51" fmla="*/ 33 h 35"/>
                <a:gd name="T52" fmla="*/ 34 w 35"/>
                <a:gd name="T53" fmla="*/ 34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 h="35">
                  <a:moveTo>
                    <a:pt x="0" y="0"/>
                  </a:moveTo>
                  <a:lnTo>
                    <a:pt x="0" y="0"/>
                  </a:lnTo>
                  <a:lnTo>
                    <a:pt x="2" y="0"/>
                  </a:lnTo>
                  <a:lnTo>
                    <a:pt x="5" y="1"/>
                  </a:lnTo>
                  <a:lnTo>
                    <a:pt x="7" y="1"/>
                  </a:lnTo>
                  <a:lnTo>
                    <a:pt x="9" y="1"/>
                  </a:lnTo>
                  <a:lnTo>
                    <a:pt x="11" y="2"/>
                  </a:lnTo>
                  <a:lnTo>
                    <a:pt x="14" y="3"/>
                  </a:lnTo>
                  <a:lnTo>
                    <a:pt x="16" y="3"/>
                  </a:lnTo>
                  <a:lnTo>
                    <a:pt x="17" y="4"/>
                  </a:lnTo>
                  <a:lnTo>
                    <a:pt x="19" y="5"/>
                  </a:lnTo>
                  <a:lnTo>
                    <a:pt x="20" y="7"/>
                  </a:lnTo>
                  <a:lnTo>
                    <a:pt x="22" y="8"/>
                  </a:lnTo>
                  <a:lnTo>
                    <a:pt x="24" y="9"/>
                  </a:lnTo>
                  <a:lnTo>
                    <a:pt x="26" y="11"/>
                  </a:lnTo>
                  <a:lnTo>
                    <a:pt x="27" y="13"/>
                  </a:lnTo>
                  <a:lnTo>
                    <a:pt x="28" y="14"/>
                  </a:lnTo>
                  <a:lnTo>
                    <a:pt x="30" y="16"/>
                  </a:lnTo>
                  <a:lnTo>
                    <a:pt x="30" y="19"/>
                  </a:lnTo>
                  <a:lnTo>
                    <a:pt x="32" y="19"/>
                  </a:lnTo>
                  <a:lnTo>
                    <a:pt x="32" y="22"/>
                  </a:lnTo>
                  <a:lnTo>
                    <a:pt x="33" y="24"/>
                  </a:lnTo>
                  <a:lnTo>
                    <a:pt x="33" y="26"/>
                  </a:lnTo>
                  <a:lnTo>
                    <a:pt x="34" y="28"/>
                  </a:lnTo>
                  <a:lnTo>
                    <a:pt x="34" y="30"/>
                  </a:lnTo>
                  <a:lnTo>
                    <a:pt x="34" y="33"/>
                  </a:lnTo>
                  <a:lnTo>
                    <a:pt x="34" y="34"/>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 name="Freeform 10"/>
            <p:cNvSpPr>
              <a:spLocks/>
            </p:cNvSpPr>
            <p:nvPr/>
          </p:nvSpPr>
          <p:spPr bwMode="auto">
            <a:xfrm>
              <a:off x="8015289" y="4919663"/>
              <a:ext cx="52387" cy="49212"/>
            </a:xfrm>
            <a:custGeom>
              <a:avLst/>
              <a:gdLst>
                <a:gd name="T0" fmla="*/ 0 w 36"/>
                <a:gd name="T1" fmla="*/ 34 h 35"/>
                <a:gd name="T2" fmla="*/ 0 w 36"/>
                <a:gd name="T3" fmla="*/ 34 h 35"/>
                <a:gd name="T4" fmla="*/ 0 w 36"/>
                <a:gd name="T5" fmla="*/ 33 h 35"/>
                <a:gd name="T6" fmla="*/ 0 w 36"/>
                <a:gd name="T7" fmla="*/ 30 h 35"/>
                <a:gd name="T8" fmla="*/ 1 w 36"/>
                <a:gd name="T9" fmla="*/ 28 h 35"/>
                <a:gd name="T10" fmla="*/ 1 w 36"/>
                <a:gd name="T11" fmla="*/ 26 h 35"/>
                <a:gd name="T12" fmla="*/ 2 w 36"/>
                <a:gd name="T13" fmla="*/ 24 h 35"/>
                <a:gd name="T14" fmla="*/ 3 w 36"/>
                <a:gd name="T15" fmla="*/ 22 h 35"/>
                <a:gd name="T16" fmla="*/ 4 w 36"/>
                <a:gd name="T17" fmla="*/ 19 h 35"/>
                <a:gd name="T18" fmla="*/ 5 w 36"/>
                <a:gd name="T19" fmla="*/ 19 h 35"/>
                <a:gd name="T20" fmla="*/ 6 w 36"/>
                <a:gd name="T21" fmla="*/ 16 h 35"/>
                <a:gd name="T22" fmla="*/ 8 w 36"/>
                <a:gd name="T23" fmla="*/ 14 h 35"/>
                <a:gd name="T24" fmla="*/ 9 w 36"/>
                <a:gd name="T25" fmla="*/ 13 h 35"/>
                <a:gd name="T26" fmla="*/ 10 w 36"/>
                <a:gd name="T27" fmla="*/ 11 h 35"/>
                <a:gd name="T28" fmla="*/ 11 w 36"/>
                <a:gd name="T29" fmla="*/ 9 h 35"/>
                <a:gd name="T30" fmla="*/ 13 w 36"/>
                <a:gd name="T31" fmla="*/ 8 h 35"/>
                <a:gd name="T32" fmla="*/ 14 w 36"/>
                <a:gd name="T33" fmla="*/ 7 h 35"/>
                <a:gd name="T34" fmla="*/ 16 w 36"/>
                <a:gd name="T35" fmla="*/ 5 h 35"/>
                <a:gd name="T36" fmla="*/ 19 w 36"/>
                <a:gd name="T37" fmla="*/ 4 h 35"/>
                <a:gd name="T38" fmla="*/ 20 w 36"/>
                <a:gd name="T39" fmla="*/ 3 h 35"/>
                <a:gd name="T40" fmla="*/ 22 w 36"/>
                <a:gd name="T41" fmla="*/ 3 h 35"/>
                <a:gd name="T42" fmla="*/ 24 w 36"/>
                <a:gd name="T43" fmla="*/ 2 h 35"/>
                <a:gd name="T44" fmla="*/ 27 w 36"/>
                <a:gd name="T45" fmla="*/ 1 h 35"/>
                <a:gd name="T46" fmla="*/ 28 w 36"/>
                <a:gd name="T47" fmla="*/ 1 h 35"/>
                <a:gd name="T48" fmla="*/ 30 w 36"/>
                <a:gd name="T49" fmla="*/ 1 h 35"/>
                <a:gd name="T50" fmla="*/ 34 w 36"/>
                <a:gd name="T51" fmla="*/ 0 h 35"/>
                <a:gd name="T52" fmla="*/ 35 w 36"/>
                <a:gd name="T5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0" y="34"/>
                  </a:moveTo>
                  <a:lnTo>
                    <a:pt x="0" y="34"/>
                  </a:lnTo>
                  <a:lnTo>
                    <a:pt x="0" y="33"/>
                  </a:lnTo>
                  <a:lnTo>
                    <a:pt x="0" y="30"/>
                  </a:lnTo>
                  <a:lnTo>
                    <a:pt x="1" y="28"/>
                  </a:lnTo>
                  <a:lnTo>
                    <a:pt x="1" y="26"/>
                  </a:lnTo>
                  <a:lnTo>
                    <a:pt x="2" y="24"/>
                  </a:lnTo>
                  <a:lnTo>
                    <a:pt x="3" y="22"/>
                  </a:lnTo>
                  <a:lnTo>
                    <a:pt x="4" y="19"/>
                  </a:lnTo>
                  <a:lnTo>
                    <a:pt x="5" y="19"/>
                  </a:lnTo>
                  <a:lnTo>
                    <a:pt x="6" y="16"/>
                  </a:lnTo>
                  <a:lnTo>
                    <a:pt x="8" y="14"/>
                  </a:lnTo>
                  <a:lnTo>
                    <a:pt x="9" y="13"/>
                  </a:lnTo>
                  <a:lnTo>
                    <a:pt x="10" y="11"/>
                  </a:lnTo>
                  <a:lnTo>
                    <a:pt x="11" y="9"/>
                  </a:lnTo>
                  <a:lnTo>
                    <a:pt x="13" y="8"/>
                  </a:lnTo>
                  <a:lnTo>
                    <a:pt x="14" y="7"/>
                  </a:lnTo>
                  <a:lnTo>
                    <a:pt x="16" y="5"/>
                  </a:lnTo>
                  <a:lnTo>
                    <a:pt x="19" y="4"/>
                  </a:lnTo>
                  <a:lnTo>
                    <a:pt x="20" y="3"/>
                  </a:lnTo>
                  <a:lnTo>
                    <a:pt x="22" y="3"/>
                  </a:lnTo>
                  <a:lnTo>
                    <a:pt x="24" y="2"/>
                  </a:lnTo>
                  <a:lnTo>
                    <a:pt x="27" y="1"/>
                  </a:lnTo>
                  <a:lnTo>
                    <a:pt x="28" y="1"/>
                  </a:lnTo>
                  <a:lnTo>
                    <a:pt x="30" y="1"/>
                  </a:lnTo>
                  <a:lnTo>
                    <a:pt x="34" y="0"/>
                  </a:lnTo>
                  <a:lnTo>
                    <a:pt x="35"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 name="Freeform 11"/>
            <p:cNvSpPr>
              <a:spLocks/>
            </p:cNvSpPr>
            <p:nvPr/>
          </p:nvSpPr>
          <p:spPr bwMode="auto">
            <a:xfrm>
              <a:off x="8974139" y="5187951"/>
              <a:ext cx="28575" cy="66675"/>
            </a:xfrm>
            <a:custGeom>
              <a:avLst/>
              <a:gdLst>
                <a:gd name="T0" fmla="*/ 15 w 20"/>
                <a:gd name="T1" fmla="*/ 0 h 48"/>
                <a:gd name="T2" fmla="*/ 15 w 20"/>
                <a:gd name="T3" fmla="*/ 0 h 48"/>
                <a:gd name="T4" fmla="*/ 16 w 20"/>
                <a:gd name="T5" fmla="*/ 3 h 48"/>
                <a:gd name="T6" fmla="*/ 16 w 20"/>
                <a:gd name="T7" fmla="*/ 4 h 48"/>
                <a:gd name="T8" fmla="*/ 17 w 20"/>
                <a:gd name="T9" fmla="*/ 6 h 48"/>
                <a:gd name="T10" fmla="*/ 18 w 20"/>
                <a:gd name="T11" fmla="*/ 8 h 48"/>
                <a:gd name="T12" fmla="*/ 18 w 20"/>
                <a:gd name="T13" fmla="*/ 10 h 48"/>
                <a:gd name="T14" fmla="*/ 18 w 20"/>
                <a:gd name="T15" fmla="*/ 12 h 48"/>
                <a:gd name="T16" fmla="*/ 19 w 20"/>
                <a:gd name="T17" fmla="*/ 14 h 48"/>
                <a:gd name="T18" fmla="*/ 19 w 20"/>
                <a:gd name="T19" fmla="*/ 16 h 48"/>
                <a:gd name="T20" fmla="*/ 19 w 20"/>
                <a:gd name="T21" fmla="*/ 20 h 48"/>
                <a:gd name="T22" fmla="*/ 18 w 20"/>
                <a:gd name="T23" fmla="*/ 22 h 48"/>
                <a:gd name="T24" fmla="*/ 18 w 20"/>
                <a:gd name="T25" fmla="*/ 23 h 48"/>
                <a:gd name="T26" fmla="*/ 18 w 20"/>
                <a:gd name="T27" fmla="*/ 25 h 48"/>
                <a:gd name="T28" fmla="*/ 18 w 20"/>
                <a:gd name="T29" fmla="*/ 27 h 48"/>
                <a:gd name="T30" fmla="*/ 16 w 20"/>
                <a:gd name="T31" fmla="*/ 30 h 48"/>
                <a:gd name="T32" fmla="*/ 16 w 20"/>
                <a:gd name="T33" fmla="*/ 32 h 48"/>
                <a:gd name="T34" fmla="*/ 16 w 20"/>
                <a:gd name="T35" fmla="*/ 33 h 48"/>
                <a:gd name="T36" fmla="*/ 14 w 20"/>
                <a:gd name="T37" fmla="*/ 35 h 48"/>
                <a:gd name="T38" fmla="*/ 13 w 20"/>
                <a:gd name="T39" fmla="*/ 37 h 48"/>
                <a:gd name="T40" fmla="*/ 11 w 20"/>
                <a:gd name="T41" fmla="*/ 39 h 48"/>
                <a:gd name="T42" fmla="*/ 9 w 20"/>
                <a:gd name="T43" fmla="*/ 41 h 48"/>
                <a:gd name="T44" fmla="*/ 8 w 20"/>
                <a:gd name="T45" fmla="*/ 42 h 48"/>
                <a:gd name="T46" fmla="*/ 6 w 20"/>
                <a:gd name="T47" fmla="*/ 43 h 48"/>
                <a:gd name="T48" fmla="*/ 5 w 20"/>
                <a:gd name="T49" fmla="*/ 45 h 48"/>
                <a:gd name="T50" fmla="*/ 4 w 20"/>
                <a:gd name="T51" fmla="*/ 46 h 48"/>
                <a:gd name="T52" fmla="*/ 0 w 20"/>
                <a:gd name="T53" fmla="*/ 4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 h="48">
                  <a:moveTo>
                    <a:pt x="15" y="0"/>
                  </a:moveTo>
                  <a:lnTo>
                    <a:pt x="15" y="0"/>
                  </a:lnTo>
                  <a:lnTo>
                    <a:pt x="16" y="3"/>
                  </a:lnTo>
                  <a:lnTo>
                    <a:pt x="16" y="4"/>
                  </a:lnTo>
                  <a:lnTo>
                    <a:pt x="17" y="6"/>
                  </a:lnTo>
                  <a:lnTo>
                    <a:pt x="18" y="8"/>
                  </a:lnTo>
                  <a:lnTo>
                    <a:pt x="18" y="10"/>
                  </a:lnTo>
                  <a:lnTo>
                    <a:pt x="18" y="12"/>
                  </a:lnTo>
                  <a:lnTo>
                    <a:pt x="19" y="14"/>
                  </a:lnTo>
                  <a:lnTo>
                    <a:pt x="19" y="16"/>
                  </a:lnTo>
                  <a:lnTo>
                    <a:pt x="19" y="20"/>
                  </a:lnTo>
                  <a:lnTo>
                    <a:pt x="18" y="22"/>
                  </a:lnTo>
                  <a:lnTo>
                    <a:pt x="18" y="23"/>
                  </a:lnTo>
                  <a:lnTo>
                    <a:pt x="18" y="25"/>
                  </a:lnTo>
                  <a:lnTo>
                    <a:pt x="18" y="27"/>
                  </a:lnTo>
                  <a:lnTo>
                    <a:pt x="16" y="30"/>
                  </a:lnTo>
                  <a:lnTo>
                    <a:pt x="16" y="32"/>
                  </a:lnTo>
                  <a:lnTo>
                    <a:pt x="16" y="33"/>
                  </a:lnTo>
                  <a:lnTo>
                    <a:pt x="14" y="35"/>
                  </a:lnTo>
                  <a:lnTo>
                    <a:pt x="13" y="37"/>
                  </a:lnTo>
                  <a:lnTo>
                    <a:pt x="11" y="39"/>
                  </a:lnTo>
                  <a:lnTo>
                    <a:pt x="9" y="41"/>
                  </a:lnTo>
                  <a:lnTo>
                    <a:pt x="8" y="42"/>
                  </a:lnTo>
                  <a:lnTo>
                    <a:pt x="6" y="43"/>
                  </a:lnTo>
                  <a:lnTo>
                    <a:pt x="5" y="45"/>
                  </a:lnTo>
                  <a:lnTo>
                    <a:pt x="4" y="46"/>
                  </a:lnTo>
                  <a:lnTo>
                    <a:pt x="0" y="47"/>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 name="Freeform 12"/>
            <p:cNvSpPr>
              <a:spLocks/>
            </p:cNvSpPr>
            <p:nvPr/>
          </p:nvSpPr>
          <p:spPr bwMode="auto">
            <a:xfrm>
              <a:off x="7961313" y="5183188"/>
              <a:ext cx="30162" cy="68262"/>
            </a:xfrm>
            <a:custGeom>
              <a:avLst/>
              <a:gdLst>
                <a:gd name="T0" fmla="*/ 20 w 21"/>
                <a:gd name="T1" fmla="*/ 47 h 48"/>
                <a:gd name="T2" fmla="*/ 20 w 21"/>
                <a:gd name="T3" fmla="*/ 47 h 48"/>
                <a:gd name="T4" fmla="*/ 18 w 21"/>
                <a:gd name="T5" fmla="*/ 45 h 48"/>
                <a:gd name="T6" fmla="*/ 16 w 21"/>
                <a:gd name="T7" fmla="*/ 44 h 48"/>
                <a:gd name="T8" fmla="*/ 15 w 21"/>
                <a:gd name="T9" fmla="*/ 44 h 48"/>
                <a:gd name="T10" fmla="*/ 13 w 21"/>
                <a:gd name="T11" fmla="*/ 42 h 48"/>
                <a:gd name="T12" fmla="*/ 11 w 21"/>
                <a:gd name="T13" fmla="*/ 40 h 48"/>
                <a:gd name="T14" fmla="*/ 9 w 21"/>
                <a:gd name="T15" fmla="*/ 39 h 48"/>
                <a:gd name="T16" fmla="*/ 8 w 21"/>
                <a:gd name="T17" fmla="*/ 37 h 48"/>
                <a:gd name="T18" fmla="*/ 7 w 21"/>
                <a:gd name="T19" fmla="*/ 36 h 48"/>
                <a:gd name="T20" fmla="*/ 6 w 21"/>
                <a:gd name="T21" fmla="*/ 34 h 48"/>
                <a:gd name="T22" fmla="*/ 5 w 21"/>
                <a:gd name="T23" fmla="*/ 32 h 48"/>
                <a:gd name="T24" fmla="*/ 4 w 21"/>
                <a:gd name="T25" fmla="*/ 29 h 48"/>
                <a:gd name="T26" fmla="*/ 4 w 21"/>
                <a:gd name="T27" fmla="*/ 28 h 48"/>
                <a:gd name="T28" fmla="*/ 2 w 21"/>
                <a:gd name="T29" fmla="*/ 26 h 48"/>
                <a:gd name="T30" fmla="*/ 2 w 21"/>
                <a:gd name="T31" fmla="*/ 25 h 48"/>
                <a:gd name="T32" fmla="*/ 0 w 21"/>
                <a:gd name="T33" fmla="*/ 22 h 48"/>
                <a:gd name="T34" fmla="*/ 0 w 21"/>
                <a:gd name="T35" fmla="*/ 19 h 48"/>
                <a:gd name="T36" fmla="*/ 0 w 21"/>
                <a:gd name="T37" fmla="*/ 17 h 48"/>
                <a:gd name="T38" fmla="*/ 0 w 21"/>
                <a:gd name="T39" fmla="*/ 15 h 48"/>
                <a:gd name="T40" fmla="*/ 0 w 21"/>
                <a:gd name="T41" fmla="*/ 13 h 48"/>
                <a:gd name="T42" fmla="*/ 0 w 21"/>
                <a:gd name="T43" fmla="*/ 11 h 48"/>
                <a:gd name="T44" fmla="*/ 2 w 21"/>
                <a:gd name="T45" fmla="*/ 9 h 48"/>
                <a:gd name="T46" fmla="*/ 2 w 21"/>
                <a:gd name="T47" fmla="*/ 7 h 48"/>
                <a:gd name="T48" fmla="*/ 2 w 21"/>
                <a:gd name="T49" fmla="*/ 5 h 48"/>
                <a:gd name="T50" fmla="*/ 4 w 21"/>
                <a:gd name="T51" fmla="*/ 2 h 48"/>
                <a:gd name="T52" fmla="*/ 4 w 21"/>
                <a:gd name="T5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 h="48">
                  <a:moveTo>
                    <a:pt x="20" y="47"/>
                  </a:moveTo>
                  <a:lnTo>
                    <a:pt x="20" y="47"/>
                  </a:lnTo>
                  <a:lnTo>
                    <a:pt x="18" y="45"/>
                  </a:lnTo>
                  <a:lnTo>
                    <a:pt x="16" y="44"/>
                  </a:lnTo>
                  <a:lnTo>
                    <a:pt x="15" y="44"/>
                  </a:lnTo>
                  <a:lnTo>
                    <a:pt x="13" y="42"/>
                  </a:lnTo>
                  <a:lnTo>
                    <a:pt x="11" y="40"/>
                  </a:lnTo>
                  <a:lnTo>
                    <a:pt x="9" y="39"/>
                  </a:lnTo>
                  <a:lnTo>
                    <a:pt x="8" y="37"/>
                  </a:lnTo>
                  <a:lnTo>
                    <a:pt x="7" y="36"/>
                  </a:lnTo>
                  <a:lnTo>
                    <a:pt x="6" y="34"/>
                  </a:lnTo>
                  <a:lnTo>
                    <a:pt x="5" y="32"/>
                  </a:lnTo>
                  <a:lnTo>
                    <a:pt x="4" y="29"/>
                  </a:lnTo>
                  <a:lnTo>
                    <a:pt x="4" y="28"/>
                  </a:lnTo>
                  <a:lnTo>
                    <a:pt x="2" y="26"/>
                  </a:lnTo>
                  <a:lnTo>
                    <a:pt x="2" y="25"/>
                  </a:lnTo>
                  <a:lnTo>
                    <a:pt x="0" y="22"/>
                  </a:lnTo>
                  <a:lnTo>
                    <a:pt x="0" y="19"/>
                  </a:lnTo>
                  <a:lnTo>
                    <a:pt x="0" y="17"/>
                  </a:lnTo>
                  <a:lnTo>
                    <a:pt x="0" y="15"/>
                  </a:lnTo>
                  <a:lnTo>
                    <a:pt x="0" y="13"/>
                  </a:lnTo>
                  <a:lnTo>
                    <a:pt x="0" y="11"/>
                  </a:lnTo>
                  <a:lnTo>
                    <a:pt x="2" y="9"/>
                  </a:lnTo>
                  <a:lnTo>
                    <a:pt x="2" y="7"/>
                  </a:lnTo>
                  <a:lnTo>
                    <a:pt x="2" y="5"/>
                  </a:lnTo>
                  <a:lnTo>
                    <a:pt x="4" y="2"/>
                  </a:lnTo>
                  <a:lnTo>
                    <a:pt x="4"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 name="Line 13"/>
            <p:cNvSpPr>
              <a:spLocks noChangeShapeType="1"/>
            </p:cNvSpPr>
            <p:nvPr/>
          </p:nvSpPr>
          <p:spPr bwMode="auto">
            <a:xfrm>
              <a:off x="8072439" y="4919663"/>
              <a:ext cx="83978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 name="Line 14"/>
            <p:cNvSpPr>
              <a:spLocks noChangeShapeType="1"/>
            </p:cNvSpPr>
            <p:nvPr/>
          </p:nvSpPr>
          <p:spPr bwMode="auto">
            <a:xfrm flipH="1">
              <a:off x="7967664" y="4975226"/>
              <a:ext cx="46037" cy="2063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 name="Line 15"/>
            <p:cNvSpPr>
              <a:spLocks noChangeShapeType="1"/>
            </p:cNvSpPr>
            <p:nvPr/>
          </p:nvSpPr>
          <p:spPr bwMode="auto">
            <a:xfrm>
              <a:off x="8953500" y="4975225"/>
              <a:ext cx="46038" cy="2174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 name="Line 16"/>
            <p:cNvSpPr>
              <a:spLocks noChangeShapeType="1"/>
            </p:cNvSpPr>
            <p:nvPr/>
          </p:nvSpPr>
          <p:spPr bwMode="auto">
            <a:xfrm>
              <a:off x="7999414" y="5246688"/>
              <a:ext cx="98583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 name="Freeform 17"/>
            <p:cNvSpPr>
              <a:spLocks/>
            </p:cNvSpPr>
            <p:nvPr/>
          </p:nvSpPr>
          <p:spPr bwMode="auto">
            <a:xfrm>
              <a:off x="8886825" y="5062538"/>
              <a:ext cx="50800" cy="50800"/>
            </a:xfrm>
            <a:custGeom>
              <a:avLst/>
              <a:gdLst>
                <a:gd name="T0" fmla="*/ 0 w 35"/>
                <a:gd name="T1" fmla="*/ 0 h 36"/>
                <a:gd name="T2" fmla="*/ 0 w 35"/>
                <a:gd name="T3" fmla="*/ 0 h 36"/>
                <a:gd name="T4" fmla="*/ 1 w 35"/>
                <a:gd name="T5" fmla="*/ 0 h 36"/>
                <a:gd name="T6" fmla="*/ 4 w 35"/>
                <a:gd name="T7" fmla="*/ 0 h 36"/>
                <a:gd name="T8" fmla="*/ 6 w 35"/>
                <a:gd name="T9" fmla="*/ 2 h 36"/>
                <a:gd name="T10" fmla="*/ 9 w 35"/>
                <a:gd name="T11" fmla="*/ 2 h 36"/>
                <a:gd name="T12" fmla="*/ 10 w 35"/>
                <a:gd name="T13" fmla="*/ 2 h 36"/>
                <a:gd name="T14" fmla="*/ 11 w 35"/>
                <a:gd name="T15" fmla="*/ 4 h 36"/>
                <a:gd name="T16" fmla="*/ 14 w 35"/>
                <a:gd name="T17" fmla="*/ 4 h 36"/>
                <a:gd name="T18" fmla="*/ 16 w 35"/>
                <a:gd name="T19" fmla="*/ 5 h 36"/>
                <a:gd name="T20" fmla="*/ 18 w 35"/>
                <a:gd name="T21" fmla="*/ 6 h 36"/>
                <a:gd name="T22" fmla="*/ 20 w 35"/>
                <a:gd name="T23" fmla="*/ 8 h 36"/>
                <a:gd name="T24" fmla="*/ 22 w 35"/>
                <a:gd name="T25" fmla="*/ 8 h 36"/>
                <a:gd name="T26" fmla="*/ 24 w 35"/>
                <a:gd name="T27" fmla="*/ 10 h 36"/>
                <a:gd name="T28" fmla="*/ 25 w 35"/>
                <a:gd name="T29" fmla="*/ 12 h 36"/>
                <a:gd name="T30" fmla="*/ 26 w 35"/>
                <a:gd name="T31" fmla="*/ 14 h 36"/>
                <a:gd name="T32" fmla="*/ 28 w 35"/>
                <a:gd name="T33" fmla="*/ 15 h 36"/>
                <a:gd name="T34" fmla="*/ 29 w 35"/>
                <a:gd name="T35" fmla="*/ 16 h 36"/>
                <a:gd name="T36" fmla="*/ 29 w 35"/>
                <a:gd name="T37" fmla="*/ 18 h 36"/>
                <a:gd name="T38" fmla="*/ 30 w 35"/>
                <a:gd name="T39" fmla="*/ 20 h 36"/>
                <a:gd name="T40" fmla="*/ 31 w 35"/>
                <a:gd name="T41" fmla="*/ 23 h 36"/>
                <a:gd name="T42" fmla="*/ 32 w 35"/>
                <a:gd name="T43" fmla="*/ 25 h 36"/>
                <a:gd name="T44" fmla="*/ 33 w 35"/>
                <a:gd name="T45" fmla="*/ 27 h 36"/>
                <a:gd name="T46" fmla="*/ 34 w 35"/>
                <a:gd name="T47" fmla="*/ 29 h 36"/>
                <a:gd name="T48" fmla="*/ 34 w 35"/>
                <a:gd name="T49" fmla="*/ 32 h 36"/>
                <a:gd name="T50" fmla="*/ 34 w 35"/>
                <a:gd name="T51" fmla="*/ 33 h 36"/>
                <a:gd name="T52" fmla="*/ 34 w 35"/>
                <a:gd name="T53"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 h="36">
                  <a:moveTo>
                    <a:pt x="0" y="0"/>
                  </a:moveTo>
                  <a:lnTo>
                    <a:pt x="0" y="0"/>
                  </a:lnTo>
                  <a:lnTo>
                    <a:pt x="1" y="0"/>
                  </a:lnTo>
                  <a:lnTo>
                    <a:pt x="4" y="0"/>
                  </a:lnTo>
                  <a:lnTo>
                    <a:pt x="6" y="2"/>
                  </a:lnTo>
                  <a:lnTo>
                    <a:pt x="9" y="2"/>
                  </a:lnTo>
                  <a:lnTo>
                    <a:pt x="10" y="2"/>
                  </a:lnTo>
                  <a:lnTo>
                    <a:pt x="11" y="4"/>
                  </a:lnTo>
                  <a:lnTo>
                    <a:pt x="14" y="4"/>
                  </a:lnTo>
                  <a:lnTo>
                    <a:pt x="16" y="5"/>
                  </a:lnTo>
                  <a:lnTo>
                    <a:pt x="18" y="6"/>
                  </a:lnTo>
                  <a:lnTo>
                    <a:pt x="20" y="8"/>
                  </a:lnTo>
                  <a:lnTo>
                    <a:pt x="22" y="8"/>
                  </a:lnTo>
                  <a:lnTo>
                    <a:pt x="24" y="10"/>
                  </a:lnTo>
                  <a:lnTo>
                    <a:pt x="25" y="12"/>
                  </a:lnTo>
                  <a:lnTo>
                    <a:pt x="26" y="14"/>
                  </a:lnTo>
                  <a:lnTo>
                    <a:pt x="28" y="15"/>
                  </a:lnTo>
                  <a:lnTo>
                    <a:pt x="29" y="16"/>
                  </a:lnTo>
                  <a:lnTo>
                    <a:pt x="29" y="18"/>
                  </a:lnTo>
                  <a:lnTo>
                    <a:pt x="30" y="20"/>
                  </a:lnTo>
                  <a:lnTo>
                    <a:pt x="31" y="23"/>
                  </a:lnTo>
                  <a:lnTo>
                    <a:pt x="32" y="25"/>
                  </a:lnTo>
                  <a:lnTo>
                    <a:pt x="33" y="27"/>
                  </a:lnTo>
                  <a:lnTo>
                    <a:pt x="34" y="29"/>
                  </a:lnTo>
                  <a:lnTo>
                    <a:pt x="34" y="32"/>
                  </a:lnTo>
                  <a:lnTo>
                    <a:pt x="34" y="33"/>
                  </a:lnTo>
                  <a:lnTo>
                    <a:pt x="34" y="35"/>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 name="Freeform 18"/>
            <p:cNvSpPr>
              <a:spLocks/>
            </p:cNvSpPr>
            <p:nvPr/>
          </p:nvSpPr>
          <p:spPr bwMode="auto">
            <a:xfrm>
              <a:off x="8024813" y="5068889"/>
              <a:ext cx="49212" cy="47625"/>
            </a:xfrm>
            <a:custGeom>
              <a:avLst/>
              <a:gdLst>
                <a:gd name="T0" fmla="*/ 0 w 35"/>
                <a:gd name="T1" fmla="*/ 33 h 34"/>
                <a:gd name="T2" fmla="*/ 0 w 35"/>
                <a:gd name="T3" fmla="*/ 33 h 34"/>
                <a:gd name="T4" fmla="*/ 0 w 35"/>
                <a:gd name="T5" fmla="*/ 31 h 34"/>
                <a:gd name="T6" fmla="*/ 0 w 35"/>
                <a:gd name="T7" fmla="*/ 29 h 34"/>
                <a:gd name="T8" fmla="*/ 0 w 35"/>
                <a:gd name="T9" fmla="*/ 28 h 34"/>
                <a:gd name="T10" fmla="*/ 2 w 35"/>
                <a:gd name="T11" fmla="*/ 26 h 34"/>
                <a:gd name="T12" fmla="*/ 2 w 35"/>
                <a:gd name="T13" fmla="*/ 23 h 34"/>
                <a:gd name="T14" fmla="*/ 2 w 35"/>
                <a:gd name="T15" fmla="*/ 21 h 34"/>
                <a:gd name="T16" fmla="*/ 3 w 35"/>
                <a:gd name="T17" fmla="*/ 19 h 34"/>
                <a:gd name="T18" fmla="*/ 4 w 35"/>
                <a:gd name="T19" fmla="*/ 17 h 34"/>
                <a:gd name="T20" fmla="*/ 5 w 35"/>
                <a:gd name="T21" fmla="*/ 15 h 34"/>
                <a:gd name="T22" fmla="*/ 6 w 35"/>
                <a:gd name="T23" fmla="*/ 14 h 34"/>
                <a:gd name="T24" fmla="*/ 7 w 35"/>
                <a:gd name="T25" fmla="*/ 11 h 34"/>
                <a:gd name="T26" fmla="*/ 8 w 35"/>
                <a:gd name="T27" fmla="*/ 10 h 34"/>
                <a:gd name="T28" fmla="*/ 10 w 35"/>
                <a:gd name="T29" fmla="*/ 9 h 34"/>
                <a:gd name="T30" fmla="*/ 12 w 35"/>
                <a:gd name="T31" fmla="*/ 7 h 34"/>
                <a:gd name="T32" fmla="*/ 14 w 35"/>
                <a:gd name="T33" fmla="*/ 5 h 34"/>
                <a:gd name="T34" fmla="*/ 16 w 35"/>
                <a:gd name="T35" fmla="*/ 4 h 34"/>
                <a:gd name="T36" fmla="*/ 18 w 35"/>
                <a:gd name="T37" fmla="*/ 4 h 34"/>
                <a:gd name="T38" fmla="*/ 20 w 35"/>
                <a:gd name="T39" fmla="*/ 2 h 34"/>
                <a:gd name="T40" fmla="*/ 21 w 35"/>
                <a:gd name="T41" fmla="*/ 2 h 34"/>
                <a:gd name="T42" fmla="*/ 23 w 35"/>
                <a:gd name="T43" fmla="*/ 1 h 34"/>
                <a:gd name="T44" fmla="*/ 26 w 35"/>
                <a:gd name="T45" fmla="*/ 0 h 34"/>
                <a:gd name="T46" fmla="*/ 28 w 35"/>
                <a:gd name="T47" fmla="*/ 0 h 34"/>
                <a:gd name="T48" fmla="*/ 30 w 35"/>
                <a:gd name="T49" fmla="*/ 0 h 34"/>
                <a:gd name="T50" fmla="*/ 32 w 35"/>
                <a:gd name="T51" fmla="*/ 0 h 34"/>
                <a:gd name="T52" fmla="*/ 34 w 35"/>
                <a:gd name="T5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 h="34">
                  <a:moveTo>
                    <a:pt x="0" y="33"/>
                  </a:moveTo>
                  <a:lnTo>
                    <a:pt x="0" y="33"/>
                  </a:lnTo>
                  <a:lnTo>
                    <a:pt x="0" y="31"/>
                  </a:lnTo>
                  <a:lnTo>
                    <a:pt x="0" y="29"/>
                  </a:lnTo>
                  <a:lnTo>
                    <a:pt x="0" y="28"/>
                  </a:lnTo>
                  <a:lnTo>
                    <a:pt x="2" y="26"/>
                  </a:lnTo>
                  <a:lnTo>
                    <a:pt x="2" y="23"/>
                  </a:lnTo>
                  <a:lnTo>
                    <a:pt x="2" y="21"/>
                  </a:lnTo>
                  <a:lnTo>
                    <a:pt x="3" y="19"/>
                  </a:lnTo>
                  <a:lnTo>
                    <a:pt x="4" y="17"/>
                  </a:lnTo>
                  <a:lnTo>
                    <a:pt x="5" y="15"/>
                  </a:lnTo>
                  <a:lnTo>
                    <a:pt x="6" y="14"/>
                  </a:lnTo>
                  <a:lnTo>
                    <a:pt x="7" y="11"/>
                  </a:lnTo>
                  <a:lnTo>
                    <a:pt x="8" y="10"/>
                  </a:lnTo>
                  <a:lnTo>
                    <a:pt x="10" y="9"/>
                  </a:lnTo>
                  <a:lnTo>
                    <a:pt x="12" y="7"/>
                  </a:lnTo>
                  <a:lnTo>
                    <a:pt x="14" y="5"/>
                  </a:lnTo>
                  <a:lnTo>
                    <a:pt x="16" y="4"/>
                  </a:lnTo>
                  <a:lnTo>
                    <a:pt x="18" y="4"/>
                  </a:lnTo>
                  <a:lnTo>
                    <a:pt x="20" y="2"/>
                  </a:lnTo>
                  <a:lnTo>
                    <a:pt x="21" y="2"/>
                  </a:lnTo>
                  <a:lnTo>
                    <a:pt x="23" y="1"/>
                  </a:lnTo>
                  <a:lnTo>
                    <a:pt x="26" y="0"/>
                  </a:lnTo>
                  <a:lnTo>
                    <a:pt x="28" y="0"/>
                  </a:lnTo>
                  <a:lnTo>
                    <a:pt x="30" y="0"/>
                  </a:lnTo>
                  <a:lnTo>
                    <a:pt x="32" y="0"/>
                  </a:lnTo>
                  <a:lnTo>
                    <a:pt x="34"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 name="Line 19"/>
            <p:cNvSpPr>
              <a:spLocks noChangeShapeType="1"/>
            </p:cNvSpPr>
            <p:nvPr/>
          </p:nvSpPr>
          <p:spPr bwMode="auto">
            <a:xfrm>
              <a:off x="8072438" y="5068888"/>
              <a:ext cx="81756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 name="Line 20"/>
            <p:cNvSpPr>
              <a:spLocks noChangeShapeType="1"/>
            </p:cNvSpPr>
            <p:nvPr/>
          </p:nvSpPr>
          <p:spPr bwMode="auto">
            <a:xfrm>
              <a:off x="8936039" y="5119688"/>
              <a:ext cx="28575" cy="13335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0" name="Freeform 21"/>
            <p:cNvSpPr>
              <a:spLocks/>
            </p:cNvSpPr>
            <p:nvPr/>
          </p:nvSpPr>
          <p:spPr bwMode="auto">
            <a:xfrm>
              <a:off x="7988301" y="5137150"/>
              <a:ext cx="28575" cy="95250"/>
            </a:xfrm>
            <a:custGeom>
              <a:avLst/>
              <a:gdLst>
                <a:gd name="T0" fmla="*/ 11 w 20"/>
                <a:gd name="T1" fmla="*/ 67 h 68"/>
                <a:gd name="T2" fmla="*/ 11 w 20"/>
                <a:gd name="T3" fmla="*/ 67 h 68"/>
                <a:gd name="T4" fmla="*/ 9 w 20"/>
                <a:gd name="T5" fmla="*/ 66 h 68"/>
                <a:gd name="T6" fmla="*/ 9 w 20"/>
                <a:gd name="T7" fmla="*/ 66 h 68"/>
                <a:gd name="T8" fmla="*/ 8 w 20"/>
                <a:gd name="T9" fmla="*/ 64 h 68"/>
                <a:gd name="T10" fmla="*/ 8 w 20"/>
                <a:gd name="T11" fmla="*/ 63 h 68"/>
                <a:gd name="T12" fmla="*/ 7 w 20"/>
                <a:gd name="T13" fmla="*/ 61 h 68"/>
                <a:gd name="T14" fmla="*/ 6 w 20"/>
                <a:gd name="T15" fmla="*/ 61 h 68"/>
                <a:gd name="T16" fmla="*/ 5 w 20"/>
                <a:gd name="T17" fmla="*/ 59 h 68"/>
                <a:gd name="T18" fmla="*/ 5 w 20"/>
                <a:gd name="T19" fmla="*/ 58 h 68"/>
                <a:gd name="T20" fmla="*/ 4 w 20"/>
                <a:gd name="T21" fmla="*/ 56 h 68"/>
                <a:gd name="T22" fmla="*/ 3 w 20"/>
                <a:gd name="T23" fmla="*/ 54 h 68"/>
                <a:gd name="T24" fmla="*/ 3 w 20"/>
                <a:gd name="T25" fmla="*/ 52 h 68"/>
                <a:gd name="T26" fmla="*/ 2 w 20"/>
                <a:gd name="T27" fmla="*/ 50 h 68"/>
                <a:gd name="T28" fmla="*/ 2 w 20"/>
                <a:gd name="T29" fmla="*/ 48 h 68"/>
                <a:gd name="T30" fmla="*/ 1 w 20"/>
                <a:gd name="T31" fmla="*/ 47 h 68"/>
                <a:gd name="T32" fmla="*/ 1 w 20"/>
                <a:gd name="T33" fmla="*/ 45 h 68"/>
                <a:gd name="T34" fmla="*/ 1 w 20"/>
                <a:gd name="T35" fmla="*/ 43 h 68"/>
                <a:gd name="T36" fmla="*/ 1 w 20"/>
                <a:gd name="T37" fmla="*/ 40 h 68"/>
                <a:gd name="T38" fmla="*/ 0 w 20"/>
                <a:gd name="T39" fmla="*/ 39 h 68"/>
                <a:gd name="T40" fmla="*/ 0 w 20"/>
                <a:gd name="T41" fmla="*/ 36 h 68"/>
                <a:gd name="T42" fmla="*/ 0 w 20"/>
                <a:gd name="T43" fmla="*/ 34 h 68"/>
                <a:gd name="T44" fmla="*/ 0 w 20"/>
                <a:gd name="T45" fmla="*/ 31 h 68"/>
                <a:gd name="T46" fmla="*/ 1 w 20"/>
                <a:gd name="T47" fmla="*/ 29 h 68"/>
                <a:gd name="T48" fmla="*/ 1 w 20"/>
                <a:gd name="T49" fmla="*/ 28 h 68"/>
                <a:gd name="T50" fmla="*/ 1 w 20"/>
                <a:gd name="T51" fmla="*/ 25 h 68"/>
                <a:gd name="T52" fmla="*/ 1 w 20"/>
                <a:gd name="T53" fmla="*/ 23 h 68"/>
                <a:gd name="T54" fmla="*/ 1 w 20"/>
                <a:gd name="T55" fmla="*/ 22 h 68"/>
                <a:gd name="T56" fmla="*/ 2 w 20"/>
                <a:gd name="T57" fmla="*/ 20 h 68"/>
                <a:gd name="T58" fmla="*/ 3 w 20"/>
                <a:gd name="T59" fmla="*/ 17 h 68"/>
                <a:gd name="T60" fmla="*/ 3 w 20"/>
                <a:gd name="T61" fmla="*/ 15 h 68"/>
                <a:gd name="T62" fmla="*/ 4 w 20"/>
                <a:gd name="T63" fmla="*/ 14 h 68"/>
                <a:gd name="T64" fmla="*/ 5 w 20"/>
                <a:gd name="T65" fmla="*/ 12 h 68"/>
                <a:gd name="T66" fmla="*/ 5 w 20"/>
                <a:gd name="T67" fmla="*/ 11 h 68"/>
                <a:gd name="T68" fmla="*/ 6 w 20"/>
                <a:gd name="T69" fmla="*/ 9 h 68"/>
                <a:gd name="T70" fmla="*/ 7 w 20"/>
                <a:gd name="T71" fmla="*/ 9 h 68"/>
                <a:gd name="T72" fmla="*/ 8 w 20"/>
                <a:gd name="T73" fmla="*/ 7 h 68"/>
                <a:gd name="T74" fmla="*/ 8 w 20"/>
                <a:gd name="T75" fmla="*/ 5 h 68"/>
                <a:gd name="T76" fmla="*/ 8 w 20"/>
                <a:gd name="T77" fmla="*/ 4 h 68"/>
                <a:gd name="T78" fmla="*/ 9 w 20"/>
                <a:gd name="T79" fmla="*/ 3 h 68"/>
                <a:gd name="T80" fmla="*/ 10 w 20"/>
                <a:gd name="T81" fmla="*/ 2 h 68"/>
                <a:gd name="T82" fmla="*/ 11 w 20"/>
                <a:gd name="T83" fmla="*/ 1 h 68"/>
                <a:gd name="T84" fmla="*/ 12 w 20"/>
                <a:gd name="T85" fmla="*/ 1 h 68"/>
                <a:gd name="T86" fmla="*/ 13 w 20"/>
                <a:gd name="T87" fmla="*/ 1 h 68"/>
                <a:gd name="T88" fmla="*/ 13 w 20"/>
                <a:gd name="T89" fmla="*/ 0 h 68"/>
                <a:gd name="T90" fmla="*/ 15 w 20"/>
                <a:gd name="T91" fmla="*/ 0 h 68"/>
                <a:gd name="T92" fmla="*/ 15 w 20"/>
                <a:gd name="T93" fmla="*/ 0 h 68"/>
                <a:gd name="T94" fmla="*/ 16 w 20"/>
                <a:gd name="T95" fmla="*/ 0 h 68"/>
                <a:gd name="T96" fmla="*/ 18 w 20"/>
                <a:gd name="T97" fmla="*/ 0 h 68"/>
                <a:gd name="T98" fmla="*/ 18 w 20"/>
                <a:gd name="T99" fmla="*/ 1 h 68"/>
                <a:gd name="T100" fmla="*/ 19 w 20"/>
                <a:gd name="T101" fmla="*/ 1 h 68"/>
                <a:gd name="T102" fmla="*/ 19 w 20"/>
                <a:gd name="T103"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68">
                  <a:moveTo>
                    <a:pt x="11" y="67"/>
                  </a:moveTo>
                  <a:lnTo>
                    <a:pt x="11" y="67"/>
                  </a:lnTo>
                  <a:lnTo>
                    <a:pt x="9" y="66"/>
                  </a:lnTo>
                  <a:lnTo>
                    <a:pt x="9" y="66"/>
                  </a:lnTo>
                  <a:lnTo>
                    <a:pt x="8" y="64"/>
                  </a:lnTo>
                  <a:lnTo>
                    <a:pt x="8" y="63"/>
                  </a:lnTo>
                  <a:lnTo>
                    <a:pt x="7" y="61"/>
                  </a:lnTo>
                  <a:lnTo>
                    <a:pt x="6" y="61"/>
                  </a:lnTo>
                  <a:lnTo>
                    <a:pt x="5" y="59"/>
                  </a:lnTo>
                  <a:lnTo>
                    <a:pt x="5" y="58"/>
                  </a:lnTo>
                  <a:lnTo>
                    <a:pt x="4" y="56"/>
                  </a:lnTo>
                  <a:lnTo>
                    <a:pt x="3" y="54"/>
                  </a:lnTo>
                  <a:lnTo>
                    <a:pt x="3" y="52"/>
                  </a:lnTo>
                  <a:lnTo>
                    <a:pt x="2" y="50"/>
                  </a:lnTo>
                  <a:lnTo>
                    <a:pt x="2" y="48"/>
                  </a:lnTo>
                  <a:lnTo>
                    <a:pt x="1" y="47"/>
                  </a:lnTo>
                  <a:lnTo>
                    <a:pt x="1" y="45"/>
                  </a:lnTo>
                  <a:lnTo>
                    <a:pt x="1" y="43"/>
                  </a:lnTo>
                  <a:lnTo>
                    <a:pt x="1" y="40"/>
                  </a:lnTo>
                  <a:lnTo>
                    <a:pt x="0" y="39"/>
                  </a:lnTo>
                  <a:lnTo>
                    <a:pt x="0" y="36"/>
                  </a:lnTo>
                  <a:lnTo>
                    <a:pt x="0" y="34"/>
                  </a:lnTo>
                  <a:lnTo>
                    <a:pt x="0" y="31"/>
                  </a:lnTo>
                  <a:lnTo>
                    <a:pt x="1" y="29"/>
                  </a:lnTo>
                  <a:lnTo>
                    <a:pt x="1" y="28"/>
                  </a:lnTo>
                  <a:lnTo>
                    <a:pt x="1" y="25"/>
                  </a:lnTo>
                  <a:lnTo>
                    <a:pt x="1" y="23"/>
                  </a:lnTo>
                  <a:lnTo>
                    <a:pt x="1" y="22"/>
                  </a:lnTo>
                  <a:lnTo>
                    <a:pt x="2" y="20"/>
                  </a:lnTo>
                  <a:lnTo>
                    <a:pt x="3" y="17"/>
                  </a:lnTo>
                  <a:lnTo>
                    <a:pt x="3" y="15"/>
                  </a:lnTo>
                  <a:lnTo>
                    <a:pt x="4" y="14"/>
                  </a:lnTo>
                  <a:lnTo>
                    <a:pt x="5" y="12"/>
                  </a:lnTo>
                  <a:lnTo>
                    <a:pt x="5" y="11"/>
                  </a:lnTo>
                  <a:lnTo>
                    <a:pt x="6" y="9"/>
                  </a:lnTo>
                  <a:lnTo>
                    <a:pt x="7" y="9"/>
                  </a:lnTo>
                  <a:lnTo>
                    <a:pt x="8" y="7"/>
                  </a:lnTo>
                  <a:lnTo>
                    <a:pt x="8" y="5"/>
                  </a:lnTo>
                  <a:lnTo>
                    <a:pt x="8" y="4"/>
                  </a:lnTo>
                  <a:lnTo>
                    <a:pt x="9" y="3"/>
                  </a:lnTo>
                  <a:lnTo>
                    <a:pt x="10" y="2"/>
                  </a:lnTo>
                  <a:lnTo>
                    <a:pt x="11" y="1"/>
                  </a:lnTo>
                  <a:lnTo>
                    <a:pt x="12" y="1"/>
                  </a:lnTo>
                  <a:lnTo>
                    <a:pt x="13" y="1"/>
                  </a:lnTo>
                  <a:lnTo>
                    <a:pt x="13" y="0"/>
                  </a:lnTo>
                  <a:lnTo>
                    <a:pt x="15" y="0"/>
                  </a:lnTo>
                  <a:lnTo>
                    <a:pt x="15" y="0"/>
                  </a:lnTo>
                  <a:lnTo>
                    <a:pt x="16" y="0"/>
                  </a:lnTo>
                  <a:lnTo>
                    <a:pt x="18" y="0"/>
                  </a:lnTo>
                  <a:lnTo>
                    <a:pt x="18" y="1"/>
                  </a:lnTo>
                  <a:lnTo>
                    <a:pt x="19" y="1"/>
                  </a:lnTo>
                  <a:lnTo>
                    <a:pt x="19" y="2"/>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1" name="Freeform 22"/>
            <p:cNvSpPr>
              <a:spLocks/>
            </p:cNvSpPr>
            <p:nvPr/>
          </p:nvSpPr>
          <p:spPr bwMode="auto">
            <a:xfrm>
              <a:off x="8943975" y="5143500"/>
              <a:ext cx="31750" cy="95250"/>
            </a:xfrm>
            <a:custGeom>
              <a:avLst/>
              <a:gdLst>
                <a:gd name="T0" fmla="*/ 0 w 22"/>
                <a:gd name="T1" fmla="*/ 1 h 68"/>
                <a:gd name="T2" fmla="*/ 0 w 22"/>
                <a:gd name="T3" fmla="*/ 1 h 68"/>
                <a:gd name="T4" fmla="*/ 1 w 22"/>
                <a:gd name="T5" fmla="*/ 1 h 68"/>
                <a:gd name="T6" fmla="*/ 1 w 22"/>
                <a:gd name="T7" fmla="*/ 0 h 68"/>
                <a:gd name="T8" fmla="*/ 3 w 22"/>
                <a:gd name="T9" fmla="*/ 0 h 68"/>
                <a:gd name="T10" fmla="*/ 3 w 22"/>
                <a:gd name="T11" fmla="*/ 0 h 68"/>
                <a:gd name="T12" fmla="*/ 4 w 22"/>
                <a:gd name="T13" fmla="*/ 0 h 68"/>
                <a:gd name="T14" fmla="*/ 5 w 22"/>
                <a:gd name="T15" fmla="*/ 0 h 68"/>
                <a:gd name="T16" fmla="*/ 7 w 22"/>
                <a:gd name="T17" fmla="*/ 0 h 68"/>
                <a:gd name="T18" fmla="*/ 7 w 22"/>
                <a:gd name="T19" fmla="*/ 0 h 68"/>
                <a:gd name="T20" fmla="*/ 8 w 22"/>
                <a:gd name="T21" fmla="*/ 1 h 68"/>
                <a:gd name="T22" fmla="*/ 10 w 22"/>
                <a:gd name="T23" fmla="*/ 1 h 68"/>
                <a:gd name="T24" fmla="*/ 11 w 22"/>
                <a:gd name="T25" fmla="*/ 3 h 68"/>
                <a:gd name="T26" fmla="*/ 11 w 22"/>
                <a:gd name="T27" fmla="*/ 3 h 68"/>
                <a:gd name="T28" fmla="*/ 13 w 22"/>
                <a:gd name="T29" fmla="*/ 5 h 68"/>
                <a:gd name="T30" fmla="*/ 13 w 22"/>
                <a:gd name="T31" fmla="*/ 5 h 68"/>
                <a:gd name="T32" fmla="*/ 15 w 22"/>
                <a:gd name="T33" fmla="*/ 6 h 68"/>
                <a:gd name="T34" fmla="*/ 16 w 22"/>
                <a:gd name="T35" fmla="*/ 8 h 68"/>
                <a:gd name="T36" fmla="*/ 16 w 22"/>
                <a:gd name="T37" fmla="*/ 8 h 68"/>
                <a:gd name="T38" fmla="*/ 17 w 22"/>
                <a:gd name="T39" fmla="*/ 10 h 68"/>
                <a:gd name="T40" fmla="*/ 18 w 22"/>
                <a:gd name="T41" fmla="*/ 11 h 68"/>
                <a:gd name="T42" fmla="*/ 19 w 22"/>
                <a:gd name="T43" fmla="*/ 13 h 68"/>
                <a:gd name="T44" fmla="*/ 19 w 22"/>
                <a:gd name="T45" fmla="*/ 16 h 68"/>
                <a:gd name="T46" fmla="*/ 20 w 22"/>
                <a:gd name="T47" fmla="*/ 18 h 68"/>
                <a:gd name="T48" fmla="*/ 20 w 22"/>
                <a:gd name="T49" fmla="*/ 19 h 68"/>
                <a:gd name="T50" fmla="*/ 20 w 22"/>
                <a:gd name="T51" fmla="*/ 21 h 68"/>
                <a:gd name="T52" fmla="*/ 21 w 22"/>
                <a:gd name="T53" fmla="*/ 24 h 68"/>
                <a:gd name="T54" fmla="*/ 21 w 22"/>
                <a:gd name="T55" fmla="*/ 25 h 68"/>
                <a:gd name="T56" fmla="*/ 21 w 22"/>
                <a:gd name="T57" fmla="*/ 27 h 68"/>
                <a:gd name="T58" fmla="*/ 21 w 22"/>
                <a:gd name="T59" fmla="*/ 29 h 68"/>
                <a:gd name="T60" fmla="*/ 21 w 22"/>
                <a:gd name="T61" fmla="*/ 31 h 68"/>
                <a:gd name="T62" fmla="*/ 21 w 22"/>
                <a:gd name="T63" fmla="*/ 35 h 68"/>
                <a:gd name="T64" fmla="*/ 21 w 22"/>
                <a:gd name="T65" fmla="*/ 36 h 68"/>
                <a:gd name="T66" fmla="*/ 21 w 22"/>
                <a:gd name="T67" fmla="*/ 38 h 68"/>
                <a:gd name="T68" fmla="*/ 21 w 22"/>
                <a:gd name="T69" fmla="*/ 40 h 68"/>
                <a:gd name="T70" fmla="*/ 21 w 22"/>
                <a:gd name="T71" fmla="*/ 42 h 68"/>
                <a:gd name="T72" fmla="*/ 20 w 22"/>
                <a:gd name="T73" fmla="*/ 44 h 68"/>
                <a:gd name="T74" fmla="*/ 20 w 22"/>
                <a:gd name="T75" fmla="*/ 46 h 68"/>
                <a:gd name="T76" fmla="*/ 20 w 22"/>
                <a:gd name="T77" fmla="*/ 48 h 68"/>
                <a:gd name="T78" fmla="*/ 20 w 22"/>
                <a:gd name="T79" fmla="*/ 51 h 68"/>
                <a:gd name="T80" fmla="*/ 19 w 22"/>
                <a:gd name="T81" fmla="*/ 53 h 68"/>
                <a:gd name="T82" fmla="*/ 19 w 22"/>
                <a:gd name="T83" fmla="*/ 55 h 68"/>
                <a:gd name="T84" fmla="*/ 18 w 22"/>
                <a:gd name="T85" fmla="*/ 56 h 68"/>
                <a:gd name="T86" fmla="*/ 17 w 22"/>
                <a:gd name="T87" fmla="*/ 57 h 68"/>
                <a:gd name="T88" fmla="*/ 16 w 22"/>
                <a:gd name="T89" fmla="*/ 58 h 68"/>
                <a:gd name="T90" fmla="*/ 16 w 22"/>
                <a:gd name="T91" fmla="*/ 60 h 68"/>
                <a:gd name="T92" fmla="*/ 15 w 22"/>
                <a:gd name="T93" fmla="*/ 62 h 68"/>
                <a:gd name="T94" fmla="*/ 13 w 22"/>
                <a:gd name="T95" fmla="*/ 63 h 68"/>
                <a:gd name="T96" fmla="*/ 13 w 22"/>
                <a:gd name="T97" fmla="*/ 65 h 68"/>
                <a:gd name="T98" fmla="*/ 11 w 22"/>
                <a:gd name="T99" fmla="*/ 65 h 68"/>
                <a:gd name="T100" fmla="*/ 11 w 22"/>
                <a:gd name="T101" fmla="*/ 66 h 68"/>
                <a:gd name="T102" fmla="*/ 10 w 22"/>
                <a:gd name="T103" fmla="*/ 6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 h="68">
                  <a:moveTo>
                    <a:pt x="0" y="1"/>
                  </a:moveTo>
                  <a:lnTo>
                    <a:pt x="0" y="1"/>
                  </a:lnTo>
                  <a:lnTo>
                    <a:pt x="1" y="1"/>
                  </a:lnTo>
                  <a:lnTo>
                    <a:pt x="1" y="0"/>
                  </a:lnTo>
                  <a:lnTo>
                    <a:pt x="3" y="0"/>
                  </a:lnTo>
                  <a:lnTo>
                    <a:pt x="3" y="0"/>
                  </a:lnTo>
                  <a:lnTo>
                    <a:pt x="4" y="0"/>
                  </a:lnTo>
                  <a:lnTo>
                    <a:pt x="5" y="0"/>
                  </a:lnTo>
                  <a:lnTo>
                    <a:pt x="7" y="0"/>
                  </a:lnTo>
                  <a:lnTo>
                    <a:pt x="7" y="0"/>
                  </a:lnTo>
                  <a:lnTo>
                    <a:pt x="8" y="1"/>
                  </a:lnTo>
                  <a:lnTo>
                    <a:pt x="10" y="1"/>
                  </a:lnTo>
                  <a:lnTo>
                    <a:pt x="11" y="3"/>
                  </a:lnTo>
                  <a:lnTo>
                    <a:pt x="11" y="3"/>
                  </a:lnTo>
                  <a:lnTo>
                    <a:pt x="13" y="5"/>
                  </a:lnTo>
                  <a:lnTo>
                    <a:pt x="13" y="5"/>
                  </a:lnTo>
                  <a:lnTo>
                    <a:pt x="15" y="6"/>
                  </a:lnTo>
                  <a:lnTo>
                    <a:pt x="16" y="8"/>
                  </a:lnTo>
                  <a:lnTo>
                    <a:pt x="16" y="8"/>
                  </a:lnTo>
                  <a:lnTo>
                    <a:pt x="17" y="10"/>
                  </a:lnTo>
                  <a:lnTo>
                    <a:pt x="18" y="11"/>
                  </a:lnTo>
                  <a:lnTo>
                    <a:pt x="19" y="13"/>
                  </a:lnTo>
                  <a:lnTo>
                    <a:pt x="19" y="16"/>
                  </a:lnTo>
                  <a:lnTo>
                    <a:pt x="20" y="18"/>
                  </a:lnTo>
                  <a:lnTo>
                    <a:pt x="20" y="19"/>
                  </a:lnTo>
                  <a:lnTo>
                    <a:pt x="20" y="21"/>
                  </a:lnTo>
                  <a:lnTo>
                    <a:pt x="21" y="24"/>
                  </a:lnTo>
                  <a:lnTo>
                    <a:pt x="21" y="25"/>
                  </a:lnTo>
                  <a:lnTo>
                    <a:pt x="21" y="27"/>
                  </a:lnTo>
                  <a:lnTo>
                    <a:pt x="21" y="29"/>
                  </a:lnTo>
                  <a:lnTo>
                    <a:pt x="21" y="31"/>
                  </a:lnTo>
                  <a:lnTo>
                    <a:pt x="21" y="35"/>
                  </a:lnTo>
                  <a:lnTo>
                    <a:pt x="21" y="36"/>
                  </a:lnTo>
                  <a:lnTo>
                    <a:pt x="21" y="38"/>
                  </a:lnTo>
                  <a:lnTo>
                    <a:pt x="21" y="40"/>
                  </a:lnTo>
                  <a:lnTo>
                    <a:pt x="21" y="42"/>
                  </a:lnTo>
                  <a:lnTo>
                    <a:pt x="20" y="44"/>
                  </a:lnTo>
                  <a:lnTo>
                    <a:pt x="20" y="46"/>
                  </a:lnTo>
                  <a:lnTo>
                    <a:pt x="20" y="48"/>
                  </a:lnTo>
                  <a:lnTo>
                    <a:pt x="20" y="51"/>
                  </a:lnTo>
                  <a:lnTo>
                    <a:pt x="19" y="53"/>
                  </a:lnTo>
                  <a:lnTo>
                    <a:pt x="19" y="55"/>
                  </a:lnTo>
                  <a:lnTo>
                    <a:pt x="18" y="56"/>
                  </a:lnTo>
                  <a:lnTo>
                    <a:pt x="17" y="57"/>
                  </a:lnTo>
                  <a:lnTo>
                    <a:pt x="16" y="58"/>
                  </a:lnTo>
                  <a:lnTo>
                    <a:pt x="16" y="60"/>
                  </a:lnTo>
                  <a:lnTo>
                    <a:pt x="15" y="62"/>
                  </a:lnTo>
                  <a:lnTo>
                    <a:pt x="13" y="63"/>
                  </a:lnTo>
                  <a:lnTo>
                    <a:pt x="13" y="65"/>
                  </a:lnTo>
                  <a:lnTo>
                    <a:pt x="11" y="65"/>
                  </a:lnTo>
                  <a:lnTo>
                    <a:pt x="11" y="66"/>
                  </a:lnTo>
                  <a:lnTo>
                    <a:pt x="10" y="67"/>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2" name="Freeform 23"/>
            <p:cNvSpPr>
              <a:spLocks/>
            </p:cNvSpPr>
            <p:nvPr/>
          </p:nvSpPr>
          <p:spPr bwMode="auto">
            <a:xfrm>
              <a:off x="9113839" y="5133975"/>
              <a:ext cx="34925" cy="95250"/>
            </a:xfrm>
            <a:custGeom>
              <a:avLst/>
              <a:gdLst>
                <a:gd name="T0" fmla="*/ 0 w 24"/>
                <a:gd name="T1" fmla="*/ 1 h 68"/>
                <a:gd name="T2" fmla="*/ 0 w 24"/>
                <a:gd name="T3" fmla="*/ 1 h 68"/>
                <a:gd name="T4" fmla="*/ 2 w 24"/>
                <a:gd name="T5" fmla="*/ 1 h 68"/>
                <a:gd name="T6" fmla="*/ 2 w 24"/>
                <a:gd name="T7" fmla="*/ 0 h 68"/>
                <a:gd name="T8" fmla="*/ 3 w 24"/>
                <a:gd name="T9" fmla="*/ 0 h 68"/>
                <a:gd name="T10" fmla="*/ 4 w 24"/>
                <a:gd name="T11" fmla="*/ 0 h 68"/>
                <a:gd name="T12" fmla="*/ 6 w 24"/>
                <a:gd name="T13" fmla="*/ 0 h 68"/>
                <a:gd name="T14" fmla="*/ 7 w 24"/>
                <a:gd name="T15" fmla="*/ 0 h 68"/>
                <a:gd name="T16" fmla="*/ 8 w 24"/>
                <a:gd name="T17" fmla="*/ 0 h 68"/>
                <a:gd name="T18" fmla="*/ 8 w 24"/>
                <a:gd name="T19" fmla="*/ 0 h 68"/>
                <a:gd name="T20" fmla="*/ 10 w 24"/>
                <a:gd name="T21" fmla="*/ 1 h 68"/>
                <a:gd name="T22" fmla="*/ 11 w 24"/>
                <a:gd name="T23" fmla="*/ 1 h 68"/>
                <a:gd name="T24" fmla="*/ 12 w 24"/>
                <a:gd name="T25" fmla="*/ 3 h 68"/>
                <a:gd name="T26" fmla="*/ 13 w 24"/>
                <a:gd name="T27" fmla="*/ 3 h 68"/>
                <a:gd name="T28" fmla="*/ 14 w 24"/>
                <a:gd name="T29" fmla="*/ 4 h 68"/>
                <a:gd name="T30" fmla="*/ 15 w 24"/>
                <a:gd name="T31" fmla="*/ 5 h 68"/>
                <a:gd name="T32" fmla="*/ 15 w 24"/>
                <a:gd name="T33" fmla="*/ 6 h 68"/>
                <a:gd name="T34" fmla="*/ 17 w 24"/>
                <a:gd name="T35" fmla="*/ 8 h 68"/>
                <a:gd name="T36" fmla="*/ 17 w 24"/>
                <a:gd name="T37" fmla="*/ 10 h 68"/>
                <a:gd name="T38" fmla="*/ 18 w 24"/>
                <a:gd name="T39" fmla="*/ 12 h 68"/>
                <a:gd name="T40" fmla="*/ 19 w 24"/>
                <a:gd name="T41" fmla="*/ 13 h 68"/>
                <a:gd name="T42" fmla="*/ 19 w 24"/>
                <a:gd name="T43" fmla="*/ 15 h 68"/>
                <a:gd name="T44" fmla="*/ 19 w 24"/>
                <a:gd name="T45" fmla="*/ 15 h 68"/>
                <a:gd name="T46" fmla="*/ 20 w 24"/>
                <a:gd name="T47" fmla="*/ 18 h 68"/>
                <a:gd name="T48" fmla="*/ 21 w 24"/>
                <a:gd name="T49" fmla="*/ 20 h 68"/>
                <a:gd name="T50" fmla="*/ 21 w 24"/>
                <a:gd name="T51" fmla="*/ 22 h 68"/>
                <a:gd name="T52" fmla="*/ 21 w 24"/>
                <a:gd name="T53" fmla="*/ 24 h 68"/>
                <a:gd name="T54" fmla="*/ 21 w 24"/>
                <a:gd name="T55" fmla="*/ 26 h 68"/>
                <a:gd name="T56" fmla="*/ 22 w 24"/>
                <a:gd name="T57" fmla="*/ 28 h 68"/>
                <a:gd name="T58" fmla="*/ 22 w 24"/>
                <a:gd name="T59" fmla="*/ 30 h 68"/>
                <a:gd name="T60" fmla="*/ 22 w 24"/>
                <a:gd name="T61" fmla="*/ 32 h 68"/>
                <a:gd name="T62" fmla="*/ 23 w 24"/>
                <a:gd name="T63" fmla="*/ 34 h 68"/>
                <a:gd name="T64" fmla="*/ 22 w 24"/>
                <a:gd name="T65" fmla="*/ 36 h 68"/>
                <a:gd name="T66" fmla="*/ 22 w 24"/>
                <a:gd name="T67" fmla="*/ 38 h 68"/>
                <a:gd name="T68" fmla="*/ 22 w 24"/>
                <a:gd name="T69" fmla="*/ 41 h 68"/>
                <a:gd name="T70" fmla="*/ 21 w 24"/>
                <a:gd name="T71" fmla="*/ 43 h 68"/>
                <a:gd name="T72" fmla="*/ 21 w 24"/>
                <a:gd name="T73" fmla="*/ 45 h 68"/>
                <a:gd name="T74" fmla="*/ 21 w 24"/>
                <a:gd name="T75" fmla="*/ 47 h 68"/>
                <a:gd name="T76" fmla="*/ 21 w 24"/>
                <a:gd name="T77" fmla="*/ 48 h 68"/>
                <a:gd name="T78" fmla="*/ 20 w 24"/>
                <a:gd name="T79" fmla="*/ 51 h 68"/>
                <a:gd name="T80" fmla="*/ 19 w 24"/>
                <a:gd name="T81" fmla="*/ 53 h 68"/>
                <a:gd name="T82" fmla="*/ 19 w 24"/>
                <a:gd name="T83" fmla="*/ 54 h 68"/>
                <a:gd name="T84" fmla="*/ 19 w 24"/>
                <a:gd name="T85" fmla="*/ 56 h 68"/>
                <a:gd name="T86" fmla="*/ 18 w 24"/>
                <a:gd name="T87" fmla="*/ 58 h 68"/>
                <a:gd name="T88" fmla="*/ 17 w 24"/>
                <a:gd name="T89" fmla="*/ 60 h 68"/>
                <a:gd name="T90" fmla="*/ 17 w 24"/>
                <a:gd name="T91" fmla="*/ 61 h 68"/>
                <a:gd name="T92" fmla="*/ 15 w 24"/>
                <a:gd name="T93" fmla="*/ 62 h 68"/>
                <a:gd name="T94" fmla="*/ 15 w 24"/>
                <a:gd name="T95" fmla="*/ 63 h 68"/>
                <a:gd name="T96" fmla="*/ 14 w 24"/>
                <a:gd name="T97" fmla="*/ 64 h 68"/>
                <a:gd name="T98" fmla="*/ 13 w 24"/>
                <a:gd name="T99" fmla="*/ 65 h 68"/>
                <a:gd name="T100" fmla="*/ 12 w 24"/>
                <a:gd name="T101" fmla="*/ 66 h 68"/>
                <a:gd name="T102" fmla="*/ 11 w 24"/>
                <a:gd name="T103" fmla="*/ 6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4" h="68">
                  <a:moveTo>
                    <a:pt x="0" y="1"/>
                  </a:moveTo>
                  <a:lnTo>
                    <a:pt x="0" y="1"/>
                  </a:lnTo>
                  <a:lnTo>
                    <a:pt x="2" y="1"/>
                  </a:lnTo>
                  <a:lnTo>
                    <a:pt x="2" y="0"/>
                  </a:lnTo>
                  <a:lnTo>
                    <a:pt x="3" y="0"/>
                  </a:lnTo>
                  <a:lnTo>
                    <a:pt x="4" y="0"/>
                  </a:lnTo>
                  <a:lnTo>
                    <a:pt x="6" y="0"/>
                  </a:lnTo>
                  <a:lnTo>
                    <a:pt x="7" y="0"/>
                  </a:lnTo>
                  <a:lnTo>
                    <a:pt x="8" y="0"/>
                  </a:lnTo>
                  <a:lnTo>
                    <a:pt x="8" y="0"/>
                  </a:lnTo>
                  <a:lnTo>
                    <a:pt x="10" y="1"/>
                  </a:lnTo>
                  <a:lnTo>
                    <a:pt x="11" y="1"/>
                  </a:lnTo>
                  <a:lnTo>
                    <a:pt x="12" y="3"/>
                  </a:lnTo>
                  <a:lnTo>
                    <a:pt x="13" y="3"/>
                  </a:lnTo>
                  <a:lnTo>
                    <a:pt x="14" y="4"/>
                  </a:lnTo>
                  <a:lnTo>
                    <a:pt x="15" y="5"/>
                  </a:lnTo>
                  <a:lnTo>
                    <a:pt x="15" y="6"/>
                  </a:lnTo>
                  <a:lnTo>
                    <a:pt x="17" y="8"/>
                  </a:lnTo>
                  <a:lnTo>
                    <a:pt x="17" y="10"/>
                  </a:lnTo>
                  <a:lnTo>
                    <a:pt x="18" y="12"/>
                  </a:lnTo>
                  <a:lnTo>
                    <a:pt x="19" y="13"/>
                  </a:lnTo>
                  <a:lnTo>
                    <a:pt x="19" y="15"/>
                  </a:lnTo>
                  <a:lnTo>
                    <a:pt x="19" y="15"/>
                  </a:lnTo>
                  <a:lnTo>
                    <a:pt x="20" y="18"/>
                  </a:lnTo>
                  <a:lnTo>
                    <a:pt x="21" y="20"/>
                  </a:lnTo>
                  <a:lnTo>
                    <a:pt x="21" y="22"/>
                  </a:lnTo>
                  <a:lnTo>
                    <a:pt x="21" y="24"/>
                  </a:lnTo>
                  <a:lnTo>
                    <a:pt x="21" y="26"/>
                  </a:lnTo>
                  <a:lnTo>
                    <a:pt x="22" y="28"/>
                  </a:lnTo>
                  <a:lnTo>
                    <a:pt x="22" y="30"/>
                  </a:lnTo>
                  <a:lnTo>
                    <a:pt x="22" y="32"/>
                  </a:lnTo>
                  <a:lnTo>
                    <a:pt x="23" y="34"/>
                  </a:lnTo>
                  <a:lnTo>
                    <a:pt x="22" y="36"/>
                  </a:lnTo>
                  <a:lnTo>
                    <a:pt x="22" y="38"/>
                  </a:lnTo>
                  <a:lnTo>
                    <a:pt x="22" y="41"/>
                  </a:lnTo>
                  <a:lnTo>
                    <a:pt x="21" y="43"/>
                  </a:lnTo>
                  <a:lnTo>
                    <a:pt x="21" y="45"/>
                  </a:lnTo>
                  <a:lnTo>
                    <a:pt x="21" y="47"/>
                  </a:lnTo>
                  <a:lnTo>
                    <a:pt x="21" y="48"/>
                  </a:lnTo>
                  <a:lnTo>
                    <a:pt x="20" y="51"/>
                  </a:lnTo>
                  <a:lnTo>
                    <a:pt x="19" y="53"/>
                  </a:lnTo>
                  <a:lnTo>
                    <a:pt x="19" y="54"/>
                  </a:lnTo>
                  <a:lnTo>
                    <a:pt x="19" y="56"/>
                  </a:lnTo>
                  <a:lnTo>
                    <a:pt x="18" y="58"/>
                  </a:lnTo>
                  <a:lnTo>
                    <a:pt x="17" y="60"/>
                  </a:lnTo>
                  <a:lnTo>
                    <a:pt x="17" y="61"/>
                  </a:lnTo>
                  <a:lnTo>
                    <a:pt x="15" y="62"/>
                  </a:lnTo>
                  <a:lnTo>
                    <a:pt x="15" y="63"/>
                  </a:lnTo>
                  <a:lnTo>
                    <a:pt x="14" y="64"/>
                  </a:lnTo>
                  <a:lnTo>
                    <a:pt x="13" y="65"/>
                  </a:lnTo>
                  <a:lnTo>
                    <a:pt x="12" y="66"/>
                  </a:lnTo>
                  <a:lnTo>
                    <a:pt x="11" y="67"/>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3" name="Freeform 24"/>
            <p:cNvSpPr>
              <a:spLocks/>
            </p:cNvSpPr>
            <p:nvPr/>
          </p:nvSpPr>
          <p:spPr bwMode="auto">
            <a:xfrm>
              <a:off x="9136063" y="5133975"/>
              <a:ext cx="31750" cy="95250"/>
            </a:xfrm>
            <a:custGeom>
              <a:avLst/>
              <a:gdLst>
                <a:gd name="T0" fmla="*/ 0 w 23"/>
                <a:gd name="T1" fmla="*/ 1 h 68"/>
                <a:gd name="T2" fmla="*/ 0 w 23"/>
                <a:gd name="T3" fmla="*/ 1 h 68"/>
                <a:gd name="T4" fmla="*/ 2 w 23"/>
                <a:gd name="T5" fmla="*/ 1 h 68"/>
                <a:gd name="T6" fmla="*/ 2 w 23"/>
                <a:gd name="T7" fmla="*/ 0 h 68"/>
                <a:gd name="T8" fmla="*/ 4 w 23"/>
                <a:gd name="T9" fmla="*/ 0 h 68"/>
                <a:gd name="T10" fmla="*/ 4 w 23"/>
                <a:gd name="T11" fmla="*/ 0 h 68"/>
                <a:gd name="T12" fmla="*/ 5 w 23"/>
                <a:gd name="T13" fmla="*/ 0 h 68"/>
                <a:gd name="T14" fmla="*/ 6 w 23"/>
                <a:gd name="T15" fmla="*/ 0 h 68"/>
                <a:gd name="T16" fmla="*/ 8 w 23"/>
                <a:gd name="T17" fmla="*/ 0 h 68"/>
                <a:gd name="T18" fmla="*/ 9 w 23"/>
                <a:gd name="T19" fmla="*/ 0 h 68"/>
                <a:gd name="T20" fmla="*/ 10 w 23"/>
                <a:gd name="T21" fmla="*/ 1 h 68"/>
                <a:gd name="T22" fmla="*/ 10 w 23"/>
                <a:gd name="T23" fmla="*/ 2 h 68"/>
                <a:gd name="T24" fmla="*/ 12 w 23"/>
                <a:gd name="T25" fmla="*/ 3 h 68"/>
                <a:gd name="T26" fmla="*/ 13 w 23"/>
                <a:gd name="T27" fmla="*/ 3 h 68"/>
                <a:gd name="T28" fmla="*/ 14 w 23"/>
                <a:gd name="T29" fmla="*/ 4 h 68"/>
                <a:gd name="T30" fmla="*/ 14 w 23"/>
                <a:gd name="T31" fmla="*/ 5 h 68"/>
                <a:gd name="T32" fmla="*/ 14 w 23"/>
                <a:gd name="T33" fmla="*/ 6 h 68"/>
                <a:gd name="T34" fmla="*/ 16 w 23"/>
                <a:gd name="T35" fmla="*/ 8 h 68"/>
                <a:gd name="T36" fmla="*/ 18 w 23"/>
                <a:gd name="T37" fmla="*/ 10 h 68"/>
                <a:gd name="T38" fmla="*/ 18 w 23"/>
                <a:gd name="T39" fmla="*/ 12 h 68"/>
                <a:gd name="T40" fmla="*/ 18 w 23"/>
                <a:gd name="T41" fmla="*/ 13 h 68"/>
                <a:gd name="T42" fmla="*/ 19 w 23"/>
                <a:gd name="T43" fmla="*/ 15 h 68"/>
                <a:gd name="T44" fmla="*/ 20 w 23"/>
                <a:gd name="T45" fmla="*/ 15 h 68"/>
                <a:gd name="T46" fmla="*/ 21 w 23"/>
                <a:gd name="T47" fmla="*/ 18 h 68"/>
                <a:gd name="T48" fmla="*/ 21 w 23"/>
                <a:gd name="T49" fmla="*/ 20 h 68"/>
                <a:gd name="T50" fmla="*/ 21 w 23"/>
                <a:gd name="T51" fmla="*/ 22 h 68"/>
                <a:gd name="T52" fmla="*/ 21 w 23"/>
                <a:gd name="T53" fmla="*/ 24 h 68"/>
                <a:gd name="T54" fmla="*/ 21 w 23"/>
                <a:gd name="T55" fmla="*/ 26 h 68"/>
                <a:gd name="T56" fmla="*/ 22 w 23"/>
                <a:gd name="T57" fmla="*/ 28 h 68"/>
                <a:gd name="T58" fmla="*/ 22 w 23"/>
                <a:gd name="T59" fmla="*/ 30 h 68"/>
                <a:gd name="T60" fmla="*/ 22 w 23"/>
                <a:gd name="T61" fmla="*/ 32 h 68"/>
                <a:gd name="T62" fmla="*/ 22 w 23"/>
                <a:gd name="T63" fmla="*/ 34 h 68"/>
                <a:gd name="T64" fmla="*/ 22 w 23"/>
                <a:gd name="T65" fmla="*/ 36 h 68"/>
                <a:gd name="T66" fmla="*/ 22 w 23"/>
                <a:gd name="T67" fmla="*/ 38 h 68"/>
                <a:gd name="T68" fmla="*/ 22 w 23"/>
                <a:gd name="T69" fmla="*/ 41 h 68"/>
                <a:gd name="T70" fmla="*/ 21 w 23"/>
                <a:gd name="T71" fmla="*/ 43 h 68"/>
                <a:gd name="T72" fmla="*/ 21 w 23"/>
                <a:gd name="T73" fmla="*/ 45 h 68"/>
                <a:gd name="T74" fmla="*/ 21 w 23"/>
                <a:gd name="T75" fmla="*/ 47 h 68"/>
                <a:gd name="T76" fmla="*/ 21 w 23"/>
                <a:gd name="T77" fmla="*/ 48 h 68"/>
                <a:gd name="T78" fmla="*/ 21 w 23"/>
                <a:gd name="T79" fmla="*/ 51 h 68"/>
                <a:gd name="T80" fmla="*/ 20 w 23"/>
                <a:gd name="T81" fmla="*/ 53 h 68"/>
                <a:gd name="T82" fmla="*/ 19 w 23"/>
                <a:gd name="T83" fmla="*/ 54 h 68"/>
                <a:gd name="T84" fmla="*/ 18 w 23"/>
                <a:gd name="T85" fmla="*/ 56 h 68"/>
                <a:gd name="T86" fmla="*/ 18 w 23"/>
                <a:gd name="T87" fmla="*/ 58 h 68"/>
                <a:gd name="T88" fmla="*/ 18 w 23"/>
                <a:gd name="T89" fmla="*/ 60 h 68"/>
                <a:gd name="T90" fmla="*/ 16 w 23"/>
                <a:gd name="T91" fmla="*/ 62 h 68"/>
                <a:gd name="T92" fmla="*/ 14 w 23"/>
                <a:gd name="T93" fmla="*/ 62 h 68"/>
                <a:gd name="T94" fmla="*/ 14 w 23"/>
                <a:gd name="T95" fmla="*/ 63 h 68"/>
                <a:gd name="T96" fmla="*/ 14 w 23"/>
                <a:gd name="T97" fmla="*/ 64 h 68"/>
                <a:gd name="T98" fmla="*/ 13 w 23"/>
                <a:gd name="T99" fmla="*/ 65 h 68"/>
                <a:gd name="T100" fmla="*/ 12 w 23"/>
                <a:gd name="T101" fmla="*/ 66 h 68"/>
                <a:gd name="T102" fmla="*/ 10 w 23"/>
                <a:gd name="T103" fmla="*/ 6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 h="68">
                  <a:moveTo>
                    <a:pt x="0" y="1"/>
                  </a:moveTo>
                  <a:lnTo>
                    <a:pt x="0" y="1"/>
                  </a:lnTo>
                  <a:lnTo>
                    <a:pt x="2" y="1"/>
                  </a:lnTo>
                  <a:lnTo>
                    <a:pt x="2" y="0"/>
                  </a:lnTo>
                  <a:lnTo>
                    <a:pt x="4" y="0"/>
                  </a:lnTo>
                  <a:lnTo>
                    <a:pt x="4" y="0"/>
                  </a:lnTo>
                  <a:lnTo>
                    <a:pt x="5" y="0"/>
                  </a:lnTo>
                  <a:lnTo>
                    <a:pt x="6" y="0"/>
                  </a:lnTo>
                  <a:lnTo>
                    <a:pt x="8" y="0"/>
                  </a:lnTo>
                  <a:lnTo>
                    <a:pt x="9" y="0"/>
                  </a:lnTo>
                  <a:lnTo>
                    <a:pt x="10" y="1"/>
                  </a:lnTo>
                  <a:lnTo>
                    <a:pt x="10" y="2"/>
                  </a:lnTo>
                  <a:lnTo>
                    <a:pt x="12" y="3"/>
                  </a:lnTo>
                  <a:lnTo>
                    <a:pt x="13" y="3"/>
                  </a:lnTo>
                  <a:lnTo>
                    <a:pt x="14" y="4"/>
                  </a:lnTo>
                  <a:lnTo>
                    <a:pt x="14" y="5"/>
                  </a:lnTo>
                  <a:lnTo>
                    <a:pt x="14" y="6"/>
                  </a:lnTo>
                  <a:lnTo>
                    <a:pt x="16" y="8"/>
                  </a:lnTo>
                  <a:lnTo>
                    <a:pt x="18" y="10"/>
                  </a:lnTo>
                  <a:lnTo>
                    <a:pt x="18" y="12"/>
                  </a:lnTo>
                  <a:lnTo>
                    <a:pt x="18" y="13"/>
                  </a:lnTo>
                  <a:lnTo>
                    <a:pt x="19" y="15"/>
                  </a:lnTo>
                  <a:lnTo>
                    <a:pt x="20" y="15"/>
                  </a:lnTo>
                  <a:lnTo>
                    <a:pt x="21" y="18"/>
                  </a:lnTo>
                  <a:lnTo>
                    <a:pt x="21" y="20"/>
                  </a:lnTo>
                  <a:lnTo>
                    <a:pt x="21" y="22"/>
                  </a:lnTo>
                  <a:lnTo>
                    <a:pt x="21" y="24"/>
                  </a:lnTo>
                  <a:lnTo>
                    <a:pt x="21" y="26"/>
                  </a:lnTo>
                  <a:lnTo>
                    <a:pt x="22" y="28"/>
                  </a:lnTo>
                  <a:lnTo>
                    <a:pt x="22" y="30"/>
                  </a:lnTo>
                  <a:lnTo>
                    <a:pt x="22" y="32"/>
                  </a:lnTo>
                  <a:lnTo>
                    <a:pt x="22" y="34"/>
                  </a:lnTo>
                  <a:lnTo>
                    <a:pt x="22" y="36"/>
                  </a:lnTo>
                  <a:lnTo>
                    <a:pt x="22" y="38"/>
                  </a:lnTo>
                  <a:lnTo>
                    <a:pt x="22" y="41"/>
                  </a:lnTo>
                  <a:lnTo>
                    <a:pt x="21" y="43"/>
                  </a:lnTo>
                  <a:lnTo>
                    <a:pt x="21" y="45"/>
                  </a:lnTo>
                  <a:lnTo>
                    <a:pt x="21" y="47"/>
                  </a:lnTo>
                  <a:lnTo>
                    <a:pt x="21" y="48"/>
                  </a:lnTo>
                  <a:lnTo>
                    <a:pt x="21" y="51"/>
                  </a:lnTo>
                  <a:lnTo>
                    <a:pt x="20" y="53"/>
                  </a:lnTo>
                  <a:lnTo>
                    <a:pt x="19" y="54"/>
                  </a:lnTo>
                  <a:lnTo>
                    <a:pt x="18" y="56"/>
                  </a:lnTo>
                  <a:lnTo>
                    <a:pt x="18" y="58"/>
                  </a:lnTo>
                  <a:lnTo>
                    <a:pt x="18" y="60"/>
                  </a:lnTo>
                  <a:lnTo>
                    <a:pt x="16" y="62"/>
                  </a:lnTo>
                  <a:lnTo>
                    <a:pt x="14" y="62"/>
                  </a:lnTo>
                  <a:lnTo>
                    <a:pt x="14" y="63"/>
                  </a:lnTo>
                  <a:lnTo>
                    <a:pt x="14" y="64"/>
                  </a:lnTo>
                  <a:lnTo>
                    <a:pt x="13" y="65"/>
                  </a:lnTo>
                  <a:lnTo>
                    <a:pt x="12" y="66"/>
                  </a:lnTo>
                  <a:lnTo>
                    <a:pt x="10" y="67"/>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4" name="Freeform 25"/>
            <p:cNvSpPr>
              <a:spLocks/>
            </p:cNvSpPr>
            <p:nvPr/>
          </p:nvSpPr>
          <p:spPr bwMode="auto">
            <a:xfrm>
              <a:off x="9158289" y="5133975"/>
              <a:ext cx="33337" cy="95250"/>
            </a:xfrm>
            <a:custGeom>
              <a:avLst/>
              <a:gdLst>
                <a:gd name="T0" fmla="*/ 0 w 23"/>
                <a:gd name="T1" fmla="*/ 1 h 68"/>
                <a:gd name="T2" fmla="*/ 0 w 23"/>
                <a:gd name="T3" fmla="*/ 1 h 68"/>
                <a:gd name="T4" fmla="*/ 2 w 23"/>
                <a:gd name="T5" fmla="*/ 1 h 68"/>
                <a:gd name="T6" fmla="*/ 2 w 23"/>
                <a:gd name="T7" fmla="*/ 0 h 68"/>
                <a:gd name="T8" fmla="*/ 3 w 23"/>
                <a:gd name="T9" fmla="*/ 0 h 68"/>
                <a:gd name="T10" fmla="*/ 5 w 23"/>
                <a:gd name="T11" fmla="*/ 0 h 68"/>
                <a:gd name="T12" fmla="*/ 5 w 23"/>
                <a:gd name="T13" fmla="*/ 0 h 68"/>
                <a:gd name="T14" fmla="*/ 6 w 23"/>
                <a:gd name="T15" fmla="*/ 0 h 68"/>
                <a:gd name="T16" fmla="*/ 7 w 23"/>
                <a:gd name="T17" fmla="*/ 0 h 68"/>
                <a:gd name="T18" fmla="*/ 8 w 23"/>
                <a:gd name="T19" fmla="*/ 0 h 68"/>
                <a:gd name="T20" fmla="*/ 10 w 23"/>
                <a:gd name="T21" fmla="*/ 1 h 68"/>
                <a:gd name="T22" fmla="*/ 10 w 23"/>
                <a:gd name="T23" fmla="*/ 2 h 68"/>
                <a:gd name="T24" fmla="*/ 12 w 23"/>
                <a:gd name="T25" fmla="*/ 3 h 68"/>
                <a:gd name="T26" fmla="*/ 13 w 23"/>
                <a:gd name="T27" fmla="*/ 3 h 68"/>
                <a:gd name="T28" fmla="*/ 13 w 23"/>
                <a:gd name="T29" fmla="*/ 4 h 68"/>
                <a:gd name="T30" fmla="*/ 15 w 23"/>
                <a:gd name="T31" fmla="*/ 5 h 68"/>
                <a:gd name="T32" fmla="*/ 15 w 23"/>
                <a:gd name="T33" fmla="*/ 6 h 68"/>
                <a:gd name="T34" fmla="*/ 17 w 23"/>
                <a:gd name="T35" fmla="*/ 8 h 68"/>
                <a:gd name="T36" fmla="*/ 17 w 23"/>
                <a:gd name="T37" fmla="*/ 10 h 68"/>
                <a:gd name="T38" fmla="*/ 17 w 23"/>
                <a:gd name="T39" fmla="*/ 12 h 68"/>
                <a:gd name="T40" fmla="*/ 18 w 23"/>
                <a:gd name="T41" fmla="*/ 13 h 68"/>
                <a:gd name="T42" fmla="*/ 19 w 23"/>
                <a:gd name="T43" fmla="*/ 15 h 68"/>
                <a:gd name="T44" fmla="*/ 20 w 23"/>
                <a:gd name="T45" fmla="*/ 15 h 68"/>
                <a:gd name="T46" fmla="*/ 21 w 23"/>
                <a:gd name="T47" fmla="*/ 18 h 68"/>
                <a:gd name="T48" fmla="*/ 21 w 23"/>
                <a:gd name="T49" fmla="*/ 20 h 68"/>
                <a:gd name="T50" fmla="*/ 21 w 23"/>
                <a:gd name="T51" fmla="*/ 22 h 68"/>
                <a:gd name="T52" fmla="*/ 22 w 23"/>
                <a:gd name="T53" fmla="*/ 24 h 68"/>
                <a:gd name="T54" fmla="*/ 22 w 23"/>
                <a:gd name="T55" fmla="*/ 26 h 68"/>
                <a:gd name="T56" fmla="*/ 22 w 23"/>
                <a:gd name="T57" fmla="*/ 28 h 68"/>
                <a:gd name="T58" fmla="*/ 22 w 23"/>
                <a:gd name="T59" fmla="*/ 30 h 68"/>
                <a:gd name="T60" fmla="*/ 22 w 23"/>
                <a:gd name="T61" fmla="*/ 32 h 68"/>
                <a:gd name="T62" fmla="*/ 22 w 23"/>
                <a:gd name="T63" fmla="*/ 34 h 68"/>
                <a:gd name="T64" fmla="*/ 22 w 23"/>
                <a:gd name="T65" fmla="*/ 36 h 68"/>
                <a:gd name="T66" fmla="*/ 22 w 23"/>
                <a:gd name="T67" fmla="*/ 38 h 68"/>
                <a:gd name="T68" fmla="*/ 22 w 23"/>
                <a:gd name="T69" fmla="*/ 41 h 68"/>
                <a:gd name="T70" fmla="*/ 22 w 23"/>
                <a:gd name="T71" fmla="*/ 43 h 68"/>
                <a:gd name="T72" fmla="*/ 22 w 23"/>
                <a:gd name="T73" fmla="*/ 45 h 68"/>
                <a:gd name="T74" fmla="*/ 21 w 23"/>
                <a:gd name="T75" fmla="*/ 47 h 68"/>
                <a:gd name="T76" fmla="*/ 21 w 23"/>
                <a:gd name="T77" fmla="*/ 48 h 68"/>
                <a:gd name="T78" fmla="*/ 21 w 23"/>
                <a:gd name="T79" fmla="*/ 51 h 68"/>
                <a:gd name="T80" fmla="*/ 20 w 23"/>
                <a:gd name="T81" fmla="*/ 53 h 68"/>
                <a:gd name="T82" fmla="*/ 19 w 23"/>
                <a:gd name="T83" fmla="*/ 54 h 68"/>
                <a:gd name="T84" fmla="*/ 18 w 23"/>
                <a:gd name="T85" fmla="*/ 56 h 68"/>
                <a:gd name="T86" fmla="*/ 17 w 23"/>
                <a:gd name="T87" fmla="*/ 58 h 68"/>
                <a:gd name="T88" fmla="*/ 17 w 23"/>
                <a:gd name="T89" fmla="*/ 60 h 68"/>
                <a:gd name="T90" fmla="*/ 17 w 23"/>
                <a:gd name="T91" fmla="*/ 62 h 68"/>
                <a:gd name="T92" fmla="*/ 15 w 23"/>
                <a:gd name="T93" fmla="*/ 62 h 68"/>
                <a:gd name="T94" fmla="*/ 15 w 23"/>
                <a:gd name="T95" fmla="*/ 63 h 68"/>
                <a:gd name="T96" fmla="*/ 13 w 23"/>
                <a:gd name="T97" fmla="*/ 64 h 68"/>
                <a:gd name="T98" fmla="*/ 13 w 23"/>
                <a:gd name="T99" fmla="*/ 65 h 68"/>
                <a:gd name="T100" fmla="*/ 12 w 23"/>
                <a:gd name="T101" fmla="*/ 66 h 68"/>
                <a:gd name="T102" fmla="*/ 10 w 23"/>
                <a:gd name="T103" fmla="*/ 6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 h="68">
                  <a:moveTo>
                    <a:pt x="0" y="1"/>
                  </a:moveTo>
                  <a:lnTo>
                    <a:pt x="0" y="1"/>
                  </a:lnTo>
                  <a:lnTo>
                    <a:pt x="2" y="1"/>
                  </a:lnTo>
                  <a:lnTo>
                    <a:pt x="2" y="0"/>
                  </a:lnTo>
                  <a:lnTo>
                    <a:pt x="3" y="0"/>
                  </a:lnTo>
                  <a:lnTo>
                    <a:pt x="5" y="0"/>
                  </a:lnTo>
                  <a:lnTo>
                    <a:pt x="5" y="0"/>
                  </a:lnTo>
                  <a:lnTo>
                    <a:pt x="6" y="0"/>
                  </a:lnTo>
                  <a:lnTo>
                    <a:pt x="7" y="0"/>
                  </a:lnTo>
                  <a:lnTo>
                    <a:pt x="8" y="0"/>
                  </a:lnTo>
                  <a:lnTo>
                    <a:pt x="10" y="1"/>
                  </a:lnTo>
                  <a:lnTo>
                    <a:pt x="10" y="2"/>
                  </a:lnTo>
                  <a:lnTo>
                    <a:pt x="12" y="3"/>
                  </a:lnTo>
                  <a:lnTo>
                    <a:pt x="13" y="3"/>
                  </a:lnTo>
                  <a:lnTo>
                    <a:pt x="13" y="4"/>
                  </a:lnTo>
                  <a:lnTo>
                    <a:pt x="15" y="5"/>
                  </a:lnTo>
                  <a:lnTo>
                    <a:pt x="15" y="6"/>
                  </a:lnTo>
                  <a:lnTo>
                    <a:pt x="17" y="8"/>
                  </a:lnTo>
                  <a:lnTo>
                    <a:pt x="17" y="10"/>
                  </a:lnTo>
                  <a:lnTo>
                    <a:pt x="17" y="12"/>
                  </a:lnTo>
                  <a:lnTo>
                    <a:pt x="18" y="13"/>
                  </a:lnTo>
                  <a:lnTo>
                    <a:pt x="19" y="15"/>
                  </a:lnTo>
                  <a:lnTo>
                    <a:pt x="20" y="15"/>
                  </a:lnTo>
                  <a:lnTo>
                    <a:pt x="21" y="18"/>
                  </a:lnTo>
                  <a:lnTo>
                    <a:pt x="21" y="20"/>
                  </a:lnTo>
                  <a:lnTo>
                    <a:pt x="21" y="22"/>
                  </a:lnTo>
                  <a:lnTo>
                    <a:pt x="22" y="24"/>
                  </a:lnTo>
                  <a:lnTo>
                    <a:pt x="22" y="26"/>
                  </a:lnTo>
                  <a:lnTo>
                    <a:pt x="22" y="28"/>
                  </a:lnTo>
                  <a:lnTo>
                    <a:pt x="22" y="30"/>
                  </a:lnTo>
                  <a:lnTo>
                    <a:pt x="22" y="32"/>
                  </a:lnTo>
                  <a:lnTo>
                    <a:pt x="22" y="34"/>
                  </a:lnTo>
                  <a:lnTo>
                    <a:pt x="22" y="36"/>
                  </a:lnTo>
                  <a:lnTo>
                    <a:pt x="22" y="38"/>
                  </a:lnTo>
                  <a:lnTo>
                    <a:pt x="22" y="41"/>
                  </a:lnTo>
                  <a:lnTo>
                    <a:pt x="22" y="43"/>
                  </a:lnTo>
                  <a:lnTo>
                    <a:pt x="22" y="45"/>
                  </a:lnTo>
                  <a:lnTo>
                    <a:pt x="21" y="47"/>
                  </a:lnTo>
                  <a:lnTo>
                    <a:pt x="21" y="48"/>
                  </a:lnTo>
                  <a:lnTo>
                    <a:pt x="21" y="51"/>
                  </a:lnTo>
                  <a:lnTo>
                    <a:pt x="20" y="53"/>
                  </a:lnTo>
                  <a:lnTo>
                    <a:pt x="19" y="54"/>
                  </a:lnTo>
                  <a:lnTo>
                    <a:pt x="18" y="56"/>
                  </a:lnTo>
                  <a:lnTo>
                    <a:pt x="17" y="58"/>
                  </a:lnTo>
                  <a:lnTo>
                    <a:pt x="17" y="60"/>
                  </a:lnTo>
                  <a:lnTo>
                    <a:pt x="17" y="62"/>
                  </a:lnTo>
                  <a:lnTo>
                    <a:pt x="15" y="62"/>
                  </a:lnTo>
                  <a:lnTo>
                    <a:pt x="15" y="63"/>
                  </a:lnTo>
                  <a:lnTo>
                    <a:pt x="13" y="64"/>
                  </a:lnTo>
                  <a:lnTo>
                    <a:pt x="13" y="65"/>
                  </a:lnTo>
                  <a:lnTo>
                    <a:pt x="12" y="66"/>
                  </a:lnTo>
                  <a:lnTo>
                    <a:pt x="10" y="67"/>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5" name="Freeform 26"/>
            <p:cNvSpPr>
              <a:spLocks/>
            </p:cNvSpPr>
            <p:nvPr/>
          </p:nvSpPr>
          <p:spPr bwMode="auto">
            <a:xfrm>
              <a:off x="9183688" y="5133975"/>
              <a:ext cx="31750" cy="95250"/>
            </a:xfrm>
            <a:custGeom>
              <a:avLst/>
              <a:gdLst>
                <a:gd name="T0" fmla="*/ 0 w 22"/>
                <a:gd name="T1" fmla="*/ 1 h 68"/>
                <a:gd name="T2" fmla="*/ 0 w 22"/>
                <a:gd name="T3" fmla="*/ 1 h 68"/>
                <a:gd name="T4" fmla="*/ 0 w 22"/>
                <a:gd name="T5" fmla="*/ 1 h 68"/>
                <a:gd name="T6" fmla="*/ 1 w 22"/>
                <a:gd name="T7" fmla="*/ 0 h 68"/>
                <a:gd name="T8" fmla="*/ 2 w 22"/>
                <a:gd name="T9" fmla="*/ 0 h 68"/>
                <a:gd name="T10" fmla="*/ 4 w 22"/>
                <a:gd name="T11" fmla="*/ 0 h 68"/>
                <a:gd name="T12" fmla="*/ 5 w 22"/>
                <a:gd name="T13" fmla="*/ 0 h 68"/>
                <a:gd name="T14" fmla="*/ 5 w 22"/>
                <a:gd name="T15" fmla="*/ 0 h 68"/>
                <a:gd name="T16" fmla="*/ 6 w 22"/>
                <a:gd name="T17" fmla="*/ 0 h 68"/>
                <a:gd name="T18" fmla="*/ 8 w 22"/>
                <a:gd name="T19" fmla="*/ 0 h 68"/>
                <a:gd name="T20" fmla="*/ 9 w 22"/>
                <a:gd name="T21" fmla="*/ 1 h 68"/>
                <a:gd name="T22" fmla="*/ 9 w 22"/>
                <a:gd name="T23" fmla="*/ 2 h 68"/>
                <a:gd name="T24" fmla="*/ 10 w 22"/>
                <a:gd name="T25" fmla="*/ 3 h 68"/>
                <a:gd name="T26" fmla="*/ 12 w 22"/>
                <a:gd name="T27" fmla="*/ 3 h 68"/>
                <a:gd name="T28" fmla="*/ 12 w 22"/>
                <a:gd name="T29" fmla="*/ 4 h 68"/>
                <a:gd name="T30" fmla="*/ 13 w 22"/>
                <a:gd name="T31" fmla="*/ 5 h 68"/>
                <a:gd name="T32" fmla="*/ 15 w 22"/>
                <a:gd name="T33" fmla="*/ 6 h 68"/>
                <a:gd name="T34" fmla="*/ 15 w 22"/>
                <a:gd name="T35" fmla="*/ 8 h 68"/>
                <a:gd name="T36" fmla="*/ 17 w 22"/>
                <a:gd name="T37" fmla="*/ 10 h 68"/>
                <a:gd name="T38" fmla="*/ 17 w 22"/>
                <a:gd name="T39" fmla="*/ 12 h 68"/>
                <a:gd name="T40" fmla="*/ 18 w 22"/>
                <a:gd name="T41" fmla="*/ 13 h 68"/>
                <a:gd name="T42" fmla="*/ 18 w 22"/>
                <a:gd name="T43" fmla="*/ 15 h 68"/>
                <a:gd name="T44" fmla="*/ 19 w 22"/>
                <a:gd name="T45" fmla="*/ 15 h 68"/>
                <a:gd name="T46" fmla="*/ 19 w 22"/>
                <a:gd name="T47" fmla="*/ 18 h 68"/>
                <a:gd name="T48" fmla="*/ 20 w 22"/>
                <a:gd name="T49" fmla="*/ 20 h 68"/>
                <a:gd name="T50" fmla="*/ 21 w 22"/>
                <a:gd name="T51" fmla="*/ 22 h 68"/>
                <a:gd name="T52" fmla="*/ 21 w 22"/>
                <a:gd name="T53" fmla="*/ 24 h 68"/>
                <a:gd name="T54" fmla="*/ 21 w 22"/>
                <a:gd name="T55" fmla="*/ 26 h 68"/>
                <a:gd name="T56" fmla="*/ 21 w 22"/>
                <a:gd name="T57" fmla="*/ 28 h 68"/>
                <a:gd name="T58" fmla="*/ 21 w 22"/>
                <a:gd name="T59" fmla="*/ 30 h 68"/>
                <a:gd name="T60" fmla="*/ 21 w 22"/>
                <a:gd name="T61" fmla="*/ 32 h 68"/>
                <a:gd name="T62" fmla="*/ 21 w 22"/>
                <a:gd name="T63" fmla="*/ 34 h 68"/>
                <a:gd name="T64" fmla="*/ 21 w 22"/>
                <a:gd name="T65" fmla="*/ 36 h 68"/>
                <a:gd name="T66" fmla="*/ 21 w 22"/>
                <a:gd name="T67" fmla="*/ 38 h 68"/>
                <a:gd name="T68" fmla="*/ 21 w 22"/>
                <a:gd name="T69" fmla="*/ 41 h 68"/>
                <a:gd name="T70" fmla="*/ 21 w 22"/>
                <a:gd name="T71" fmla="*/ 43 h 68"/>
                <a:gd name="T72" fmla="*/ 21 w 22"/>
                <a:gd name="T73" fmla="*/ 45 h 68"/>
                <a:gd name="T74" fmla="*/ 21 w 22"/>
                <a:gd name="T75" fmla="*/ 47 h 68"/>
                <a:gd name="T76" fmla="*/ 20 w 22"/>
                <a:gd name="T77" fmla="*/ 48 h 68"/>
                <a:gd name="T78" fmla="*/ 19 w 22"/>
                <a:gd name="T79" fmla="*/ 51 h 68"/>
                <a:gd name="T80" fmla="*/ 19 w 22"/>
                <a:gd name="T81" fmla="*/ 53 h 68"/>
                <a:gd name="T82" fmla="*/ 18 w 22"/>
                <a:gd name="T83" fmla="*/ 54 h 68"/>
                <a:gd name="T84" fmla="*/ 18 w 22"/>
                <a:gd name="T85" fmla="*/ 56 h 68"/>
                <a:gd name="T86" fmla="*/ 17 w 22"/>
                <a:gd name="T87" fmla="*/ 58 h 68"/>
                <a:gd name="T88" fmla="*/ 17 w 22"/>
                <a:gd name="T89" fmla="*/ 60 h 68"/>
                <a:gd name="T90" fmla="*/ 15 w 22"/>
                <a:gd name="T91" fmla="*/ 62 h 68"/>
                <a:gd name="T92" fmla="*/ 15 w 22"/>
                <a:gd name="T93" fmla="*/ 62 h 68"/>
                <a:gd name="T94" fmla="*/ 13 w 22"/>
                <a:gd name="T95" fmla="*/ 63 h 68"/>
                <a:gd name="T96" fmla="*/ 12 w 22"/>
                <a:gd name="T97" fmla="*/ 64 h 68"/>
                <a:gd name="T98" fmla="*/ 12 w 22"/>
                <a:gd name="T99" fmla="*/ 65 h 68"/>
                <a:gd name="T100" fmla="*/ 10 w 22"/>
                <a:gd name="T101" fmla="*/ 66 h 68"/>
                <a:gd name="T102" fmla="*/ 9 w 22"/>
                <a:gd name="T103" fmla="*/ 6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 h="68">
                  <a:moveTo>
                    <a:pt x="0" y="1"/>
                  </a:moveTo>
                  <a:lnTo>
                    <a:pt x="0" y="1"/>
                  </a:lnTo>
                  <a:lnTo>
                    <a:pt x="0" y="1"/>
                  </a:lnTo>
                  <a:lnTo>
                    <a:pt x="1" y="0"/>
                  </a:lnTo>
                  <a:lnTo>
                    <a:pt x="2" y="0"/>
                  </a:lnTo>
                  <a:lnTo>
                    <a:pt x="4" y="0"/>
                  </a:lnTo>
                  <a:lnTo>
                    <a:pt x="5" y="0"/>
                  </a:lnTo>
                  <a:lnTo>
                    <a:pt x="5" y="0"/>
                  </a:lnTo>
                  <a:lnTo>
                    <a:pt x="6" y="0"/>
                  </a:lnTo>
                  <a:lnTo>
                    <a:pt x="8" y="0"/>
                  </a:lnTo>
                  <a:lnTo>
                    <a:pt x="9" y="1"/>
                  </a:lnTo>
                  <a:lnTo>
                    <a:pt x="9" y="2"/>
                  </a:lnTo>
                  <a:lnTo>
                    <a:pt x="10" y="3"/>
                  </a:lnTo>
                  <a:lnTo>
                    <a:pt x="12" y="3"/>
                  </a:lnTo>
                  <a:lnTo>
                    <a:pt x="12" y="4"/>
                  </a:lnTo>
                  <a:lnTo>
                    <a:pt x="13" y="5"/>
                  </a:lnTo>
                  <a:lnTo>
                    <a:pt x="15" y="6"/>
                  </a:lnTo>
                  <a:lnTo>
                    <a:pt x="15" y="8"/>
                  </a:lnTo>
                  <a:lnTo>
                    <a:pt x="17" y="10"/>
                  </a:lnTo>
                  <a:lnTo>
                    <a:pt x="17" y="12"/>
                  </a:lnTo>
                  <a:lnTo>
                    <a:pt x="18" y="13"/>
                  </a:lnTo>
                  <a:lnTo>
                    <a:pt x="18" y="15"/>
                  </a:lnTo>
                  <a:lnTo>
                    <a:pt x="19" y="15"/>
                  </a:lnTo>
                  <a:lnTo>
                    <a:pt x="19" y="18"/>
                  </a:lnTo>
                  <a:lnTo>
                    <a:pt x="20" y="20"/>
                  </a:lnTo>
                  <a:lnTo>
                    <a:pt x="21" y="22"/>
                  </a:lnTo>
                  <a:lnTo>
                    <a:pt x="21" y="24"/>
                  </a:lnTo>
                  <a:lnTo>
                    <a:pt x="21" y="26"/>
                  </a:lnTo>
                  <a:lnTo>
                    <a:pt x="21" y="28"/>
                  </a:lnTo>
                  <a:lnTo>
                    <a:pt x="21" y="30"/>
                  </a:lnTo>
                  <a:lnTo>
                    <a:pt x="21" y="32"/>
                  </a:lnTo>
                  <a:lnTo>
                    <a:pt x="21" y="34"/>
                  </a:lnTo>
                  <a:lnTo>
                    <a:pt x="21" y="36"/>
                  </a:lnTo>
                  <a:lnTo>
                    <a:pt x="21" y="38"/>
                  </a:lnTo>
                  <a:lnTo>
                    <a:pt x="21" y="41"/>
                  </a:lnTo>
                  <a:lnTo>
                    <a:pt x="21" y="43"/>
                  </a:lnTo>
                  <a:lnTo>
                    <a:pt x="21" y="45"/>
                  </a:lnTo>
                  <a:lnTo>
                    <a:pt x="21" y="47"/>
                  </a:lnTo>
                  <a:lnTo>
                    <a:pt x="20" y="48"/>
                  </a:lnTo>
                  <a:lnTo>
                    <a:pt x="19" y="51"/>
                  </a:lnTo>
                  <a:lnTo>
                    <a:pt x="19" y="53"/>
                  </a:lnTo>
                  <a:lnTo>
                    <a:pt x="18" y="54"/>
                  </a:lnTo>
                  <a:lnTo>
                    <a:pt x="18" y="56"/>
                  </a:lnTo>
                  <a:lnTo>
                    <a:pt x="17" y="58"/>
                  </a:lnTo>
                  <a:lnTo>
                    <a:pt x="17" y="60"/>
                  </a:lnTo>
                  <a:lnTo>
                    <a:pt x="15" y="62"/>
                  </a:lnTo>
                  <a:lnTo>
                    <a:pt x="15" y="62"/>
                  </a:lnTo>
                  <a:lnTo>
                    <a:pt x="13" y="63"/>
                  </a:lnTo>
                  <a:lnTo>
                    <a:pt x="12" y="64"/>
                  </a:lnTo>
                  <a:lnTo>
                    <a:pt x="12" y="65"/>
                  </a:lnTo>
                  <a:lnTo>
                    <a:pt x="10" y="66"/>
                  </a:lnTo>
                  <a:lnTo>
                    <a:pt x="9" y="67"/>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6" name="Freeform 27"/>
            <p:cNvSpPr>
              <a:spLocks/>
            </p:cNvSpPr>
            <p:nvPr/>
          </p:nvSpPr>
          <p:spPr bwMode="auto">
            <a:xfrm>
              <a:off x="9204325" y="5133975"/>
              <a:ext cx="33338" cy="95250"/>
            </a:xfrm>
            <a:custGeom>
              <a:avLst/>
              <a:gdLst>
                <a:gd name="T0" fmla="*/ 0 w 23"/>
                <a:gd name="T1" fmla="*/ 1 h 68"/>
                <a:gd name="T2" fmla="*/ 0 w 23"/>
                <a:gd name="T3" fmla="*/ 1 h 68"/>
                <a:gd name="T4" fmla="*/ 2 w 23"/>
                <a:gd name="T5" fmla="*/ 1 h 68"/>
                <a:gd name="T6" fmla="*/ 3 w 23"/>
                <a:gd name="T7" fmla="*/ 0 h 68"/>
                <a:gd name="T8" fmla="*/ 3 w 23"/>
                <a:gd name="T9" fmla="*/ 0 h 68"/>
                <a:gd name="T10" fmla="*/ 4 w 23"/>
                <a:gd name="T11" fmla="*/ 0 h 68"/>
                <a:gd name="T12" fmla="*/ 6 w 23"/>
                <a:gd name="T13" fmla="*/ 0 h 68"/>
                <a:gd name="T14" fmla="*/ 6 w 23"/>
                <a:gd name="T15" fmla="*/ 0 h 68"/>
                <a:gd name="T16" fmla="*/ 7 w 23"/>
                <a:gd name="T17" fmla="*/ 0 h 68"/>
                <a:gd name="T18" fmla="*/ 8 w 23"/>
                <a:gd name="T19" fmla="*/ 0 h 68"/>
                <a:gd name="T20" fmla="*/ 10 w 23"/>
                <a:gd name="T21" fmla="*/ 1 h 68"/>
                <a:gd name="T22" fmla="*/ 11 w 23"/>
                <a:gd name="T23" fmla="*/ 2 h 68"/>
                <a:gd name="T24" fmla="*/ 12 w 23"/>
                <a:gd name="T25" fmla="*/ 3 h 68"/>
                <a:gd name="T26" fmla="*/ 13 w 23"/>
                <a:gd name="T27" fmla="*/ 3 h 68"/>
                <a:gd name="T28" fmla="*/ 13 w 23"/>
                <a:gd name="T29" fmla="*/ 4 h 68"/>
                <a:gd name="T30" fmla="*/ 14 w 23"/>
                <a:gd name="T31" fmla="*/ 5 h 68"/>
                <a:gd name="T32" fmla="*/ 15 w 23"/>
                <a:gd name="T33" fmla="*/ 6 h 68"/>
                <a:gd name="T34" fmla="*/ 16 w 23"/>
                <a:gd name="T35" fmla="*/ 8 h 68"/>
                <a:gd name="T36" fmla="*/ 17 w 23"/>
                <a:gd name="T37" fmla="*/ 10 h 68"/>
                <a:gd name="T38" fmla="*/ 18 w 23"/>
                <a:gd name="T39" fmla="*/ 12 h 68"/>
                <a:gd name="T40" fmla="*/ 19 w 23"/>
                <a:gd name="T41" fmla="*/ 13 h 68"/>
                <a:gd name="T42" fmla="*/ 20 w 23"/>
                <a:gd name="T43" fmla="*/ 15 h 68"/>
                <a:gd name="T44" fmla="*/ 20 w 23"/>
                <a:gd name="T45" fmla="*/ 15 h 68"/>
                <a:gd name="T46" fmla="*/ 20 w 23"/>
                <a:gd name="T47" fmla="*/ 18 h 68"/>
                <a:gd name="T48" fmla="*/ 22 w 23"/>
                <a:gd name="T49" fmla="*/ 20 h 68"/>
                <a:gd name="T50" fmla="*/ 22 w 23"/>
                <a:gd name="T51" fmla="*/ 22 h 68"/>
                <a:gd name="T52" fmla="*/ 22 w 23"/>
                <a:gd name="T53" fmla="*/ 24 h 68"/>
                <a:gd name="T54" fmla="*/ 22 w 23"/>
                <a:gd name="T55" fmla="*/ 26 h 68"/>
                <a:gd name="T56" fmla="*/ 22 w 23"/>
                <a:gd name="T57" fmla="*/ 28 h 68"/>
                <a:gd name="T58" fmla="*/ 22 w 23"/>
                <a:gd name="T59" fmla="*/ 30 h 68"/>
                <a:gd name="T60" fmla="*/ 22 w 23"/>
                <a:gd name="T61" fmla="*/ 32 h 68"/>
                <a:gd name="T62" fmla="*/ 22 w 23"/>
                <a:gd name="T63" fmla="*/ 34 h 68"/>
                <a:gd name="T64" fmla="*/ 22 w 23"/>
                <a:gd name="T65" fmla="*/ 36 h 68"/>
                <a:gd name="T66" fmla="*/ 22 w 23"/>
                <a:gd name="T67" fmla="*/ 38 h 68"/>
                <a:gd name="T68" fmla="*/ 22 w 23"/>
                <a:gd name="T69" fmla="*/ 41 h 68"/>
                <a:gd name="T70" fmla="*/ 22 w 23"/>
                <a:gd name="T71" fmla="*/ 43 h 68"/>
                <a:gd name="T72" fmla="*/ 22 w 23"/>
                <a:gd name="T73" fmla="*/ 45 h 68"/>
                <a:gd name="T74" fmla="*/ 22 w 23"/>
                <a:gd name="T75" fmla="*/ 47 h 68"/>
                <a:gd name="T76" fmla="*/ 22 w 23"/>
                <a:gd name="T77" fmla="*/ 48 h 68"/>
                <a:gd name="T78" fmla="*/ 20 w 23"/>
                <a:gd name="T79" fmla="*/ 51 h 68"/>
                <a:gd name="T80" fmla="*/ 20 w 23"/>
                <a:gd name="T81" fmla="*/ 53 h 68"/>
                <a:gd name="T82" fmla="*/ 19 w 23"/>
                <a:gd name="T83" fmla="*/ 54 h 68"/>
                <a:gd name="T84" fmla="*/ 19 w 23"/>
                <a:gd name="T85" fmla="*/ 56 h 68"/>
                <a:gd name="T86" fmla="*/ 18 w 23"/>
                <a:gd name="T87" fmla="*/ 58 h 68"/>
                <a:gd name="T88" fmla="*/ 17 w 23"/>
                <a:gd name="T89" fmla="*/ 60 h 68"/>
                <a:gd name="T90" fmla="*/ 16 w 23"/>
                <a:gd name="T91" fmla="*/ 62 h 68"/>
                <a:gd name="T92" fmla="*/ 15 w 23"/>
                <a:gd name="T93" fmla="*/ 62 h 68"/>
                <a:gd name="T94" fmla="*/ 14 w 23"/>
                <a:gd name="T95" fmla="*/ 63 h 68"/>
                <a:gd name="T96" fmla="*/ 13 w 23"/>
                <a:gd name="T97" fmla="*/ 64 h 68"/>
                <a:gd name="T98" fmla="*/ 13 w 23"/>
                <a:gd name="T99" fmla="*/ 65 h 68"/>
                <a:gd name="T100" fmla="*/ 12 w 23"/>
                <a:gd name="T101" fmla="*/ 66 h 68"/>
                <a:gd name="T102" fmla="*/ 11 w 23"/>
                <a:gd name="T103" fmla="*/ 6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 h="68">
                  <a:moveTo>
                    <a:pt x="0" y="1"/>
                  </a:moveTo>
                  <a:lnTo>
                    <a:pt x="0" y="1"/>
                  </a:lnTo>
                  <a:lnTo>
                    <a:pt x="2" y="1"/>
                  </a:lnTo>
                  <a:lnTo>
                    <a:pt x="3" y="0"/>
                  </a:lnTo>
                  <a:lnTo>
                    <a:pt x="3" y="0"/>
                  </a:lnTo>
                  <a:lnTo>
                    <a:pt x="4" y="0"/>
                  </a:lnTo>
                  <a:lnTo>
                    <a:pt x="6" y="0"/>
                  </a:lnTo>
                  <a:lnTo>
                    <a:pt x="6" y="0"/>
                  </a:lnTo>
                  <a:lnTo>
                    <a:pt x="7" y="0"/>
                  </a:lnTo>
                  <a:lnTo>
                    <a:pt x="8" y="0"/>
                  </a:lnTo>
                  <a:lnTo>
                    <a:pt x="10" y="1"/>
                  </a:lnTo>
                  <a:lnTo>
                    <a:pt x="11" y="2"/>
                  </a:lnTo>
                  <a:lnTo>
                    <a:pt x="12" y="3"/>
                  </a:lnTo>
                  <a:lnTo>
                    <a:pt x="13" y="3"/>
                  </a:lnTo>
                  <a:lnTo>
                    <a:pt x="13" y="4"/>
                  </a:lnTo>
                  <a:lnTo>
                    <a:pt x="14" y="5"/>
                  </a:lnTo>
                  <a:lnTo>
                    <a:pt x="15" y="6"/>
                  </a:lnTo>
                  <a:lnTo>
                    <a:pt x="16" y="8"/>
                  </a:lnTo>
                  <a:lnTo>
                    <a:pt x="17" y="10"/>
                  </a:lnTo>
                  <a:lnTo>
                    <a:pt x="18" y="12"/>
                  </a:lnTo>
                  <a:lnTo>
                    <a:pt x="19" y="13"/>
                  </a:lnTo>
                  <a:lnTo>
                    <a:pt x="20" y="15"/>
                  </a:lnTo>
                  <a:lnTo>
                    <a:pt x="20" y="15"/>
                  </a:lnTo>
                  <a:lnTo>
                    <a:pt x="20" y="18"/>
                  </a:lnTo>
                  <a:lnTo>
                    <a:pt x="22" y="20"/>
                  </a:lnTo>
                  <a:lnTo>
                    <a:pt x="22" y="22"/>
                  </a:lnTo>
                  <a:lnTo>
                    <a:pt x="22" y="24"/>
                  </a:lnTo>
                  <a:lnTo>
                    <a:pt x="22" y="26"/>
                  </a:lnTo>
                  <a:lnTo>
                    <a:pt x="22" y="28"/>
                  </a:lnTo>
                  <a:lnTo>
                    <a:pt x="22" y="30"/>
                  </a:lnTo>
                  <a:lnTo>
                    <a:pt x="22" y="32"/>
                  </a:lnTo>
                  <a:lnTo>
                    <a:pt x="22" y="34"/>
                  </a:lnTo>
                  <a:lnTo>
                    <a:pt x="22" y="36"/>
                  </a:lnTo>
                  <a:lnTo>
                    <a:pt x="22" y="38"/>
                  </a:lnTo>
                  <a:lnTo>
                    <a:pt x="22" y="41"/>
                  </a:lnTo>
                  <a:lnTo>
                    <a:pt x="22" y="43"/>
                  </a:lnTo>
                  <a:lnTo>
                    <a:pt x="22" y="45"/>
                  </a:lnTo>
                  <a:lnTo>
                    <a:pt x="22" y="47"/>
                  </a:lnTo>
                  <a:lnTo>
                    <a:pt x="22" y="48"/>
                  </a:lnTo>
                  <a:lnTo>
                    <a:pt x="20" y="51"/>
                  </a:lnTo>
                  <a:lnTo>
                    <a:pt x="20" y="53"/>
                  </a:lnTo>
                  <a:lnTo>
                    <a:pt x="19" y="54"/>
                  </a:lnTo>
                  <a:lnTo>
                    <a:pt x="19" y="56"/>
                  </a:lnTo>
                  <a:lnTo>
                    <a:pt x="18" y="58"/>
                  </a:lnTo>
                  <a:lnTo>
                    <a:pt x="17" y="60"/>
                  </a:lnTo>
                  <a:lnTo>
                    <a:pt x="16" y="62"/>
                  </a:lnTo>
                  <a:lnTo>
                    <a:pt x="15" y="62"/>
                  </a:lnTo>
                  <a:lnTo>
                    <a:pt x="14" y="63"/>
                  </a:lnTo>
                  <a:lnTo>
                    <a:pt x="13" y="64"/>
                  </a:lnTo>
                  <a:lnTo>
                    <a:pt x="13" y="65"/>
                  </a:lnTo>
                  <a:lnTo>
                    <a:pt x="12" y="66"/>
                  </a:lnTo>
                  <a:lnTo>
                    <a:pt x="11" y="67"/>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7" name="Freeform 28"/>
            <p:cNvSpPr>
              <a:spLocks/>
            </p:cNvSpPr>
            <p:nvPr/>
          </p:nvSpPr>
          <p:spPr bwMode="auto">
            <a:xfrm>
              <a:off x="9228139" y="5133975"/>
              <a:ext cx="34925" cy="95250"/>
            </a:xfrm>
            <a:custGeom>
              <a:avLst/>
              <a:gdLst>
                <a:gd name="T0" fmla="*/ 0 w 24"/>
                <a:gd name="T1" fmla="*/ 1 h 68"/>
                <a:gd name="T2" fmla="*/ 0 w 24"/>
                <a:gd name="T3" fmla="*/ 1 h 68"/>
                <a:gd name="T4" fmla="*/ 1 w 24"/>
                <a:gd name="T5" fmla="*/ 1 h 68"/>
                <a:gd name="T6" fmla="*/ 3 w 24"/>
                <a:gd name="T7" fmla="*/ 0 h 68"/>
                <a:gd name="T8" fmla="*/ 4 w 24"/>
                <a:gd name="T9" fmla="*/ 0 h 68"/>
                <a:gd name="T10" fmla="*/ 4 w 24"/>
                <a:gd name="T11" fmla="*/ 0 h 68"/>
                <a:gd name="T12" fmla="*/ 6 w 24"/>
                <a:gd name="T13" fmla="*/ 0 h 68"/>
                <a:gd name="T14" fmla="*/ 7 w 24"/>
                <a:gd name="T15" fmla="*/ 0 h 68"/>
                <a:gd name="T16" fmla="*/ 7 w 24"/>
                <a:gd name="T17" fmla="*/ 0 h 68"/>
                <a:gd name="T18" fmla="*/ 8 w 24"/>
                <a:gd name="T19" fmla="*/ 0 h 68"/>
                <a:gd name="T20" fmla="*/ 10 w 24"/>
                <a:gd name="T21" fmla="*/ 1 h 68"/>
                <a:gd name="T22" fmla="*/ 11 w 24"/>
                <a:gd name="T23" fmla="*/ 2 h 68"/>
                <a:gd name="T24" fmla="*/ 12 w 24"/>
                <a:gd name="T25" fmla="*/ 3 h 68"/>
                <a:gd name="T26" fmla="*/ 13 w 24"/>
                <a:gd name="T27" fmla="*/ 3 h 68"/>
                <a:gd name="T28" fmla="*/ 14 w 24"/>
                <a:gd name="T29" fmla="*/ 4 h 68"/>
                <a:gd name="T30" fmla="*/ 14 w 24"/>
                <a:gd name="T31" fmla="*/ 5 h 68"/>
                <a:gd name="T32" fmla="*/ 16 w 24"/>
                <a:gd name="T33" fmla="*/ 6 h 68"/>
                <a:gd name="T34" fmla="*/ 17 w 24"/>
                <a:gd name="T35" fmla="*/ 8 h 68"/>
                <a:gd name="T36" fmla="*/ 17 w 24"/>
                <a:gd name="T37" fmla="*/ 10 h 68"/>
                <a:gd name="T38" fmla="*/ 18 w 24"/>
                <a:gd name="T39" fmla="*/ 12 h 68"/>
                <a:gd name="T40" fmla="*/ 18 w 24"/>
                <a:gd name="T41" fmla="*/ 13 h 68"/>
                <a:gd name="T42" fmla="*/ 20 w 24"/>
                <a:gd name="T43" fmla="*/ 15 h 68"/>
                <a:gd name="T44" fmla="*/ 20 w 24"/>
                <a:gd name="T45" fmla="*/ 15 h 68"/>
                <a:gd name="T46" fmla="*/ 20 w 24"/>
                <a:gd name="T47" fmla="*/ 18 h 68"/>
                <a:gd name="T48" fmla="*/ 22 w 24"/>
                <a:gd name="T49" fmla="*/ 20 h 68"/>
                <a:gd name="T50" fmla="*/ 22 w 24"/>
                <a:gd name="T51" fmla="*/ 22 h 68"/>
                <a:gd name="T52" fmla="*/ 22 w 24"/>
                <a:gd name="T53" fmla="*/ 24 h 68"/>
                <a:gd name="T54" fmla="*/ 22 w 24"/>
                <a:gd name="T55" fmla="*/ 26 h 68"/>
                <a:gd name="T56" fmla="*/ 22 w 24"/>
                <a:gd name="T57" fmla="*/ 28 h 68"/>
                <a:gd name="T58" fmla="*/ 22 w 24"/>
                <a:gd name="T59" fmla="*/ 30 h 68"/>
                <a:gd name="T60" fmla="*/ 23 w 24"/>
                <a:gd name="T61" fmla="*/ 32 h 68"/>
                <a:gd name="T62" fmla="*/ 23 w 24"/>
                <a:gd name="T63" fmla="*/ 34 h 68"/>
                <a:gd name="T64" fmla="*/ 23 w 24"/>
                <a:gd name="T65" fmla="*/ 36 h 68"/>
                <a:gd name="T66" fmla="*/ 22 w 24"/>
                <a:gd name="T67" fmla="*/ 38 h 68"/>
                <a:gd name="T68" fmla="*/ 22 w 24"/>
                <a:gd name="T69" fmla="*/ 41 h 68"/>
                <a:gd name="T70" fmla="*/ 22 w 24"/>
                <a:gd name="T71" fmla="*/ 43 h 68"/>
                <a:gd name="T72" fmla="*/ 22 w 24"/>
                <a:gd name="T73" fmla="*/ 45 h 68"/>
                <a:gd name="T74" fmla="*/ 22 w 24"/>
                <a:gd name="T75" fmla="*/ 47 h 68"/>
                <a:gd name="T76" fmla="*/ 22 w 24"/>
                <a:gd name="T77" fmla="*/ 48 h 68"/>
                <a:gd name="T78" fmla="*/ 20 w 24"/>
                <a:gd name="T79" fmla="*/ 51 h 68"/>
                <a:gd name="T80" fmla="*/ 20 w 24"/>
                <a:gd name="T81" fmla="*/ 53 h 68"/>
                <a:gd name="T82" fmla="*/ 20 w 24"/>
                <a:gd name="T83" fmla="*/ 54 h 68"/>
                <a:gd name="T84" fmla="*/ 18 w 24"/>
                <a:gd name="T85" fmla="*/ 56 h 68"/>
                <a:gd name="T86" fmla="*/ 18 w 24"/>
                <a:gd name="T87" fmla="*/ 58 h 68"/>
                <a:gd name="T88" fmla="*/ 17 w 24"/>
                <a:gd name="T89" fmla="*/ 60 h 68"/>
                <a:gd name="T90" fmla="*/ 17 w 24"/>
                <a:gd name="T91" fmla="*/ 62 h 68"/>
                <a:gd name="T92" fmla="*/ 16 w 24"/>
                <a:gd name="T93" fmla="*/ 62 h 68"/>
                <a:gd name="T94" fmla="*/ 14 w 24"/>
                <a:gd name="T95" fmla="*/ 63 h 68"/>
                <a:gd name="T96" fmla="*/ 14 w 24"/>
                <a:gd name="T97" fmla="*/ 64 h 68"/>
                <a:gd name="T98" fmla="*/ 13 w 24"/>
                <a:gd name="T99" fmla="*/ 65 h 68"/>
                <a:gd name="T100" fmla="*/ 12 w 24"/>
                <a:gd name="T101" fmla="*/ 66 h 68"/>
                <a:gd name="T102" fmla="*/ 11 w 24"/>
                <a:gd name="T103" fmla="*/ 6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4" h="68">
                  <a:moveTo>
                    <a:pt x="0" y="1"/>
                  </a:moveTo>
                  <a:lnTo>
                    <a:pt x="0" y="1"/>
                  </a:lnTo>
                  <a:lnTo>
                    <a:pt x="1" y="1"/>
                  </a:lnTo>
                  <a:lnTo>
                    <a:pt x="3" y="0"/>
                  </a:lnTo>
                  <a:lnTo>
                    <a:pt x="4" y="0"/>
                  </a:lnTo>
                  <a:lnTo>
                    <a:pt x="4" y="0"/>
                  </a:lnTo>
                  <a:lnTo>
                    <a:pt x="6" y="0"/>
                  </a:lnTo>
                  <a:lnTo>
                    <a:pt x="7" y="0"/>
                  </a:lnTo>
                  <a:lnTo>
                    <a:pt x="7" y="0"/>
                  </a:lnTo>
                  <a:lnTo>
                    <a:pt x="8" y="0"/>
                  </a:lnTo>
                  <a:lnTo>
                    <a:pt x="10" y="1"/>
                  </a:lnTo>
                  <a:lnTo>
                    <a:pt x="11" y="2"/>
                  </a:lnTo>
                  <a:lnTo>
                    <a:pt x="12" y="3"/>
                  </a:lnTo>
                  <a:lnTo>
                    <a:pt x="13" y="3"/>
                  </a:lnTo>
                  <a:lnTo>
                    <a:pt x="14" y="4"/>
                  </a:lnTo>
                  <a:lnTo>
                    <a:pt x="14" y="5"/>
                  </a:lnTo>
                  <a:lnTo>
                    <a:pt x="16" y="6"/>
                  </a:lnTo>
                  <a:lnTo>
                    <a:pt x="17" y="8"/>
                  </a:lnTo>
                  <a:lnTo>
                    <a:pt x="17" y="10"/>
                  </a:lnTo>
                  <a:lnTo>
                    <a:pt x="18" y="12"/>
                  </a:lnTo>
                  <a:lnTo>
                    <a:pt x="18" y="13"/>
                  </a:lnTo>
                  <a:lnTo>
                    <a:pt x="20" y="15"/>
                  </a:lnTo>
                  <a:lnTo>
                    <a:pt x="20" y="15"/>
                  </a:lnTo>
                  <a:lnTo>
                    <a:pt x="20" y="18"/>
                  </a:lnTo>
                  <a:lnTo>
                    <a:pt x="22" y="20"/>
                  </a:lnTo>
                  <a:lnTo>
                    <a:pt x="22" y="22"/>
                  </a:lnTo>
                  <a:lnTo>
                    <a:pt x="22" y="24"/>
                  </a:lnTo>
                  <a:lnTo>
                    <a:pt x="22" y="26"/>
                  </a:lnTo>
                  <a:lnTo>
                    <a:pt x="22" y="28"/>
                  </a:lnTo>
                  <a:lnTo>
                    <a:pt x="22" y="30"/>
                  </a:lnTo>
                  <a:lnTo>
                    <a:pt x="23" y="32"/>
                  </a:lnTo>
                  <a:lnTo>
                    <a:pt x="23" y="34"/>
                  </a:lnTo>
                  <a:lnTo>
                    <a:pt x="23" y="36"/>
                  </a:lnTo>
                  <a:lnTo>
                    <a:pt x="22" y="38"/>
                  </a:lnTo>
                  <a:lnTo>
                    <a:pt x="22" y="41"/>
                  </a:lnTo>
                  <a:lnTo>
                    <a:pt x="22" y="43"/>
                  </a:lnTo>
                  <a:lnTo>
                    <a:pt x="22" y="45"/>
                  </a:lnTo>
                  <a:lnTo>
                    <a:pt x="22" y="47"/>
                  </a:lnTo>
                  <a:lnTo>
                    <a:pt x="22" y="48"/>
                  </a:lnTo>
                  <a:lnTo>
                    <a:pt x="20" y="51"/>
                  </a:lnTo>
                  <a:lnTo>
                    <a:pt x="20" y="53"/>
                  </a:lnTo>
                  <a:lnTo>
                    <a:pt x="20" y="54"/>
                  </a:lnTo>
                  <a:lnTo>
                    <a:pt x="18" y="56"/>
                  </a:lnTo>
                  <a:lnTo>
                    <a:pt x="18" y="58"/>
                  </a:lnTo>
                  <a:lnTo>
                    <a:pt x="17" y="60"/>
                  </a:lnTo>
                  <a:lnTo>
                    <a:pt x="17" y="62"/>
                  </a:lnTo>
                  <a:lnTo>
                    <a:pt x="16" y="62"/>
                  </a:lnTo>
                  <a:lnTo>
                    <a:pt x="14" y="63"/>
                  </a:lnTo>
                  <a:lnTo>
                    <a:pt x="14" y="64"/>
                  </a:lnTo>
                  <a:lnTo>
                    <a:pt x="13" y="65"/>
                  </a:lnTo>
                  <a:lnTo>
                    <a:pt x="12" y="66"/>
                  </a:lnTo>
                  <a:lnTo>
                    <a:pt x="11" y="67"/>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8" name="Freeform 29"/>
            <p:cNvSpPr>
              <a:spLocks/>
            </p:cNvSpPr>
            <p:nvPr/>
          </p:nvSpPr>
          <p:spPr bwMode="auto">
            <a:xfrm>
              <a:off x="9247189" y="5133975"/>
              <a:ext cx="33337" cy="95250"/>
            </a:xfrm>
            <a:custGeom>
              <a:avLst/>
              <a:gdLst>
                <a:gd name="T0" fmla="*/ 0 w 23"/>
                <a:gd name="T1" fmla="*/ 1 h 68"/>
                <a:gd name="T2" fmla="*/ 0 w 23"/>
                <a:gd name="T3" fmla="*/ 1 h 68"/>
                <a:gd name="T4" fmla="*/ 0 w 23"/>
                <a:gd name="T5" fmla="*/ 1 h 68"/>
                <a:gd name="T6" fmla="*/ 2 w 23"/>
                <a:gd name="T7" fmla="*/ 0 h 68"/>
                <a:gd name="T8" fmla="*/ 3 w 23"/>
                <a:gd name="T9" fmla="*/ 0 h 68"/>
                <a:gd name="T10" fmla="*/ 4 w 23"/>
                <a:gd name="T11" fmla="*/ 0 h 68"/>
                <a:gd name="T12" fmla="*/ 4 w 23"/>
                <a:gd name="T13" fmla="*/ 0 h 68"/>
                <a:gd name="T14" fmla="*/ 6 w 23"/>
                <a:gd name="T15" fmla="*/ 0 h 68"/>
                <a:gd name="T16" fmla="*/ 8 w 23"/>
                <a:gd name="T17" fmla="*/ 0 h 68"/>
                <a:gd name="T18" fmla="*/ 8 w 23"/>
                <a:gd name="T19" fmla="*/ 0 h 68"/>
                <a:gd name="T20" fmla="*/ 9 w 23"/>
                <a:gd name="T21" fmla="*/ 1 h 68"/>
                <a:gd name="T22" fmla="*/ 10 w 23"/>
                <a:gd name="T23" fmla="*/ 2 h 68"/>
                <a:gd name="T24" fmla="*/ 12 w 23"/>
                <a:gd name="T25" fmla="*/ 3 h 68"/>
                <a:gd name="T26" fmla="*/ 12 w 23"/>
                <a:gd name="T27" fmla="*/ 3 h 68"/>
                <a:gd name="T28" fmla="*/ 13 w 23"/>
                <a:gd name="T29" fmla="*/ 4 h 68"/>
                <a:gd name="T30" fmla="*/ 14 w 23"/>
                <a:gd name="T31" fmla="*/ 5 h 68"/>
                <a:gd name="T32" fmla="*/ 14 w 23"/>
                <a:gd name="T33" fmla="*/ 6 h 68"/>
                <a:gd name="T34" fmla="*/ 16 w 23"/>
                <a:gd name="T35" fmla="*/ 8 h 68"/>
                <a:gd name="T36" fmla="*/ 16 w 23"/>
                <a:gd name="T37" fmla="*/ 10 h 68"/>
                <a:gd name="T38" fmla="*/ 18 w 23"/>
                <a:gd name="T39" fmla="*/ 12 h 68"/>
                <a:gd name="T40" fmla="*/ 18 w 23"/>
                <a:gd name="T41" fmla="*/ 13 h 68"/>
                <a:gd name="T42" fmla="*/ 18 w 23"/>
                <a:gd name="T43" fmla="*/ 15 h 68"/>
                <a:gd name="T44" fmla="*/ 19 w 23"/>
                <a:gd name="T45" fmla="*/ 15 h 68"/>
                <a:gd name="T46" fmla="*/ 20 w 23"/>
                <a:gd name="T47" fmla="*/ 18 h 68"/>
                <a:gd name="T48" fmla="*/ 20 w 23"/>
                <a:gd name="T49" fmla="*/ 20 h 68"/>
                <a:gd name="T50" fmla="*/ 21 w 23"/>
                <a:gd name="T51" fmla="*/ 22 h 68"/>
                <a:gd name="T52" fmla="*/ 21 w 23"/>
                <a:gd name="T53" fmla="*/ 24 h 68"/>
                <a:gd name="T54" fmla="*/ 22 w 23"/>
                <a:gd name="T55" fmla="*/ 26 h 68"/>
                <a:gd name="T56" fmla="*/ 22 w 23"/>
                <a:gd name="T57" fmla="*/ 28 h 68"/>
                <a:gd name="T58" fmla="*/ 22 w 23"/>
                <a:gd name="T59" fmla="*/ 30 h 68"/>
                <a:gd name="T60" fmla="*/ 22 w 23"/>
                <a:gd name="T61" fmla="*/ 32 h 68"/>
                <a:gd name="T62" fmla="*/ 22 w 23"/>
                <a:gd name="T63" fmla="*/ 34 h 68"/>
                <a:gd name="T64" fmla="*/ 22 w 23"/>
                <a:gd name="T65" fmla="*/ 36 h 68"/>
                <a:gd name="T66" fmla="*/ 22 w 23"/>
                <a:gd name="T67" fmla="*/ 38 h 68"/>
                <a:gd name="T68" fmla="*/ 22 w 23"/>
                <a:gd name="T69" fmla="*/ 41 h 68"/>
                <a:gd name="T70" fmla="*/ 22 w 23"/>
                <a:gd name="T71" fmla="*/ 43 h 68"/>
                <a:gd name="T72" fmla="*/ 21 w 23"/>
                <a:gd name="T73" fmla="*/ 45 h 68"/>
                <a:gd name="T74" fmla="*/ 21 w 23"/>
                <a:gd name="T75" fmla="*/ 47 h 68"/>
                <a:gd name="T76" fmla="*/ 20 w 23"/>
                <a:gd name="T77" fmla="*/ 48 h 68"/>
                <a:gd name="T78" fmla="*/ 20 w 23"/>
                <a:gd name="T79" fmla="*/ 51 h 68"/>
                <a:gd name="T80" fmla="*/ 19 w 23"/>
                <a:gd name="T81" fmla="*/ 53 h 68"/>
                <a:gd name="T82" fmla="*/ 18 w 23"/>
                <a:gd name="T83" fmla="*/ 54 h 68"/>
                <a:gd name="T84" fmla="*/ 18 w 23"/>
                <a:gd name="T85" fmla="*/ 56 h 68"/>
                <a:gd name="T86" fmla="*/ 18 w 23"/>
                <a:gd name="T87" fmla="*/ 58 h 68"/>
                <a:gd name="T88" fmla="*/ 16 w 23"/>
                <a:gd name="T89" fmla="*/ 60 h 68"/>
                <a:gd name="T90" fmla="*/ 16 w 23"/>
                <a:gd name="T91" fmla="*/ 62 h 68"/>
                <a:gd name="T92" fmla="*/ 14 w 23"/>
                <a:gd name="T93" fmla="*/ 62 h 68"/>
                <a:gd name="T94" fmla="*/ 14 w 23"/>
                <a:gd name="T95" fmla="*/ 63 h 68"/>
                <a:gd name="T96" fmla="*/ 13 w 23"/>
                <a:gd name="T97" fmla="*/ 64 h 68"/>
                <a:gd name="T98" fmla="*/ 12 w 23"/>
                <a:gd name="T99" fmla="*/ 65 h 68"/>
                <a:gd name="T100" fmla="*/ 12 w 23"/>
                <a:gd name="T101" fmla="*/ 66 h 68"/>
                <a:gd name="T102" fmla="*/ 10 w 23"/>
                <a:gd name="T103" fmla="*/ 6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 h="68">
                  <a:moveTo>
                    <a:pt x="0" y="1"/>
                  </a:moveTo>
                  <a:lnTo>
                    <a:pt x="0" y="1"/>
                  </a:lnTo>
                  <a:lnTo>
                    <a:pt x="0" y="1"/>
                  </a:lnTo>
                  <a:lnTo>
                    <a:pt x="2" y="0"/>
                  </a:lnTo>
                  <a:lnTo>
                    <a:pt x="3" y="0"/>
                  </a:lnTo>
                  <a:lnTo>
                    <a:pt x="4" y="0"/>
                  </a:lnTo>
                  <a:lnTo>
                    <a:pt x="4" y="0"/>
                  </a:lnTo>
                  <a:lnTo>
                    <a:pt x="6" y="0"/>
                  </a:lnTo>
                  <a:lnTo>
                    <a:pt x="8" y="0"/>
                  </a:lnTo>
                  <a:lnTo>
                    <a:pt x="8" y="0"/>
                  </a:lnTo>
                  <a:lnTo>
                    <a:pt x="9" y="1"/>
                  </a:lnTo>
                  <a:lnTo>
                    <a:pt x="10" y="2"/>
                  </a:lnTo>
                  <a:lnTo>
                    <a:pt x="12" y="3"/>
                  </a:lnTo>
                  <a:lnTo>
                    <a:pt x="12" y="3"/>
                  </a:lnTo>
                  <a:lnTo>
                    <a:pt x="13" y="4"/>
                  </a:lnTo>
                  <a:lnTo>
                    <a:pt x="14" y="5"/>
                  </a:lnTo>
                  <a:lnTo>
                    <a:pt x="14" y="6"/>
                  </a:lnTo>
                  <a:lnTo>
                    <a:pt x="16" y="8"/>
                  </a:lnTo>
                  <a:lnTo>
                    <a:pt x="16" y="10"/>
                  </a:lnTo>
                  <a:lnTo>
                    <a:pt x="18" y="12"/>
                  </a:lnTo>
                  <a:lnTo>
                    <a:pt x="18" y="13"/>
                  </a:lnTo>
                  <a:lnTo>
                    <a:pt x="18" y="15"/>
                  </a:lnTo>
                  <a:lnTo>
                    <a:pt x="19" y="15"/>
                  </a:lnTo>
                  <a:lnTo>
                    <a:pt x="20" y="18"/>
                  </a:lnTo>
                  <a:lnTo>
                    <a:pt x="20" y="20"/>
                  </a:lnTo>
                  <a:lnTo>
                    <a:pt x="21" y="22"/>
                  </a:lnTo>
                  <a:lnTo>
                    <a:pt x="21" y="24"/>
                  </a:lnTo>
                  <a:lnTo>
                    <a:pt x="22" y="26"/>
                  </a:lnTo>
                  <a:lnTo>
                    <a:pt x="22" y="28"/>
                  </a:lnTo>
                  <a:lnTo>
                    <a:pt x="22" y="30"/>
                  </a:lnTo>
                  <a:lnTo>
                    <a:pt x="22" y="32"/>
                  </a:lnTo>
                  <a:lnTo>
                    <a:pt x="22" y="34"/>
                  </a:lnTo>
                  <a:lnTo>
                    <a:pt x="22" y="36"/>
                  </a:lnTo>
                  <a:lnTo>
                    <a:pt x="22" y="38"/>
                  </a:lnTo>
                  <a:lnTo>
                    <a:pt x="22" y="41"/>
                  </a:lnTo>
                  <a:lnTo>
                    <a:pt x="22" y="43"/>
                  </a:lnTo>
                  <a:lnTo>
                    <a:pt x="21" y="45"/>
                  </a:lnTo>
                  <a:lnTo>
                    <a:pt x="21" y="47"/>
                  </a:lnTo>
                  <a:lnTo>
                    <a:pt x="20" y="48"/>
                  </a:lnTo>
                  <a:lnTo>
                    <a:pt x="20" y="51"/>
                  </a:lnTo>
                  <a:lnTo>
                    <a:pt x="19" y="53"/>
                  </a:lnTo>
                  <a:lnTo>
                    <a:pt x="18" y="54"/>
                  </a:lnTo>
                  <a:lnTo>
                    <a:pt x="18" y="56"/>
                  </a:lnTo>
                  <a:lnTo>
                    <a:pt x="18" y="58"/>
                  </a:lnTo>
                  <a:lnTo>
                    <a:pt x="16" y="60"/>
                  </a:lnTo>
                  <a:lnTo>
                    <a:pt x="16" y="62"/>
                  </a:lnTo>
                  <a:lnTo>
                    <a:pt x="14" y="62"/>
                  </a:lnTo>
                  <a:lnTo>
                    <a:pt x="14" y="63"/>
                  </a:lnTo>
                  <a:lnTo>
                    <a:pt x="13" y="64"/>
                  </a:lnTo>
                  <a:lnTo>
                    <a:pt x="12" y="65"/>
                  </a:lnTo>
                  <a:lnTo>
                    <a:pt x="12" y="66"/>
                  </a:lnTo>
                  <a:lnTo>
                    <a:pt x="10" y="67"/>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9" name="Line 30"/>
            <p:cNvSpPr>
              <a:spLocks noChangeShapeType="1"/>
            </p:cNvSpPr>
            <p:nvPr/>
          </p:nvSpPr>
          <p:spPr bwMode="auto">
            <a:xfrm>
              <a:off x="9129713" y="5229225"/>
              <a:ext cx="1333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0" name="Line 31"/>
            <p:cNvSpPr>
              <a:spLocks noChangeShapeType="1"/>
            </p:cNvSpPr>
            <p:nvPr/>
          </p:nvSpPr>
          <p:spPr bwMode="auto">
            <a:xfrm flipH="1">
              <a:off x="8004176" y="5116514"/>
              <a:ext cx="22225" cy="12858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1" name="Freeform 32"/>
            <p:cNvSpPr>
              <a:spLocks/>
            </p:cNvSpPr>
            <p:nvPr/>
          </p:nvSpPr>
          <p:spPr bwMode="auto">
            <a:xfrm>
              <a:off x="7788276" y="5133975"/>
              <a:ext cx="28575" cy="95250"/>
            </a:xfrm>
            <a:custGeom>
              <a:avLst/>
              <a:gdLst>
                <a:gd name="T0" fmla="*/ 9 w 19"/>
                <a:gd name="T1" fmla="*/ 67 h 68"/>
                <a:gd name="T2" fmla="*/ 9 w 19"/>
                <a:gd name="T3" fmla="*/ 67 h 68"/>
                <a:gd name="T4" fmla="*/ 8 w 19"/>
                <a:gd name="T5" fmla="*/ 66 h 68"/>
                <a:gd name="T6" fmla="*/ 6 w 19"/>
                <a:gd name="T7" fmla="*/ 65 h 68"/>
                <a:gd name="T8" fmla="*/ 6 w 19"/>
                <a:gd name="T9" fmla="*/ 64 h 68"/>
                <a:gd name="T10" fmla="*/ 5 w 19"/>
                <a:gd name="T11" fmla="*/ 64 h 68"/>
                <a:gd name="T12" fmla="*/ 4 w 19"/>
                <a:gd name="T13" fmla="*/ 63 h 68"/>
                <a:gd name="T14" fmla="*/ 3 w 19"/>
                <a:gd name="T15" fmla="*/ 62 h 68"/>
                <a:gd name="T16" fmla="*/ 3 w 19"/>
                <a:gd name="T17" fmla="*/ 60 h 68"/>
                <a:gd name="T18" fmla="*/ 1 w 19"/>
                <a:gd name="T19" fmla="*/ 58 h 68"/>
                <a:gd name="T20" fmla="*/ 1 w 19"/>
                <a:gd name="T21" fmla="*/ 56 h 68"/>
                <a:gd name="T22" fmla="*/ 0 w 19"/>
                <a:gd name="T23" fmla="*/ 54 h 68"/>
                <a:gd name="T24" fmla="*/ 0 w 19"/>
                <a:gd name="T25" fmla="*/ 53 h 68"/>
                <a:gd name="T26" fmla="*/ 0 w 19"/>
                <a:gd name="T27" fmla="*/ 51 h 68"/>
                <a:gd name="T28" fmla="*/ 0 w 19"/>
                <a:gd name="T29" fmla="*/ 49 h 68"/>
                <a:gd name="T30" fmla="*/ 0 w 19"/>
                <a:gd name="T31" fmla="*/ 47 h 68"/>
                <a:gd name="T32" fmla="*/ 0 w 19"/>
                <a:gd name="T33" fmla="*/ 45 h 68"/>
                <a:gd name="T34" fmla="*/ 0 w 19"/>
                <a:gd name="T35" fmla="*/ 43 h 68"/>
                <a:gd name="T36" fmla="*/ 0 w 19"/>
                <a:gd name="T37" fmla="*/ 41 h 68"/>
                <a:gd name="T38" fmla="*/ 0 w 19"/>
                <a:gd name="T39" fmla="*/ 38 h 68"/>
                <a:gd name="T40" fmla="*/ 0 w 19"/>
                <a:gd name="T41" fmla="*/ 36 h 68"/>
                <a:gd name="T42" fmla="*/ 0 w 19"/>
                <a:gd name="T43" fmla="*/ 34 h 68"/>
                <a:gd name="T44" fmla="*/ 0 w 19"/>
                <a:gd name="T45" fmla="*/ 32 h 68"/>
                <a:gd name="T46" fmla="*/ 0 w 19"/>
                <a:gd name="T47" fmla="*/ 30 h 68"/>
                <a:gd name="T48" fmla="*/ 0 w 19"/>
                <a:gd name="T49" fmla="*/ 28 h 68"/>
                <a:gd name="T50" fmla="*/ 0 w 19"/>
                <a:gd name="T51" fmla="*/ 26 h 68"/>
                <a:gd name="T52" fmla="*/ 0 w 19"/>
                <a:gd name="T53" fmla="*/ 24 h 68"/>
                <a:gd name="T54" fmla="*/ 0 w 19"/>
                <a:gd name="T55" fmla="*/ 22 h 68"/>
                <a:gd name="T56" fmla="*/ 0 w 19"/>
                <a:gd name="T57" fmla="*/ 20 h 68"/>
                <a:gd name="T58" fmla="*/ 0 w 19"/>
                <a:gd name="T59" fmla="*/ 18 h 68"/>
                <a:gd name="T60" fmla="*/ 0 w 19"/>
                <a:gd name="T61" fmla="*/ 15 h 68"/>
                <a:gd name="T62" fmla="*/ 1 w 19"/>
                <a:gd name="T63" fmla="*/ 15 h 68"/>
                <a:gd name="T64" fmla="*/ 1 w 19"/>
                <a:gd name="T65" fmla="*/ 13 h 68"/>
                <a:gd name="T66" fmla="*/ 2 w 19"/>
                <a:gd name="T67" fmla="*/ 12 h 68"/>
                <a:gd name="T68" fmla="*/ 3 w 19"/>
                <a:gd name="T69" fmla="*/ 10 h 68"/>
                <a:gd name="T70" fmla="*/ 4 w 19"/>
                <a:gd name="T71" fmla="*/ 8 h 68"/>
                <a:gd name="T72" fmla="*/ 5 w 19"/>
                <a:gd name="T73" fmla="*/ 7 h 68"/>
                <a:gd name="T74" fmla="*/ 5 w 19"/>
                <a:gd name="T75" fmla="*/ 5 h 68"/>
                <a:gd name="T76" fmla="*/ 6 w 19"/>
                <a:gd name="T77" fmla="*/ 4 h 68"/>
                <a:gd name="T78" fmla="*/ 8 w 19"/>
                <a:gd name="T79" fmla="*/ 3 h 68"/>
                <a:gd name="T80" fmla="*/ 8 w 19"/>
                <a:gd name="T81" fmla="*/ 3 h 68"/>
                <a:gd name="T82" fmla="*/ 9 w 19"/>
                <a:gd name="T83" fmla="*/ 2 h 68"/>
                <a:gd name="T84" fmla="*/ 10 w 19"/>
                <a:gd name="T85" fmla="*/ 1 h 68"/>
                <a:gd name="T86" fmla="*/ 10 w 19"/>
                <a:gd name="T87" fmla="*/ 1 h 68"/>
                <a:gd name="T88" fmla="*/ 11 w 19"/>
                <a:gd name="T89" fmla="*/ 1 h 68"/>
                <a:gd name="T90" fmla="*/ 12 w 19"/>
                <a:gd name="T91" fmla="*/ 0 h 68"/>
                <a:gd name="T92" fmla="*/ 14 w 19"/>
                <a:gd name="T93" fmla="*/ 0 h 68"/>
                <a:gd name="T94" fmla="*/ 14 w 19"/>
                <a:gd name="T95" fmla="*/ 1 h 68"/>
                <a:gd name="T96" fmla="*/ 15 w 19"/>
                <a:gd name="T97" fmla="*/ 1 h 68"/>
                <a:gd name="T98" fmla="*/ 15 w 19"/>
                <a:gd name="T99" fmla="*/ 1 h 68"/>
                <a:gd name="T100" fmla="*/ 17 w 19"/>
                <a:gd name="T101" fmla="*/ 2 h 68"/>
                <a:gd name="T102" fmla="*/ 18 w 19"/>
                <a:gd name="T103" fmla="*/ 3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 h="68">
                  <a:moveTo>
                    <a:pt x="9" y="67"/>
                  </a:moveTo>
                  <a:lnTo>
                    <a:pt x="9" y="67"/>
                  </a:lnTo>
                  <a:lnTo>
                    <a:pt x="8" y="66"/>
                  </a:lnTo>
                  <a:lnTo>
                    <a:pt x="6" y="65"/>
                  </a:lnTo>
                  <a:lnTo>
                    <a:pt x="6" y="64"/>
                  </a:lnTo>
                  <a:lnTo>
                    <a:pt x="5" y="64"/>
                  </a:lnTo>
                  <a:lnTo>
                    <a:pt x="4" y="63"/>
                  </a:lnTo>
                  <a:lnTo>
                    <a:pt x="3" y="62"/>
                  </a:lnTo>
                  <a:lnTo>
                    <a:pt x="3" y="60"/>
                  </a:lnTo>
                  <a:lnTo>
                    <a:pt x="1" y="58"/>
                  </a:lnTo>
                  <a:lnTo>
                    <a:pt x="1" y="56"/>
                  </a:lnTo>
                  <a:lnTo>
                    <a:pt x="0" y="54"/>
                  </a:lnTo>
                  <a:lnTo>
                    <a:pt x="0" y="53"/>
                  </a:lnTo>
                  <a:lnTo>
                    <a:pt x="0" y="51"/>
                  </a:lnTo>
                  <a:lnTo>
                    <a:pt x="0" y="49"/>
                  </a:lnTo>
                  <a:lnTo>
                    <a:pt x="0" y="47"/>
                  </a:lnTo>
                  <a:lnTo>
                    <a:pt x="0" y="45"/>
                  </a:lnTo>
                  <a:lnTo>
                    <a:pt x="0" y="43"/>
                  </a:lnTo>
                  <a:lnTo>
                    <a:pt x="0" y="41"/>
                  </a:lnTo>
                  <a:lnTo>
                    <a:pt x="0" y="38"/>
                  </a:lnTo>
                  <a:lnTo>
                    <a:pt x="0" y="36"/>
                  </a:lnTo>
                  <a:lnTo>
                    <a:pt x="0" y="34"/>
                  </a:lnTo>
                  <a:lnTo>
                    <a:pt x="0" y="32"/>
                  </a:lnTo>
                  <a:lnTo>
                    <a:pt x="0" y="30"/>
                  </a:lnTo>
                  <a:lnTo>
                    <a:pt x="0" y="28"/>
                  </a:lnTo>
                  <a:lnTo>
                    <a:pt x="0" y="26"/>
                  </a:lnTo>
                  <a:lnTo>
                    <a:pt x="0" y="24"/>
                  </a:lnTo>
                  <a:lnTo>
                    <a:pt x="0" y="22"/>
                  </a:lnTo>
                  <a:lnTo>
                    <a:pt x="0" y="20"/>
                  </a:lnTo>
                  <a:lnTo>
                    <a:pt x="0" y="18"/>
                  </a:lnTo>
                  <a:lnTo>
                    <a:pt x="0" y="15"/>
                  </a:lnTo>
                  <a:lnTo>
                    <a:pt x="1" y="15"/>
                  </a:lnTo>
                  <a:lnTo>
                    <a:pt x="1" y="13"/>
                  </a:lnTo>
                  <a:lnTo>
                    <a:pt x="2" y="12"/>
                  </a:lnTo>
                  <a:lnTo>
                    <a:pt x="3" y="10"/>
                  </a:lnTo>
                  <a:lnTo>
                    <a:pt x="4" y="8"/>
                  </a:lnTo>
                  <a:lnTo>
                    <a:pt x="5" y="7"/>
                  </a:lnTo>
                  <a:lnTo>
                    <a:pt x="5" y="5"/>
                  </a:lnTo>
                  <a:lnTo>
                    <a:pt x="6" y="4"/>
                  </a:lnTo>
                  <a:lnTo>
                    <a:pt x="8" y="3"/>
                  </a:lnTo>
                  <a:lnTo>
                    <a:pt x="8" y="3"/>
                  </a:lnTo>
                  <a:lnTo>
                    <a:pt x="9" y="2"/>
                  </a:lnTo>
                  <a:lnTo>
                    <a:pt x="10" y="1"/>
                  </a:lnTo>
                  <a:lnTo>
                    <a:pt x="10" y="1"/>
                  </a:lnTo>
                  <a:lnTo>
                    <a:pt x="11" y="1"/>
                  </a:lnTo>
                  <a:lnTo>
                    <a:pt x="12" y="0"/>
                  </a:lnTo>
                  <a:lnTo>
                    <a:pt x="14" y="0"/>
                  </a:lnTo>
                  <a:lnTo>
                    <a:pt x="14" y="1"/>
                  </a:lnTo>
                  <a:lnTo>
                    <a:pt x="15" y="1"/>
                  </a:lnTo>
                  <a:lnTo>
                    <a:pt x="15" y="1"/>
                  </a:lnTo>
                  <a:lnTo>
                    <a:pt x="17" y="2"/>
                  </a:lnTo>
                  <a:lnTo>
                    <a:pt x="18" y="3"/>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2" name="Freeform 33"/>
            <p:cNvSpPr>
              <a:spLocks/>
            </p:cNvSpPr>
            <p:nvPr/>
          </p:nvSpPr>
          <p:spPr bwMode="auto">
            <a:xfrm>
              <a:off x="7767639" y="5133975"/>
              <a:ext cx="28575" cy="95250"/>
            </a:xfrm>
            <a:custGeom>
              <a:avLst/>
              <a:gdLst>
                <a:gd name="T0" fmla="*/ 10 w 20"/>
                <a:gd name="T1" fmla="*/ 67 h 68"/>
                <a:gd name="T2" fmla="*/ 10 w 20"/>
                <a:gd name="T3" fmla="*/ 67 h 68"/>
                <a:gd name="T4" fmla="*/ 9 w 20"/>
                <a:gd name="T5" fmla="*/ 66 h 68"/>
                <a:gd name="T6" fmla="*/ 8 w 20"/>
                <a:gd name="T7" fmla="*/ 65 h 68"/>
                <a:gd name="T8" fmla="*/ 7 w 20"/>
                <a:gd name="T9" fmla="*/ 64 h 68"/>
                <a:gd name="T10" fmla="*/ 6 w 20"/>
                <a:gd name="T11" fmla="*/ 63 h 68"/>
                <a:gd name="T12" fmla="*/ 6 w 20"/>
                <a:gd name="T13" fmla="*/ 62 h 68"/>
                <a:gd name="T14" fmla="*/ 6 w 20"/>
                <a:gd name="T15" fmla="*/ 61 h 68"/>
                <a:gd name="T16" fmla="*/ 5 w 20"/>
                <a:gd name="T17" fmla="*/ 60 h 68"/>
                <a:gd name="T18" fmla="*/ 4 w 20"/>
                <a:gd name="T19" fmla="*/ 58 h 68"/>
                <a:gd name="T20" fmla="*/ 4 w 20"/>
                <a:gd name="T21" fmla="*/ 56 h 68"/>
                <a:gd name="T22" fmla="*/ 3 w 20"/>
                <a:gd name="T23" fmla="*/ 54 h 68"/>
                <a:gd name="T24" fmla="*/ 2 w 20"/>
                <a:gd name="T25" fmla="*/ 52 h 68"/>
                <a:gd name="T26" fmla="*/ 2 w 20"/>
                <a:gd name="T27" fmla="*/ 50 h 68"/>
                <a:gd name="T28" fmla="*/ 1 w 20"/>
                <a:gd name="T29" fmla="*/ 49 h 68"/>
                <a:gd name="T30" fmla="*/ 1 w 20"/>
                <a:gd name="T31" fmla="*/ 47 h 68"/>
                <a:gd name="T32" fmla="*/ 1 w 20"/>
                <a:gd name="T33" fmla="*/ 45 h 68"/>
                <a:gd name="T34" fmla="*/ 1 w 20"/>
                <a:gd name="T35" fmla="*/ 42 h 68"/>
                <a:gd name="T36" fmla="*/ 0 w 20"/>
                <a:gd name="T37" fmla="*/ 41 h 68"/>
                <a:gd name="T38" fmla="*/ 0 w 20"/>
                <a:gd name="T39" fmla="*/ 38 h 68"/>
                <a:gd name="T40" fmla="*/ 0 w 20"/>
                <a:gd name="T41" fmla="*/ 36 h 68"/>
                <a:gd name="T42" fmla="*/ 0 w 20"/>
                <a:gd name="T43" fmla="*/ 33 h 68"/>
                <a:gd name="T44" fmla="*/ 0 w 20"/>
                <a:gd name="T45" fmla="*/ 31 h 68"/>
                <a:gd name="T46" fmla="*/ 0 w 20"/>
                <a:gd name="T47" fmla="*/ 30 h 68"/>
                <a:gd name="T48" fmla="*/ 0 w 20"/>
                <a:gd name="T49" fmla="*/ 27 h 68"/>
                <a:gd name="T50" fmla="*/ 1 w 20"/>
                <a:gd name="T51" fmla="*/ 25 h 68"/>
                <a:gd name="T52" fmla="*/ 1 w 20"/>
                <a:gd name="T53" fmla="*/ 24 h 68"/>
                <a:gd name="T54" fmla="*/ 1 w 20"/>
                <a:gd name="T55" fmla="*/ 22 h 68"/>
                <a:gd name="T56" fmla="*/ 1 w 20"/>
                <a:gd name="T57" fmla="*/ 19 h 68"/>
                <a:gd name="T58" fmla="*/ 2 w 20"/>
                <a:gd name="T59" fmla="*/ 17 h 68"/>
                <a:gd name="T60" fmla="*/ 2 w 20"/>
                <a:gd name="T61" fmla="*/ 16 h 68"/>
                <a:gd name="T62" fmla="*/ 3 w 20"/>
                <a:gd name="T63" fmla="*/ 14 h 68"/>
                <a:gd name="T64" fmla="*/ 4 w 20"/>
                <a:gd name="T65" fmla="*/ 13 h 68"/>
                <a:gd name="T66" fmla="*/ 4 w 20"/>
                <a:gd name="T67" fmla="*/ 11 h 68"/>
                <a:gd name="T68" fmla="*/ 6 w 20"/>
                <a:gd name="T69" fmla="*/ 9 h 68"/>
                <a:gd name="T70" fmla="*/ 6 w 20"/>
                <a:gd name="T71" fmla="*/ 7 h 68"/>
                <a:gd name="T72" fmla="*/ 6 w 20"/>
                <a:gd name="T73" fmla="*/ 7 h 68"/>
                <a:gd name="T74" fmla="*/ 6 w 20"/>
                <a:gd name="T75" fmla="*/ 5 h 68"/>
                <a:gd name="T76" fmla="*/ 8 w 20"/>
                <a:gd name="T77" fmla="*/ 4 h 68"/>
                <a:gd name="T78" fmla="*/ 8 w 20"/>
                <a:gd name="T79" fmla="*/ 3 h 68"/>
                <a:gd name="T80" fmla="*/ 10 w 20"/>
                <a:gd name="T81" fmla="*/ 2 h 68"/>
                <a:gd name="T82" fmla="*/ 10 w 20"/>
                <a:gd name="T83" fmla="*/ 2 h 68"/>
                <a:gd name="T84" fmla="*/ 12 w 20"/>
                <a:gd name="T85" fmla="*/ 1 h 68"/>
                <a:gd name="T86" fmla="*/ 13 w 20"/>
                <a:gd name="T87" fmla="*/ 1 h 68"/>
                <a:gd name="T88" fmla="*/ 13 w 20"/>
                <a:gd name="T89" fmla="*/ 0 h 68"/>
                <a:gd name="T90" fmla="*/ 15 w 20"/>
                <a:gd name="T91" fmla="*/ 0 h 68"/>
                <a:gd name="T92" fmla="*/ 15 w 20"/>
                <a:gd name="T93" fmla="*/ 0 h 68"/>
                <a:gd name="T94" fmla="*/ 15 w 20"/>
                <a:gd name="T95" fmla="*/ 0 h 68"/>
                <a:gd name="T96" fmla="*/ 16 w 20"/>
                <a:gd name="T97" fmla="*/ 1 h 68"/>
                <a:gd name="T98" fmla="*/ 17 w 20"/>
                <a:gd name="T99" fmla="*/ 1 h 68"/>
                <a:gd name="T100" fmla="*/ 18 w 20"/>
                <a:gd name="T101" fmla="*/ 2 h 68"/>
                <a:gd name="T102" fmla="*/ 19 w 20"/>
                <a:gd name="T103"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68">
                  <a:moveTo>
                    <a:pt x="10" y="67"/>
                  </a:moveTo>
                  <a:lnTo>
                    <a:pt x="10" y="67"/>
                  </a:lnTo>
                  <a:lnTo>
                    <a:pt x="9" y="66"/>
                  </a:lnTo>
                  <a:lnTo>
                    <a:pt x="8" y="65"/>
                  </a:lnTo>
                  <a:lnTo>
                    <a:pt x="7" y="64"/>
                  </a:lnTo>
                  <a:lnTo>
                    <a:pt x="6" y="63"/>
                  </a:lnTo>
                  <a:lnTo>
                    <a:pt x="6" y="62"/>
                  </a:lnTo>
                  <a:lnTo>
                    <a:pt x="6" y="61"/>
                  </a:lnTo>
                  <a:lnTo>
                    <a:pt x="5" y="60"/>
                  </a:lnTo>
                  <a:lnTo>
                    <a:pt x="4" y="58"/>
                  </a:lnTo>
                  <a:lnTo>
                    <a:pt x="4" y="56"/>
                  </a:lnTo>
                  <a:lnTo>
                    <a:pt x="3" y="54"/>
                  </a:lnTo>
                  <a:lnTo>
                    <a:pt x="2" y="52"/>
                  </a:lnTo>
                  <a:lnTo>
                    <a:pt x="2" y="50"/>
                  </a:lnTo>
                  <a:lnTo>
                    <a:pt x="1" y="49"/>
                  </a:lnTo>
                  <a:lnTo>
                    <a:pt x="1" y="47"/>
                  </a:lnTo>
                  <a:lnTo>
                    <a:pt x="1" y="45"/>
                  </a:lnTo>
                  <a:lnTo>
                    <a:pt x="1" y="42"/>
                  </a:lnTo>
                  <a:lnTo>
                    <a:pt x="0" y="41"/>
                  </a:lnTo>
                  <a:lnTo>
                    <a:pt x="0" y="38"/>
                  </a:lnTo>
                  <a:lnTo>
                    <a:pt x="0" y="36"/>
                  </a:lnTo>
                  <a:lnTo>
                    <a:pt x="0" y="33"/>
                  </a:lnTo>
                  <a:lnTo>
                    <a:pt x="0" y="31"/>
                  </a:lnTo>
                  <a:lnTo>
                    <a:pt x="0" y="30"/>
                  </a:lnTo>
                  <a:lnTo>
                    <a:pt x="0" y="27"/>
                  </a:lnTo>
                  <a:lnTo>
                    <a:pt x="1" y="25"/>
                  </a:lnTo>
                  <a:lnTo>
                    <a:pt x="1" y="24"/>
                  </a:lnTo>
                  <a:lnTo>
                    <a:pt x="1" y="22"/>
                  </a:lnTo>
                  <a:lnTo>
                    <a:pt x="1" y="19"/>
                  </a:lnTo>
                  <a:lnTo>
                    <a:pt x="2" y="17"/>
                  </a:lnTo>
                  <a:lnTo>
                    <a:pt x="2" y="16"/>
                  </a:lnTo>
                  <a:lnTo>
                    <a:pt x="3" y="14"/>
                  </a:lnTo>
                  <a:lnTo>
                    <a:pt x="4" y="13"/>
                  </a:lnTo>
                  <a:lnTo>
                    <a:pt x="4" y="11"/>
                  </a:lnTo>
                  <a:lnTo>
                    <a:pt x="6" y="9"/>
                  </a:lnTo>
                  <a:lnTo>
                    <a:pt x="6" y="7"/>
                  </a:lnTo>
                  <a:lnTo>
                    <a:pt x="6" y="7"/>
                  </a:lnTo>
                  <a:lnTo>
                    <a:pt x="6" y="5"/>
                  </a:lnTo>
                  <a:lnTo>
                    <a:pt x="8" y="4"/>
                  </a:lnTo>
                  <a:lnTo>
                    <a:pt x="8" y="3"/>
                  </a:lnTo>
                  <a:lnTo>
                    <a:pt x="10" y="2"/>
                  </a:lnTo>
                  <a:lnTo>
                    <a:pt x="10" y="2"/>
                  </a:lnTo>
                  <a:lnTo>
                    <a:pt x="12" y="1"/>
                  </a:lnTo>
                  <a:lnTo>
                    <a:pt x="13" y="1"/>
                  </a:lnTo>
                  <a:lnTo>
                    <a:pt x="13" y="0"/>
                  </a:lnTo>
                  <a:lnTo>
                    <a:pt x="15" y="0"/>
                  </a:lnTo>
                  <a:lnTo>
                    <a:pt x="15" y="0"/>
                  </a:lnTo>
                  <a:lnTo>
                    <a:pt x="15" y="0"/>
                  </a:lnTo>
                  <a:lnTo>
                    <a:pt x="16" y="1"/>
                  </a:lnTo>
                  <a:lnTo>
                    <a:pt x="17" y="1"/>
                  </a:lnTo>
                  <a:lnTo>
                    <a:pt x="18" y="2"/>
                  </a:lnTo>
                  <a:lnTo>
                    <a:pt x="19" y="2"/>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3" name="Freeform 34"/>
            <p:cNvSpPr>
              <a:spLocks/>
            </p:cNvSpPr>
            <p:nvPr/>
          </p:nvSpPr>
          <p:spPr bwMode="auto">
            <a:xfrm>
              <a:off x="7747001" y="5133975"/>
              <a:ext cx="30163" cy="95250"/>
            </a:xfrm>
            <a:custGeom>
              <a:avLst/>
              <a:gdLst>
                <a:gd name="T0" fmla="*/ 10 w 21"/>
                <a:gd name="T1" fmla="*/ 67 h 68"/>
                <a:gd name="T2" fmla="*/ 10 w 21"/>
                <a:gd name="T3" fmla="*/ 67 h 68"/>
                <a:gd name="T4" fmla="*/ 10 w 21"/>
                <a:gd name="T5" fmla="*/ 66 h 68"/>
                <a:gd name="T6" fmla="*/ 9 w 21"/>
                <a:gd name="T7" fmla="*/ 65 h 68"/>
                <a:gd name="T8" fmla="*/ 8 w 21"/>
                <a:gd name="T9" fmla="*/ 64 h 68"/>
                <a:gd name="T10" fmla="*/ 8 w 21"/>
                <a:gd name="T11" fmla="*/ 63 h 68"/>
                <a:gd name="T12" fmla="*/ 7 w 21"/>
                <a:gd name="T13" fmla="*/ 62 h 68"/>
                <a:gd name="T14" fmla="*/ 6 w 21"/>
                <a:gd name="T15" fmla="*/ 61 h 68"/>
                <a:gd name="T16" fmla="*/ 5 w 21"/>
                <a:gd name="T17" fmla="*/ 60 h 68"/>
                <a:gd name="T18" fmla="*/ 4 w 21"/>
                <a:gd name="T19" fmla="*/ 58 h 68"/>
                <a:gd name="T20" fmla="*/ 4 w 21"/>
                <a:gd name="T21" fmla="*/ 56 h 68"/>
                <a:gd name="T22" fmla="*/ 4 w 21"/>
                <a:gd name="T23" fmla="*/ 54 h 68"/>
                <a:gd name="T24" fmla="*/ 4 w 21"/>
                <a:gd name="T25" fmla="*/ 52 h 68"/>
                <a:gd name="T26" fmla="*/ 2 w 21"/>
                <a:gd name="T27" fmla="*/ 50 h 68"/>
                <a:gd name="T28" fmla="*/ 2 w 21"/>
                <a:gd name="T29" fmla="*/ 49 h 68"/>
                <a:gd name="T30" fmla="*/ 2 w 21"/>
                <a:gd name="T31" fmla="*/ 47 h 68"/>
                <a:gd name="T32" fmla="*/ 2 w 21"/>
                <a:gd name="T33" fmla="*/ 45 h 68"/>
                <a:gd name="T34" fmla="*/ 2 w 21"/>
                <a:gd name="T35" fmla="*/ 42 h 68"/>
                <a:gd name="T36" fmla="*/ 0 w 21"/>
                <a:gd name="T37" fmla="*/ 41 h 68"/>
                <a:gd name="T38" fmla="*/ 0 w 21"/>
                <a:gd name="T39" fmla="*/ 38 h 68"/>
                <a:gd name="T40" fmla="*/ 0 w 21"/>
                <a:gd name="T41" fmla="*/ 36 h 68"/>
                <a:gd name="T42" fmla="*/ 0 w 21"/>
                <a:gd name="T43" fmla="*/ 33 h 68"/>
                <a:gd name="T44" fmla="*/ 0 w 21"/>
                <a:gd name="T45" fmla="*/ 31 h 68"/>
                <a:gd name="T46" fmla="*/ 0 w 21"/>
                <a:gd name="T47" fmla="*/ 30 h 68"/>
                <a:gd name="T48" fmla="*/ 0 w 21"/>
                <a:gd name="T49" fmla="*/ 27 h 68"/>
                <a:gd name="T50" fmla="*/ 2 w 21"/>
                <a:gd name="T51" fmla="*/ 25 h 68"/>
                <a:gd name="T52" fmla="*/ 2 w 21"/>
                <a:gd name="T53" fmla="*/ 24 h 68"/>
                <a:gd name="T54" fmla="*/ 2 w 21"/>
                <a:gd name="T55" fmla="*/ 22 h 68"/>
                <a:gd name="T56" fmla="*/ 2 w 21"/>
                <a:gd name="T57" fmla="*/ 19 h 68"/>
                <a:gd name="T58" fmla="*/ 2 w 21"/>
                <a:gd name="T59" fmla="*/ 17 h 68"/>
                <a:gd name="T60" fmla="*/ 4 w 21"/>
                <a:gd name="T61" fmla="*/ 16 h 68"/>
                <a:gd name="T62" fmla="*/ 4 w 21"/>
                <a:gd name="T63" fmla="*/ 14 h 68"/>
                <a:gd name="T64" fmla="*/ 4 w 21"/>
                <a:gd name="T65" fmla="*/ 13 h 68"/>
                <a:gd name="T66" fmla="*/ 5 w 21"/>
                <a:gd name="T67" fmla="*/ 11 h 68"/>
                <a:gd name="T68" fmla="*/ 6 w 21"/>
                <a:gd name="T69" fmla="*/ 9 h 68"/>
                <a:gd name="T70" fmla="*/ 7 w 21"/>
                <a:gd name="T71" fmla="*/ 7 h 68"/>
                <a:gd name="T72" fmla="*/ 7 w 21"/>
                <a:gd name="T73" fmla="*/ 7 h 68"/>
                <a:gd name="T74" fmla="*/ 8 w 21"/>
                <a:gd name="T75" fmla="*/ 5 h 68"/>
                <a:gd name="T76" fmla="*/ 9 w 21"/>
                <a:gd name="T77" fmla="*/ 4 h 68"/>
                <a:gd name="T78" fmla="*/ 10 w 21"/>
                <a:gd name="T79" fmla="*/ 3 h 68"/>
                <a:gd name="T80" fmla="*/ 10 w 21"/>
                <a:gd name="T81" fmla="*/ 2 h 68"/>
                <a:gd name="T82" fmla="*/ 11 w 21"/>
                <a:gd name="T83" fmla="*/ 2 h 68"/>
                <a:gd name="T84" fmla="*/ 12 w 21"/>
                <a:gd name="T85" fmla="*/ 1 h 68"/>
                <a:gd name="T86" fmla="*/ 12 w 21"/>
                <a:gd name="T87" fmla="*/ 1 h 68"/>
                <a:gd name="T88" fmla="*/ 14 w 21"/>
                <a:gd name="T89" fmla="*/ 0 h 68"/>
                <a:gd name="T90" fmla="*/ 14 w 21"/>
                <a:gd name="T91" fmla="*/ 0 h 68"/>
                <a:gd name="T92" fmla="*/ 15 w 21"/>
                <a:gd name="T93" fmla="*/ 0 h 68"/>
                <a:gd name="T94" fmla="*/ 16 w 21"/>
                <a:gd name="T95" fmla="*/ 0 h 68"/>
                <a:gd name="T96" fmla="*/ 17 w 21"/>
                <a:gd name="T97" fmla="*/ 1 h 68"/>
                <a:gd name="T98" fmla="*/ 18 w 21"/>
                <a:gd name="T99" fmla="*/ 1 h 68"/>
                <a:gd name="T100" fmla="*/ 19 w 21"/>
                <a:gd name="T101" fmla="*/ 2 h 68"/>
                <a:gd name="T102" fmla="*/ 20 w 21"/>
                <a:gd name="T103"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 h="68">
                  <a:moveTo>
                    <a:pt x="10" y="67"/>
                  </a:moveTo>
                  <a:lnTo>
                    <a:pt x="10" y="67"/>
                  </a:lnTo>
                  <a:lnTo>
                    <a:pt x="10" y="66"/>
                  </a:lnTo>
                  <a:lnTo>
                    <a:pt x="9" y="65"/>
                  </a:lnTo>
                  <a:lnTo>
                    <a:pt x="8" y="64"/>
                  </a:lnTo>
                  <a:lnTo>
                    <a:pt x="8" y="63"/>
                  </a:lnTo>
                  <a:lnTo>
                    <a:pt x="7" y="62"/>
                  </a:lnTo>
                  <a:lnTo>
                    <a:pt x="6" y="61"/>
                  </a:lnTo>
                  <a:lnTo>
                    <a:pt x="5" y="60"/>
                  </a:lnTo>
                  <a:lnTo>
                    <a:pt x="4" y="58"/>
                  </a:lnTo>
                  <a:lnTo>
                    <a:pt x="4" y="56"/>
                  </a:lnTo>
                  <a:lnTo>
                    <a:pt x="4" y="54"/>
                  </a:lnTo>
                  <a:lnTo>
                    <a:pt x="4" y="52"/>
                  </a:lnTo>
                  <a:lnTo>
                    <a:pt x="2" y="50"/>
                  </a:lnTo>
                  <a:lnTo>
                    <a:pt x="2" y="49"/>
                  </a:lnTo>
                  <a:lnTo>
                    <a:pt x="2" y="47"/>
                  </a:lnTo>
                  <a:lnTo>
                    <a:pt x="2" y="45"/>
                  </a:lnTo>
                  <a:lnTo>
                    <a:pt x="2" y="42"/>
                  </a:lnTo>
                  <a:lnTo>
                    <a:pt x="0" y="41"/>
                  </a:lnTo>
                  <a:lnTo>
                    <a:pt x="0" y="38"/>
                  </a:lnTo>
                  <a:lnTo>
                    <a:pt x="0" y="36"/>
                  </a:lnTo>
                  <a:lnTo>
                    <a:pt x="0" y="33"/>
                  </a:lnTo>
                  <a:lnTo>
                    <a:pt x="0" y="31"/>
                  </a:lnTo>
                  <a:lnTo>
                    <a:pt x="0" y="30"/>
                  </a:lnTo>
                  <a:lnTo>
                    <a:pt x="0" y="27"/>
                  </a:lnTo>
                  <a:lnTo>
                    <a:pt x="2" y="25"/>
                  </a:lnTo>
                  <a:lnTo>
                    <a:pt x="2" y="24"/>
                  </a:lnTo>
                  <a:lnTo>
                    <a:pt x="2" y="22"/>
                  </a:lnTo>
                  <a:lnTo>
                    <a:pt x="2" y="19"/>
                  </a:lnTo>
                  <a:lnTo>
                    <a:pt x="2" y="17"/>
                  </a:lnTo>
                  <a:lnTo>
                    <a:pt x="4" y="16"/>
                  </a:lnTo>
                  <a:lnTo>
                    <a:pt x="4" y="14"/>
                  </a:lnTo>
                  <a:lnTo>
                    <a:pt x="4" y="13"/>
                  </a:lnTo>
                  <a:lnTo>
                    <a:pt x="5" y="11"/>
                  </a:lnTo>
                  <a:lnTo>
                    <a:pt x="6" y="9"/>
                  </a:lnTo>
                  <a:lnTo>
                    <a:pt x="7" y="7"/>
                  </a:lnTo>
                  <a:lnTo>
                    <a:pt x="7" y="7"/>
                  </a:lnTo>
                  <a:lnTo>
                    <a:pt x="8" y="5"/>
                  </a:lnTo>
                  <a:lnTo>
                    <a:pt x="9" y="4"/>
                  </a:lnTo>
                  <a:lnTo>
                    <a:pt x="10" y="3"/>
                  </a:lnTo>
                  <a:lnTo>
                    <a:pt x="10" y="2"/>
                  </a:lnTo>
                  <a:lnTo>
                    <a:pt x="11" y="2"/>
                  </a:lnTo>
                  <a:lnTo>
                    <a:pt x="12" y="1"/>
                  </a:lnTo>
                  <a:lnTo>
                    <a:pt x="12" y="1"/>
                  </a:lnTo>
                  <a:lnTo>
                    <a:pt x="14" y="0"/>
                  </a:lnTo>
                  <a:lnTo>
                    <a:pt x="14" y="0"/>
                  </a:lnTo>
                  <a:lnTo>
                    <a:pt x="15" y="0"/>
                  </a:lnTo>
                  <a:lnTo>
                    <a:pt x="16" y="0"/>
                  </a:lnTo>
                  <a:lnTo>
                    <a:pt x="17" y="1"/>
                  </a:lnTo>
                  <a:lnTo>
                    <a:pt x="18" y="1"/>
                  </a:lnTo>
                  <a:lnTo>
                    <a:pt x="19" y="2"/>
                  </a:lnTo>
                  <a:lnTo>
                    <a:pt x="20" y="2"/>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4" name="Freeform 35"/>
            <p:cNvSpPr>
              <a:spLocks/>
            </p:cNvSpPr>
            <p:nvPr/>
          </p:nvSpPr>
          <p:spPr bwMode="auto">
            <a:xfrm>
              <a:off x="7729539" y="5137150"/>
              <a:ext cx="28575" cy="95250"/>
            </a:xfrm>
            <a:custGeom>
              <a:avLst/>
              <a:gdLst>
                <a:gd name="T0" fmla="*/ 10 w 20"/>
                <a:gd name="T1" fmla="*/ 67 h 68"/>
                <a:gd name="T2" fmla="*/ 10 w 20"/>
                <a:gd name="T3" fmla="*/ 67 h 68"/>
                <a:gd name="T4" fmla="*/ 8 w 20"/>
                <a:gd name="T5" fmla="*/ 66 h 68"/>
                <a:gd name="T6" fmla="*/ 8 w 20"/>
                <a:gd name="T7" fmla="*/ 65 h 68"/>
                <a:gd name="T8" fmla="*/ 8 w 20"/>
                <a:gd name="T9" fmla="*/ 64 h 68"/>
                <a:gd name="T10" fmla="*/ 6 w 20"/>
                <a:gd name="T11" fmla="*/ 62 h 68"/>
                <a:gd name="T12" fmla="*/ 6 w 20"/>
                <a:gd name="T13" fmla="*/ 61 h 68"/>
                <a:gd name="T14" fmla="*/ 4 w 20"/>
                <a:gd name="T15" fmla="*/ 60 h 68"/>
                <a:gd name="T16" fmla="*/ 4 w 20"/>
                <a:gd name="T17" fmla="*/ 59 h 68"/>
                <a:gd name="T18" fmla="*/ 4 w 20"/>
                <a:gd name="T19" fmla="*/ 58 h 68"/>
                <a:gd name="T20" fmla="*/ 3 w 20"/>
                <a:gd name="T21" fmla="*/ 56 h 68"/>
                <a:gd name="T22" fmla="*/ 2 w 20"/>
                <a:gd name="T23" fmla="*/ 54 h 68"/>
                <a:gd name="T24" fmla="*/ 2 w 20"/>
                <a:gd name="T25" fmla="*/ 51 h 68"/>
                <a:gd name="T26" fmla="*/ 1 w 20"/>
                <a:gd name="T27" fmla="*/ 50 h 68"/>
                <a:gd name="T28" fmla="*/ 1 w 20"/>
                <a:gd name="T29" fmla="*/ 48 h 68"/>
                <a:gd name="T30" fmla="*/ 1 w 20"/>
                <a:gd name="T31" fmla="*/ 46 h 68"/>
                <a:gd name="T32" fmla="*/ 0 w 20"/>
                <a:gd name="T33" fmla="*/ 44 h 68"/>
                <a:gd name="T34" fmla="*/ 0 w 20"/>
                <a:gd name="T35" fmla="*/ 42 h 68"/>
                <a:gd name="T36" fmla="*/ 0 w 20"/>
                <a:gd name="T37" fmla="*/ 40 h 68"/>
                <a:gd name="T38" fmla="*/ 0 w 20"/>
                <a:gd name="T39" fmla="*/ 38 h 68"/>
                <a:gd name="T40" fmla="*/ 0 w 20"/>
                <a:gd name="T41" fmla="*/ 35 h 68"/>
                <a:gd name="T42" fmla="*/ 0 w 20"/>
                <a:gd name="T43" fmla="*/ 33 h 68"/>
                <a:gd name="T44" fmla="*/ 0 w 20"/>
                <a:gd name="T45" fmla="*/ 31 h 68"/>
                <a:gd name="T46" fmla="*/ 0 w 20"/>
                <a:gd name="T47" fmla="*/ 29 h 68"/>
                <a:gd name="T48" fmla="*/ 0 w 20"/>
                <a:gd name="T49" fmla="*/ 27 h 68"/>
                <a:gd name="T50" fmla="*/ 0 w 20"/>
                <a:gd name="T51" fmla="*/ 25 h 68"/>
                <a:gd name="T52" fmla="*/ 0 w 20"/>
                <a:gd name="T53" fmla="*/ 23 h 68"/>
                <a:gd name="T54" fmla="*/ 1 w 20"/>
                <a:gd name="T55" fmla="*/ 21 h 68"/>
                <a:gd name="T56" fmla="*/ 1 w 20"/>
                <a:gd name="T57" fmla="*/ 19 h 68"/>
                <a:gd name="T58" fmla="*/ 1 w 20"/>
                <a:gd name="T59" fmla="*/ 17 h 68"/>
                <a:gd name="T60" fmla="*/ 2 w 20"/>
                <a:gd name="T61" fmla="*/ 15 h 68"/>
                <a:gd name="T62" fmla="*/ 3 w 20"/>
                <a:gd name="T63" fmla="*/ 13 h 68"/>
                <a:gd name="T64" fmla="*/ 3 w 20"/>
                <a:gd name="T65" fmla="*/ 12 h 68"/>
                <a:gd name="T66" fmla="*/ 4 w 20"/>
                <a:gd name="T67" fmla="*/ 10 h 68"/>
                <a:gd name="T68" fmla="*/ 4 w 20"/>
                <a:gd name="T69" fmla="*/ 9 h 68"/>
                <a:gd name="T70" fmla="*/ 6 w 20"/>
                <a:gd name="T71" fmla="*/ 7 h 68"/>
                <a:gd name="T72" fmla="*/ 6 w 20"/>
                <a:gd name="T73" fmla="*/ 5 h 68"/>
                <a:gd name="T74" fmla="*/ 6 w 20"/>
                <a:gd name="T75" fmla="*/ 5 h 68"/>
                <a:gd name="T76" fmla="*/ 8 w 20"/>
                <a:gd name="T77" fmla="*/ 4 h 68"/>
                <a:gd name="T78" fmla="*/ 8 w 20"/>
                <a:gd name="T79" fmla="*/ 2 h 68"/>
                <a:gd name="T80" fmla="*/ 8 w 20"/>
                <a:gd name="T81" fmla="*/ 1 h 68"/>
                <a:gd name="T82" fmla="*/ 10 w 20"/>
                <a:gd name="T83" fmla="*/ 1 h 68"/>
                <a:gd name="T84" fmla="*/ 10 w 20"/>
                <a:gd name="T85" fmla="*/ 0 h 68"/>
                <a:gd name="T86" fmla="*/ 11 w 20"/>
                <a:gd name="T87" fmla="*/ 0 h 68"/>
                <a:gd name="T88" fmla="*/ 12 w 20"/>
                <a:gd name="T89" fmla="*/ 0 h 68"/>
                <a:gd name="T90" fmla="*/ 12 w 20"/>
                <a:gd name="T91" fmla="*/ 0 h 68"/>
                <a:gd name="T92" fmla="*/ 14 w 20"/>
                <a:gd name="T93" fmla="*/ 0 h 68"/>
                <a:gd name="T94" fmla="*/ 14 w 20"/>
                <a:gd name="T95" fmla="*/ 0 h 68"/>
                <a:gd name="T96" fmla="*/ 16 w 20"/>
                <a:gd name="T97" fmla="*/ 0 h 68"/>
                <a:gd name="T98" fmla="*/ 17 w 20"/>
                <a:gd name="T99" fmla="*/ 0 h 68"/>
                <a:gd name="T100" fmla="*/ 17 w 20"/>
                <a:gd name="T101" fmla="*/ 1 h 68"/>
                <a:gd name="T102" fmla="*/ 19 w 20"/>
                <a:gd name="T103" fmla="*/ 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68">
                  <a:moveTo>
                    <a:pt x="10" y="67"/>
                  </a:moveTo>
                  <a:lnTo>
                    <a:pt x="10" y="67"/>
                  </a:lnTo>
                  <a:lnTo>
                    <a:pt x="8" y="66"/>
                  </a:lnTo>
                  <a:lnTo>
                    <a:pt x="8" y="65"/>
                  </a:lnTo>
                  <a:lnTo>
                    <a:pt x="8" y="64"/>
                  </a:lnTo>
                  <a:lnTo>
                    <a:pt x="6" y="62"/>
                  </a:lnTo>
                  <a:lnTo>
                    <a:pt x="6" y="61"/>
                  </a:lnTo>
                  <a:lnTo>
                    <a:pt x="4" y="60"/>
                  </a:lnTo>
                  <a:lnTo>
                    <a:pt x="4" y="59"/>
                  </a:lnTo>
                  <a:lnTo>
                    <a:pt x="4" y="58"/>
                  </a:lnTo>
                  <a:lnTo>
                    <a:pt x="3" y="56"/>
                  </a:lnTo>
                  <a:lnTo>
                    <a:pt x="2" y="54"/>
                  </a:lnTo>
                  <a:lnTo>
                    <a:pt x="2" y="51"/>
                  </a:lnTo>
                  <a:lnTo>
                    <a:pt x="1" y="50"/>
                  </a:lnTo>
                  <a:lnTo>
                    <a:pt x="1" y="48"/>
                  </a:lnTo>
                  <a:lnTo>
                    <a:pt x="1" y="46"/>
                  </a:lnTo>
                  <a:lnTo>
                    <a:pt x="0" y="44"/>
                  </a:lnTo>
                  <a:lnTo>
                    <a:pt x="0" y="42"/>
                  </a:lnTo>
                  <a:lnTo>
                    <a:pt x="0" y="40"/>
                  </a:lnTo>
                  <a:lnTo>
                    <a:pt x="0" y="38"/>
                  </a:lnTo>
                  <a:lnTo>
                    <a:pt x="0" y="35"/>
                  </a:lnTo>
                  <a:lnTo>
                    <a:pt x="0" y="33"/>
                  </a:lnTo>
                  <a:lnTo>
                    <a:pt x="0" y="31"/>
                  </a:lnTo>
                  <a:lnTo>
                    <a:pt x="0" y="29"/>
                  </a:lnTo>
                  <a:lnTo>
                    <a:pt x="0" y="27"/>
                  </a:lnTo>
                  <a:lnTo>
                    <a:pt x="0" y="25"/>
                  </a:lnTo>
                  <a:lnTo>
                    <a:pt x="0" y="23"/>
                  </a:lnTo>
                  <a:lnTo>
                    <a:pt x="1" y="21"/>
                  </a:lnTo>
                  <a:lnTo>
                    <a:pt x="1" y="19"/>
                  </a:lnTo>
                  <a:lnTo>
                    <a:pt x="1" y="17"/>
                  </a:lnTo>
                  <a:lnTo>
                    <a:pt x="2" y="15"/>
                  </a:lnTo>
                  <a:lnTo>
                    <a:pt x="3" y="13"/>
                  </a:lnTo>
                  <a:lnTo>
                    <a:pt x="3" y="12"/>
                  </a:lnTo>
                  <a:lnTo>
                    <a:pt x="4" y="10"/>
                  </a:lnTo>
                  <a:lnTo>
                    <a:pt x="4" y="9"/>
                  </a:lnTo>
                  <a:lnTo>
                    <a:pt x="6" y="7"/>
                  </a:lnTo>
                  <a:lnTo>
                    <a:pt x="6" y="5"/>
                  </a:lnTo>
                  <a:lnTo>
                    <a:pt x="6" y="5"/>
                  </a:lnTo>
                  <a:lnTo>
                    <a:pt x="8" y="4"/>
                  </a:lnTo>
                  <a:lnTo>
                    <a:pt x="8" y="2"/>
                  </a:lnTo>
                  <a:lnTo>
                    <a:pt x="8" y="1"/>
                  </a:lnTo>
                  <a:lnTo>
                    <a:pt x="10" y="1"/>
                  </a:lnTo>
                  <a:lnTo>
                    <a:pt x="10" y="0"/>
                  </a:lnTo>
                  <a:lnTo>
                    <a:pt x="11" y="0"/>
                  </a:lnTo>
                  <a:lnTo>
                    <a:pt x="12" y="0"/>
                  </a:lnTo>
                  <a:lnTo>
                    <a:pt x="12" y="0"/>
                  </a:lnTo>
                  <a:lnTo>
                    <a:pt x="14" y="0"/>
                  </a:lnTo>
                  <a:lnTo>
                    <a:pt x="14" y="0"/>
                  </a:lnTo>
                  <a:lnTo>
                    <a:pt x="16" y="0"/>
                  </a:lnTo>
                  <a:lnTo>
                    <a:pt x="17" y="0"/>
                  </a:lnTo>
                  <a:lnTo>
                    <a:pt x="17" y="1"/>
                  </a:lnTo>
                  <a:lnTo>
                    <a:pt x="19" y="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5" name="Freeform 36"/>
            <p:cNvSpPr>
              <a:spLocks/>
            </p:cNvSpPr>
            <p:nvPr/>
          </p:nvSpPr>
          <p:spPr bwMode="auto">
            <a:xfrm>
              <a:off x="7707313" y="5137150"/>
              <a:ext cx="30162" cy="95250"/>
            </a:xfrm>
            <a:custGeom>
              <a:avLst/>
              <a:gdLst>
                <a:gd name="T0" fmla="*/ 9 w 20"/>
                <a:gd name="T1" fmla="*/ 67 h 68"/>
                <a:gd name="T2" fmla="*/ 9 w 20"/>
                <a:gd name="T3" fmla="*/ 67 h 68"/>
                <a:gd name="T4" fmla="*/ 9 w 20"/>
                <a:gd name="T5" fmla="*/ 66 h 68"/>
                <a:gd name="T6" fmla="*/ 8 w 20"/>
                <a:gd name="T7" fmla="*/ 65 h 68"/>
                <a:gd name="T8" fmla="*/ 6 w 20"/>
                <a:gd name="T9" fmla="*/ 64 h 68"/>
                <a:gd name="T10" fmla="*/ 6 w 20"/>
                <a:gd name="T11" fmla="*/ 62 h 68"/>
                <a:gd name="T12" fmla="*/ 6 w 20"/>
                <a:gd name="T13" fmla="*/ 61 h 68"/>
                <a:gd name="T14" fmla="*/ 5 w 20"/>
                <a:gd name="T15" fmla="*/ 60 h 68"/>
                <a:gd name="T16" fmla="*/ 5 w 20"/>
                <a:gd name="T17" fmla="*/ 59 h 68"/>
                <a:gd name="T18" fmla="*/ 3 w 20"/>
                <a:gd name="T19" fmla="*/ 58 h 68"/>
                <a:gd name="T20" fmla="*/ 3 w 20"/>
                <a:gd name="T21" fmla="*/ 56 h 68"/>
                <a:gd name="T22" fmla="*/ 3 w 20"/>
                <a:gd name="T23" fmla="*/ 54 h 68"/>
                <a:gd name="T24" fmla="*/ 2 w 20"/>
                <a:gd name="T25" fmla="*/ 51 h 68"/>
                <a:gd name="T26" fmla="*/ 2 w 20"/>
                <a:gd name="T27" fmla="*/ 50 h 68"/>
                <a:gd name="T28" fmla="*/ 1 w 20"/>
                <a:gd name="T29" fmla="*/ 48 h 68"/>
                <a:gd name="T30" fmla="*/ 1 w 20"/>
                <a:gd name="T31" fmla="*/ 46 h 68"/>
                <a:gd name="T32" fmla="*/ 1 w 20"/>
                <a:gd name="T33" fmla="*/ 44 h 68"/>
                <a:gd name="T34" fmla="*/ 1 w 20"/>
                <a:gd name="T35" fmla="*/ 42 h 68"/>
                <a:gd name="T36" fmla="*/ 1 w 20"/>
                <a:gd name="T37" fmla="*/ 40 h 68"/>
                <a:gd name="T38" fmla="*/ 1 w 20"/>
                <a:gd name="T39" fmla="*/ 38 h 68"/>
                <a:gd name="T40" fmla="*/ 0 w 20"/>
                <a:gd name="T41" fmla="*/ 35 h 68"/>
                <a:gd name="T42" fmla="*/ 0 w 20"/>
                <a:gd name="T43" fmla="*/ 33 h 68"/>
                <a:gd name="T44" fmla="*/ 0 w 20"/>
                <a:gd name="T45" fmla="*/ 31 h 68"/>
                <a:gd name="T46" fmla="*/ 1 w 20"/>
                <a:gd name="T47" fmla="*/ 29 h 68"/>
                <a:gd name="T48" fmla="*/ 1 w 20"/>
                <a:gd name="T49" fmla="*/ 27 h 68"/>
                <a:gd name="T50" fmla="*/ 1 w 20"/>
                <a:gd name="T51" fmla="*/ 25 h 68"/>
                <a:gd name="T52" fmla="*/ 1 w 20"/>
                <a:gd name="T53" fmla="*/ 23 h 68"/>
                <a:gd name="T54" fmla="*/ 1 w 20"/>
                <a:gd name="T55" fmla="*/ 21 h 68"/>
                <a:gd name="T56" fmla="*/ 2 w 20"/>
                <a:gd name="T57" fmla="*/ 19 h 68"/>
                <a:gd name="T58" fmla="*/ 2 w 20"/>
                <a:gd name="T59" fmla="*/ 17 h 68"/>
                <a:gd name="T60" fmla="*/ 3 w 20"/>
                <a:gd name="T61" fmla="*/ 15 h 68"/>
                <a:gd name="T62" fmla="*/ 3 w 20"/>
                <a:gd name="T63" fmla="*/ 13 h 68"/>
                <a:gd name="T64" fmla="*/ 3 w 20"/>
                <a:gd name="T65" fmla="*/ 12 h 68"/>
                <a:gd name="T66" fmla="*/ 5 w 20"/>
                <a:gd name="T67" fmla="*/ 10 h 68"/>
                <a:gd name="T68" fmla="*/ 5 w 20"/>
                <a:gd name="T69" fmla="*/ 9 h 68"/>
                <a:gd name="T70" fmla="*/ 5 w 20"/>
                <a:gd name="T71" fmla="*/ 7 h 68"/>
                <a:gd name="T72" fmla="*/ 6 w 20"/>
                <a:gd name="T73" fmla="*/ 5 h 68"/>
                <a:gd name="T74" fmla="*/ 6 w 20"/>
                <a:gd name="T75" fmla="*/ 5 h 68"/>
                <a:gd name="T76" fmla="*/ 8 w 20"/>
                <a:gd name="T77" fmla="*/ 4 h 68"/>
                <a:gd name="T78" fmla="*/ 8 w 20"/>
                <a:gd name="T79" fmla="*/ 2 h 68"/>
                <a:gd name="T80" fmla="*/ 9 w 20"/>
                <a:gd name="T81" fmla="*/ 1 h 68"/>
                <a:gd name="T82" fmla="*/ 10 w 20"/>
                <a:gd name="T83" fmla="*/ 1 h 68"/>
                <a:gd name="T84" fmla="*/ 11 w 20"/>
                <a:gd name="T85" fmla="*/ 0 h 68"/>
                <a:gd name="T86" fmla="*/ 12 w 20"/>
                <a:gd name="T87" fmla="*/ 0 h 68"/>
                <a:gd name="T88" fmla="*/ 13 w 20"/>
                <a:gd name="T89" fmla="*/ 0 h 68"/>
                <a:gd name="T90" fmla="*/ 13 w 20"/>
                <a:gd name="T91" fmla="*/ 0 h 68"/>
                <a:gd name="T92" fmla="*/ 15 w 20"/>
                <a:gd name="T93" fmla="*/ 0 h 68"/>
                <a:gd name="T94" fmla="*/ 15 w 20"/>
                <a:gd name="T95" fmla="*/ 0 h 68"/>
                <a:gd name="T96" fmla="*/ 16 w 20"/>
                <a:gd name="T97" fmla="*/ 0 h 68"/>
                <a:gd name="T98" fmla="*/ 17 w 20"/>
                <a:gd name="T99" fmla="*/ 0 h 68"/>
                <a:gd name="T100" fmla="*/ 18 w 20"/>
                <a:gd name="T101" fmla="*/ 1 h 68"/>
                <a:gd name="T102" fmla="*/ 19 w 20"/>
                <a:gd name="T103" fmla="*/ 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68">
                  <a:moveTo>
                    <a:pt x="9" y="67"/>
                  </a:moveTo>
                  <a:lnTo>
                    <a:pt x="9" y="67"/>
                  </a:lnTo>
                  <a:lnTo>
                    <a:pt x="9" y="66"/>
                  </a:lnTo>
                  <a:lnTo>
                    <a:pt x="8" y="65"/>
                  </a:lnTo>
                  <a:lnTo>
                    <a:pt x="6" y="64"/>
                  </a:lnTo>
                  <a:lnTo>
                    <a:pt x="6" y="62"/>
                  </a:lnTo>
                  <a:lnTo>
                    <a:pt x="6" y="61"/>
                  </a:lnTo>
                  <a:lnTo>
                    <a:pt x="5" y="60"/>
                  </a:lnTo>
                  <a:lnTo>
                    <a:pt x="5" y="59"/>
                  </a:lnTo>
                  <a:lnTo>
                    <a:pt x="3" y="58"/>
                  </a:lnTo>
                  <a:lnTo>
                    <a:pt x="3" y="56"/>
                  </a:lnTo>
                  <a:lnTo>
                    <a:pt x="3" y="54"/>
                  </a:lnTo>
                  <a:lnTo>
                    <a:pt x="2" y="51"/>
                  </a:lnTo>
                  <a:lnTo>
                    <a:pt x="2" y="50"/>
                  </a:lnTo>
                  <a:lnTo>
                    <a:pt x="1" y="48"/>
                  </a:lnTo>
                  <a:lnTo>
                    <a:pt x="1" y="46"/>
                  </a:lnTo>
                  <a:lnTo>
                    <a:pt x="1" y="44"/>
                  </a:lnTo>
                  <a:lnTo>
                    <a:pt x="1" y="42"/>
                  </a:lnTo>
                  <a:lnTo>
                    <a:pt x="1" y="40"/>
                  </a:lnTo>
                  <a:lnTo>
                    <a:pt x="1" y="38"/>
                  </a:lnTo>
                  <a:lnTo>
                    <a:pt x="0" y="35"/>
                  </a:lnTo>
                  <a:lnTo>
                    <a:pt x="0" y="33"/>
                  </a:lnTo>
                  <a:lnTo>
                    <a:pt x="0" y="31"/>
                  </a:lnTo>
                  <a:lnTo>
                    <a:pt x="1" y="29"/>
                  </a:lnTo>
                  <a:lnTo>
                    <a:pt x="1" y="27"/>
                  </a:lnTo>
                  <a:lnTo>
                    <a:pt x="1" y="25"/>
                  </a:lnTo>
                  <a:lnTo>
                    <a:pt x="1" y="23"/>
                  </a:lnTo>
                  <a:lnTo>
                    <a:pt x="1" y="21"/>
                  </a:lnTo>
                  <a:lnTo>
                    <a:pt x="2" y="19"/>
                  </a:lnTo>
                  <a:lnTo>
                    <a:pt x="2" y="17"/>
                  </a:lnTo>
                  <a:lnTo>
                    <a:pt x="3" y="15"/>
                  </a:lnTo>
                  <a:lnTo>
                    <a:pt x="3" y="13"/>
                  </a:lnTo>
                  <a:lnTo>
                    <a:pt x="3" y="12"/>
                  </a:lnTo>
                  <a:lnTo>
                    <a:pt x="5" y="10"/>
                  </a:lnTo>
                  <a:lnTo>
                    <a:pt x="5" y="9"/>
                  </a:lnTo>
                  <a:lnTo>
                    <a:pt x="5" y="7"/>
                  </a:lnTo>
                  <a:lnTo>
                    <a:pt x="6" y="5"/>
                  </a:lnTo>
                  <a:lnTo>
                    <a:pt x="6" y="5"/>
                  </a:lnTo>
                  <a:lnTo>
                    <a:pt x="8" y="4"/>
                  </a:lnTo>
                  <a:lnTo>
                    <a:pt x="8" y="2"/>
                  </a:lnTo>
                  <a:lnTo>
                    <a:pt x="9" y="1"/>
                  </a:lnTo>
                  <a:lnTo>
                    <a:pt x="10" y="1"/>
                  </a:lnTo>
                  <a:lnTo>
                    <a:pt x="11" y="0"/>
                  </a:lnTo>
                  <a:lnTo>
                    <a:pt x="12" y="0"/>
                  </a:lnTo>
                  <a:lnTo>
                    <a:pt x="13" y="0"/>
                  </a:lnTo>
                  <a:lnTo>
                    <a:pt x="13" y="0"/>
                  </a:lnTo>
                  <a:lnTo>
                    <a:pt x="15" y="0"/>
                  </a:lnTo>
                  <a:lnTo>
                    <a:pt x="15" y="0"/>
                  </a:lnTo>
                  <a:lnTo>
                    <a:pt x="16" y="0"/>
                  </a:lnTo>
                  <a:lnTo>
                    <a:pt x="17" y="0"/>
                  </a:lnTo>
                  <a:lnTo>
                    <a:pt x="18" y="1"/>
                  </a:lnTo>
                  <a:lnTo>
                    <a:pt x="19" y="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6" name="Freeform 37"/>
            <p:cNvSpPr>
              <a:spLocks/>
            </p:cNvSpPr>
            <p:nvPr/>
          </p:nvSpPr>
          <p:spPr bwMode="auto">
            <a:xfrm>
              <a:off x="7691439" y="5137150"/>
              <a:ext cx="26987" cy="95250"/>
            </a:xfrm>
            <a:custGeom>
              <a:avLst/>
              <a:gdLst>
                <a:gd name="T0" fmla="*/ 10 w 19"/>
                <a:gd name="T1" fmla="*/ 67 h 68"/>
                <a:gd name="T2" fmla="*/ 10 w 19"/>
                <a:gd name="T3" fmla="*/ 67 h 68"/>
                <a:gd name="T4" fmla="*/ 8 w 19"/>
                <a:gd name="T5" fmla="*/ 66 h 68"/>
                <a:gd name="T6" fmla="*/ 8 w 19"/>
                <a:gd name="T7" fmla="*/ 65 h 68"/>
                <a:gd name="T8" fmla="*/ 7 w 19"/>
                <a:gd name="T9" fmla="*/ 64 h 68"/>
                <a:gd name="T10" fmla="*/ 7 w 19"/>
                <a:gd name="T11" fmla="*/ 62 h 68"/>
                <a:gd name="T12" fmla="*/ 5 w 19"/>
                <a:gd name="T13" fmla="*/ 61 h 68"/>
                <a:gd name="T14" fmla="*/ 5 w 19"/>
                <a:gd name="T15" fmla="*/ 60 h 68"/>
                <a:gd name="T16" fmla="*/ 4 w 19"/>
                <a:gd name="T17" fmla="*/ 59 h 68"/>
                <a:gd name="T18" fmla="*/ 4 w 19"/>
                <a:gd name="T19" fmla="*/ 58 h 68"/>
                <a:gd name="T20" fmla="*/ 3 w 19"/>
                <a:gd name="T21" fmla="*/ 56 h 68"/>
                <a:gd name="T22" fmla="*/ 2 w 19"/>
                <a:gd name="T23" fmla="*/ 54 h 68"/>
                <a:gd name="T24" fmla="*/ 2 w 19"/>
                <a:gd name="T25" fmla="*/ 51 h 68"/>
                <a:gd name="T26" fmla="*/ 1 w 19"/>
                <a:gd name="T27" fmla="*/ 50 h 68"/>
                <a:gd name="T28" fmla="*/ 1 w 19"/>
                <a:gd name="T29" fmla="*/ 48 h 68"/>
                <a:gd name="T30" fmla="*/ 1 w 19"/>
                <a:gd name="T31" fmla="*/ 46 h 68"/>
                <a:gd name="T32" fmla="*/ 1 w 19"/>
                <a:gd name="T33" fmla="*/ 44 h 68"/>
                <a:gd name="T34" fmla="*/ 0 w 19"/>
                <a:gd name="T35" fmla="*/ 42 h 68"/>
                <a:gd name="T36" fmla="*/ 0 w 19"/>
                <a:gd name="T37" fmla="*/ 40 h 68"/>
                <a:gd name="T38" fmla="*/ 0 w 19"/>
                <a:gd name="T39" fmla="*/ 38 h 68"/>
                <a:gd name="T40" fmla="*/ 0 w 19"/>
                <a:gd name="T41" fmla="*/ 35 h 68"/>
                <a:gd name="T42" fmla="*/ 0 w 19"/>
                <a:gd name="T43" fmla="*/ 33 h 68"/>
                <a:gd name="T44" fmla="*/ 0 w 19"/>
                <a:gd name="T45" fmla="*/ 31 h 68"/>
                <a:gd name="T46" fmla="*/ 0 w 19"/>
                <a:gd name="T47" fmla="*/ 29 h 68"/>
                <a:gd name="T48" fmla="*/ 0 w 19"/>
                <a:gd name="T49" fmla="*/ 27 h 68"/>
                <a:gd name="T50" fmla="*/ 1 w 19"/>
                <a:gd name="T51" fmla="*/ 25 h 68"/>
                <a:gd name="T52" fmla="*/ 1 w 19"/>
                <a:gd name="T53" fmla="*/ 23 h 68"/>
                <a:gd name="T54" fmla="*/ 1 w 19"/>
                <a:gd name="T55" fmla="*/ 21 h 68"/>
                <a:gd name="T56" fmla="*/ 1 w 19"/>
                <a:gd name="T57" fmla="*/ 19 h 68"/>
                <a:gd name="T58" fmla="*/ 1 w 19"/>
                <a:gd name="T59" fmla="*/ 17 h 68"/>
                <a:gd name="T60" fmla="*/ 2 w 19"/>
                <a:gd name="T61" fmla="*/ 15 h 68"/>
                <a:gd name="T62" fmla="*/ 2 w 19"/>
                <a:gd name="T63" fmla="*/ 13 h 68"/>
                <a:gd name="T64" fmla="*/ 3 w 19"/>
                <a:gd name="T65" fmla="*/ 12 h 68"/>
                <a:gd name="T66" fmla="*/ 4 w 19"/>
                <a:gd name="T67" fmla="*/ 10 h 68"/>
                <a:gd name="T68" fmla="*/ 5 w 19"/>
                <a:gd name="T69" fmla="*/ 9 h 68"/>
                <a:gd name="T70" fmla="*/ 5 w 19"/>
                <a:gd name="T71" fmla="*/ 7 h 68"/>
                <a:gd name="T72" fmla="*/ 6 w 19"/>
                <a:gd name="T73" fmla="*/ 5 h 68"/>
                <a:gd name="T74" fmla="*/ 7 w 19"/>
                <a:gd name="T75" fmla="*/ 5 h 68"/>
                <a:gd name="T76" fmla="*/ 8 w 19"/>
                <a:gd name="T77" fmla="*/ 4 h 68"/>
                <a:gd name="T78" fmla="*/ 8 w 19"/>
                <a:gd name="T79" fmla="*/ 2 h 68"/>
                <a:gd name="T80" fmla="*/ 10 w 19"/>
                <a:gd name="T81" fmla="*/ 1 h 68"/>
                <a:gd name="T82" fmla="*/ 10 w 19"/>
                <a:gd name="T83" fmla="*/ 1 h 68"/>
                <a:gd name="T84" fmla="*/ 11 w 19"/>
                <a:gd name="T85" fmla="*/ 0 h 68"/>
                <a:gd name="T86" fmla="*/ 12 w 19"/>
                <a:gd name="T87" fmla="*/ 0 h 68"/>
                <a:gd name="T88" fmla="*/ 13 w 19"/>
                <a:gd name="T89" fmla="*/ 0 h 68"/>
                <a:gd name="T90" fmla="*/ 14 w 19"/>
                <a:gd name="T91" fmla="*/ 0 h 68"/>
                <a:gd name="T92" fmla="*/ 15 w 19"/>
                <a:gd name="T93" fmla="*/ 0 h 68"/>
                <a:gd name="T94" fmla="*/ 15 w 19"/>
                <a:gd name="T95" fmla="*/ 0 h 68"/>
                <a:gd name="T96" fmla="*/ 17 w 19"/>
                <a:gd name="T97" fmla="*/ 0 h 68"/>
                <a:gd name="T98" fmla="*/ 17 w 19"/>
                <a:gd name="T99" fmla="*/ 0 h 68"/>
                <a:gd name="T100" fmla="*/ 18 w 19"/>
                <a:gd name="T101" fmla="*/ 1 h 68"/>
                <a:gd name="T102" fmla="*/ 18 w 19"/>
                <a:gd name="T103" fmla="*/ 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 h="68">
                  <a:moveTo>
                    <a:pt x="10" y="67"/>
                  </a:moveTo>
                  <a:lnTo>
                    <a:pt x="10" y="67"/>
                  </a:lnTo>
                  <a:lnTo>
                    <a:pt x="8" y="66"/>
                  </a:lnTo>
                  <a:lnTo>
                    <a:pt x="8" y="65"/>
                  </a:lnTo>
                  <a:lnTo>
                    <a:pt x="7" y="64"/>
                  </a:lnTo>
                  <a:lnTo>
                    <a:pt x="7" y="62"/>
                  </a:lnTo>
                  <a:lnTo>
                    <a:pt x="5" y="61"/>
                  </a:lnTo>
                  <a:lnTo>
                    <a:pt x="5" y="60"/>
                  </a:lnTo>
                  <a:lnTo>
                    <a:pt x="4" y="59"/>
                  </a:lnTo>
                  <a:lnTo>
                    <a:pt x="4" y="58"/>
                  </a:lnTo>
                  <a:lnTo>
                    <a:pt x="3" y="56"/>
                  </a:lnTo>
                  <a:lnTo>
                    <a:pt x="2" y="54"/>
                  </a:lnTo>
                  <a:lnTo>
                    <a:pt x="2" y="51"/>
                  </a:lnTo>
                  <a:lnTo>
                    <a:pt x="1" y="50"/>
                  </a:lnTo>
                  <a:lnTo>
                    <a:pt x="1" y="48"/>
                  </a:lnTo>
                  <a:lnTo>
                    <a:pt x="1" y="46"/>
                  </a:lnTo>
                  <a:lnTo>
                    <a:pt x="1" y="44"/>
                  </a:lnTo>
                  <a:lnTo>
                    <a:pt x="0" y="42"/>
                  </a:lnTo>
                  <a:lnTo>
                    <a:pt x="0" y="40"/>
                  </a:lnTo>
                  <a:lnTo>
                    <a:pt x="0" y="38"/>
                  </a:lnTo>
                  <a:lnTo>
                    <a:pt x="0" y="35"/>
                  </a:lnTo>
                  <a:lnTo>
                    <a:pt x="0" y="33"/>
                  </a:lnTo>
                  <a:lnTo>
                    <a:pt x="0" y="31"/>
                  </a:lnTo>
                  <a:lnTo>
                    <a:pt x="0" y="29"/>
                  </a:lnTo>
                  <a:lnTo>
                    <a:pt x="0" y="27"/>
                  </a:lnTo>
                  <a:lnTo>
                    <a:pt x="1" y="25"/>
                  </a:lnTo>
                  <a:lnTo>
                    <a:pt x="1" y="23"/>
                  </a:lnTo>
                  <a:lnTo>
                    <a:pt x="1" y="21"/>
                  </a:lnTo>
                  <a:lnTo>
                    <a:pt x="1" y="19"/>
                  </a:lnTo>
                  <a:lnTo>
                    <a:pt x="1" y="17"/>
                  </a:lnTo>
                  <a:lnTo>
                    <a:pt x="2" y="15"/>
                  </a:lnTo>
                  <a:lnTo>
                    <a:pt x="2" y="13"/>
                  </a:lnTo>
                  <a:lnTo>
                    <a:pt x="3" y="12"/>
                  </a:lnTo>
                  <a:lnTo>
                    <a:pt x="4" y="10"/>
                  </a:lnTo>
                  <a:lnTo>
                    <a:pt x="5" y="9"/>
                  </a:lnTo>
                  <a:lnTo>
                    <a:pt x="5" y="7"/>
                  </a:lnTo>
                  <a:lnTo>
                    <a:pt x="6" y="5"/>
                  </a:lnTo>
                  <a:lnTo>
                    <a:pt x="7" y="5"/>
                  </a:lnTo>
                  <a:lnTo>
                    <a:pt x="8" y="4"/>
                  </a:lnTo>
                  <a:lnTo>
                    <a:pt x="8" y="2"/>
                  </a:lnTo>
                  <a:lnTo>
                    <a:pt x="10" y="1"/>
                  </a:lnTo>
                  <a:lnTo>
                    <a:pt x="10" y="1"/>
                  </a:lnTo>
                  <a:lnTo>
                    <a:pt x="11" y="0"/>
                  </a:lnTo>
                  <a:lnTo>
                    <a:pt x="12" y="0"/>
                  </a:lnTo>
                  <a:lnTo>
                    <a:pt x="13" y="0"/>
                  </a:lnTo>
                  <a:lnTo>
                    <a:pt x="14" y="0"/>
                  </a:lnTo>
                  <a:lnTo>
                    <a:pt x="15" y="0"/>
                  </a:lnTo>
                  <a:lnTo>
                    <a:pt x="15" y="0"/>
                  </a:lnTo>
                  <a:lnTo>
                    <a:pt x="17" y="0"/>
                  </a:lnTo>
                  <a:lnTo>
                    <a:pt x="17" y="0"/>
                  </a:lnTo>
                  <a:lnTo>
                    <a:pt x="18" y="1"/>
                  </a:lnTo>
                  <a:lnTo>
                    <a:pt x="18" y="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7" name="Freeform 38"/>
            <p:cNvSpPr>
              <a:spLocks/>
            </p:cNvSpPr>
            <p:nvPr/>
          </p:nvSpPr>
          <p:spPr bwMode="auto">
            <a:xfrm>
              <a:off x="7673976" y="5137150"/>
              <a:ext cx="28575" cy="95250"/>
            </a:xfrm>
            <a:custGeom>
              <a:avLst/>
              <a:gdLst>
                <a:gd name="T0" fmla="*/ 10 w 20"/>
                <a:gd name="T1" fmla="*/ 67 h 68"/>
                <a:gd name="T2" fmla="*/ 10 w 20"/>
                <a:gd name="T3" fmla="*/ 67 h 68"/>
                <a:gd name="T4" fmla="*/ 9 w 20"/>
                <a:gd name="T5" fmla="*/ 66 h 68"/>
                <a:gd name="T6" fmla="*/ 8 w 20"/>
                <a:gd name="T7" fmla="*/ 65 h 68"/>
                <a:gd name="T8" fmla="*/ 7 w 20"/>
                <a:gd name="T9" fmla="*/ 64 h 68"/>
                <a:gd name="T10" fmla="*/ 6 w 20"/>
                <a:gd name="T11" fmla="*/ 62 h 68"/>
                <a:gd name="T12" fmla="*/ 6 w 20"/>
                <a:gd name="T13" fmla="*/ 61 h 68"/>
                <a:gd name="T14" fmla="*/ 5 w 20"/>
                <a:gd name="T15" fmla="*/ 60 h 68"/>
                <a:gd name="T16" fmla="*/ 4 w 20"/>
                <a:gd name="T17" fmla="*/ 59 h 68"/>
                <a:gd name="T18" fmla="*/ 3 w 20"/>
                <a:gd name="T19" fmla="*/ 58 h 68"/>
                <a:gd name="T20" fmla="*/ 2 w 20"/>
                <a:gd name="T21" fmla="*/ 56 h 68"/>
                <a:gd name="T22" fmla="*/ 2 w 20"/>
                <a:gd name="T23" fmla="*/ 54 h 68"/>
                <a:gd name="T24" fmla="*/ 2 w 20"/>
                <a:gd name="T25" fmla="*/ 51 h 68"/>
                <a:gd name="T26" fmla="*/ 2 w 20"/>
                <a:gd name="T27" fmla="*/ 50 h 68"/>
                <a:gd name="T28" fmla="*/ 2 w 20"/>
                <a:gd name="T29" fmla="*/ 48 h 68"/>
                <a:gd name="T30" fmla="*/ 1 w 20"/>
                <a:gd name="T31" fmla="*/ 46 h 68"/>
                <a:gd name="T32" fmla="*/ 0 w 20"/>
                <a:gd name="T33" fmla="*/ 44 h 68"/>
                <a:gd name="T34" fmla="*/ 0 w 20"/>
                <a:gd name="T35" fmla="*/ 42 h 68"/>
                <a:gd name="T36" fmla="*/ 0 w 20"/>
                <a:gd name="T37" fmla="*/ 40 h 68"/>
                <a:gd name="T38" fmla="*/ 0 w 20"/>
                <a:gd name="T39" fmla="*/ 38 h 68"/>
                <a:gd name="T40" fmla="*/ 0 w 20"/>
                <a:gd name="T41" fmla="*/ 35 h 68"/>
                <a:gd name="T42" fmla="*/ 0 w 20"/>
                <a:gd name="T43" fmla="*/ 33 h 68"/>
                <a:gd name="T44" fmla="*/ 0 w 20"/>
                <a:gd name="T45" fmla="*/ 31 h 68"/>
                <a:gd name="T46" fmla="*/ 0 w 20"/>
                <a:gd name="T47" fmla="*/ 29 h 68"/>
                <a:gd name="T48" fmla="*/ 0 w 20"/>
                <a:gd name="T49" fmla="*/ 27 h 68"/>
                <a:gd name="T50" fmla="*/ 0 w 20"/>
                <a:gd name="T51" fmla="*/ 25 h 68"/>
                <a:gd name="T52" fmla="*/ 1 w 20"/>
                <a:gd name="T53" fmla="*/ 23 h 68"/>
                <a:gd name="T54" fmla="*/ 1 w 20"/>
                <a:gd name="T55" fmla="*/ 21 h 68"/>
                <a:gd name="T56" fmla="*/ 2 w 20"/>
                <a:gd name="T57" fmla="*/ 19 h 68"/>
                <a:gd name="T58" fmla="*/ 2 w 20"/>
                <a:gd name="T59" fmla="*/ 17 h 68"/>
                <a:gd name="T60" fmla="*/ 2 w 20"/>
                <a:gd name="T61" fmla="*/ 15 h 68"/>
                <a:gd name="T62" fmla="*/ 2 w 20"/>
                <a:gd name="T63" fmla="*/ 13 h 68"/>
                <a:gd name="T64" fmla="*/ 3 w 20"/>
                <a:gd name="T65" fmla="*/ 12 h 68"/>
                <a:gd name="T66" fmla="*/ 4 w 20"/>
                <a:gd name="T67" fmla="*/ 10 h 68"/>
                <a:gd name="T68" fmla="*/ 4 w 20"/>
                <a:gd name="T69" fmla="*/ 9 h 68"/>
                <a:gd name="T70" fmla="*/ 5 w 20"/>
                <a:gd name="T71" fmla="*/ 7 h 68"/>
                <a:gd name="T72" fmla="*/ 6 w 20"/>
                <a:gd name="T73" fmla="*/ 5 h 68"/>
                <a:gd name="T74" fmla="*/ 7 w 20"/>
                <a:gd name="T75" fmla="*/ 5 h 68"/>
                <a:gd name="T76" fmla="*/ 7 w 20"/>
                <a:gd name="T77" fmla="*/ 4 h 68"/>
                <a:gd name="T78" fmla="*/ 9 w 20"/>
                <a:gd name="T79" fmla="*/ 2 h 68"/>
                <a:gd name="T80" fmla="*/ 10 w 20"/>
                <a:gd name="T81" fmla="*/ 1 h 68"/>
                <a:gd name="T82" fmla="*/ 11 w 20"/>
                <a:gd name="T83" fmla="*/ 1 h 68"/>
                <a:gd name="T84" fmla="*/ 12 w 20"/>
                <a:gd name="T85" fmla="*/ 0 h 68"/>
                <a:gd name="T86" fmla="*/ 12 w 20"/>
                <a:gd name="T87" fmla="*/ 0 h 68"/>
                <a:gd name="T88" fmla="*/ 12 w 20"/>
                <a:gd name="T89" fmla="*/ 0 h 68"/>
                <a:gd name="T90" fmla="*/ 13 w 20"/>
                <a:gd name="T91" fmla="*/ 0 h 68"/>
                <a:gd name="T92" fmla="*/ 14 w 20"/>
                <a:gd name="T93" fmla="*/ 0 h 68"/>
                <a:gd name="T94" fmla="*/ 15 w 20"/>
                <a:gd name="T95" fmla="*/ 0 h 68"/>
                <a:gd name="T96" fmla="*/ 16 w 20"/>
                <a:gd name="T97" fmla="*/ 0 h 68"/>
                <a:gd name="T98" fmla="*/ 17 w 20"/>
                <a:gd name="T99" fmla="*/ 0 h 68"/>
                <a:gd name="T100" fmla="*/ 18 w 20"/>
                <a:gd name="T101" fmla="*/ 1 h 68"/>
                <a:gd name="T102" fmla="*/ 19 w 20"/>
                <a:gd name="T103" fmla="*/ 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68">
                  <a:moveTo>
                    <a:pt x="10" y="67"/>
                  </a:moveTo>
                  <a:lnTo>
                    <a:pt x="10" y="67"/>
                  </a:lnTo>
                  <a:lnTo>
                    <a:pt x="9" y="66"/>
                  </a:lnTo>
                  <a:lnTo>
                    <a:pt x="8" y="65"/>
                  </a:lnTo>
                  <a:lnTo>
                    <a:pt x="7" y="64"/>
                  </a:lnTo>
                  <a:lnTo>
                    <a:pt x="6" y="62"/>
                  </a:lnTo>
                  <a:lnTo>
                    <a:pt x="6" y="61"/>
                  </a:lnTo>
                  <a:lnTo>
                    <a:pt x="5" y="60"/>
                  </a:lnTo>
                  <a:lnTo>
                    <a:pt x="4" y="59"/>
                  </a:lnTo>
                  <a:lnTo>
                    <a:pt x="3" y="58"/>
                  </a:lnTo>
                  <a:lnTo>
                    <a:pt x="2" y="56"/>
                  </a:lnTo>
                  <a:lnTo>
                    <a:pt x="2" y="54"/>
                  </a:lnTo>
                  <a:lnTo>
                    <a:pt x="2" y="51"/>
                  </a:lnTo>
                  <a:lnTo>
                    <a:pt x="2" y="50"/>
                  </a:lnTo>
                  <a:lnTo>
                    <a:pt x="2" y="48"/>
                  </a:lnTo>
                  <a:lnTo>
                    <a:pt x="1" y="46"/>
                  </a:lnTo>
                  <a:lnTo>
                    <a:pt x="0" y="44"/>
                  </a:lnTo>
                  <a:lnTo>
                    <a:pt x="0" y="42"/>
                  </a:lnTo>
                  <a:lnTo>
                    <a:pt x="0" y="40"/>
                  </a:lnTo>
                  <a:lnTo>
                    <a:pt x="0" y="38"/>
                  </a:lnTo>
                  <a:lnTo>
                    <a:pt x="0" y="35"/>
                  </a:lnTo>
                  <a:lnTo>
                    <a:pt x="0" y="33"/>
                  </a:lnTo>
                  <a:lnTo>
                    <a:pt x="0" y="31"/>
                  </a:lnTo>
                  <a:lnTo>
                    <a:pt x="0" y="29"/>
                  </a:lnTo>
                  <a:lnTo>
                    <a:pt x="0" y="27"/>
                  </a:lnTo>
                  <a:lnTo>
                    <a:pt x="0" y="25"/>
                  </a:lnTo>
                  <a:lnTo>
                    <a:pt x="1" y="23"/>
                  </a:lnTo>
                  <a:lnTo>
                    <a:pt x="1" y="21"/>
                  </a:lnTo>
                  <a:lnTo>
                    <a:pt x="2" y="19"/>
                  </a:lnTo>
                  <a:lnTo>
                    <a:pt x="2" y="17"/>
                  </a:lnTo>
                  <a:lnTo>
                    <a:pt x="2" y="15"/>
                  </a:lnTo>
                  <a:lnTo>
                    <a:pt x="2" y="13"/>
                  </a:lnTo>
                  <a:lnTo>
                    <a:pt x="3" y="12"/>
                  </a:lnTo>
                  <a:lnTo>
                    <a:pt x="4" y="10"/>
                  </a:lnTo>
                  <a:lnTo>
                    <a:pt x="4" y="9"/>
                  </a:lnTo>
                  <a:lnTo>
                    <a:pt x="5" y="7"/>
                  </a:lnTo>
                  <a:lnTo>
                    <a:pt x="6" y="5"/>
                  </a:lnTo>
                  <a:lnTo>
                    <a:pt x="7" y="5"/>
                  </a:lnTo>
                  <a:lnTo>
                    <a:pt x="7" y="4"/>
                  </a:lnTo>
                  <a:lnTo>
                    <a:pt x="9" y="2"/>
                  </a:lnTo>
                  <a:lnTo>
                    <a:pt x="10" y="1"/>
                  </a:lnTo>
                  <a:lnTo>
                    <a:pt x="11" y="1"/>
                  </a:lnTo>
                  <a:lnTo>
                    <a:pt x="12" y="0"/>
                  </a:lnTo>
                  <a:lnTo>
                    <a:pt x="12" y="0"/>
                  </a:lnTo>
                  <a:lnTo>
                    <a:pt x="12" y="0"/>
                  </a:lnTo>
                  <a:lnTo>
                    <a:pt x="13" y="0"/>
                  </a:lnTo>
                  <a:lnTo>
                    <a:pt x="14" y="0"/>
                  </a:lnTo>
                  <a:lnTo>
                    <a:pt x="15" y="0"/>
                  </a:lnTo>
                  <a:lnTo>
                    <a:pt x="16" y="0"/>
                  </a:lnTo>
                  <a:lnTo>
                    <a:pt x="17" y="0"/>
                  </a:lnTo>
                  <a:lnTo>
                    <a:pt x="18" y="1"/>
                  </a:lnTo>
                  <a:lnTo>
                    <a:pt x="19" y="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8" name="Line 39"/>
            <p:cNvSpPr>
              <a:spLocks noChangeShapeType="1"/>
            </p:cNvSpPr>
            <p:nvPr/>
          </p:nvSpPr>
          <p:spPr bwMode="auto">
            <a:xfrm flipH="1">
              <a:off x="7685089" y="5230813"/>
              <a:ext cx="11747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9" name="Freeform 40"/>
            <p:cNvSpPr>
              <a:spLocks/>
            </p:cNvSpPr>
            <p:nvPr/>
          </p:nvSpPr>
          <p:spPr bwMode="auto">
            <a:xfrm>
              <a:off x="8058151" y="5359400"/>
              <a:ext cx="100013" cy="95250"/>
            </a:xfrm>
            <a:custGeom>
              <a:avLst/>
              <a:gdLst>
                <a:gd name="T0" fmla="*/ 68 w 69"/>
                <a:gd name="T1" fmla="*/ 32 h 69"/>
                <a:gd name="T2" fmla="*/ 68 w 69"/>
                <a:gd name="T3" fmla="*/ 27 h 69"/>
                <a:gd name="T4" fmla="*/ 67 w 69"/>
                <a:gd name="T5" fmla="*/ 21 h 69"/>
                <a:gd name="T6" fmla="*/ 64 w 69"/>
                <a:gd name="T7" fmla="*/ 17 h 69"/>
                <a:gd name="T8" fmla="*/ 62 w 69"/>
                <a:gd name="T9" fmla="*/ 13 h 69"/>
                <a:gd name="T10" fmla="*/ 58 w 69"/>
                <a:gd name="T11" fmla="*/ 9 h 69"/>
                <a:gd name="T12" fmla="*/ 54 w 69"/>
                <a:gd name="T13" fmla="*/ 5 h 69"/>
                <a:gd name="T14" fmla="*/ 50 w 69"/>
                <a:gd name="T15" fmla="*/ 3 h 69"/>
                <a:gd name="T16" fmla="*/ 46 w 69"/>
                <a:gd name="T17" fmla="*/ 1 h 69"/>
                <a:gd name="T18" fmla="*/ 40 w 69"/>
                <a:gd name="T19" fmla="*/ 1 h 69"/>
                <a:gd name="T20" fmla="*/ 35 w 69"/>
                <a:gd name="T21" fmla="*/ 0 h 69"/>
                <a:gd name="T22" fmla="*/ 30 w 69"/>
                <a:gd name="T23" fmla="*/ 1 h 69"/>
                <a:gd name="T24" fmla="*/ 25 w 69"/>
                <a:gd name="T25" fmla="*/ 1 h 69"/>
                <a:gd name="T26" fmla="*/ 20 w 69"/>
                <a:gd name="T27" fmla="*/ 3 h 69"/>
                <a:gd name="T28" fmla="*/ 15 w 69"/>
                <a:gd name="T29" fmla="*/ 5 h 69"/>
                <a:gd name="T30" fmla="*/ 12 w 69"/>
                <a:gd name="T31" fmla="*/ 9 h 69"/>
                <a:gd name="T32" fmla="*/ 9 w 69"/>
                <a:gd name="T33" fmla="*/ 13 h 69"/>
                <a:gd name="T34" fmla="*/ 5 w 69"/>
                <a:gd name="T35" fmla="*/ 17 h 69"/>
                <a:gd name="T36" fmla="*/ 4 w 69"/>
                <a:gd name="T37" fmla="*/ 21 h 69"/>
                <a:gd name="T38" fmla="*/ 2 w 69"/>
                <a:gd name="T39" fmla="*/ 27 h 69"/>
                <a:gd name="T40" fmla="*/ 0 w 69"/>
                <a:gd name="T41" fmla="*/ 32 h 69"/>
                <a:gd name="T42" fmla="*/ 0 w 69"/>
                <a:gd name="T43" fmla="*/ 37 h 69"/>
                <a:gd name="T44" fmla="*/ 2 w 69"/>
                <a:gd name="T45" fmla="*/ 42 h 69"/>
                <a:gd name="T46" fmla="*/ 4 w 69"/>
                <a:gd name="T47" fmla="*/ 47 h 69"/>
                <a:gd name="T48" fmla="*/ 5 w 69"/>
                <a:gd name="T49" fmla="*/ 51 h 69"/>
                <a:gd name="T50" fmla="*/ 9 w 69"/>
                <a:gd name="T51" fmla="*/ 56 h 69"/>
                <a:gd name="T52" fmla="*/ 12 w 69"/>
                <a:gd name="T53" fmla="*/ 60 h 69"/>
                <a:gd name="T54" fmla="*/ 15 w 69"/>
                <a:gd name="T55" fmla="*/ 63 h 69"/>
                <a:gd name="T56" fmla="*/ 20 w 69"/>
                <a:gd name="T57" fmla="*/ 65 h 69"/>
                <a:gd name="T58" fmla="*/ 25 w 69"/>
                <a:gd name="T59" fmla="*/ 67 h 69"/>
                <a:gd name="T60" fmla="*/ 30 w 69"/>
                <a:gd name="T61" fmla="*/ 68 h 69"/>
                <a:gd name="T62" fmla="*/ 35 w 69"/>
                <a:gd name="T63" fmla="*/ 68 h 69"/>
                <a:gd name="T64" fmla="*/ 40 w 69"/>
                <a:gd name="T65" fmla="*/ 68 h 69"/>
                <a:gd name="T66" fmla="*/ 46 w 69"/>
                <a:gd name="T67" fmla="*/ 67 h 69"/>
                <a:gd name="T68" fmla="*/ 50 w 69"/>
                <a:gd name="T69" fmla="*/ 65 h 69"/>
                <a:gd name="T70" fmla="*/ 54 w 69"/>
                <a:gd name="T71" fmla="*/ 63 h 69"/>
                <a:gd name="T72" fmla="*/ 58 w 69"/>
                <a:gd name="T73" fmla="*/ 60 h 69"/>
                <a:gd name="T74" fmla="*/ 62 w 69"/>
                <a:gd name="T75" fmla="*/ 56 h 69"/>
                <a:gd name="T76" fmla="*/ 64 w 69"/>
                <a:gd name="T77" fmla="*/ 51 h 69"/>
                <a:gd name="T78" fmla="*/ 67 w 69"/>
                <a:gd name="T79" fmla="*/ 47 h 69"/>
                <a:gd name="T80" fmla="*/ 68 w 69"/>
                <a:gd name="T81" fmla="*/ 42 h 69"/>
                <a:gd name="T82" fmla="*/ 68 w 69"/>
                <a:gd name="T83" fmla="*/ 3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9" h="69">
                  <a:moveTo>
                    <a:pt x="68" y="35"/>
                  </a:moveTo>
                  <a:lnTo>
                    <a:pt x="68" y="32"/>
                  </a:lnTo>
                  <a:lnTo>
                    <a:pt x="68" y="29"/>
                  </a:lnTo>
                  <a:lnTo>
                    <a:pt x="68" y="27"/>
                  </a:lnTo>
                  <a:lnTo>
                    <a:pt x="68" y="24"/>
                  </a:lnTo>
                  <a:lnTo>
                    <a:pt x="67" y="21"/>
                  </a:lnTo>
                  <a:lnTo>
                    <a:pt x="66" y="19"/>
                  </a:lnTo>
                  <a:lnTo>
                    <a:pt x="64" y="17"/>
                  </a:lnTo>
                  <a:lnTo>
                    <a:pt x="63" y="15"/>
                  </a:lnTo>
                  <a:lnTo>
                    <a:pt x="62" y="13"/>
                  </a:lnTo>
                  <a:lnTo>
                    <a:pt x="60" y="11"/>
                  </a:lnTo>
                  <a:lnTo>
                    <a:pt x="58" y="9"/>
                  </a:lnTo>
                  <a:lnTo>
                    <a:pt x="56" y="8"/>
                  </a:lnTo>
                  <a:lnTo>
                    <a:pt x="54" y="5"/>
                  </a:lnTo>
                  <a:lnTo>
                    <a:pt x="52" y="5"/>
                  </a:lnTo>
                  <a:lnTo>
                    <a:pt x="50" y="3"/>
                  </a:lnTo>
                  <a:lnTo>
                    <a:pt x="47" y="2"/>
                  </a:lnTo>
                  <a:lnTo>
                    <a:pt x="46" y="1"/>
                  </a:lnTo>
                  <a:lnTo>
                    <a:pt x="43" y="1"/>
                  </a:lnTo>
                  <a:lnTo>
                    <a:pt x="40" y="1"/>
                  </a:lnTo>
                  <a:lnTo>
                    <a:pt x="37" y="0"/>
                  </a:lnTo>
                  <a:lnTo>
                    <a:pt x="35" y="0"/>
                  </a:lnTo>
                  <a:lnTo>
                    <a:pt x="33" y="0"/>
                  </a:lnTo>
                  <a:lnTo>
                    <a:pt x="30" y="1"/>
                  </a:lnTo>
                  <a:lnTo>
                    <a:pt x="27" y="1"/>
                  </a:lnTo>
                  <a:lnTo>
                    <a:pt x="25" y="1"/>
                  </a:lnTo>
                  <a:lnTo>
                    <a:pt x="22" y="2"/>
                  </a:lnTo>
                  <a:lnTo>
                    <a:pt x="20" y="3"/>
                  </a:lnTo>
                  <a:lnTo>
                    <a:pt x="18" y="5"/>
                  </a:lnTo>
                  <a:lnTo>
                    <a:pt x="15" y="5"/>
                  </a:lnTo>
                  <a:lnTo>
                    <a:pt x="14" y="8"/>
                  </a:lnTo>
                  <a:lnTo>
                    <a:pt x="12" y="9"/>
                  </a:lnTo>
                  <a:lnTo>
                    <a:pt x="10" y="11"/>
                  </a:lnTo>
                  <a:lnTo>
                    <a:pt x="9" y="13"/>
                  </a:lnTo>
                  <a:lnTo>
                    <a:pt x="7" y="15"/>
                  </a:lnTo>
                  <a:lnTo>
                    <a:pt x="5" y="17"/>
                  </a:lnTo>
                  <a:lnTo>
                    <a:pt x="4" y="19"/>
                  </a:lnTo>
                  <a:lnTo>
                    <a:pt x="4" y="21"/>
                  </a:lnTo>
                  <a:lnTo>
                    <a:pt x="2" y="24"/>
                  </a:lnTo>
                  <a:lnTo>
                    <a:pt x="2" y="27"/>
                  </a:lnTo>
                  <a:lnTo>
                    <a:pt x="0" y="29"/>
                  </a:lnTo>
                  <a:lnTo>
                    <a:pt x="0" y="32"/>
                  </a:lnTo>
                  <a:lnTo>
                    <a:pt x="0" y="35"/>
                  </a:lnTo>
                  <a:lnTo>
                    <a:pt x="0" y="37"/>
                  </a:lnTo>
                  <a:lnTo>
                    <a:pt x="0" y="39"/>
                  </a:lnTo>
                  <a:lnTo>
                    <a:pt x="2" y="42"/>
                  </a:lnTo>
                  <a:lnTo>
                    <a:pt x="2" y="45"/>
                  </a:lnTo>
                  <a:lnTo>
                    <a:pt x="4" y="47"/>
                  </a:lnTo>
                  <a:lnTo>
                    <a:pt x="4" y="50"/>
                  </a:lnTo>
                  <a:lnTo>
                    <a:pt x="5" y="51"/>
                  </a:lnTo>
                  <a:lnTo>
                    <a:pt x="7" y="54"/>
                  </a:lnTo>
                  <a:lnTo>
                    <a:pt x="9" y="56"/>
                  </a:lnTo>
                  <a:lnTo>
                    <a:pt x="10" y="58"/>
                  </a:lnTo>
                  <a:lnTo>
                    <a:pt x="12" y="60"/>
                  </a:lnTo>
                  <a:lnTo>
                    <a:pt x="14" y="61"/>
                  </a:lnTo>
                  <a:lnTo>
                    <a:pt x="15" y="63"/>
                  </a:lnTo>
                  <a:lnTo>
                    <a:pt x="18" y="65"/>
                  </a:lnTo>
                  <a:lnTo>
                    <a:pt x="20" y="65"/>
                  </a:lnTo>
                  <a:lnTo>
                    <a:pt x="22" y="67"/>
                  </a:lnTo>
                  <a:lnTo>
                    <a:pt x="25" y="67"/>
                  </a:lnTo>
                  <a:lnTo>
                    <a:pt x="27" y="68"/>
                  </a:lnTo>
                  <a:lnTo>
                    <a:pt x="30" y="68"/>
                  </a:lnTo>
                  <a:lnTo>
                    <a:pt x="33" y="68"/>
                  </a:lnTo>
                  <a:lnTo>
                    <a:pt x="35" y="68"/>
                  </a:lnTo>
                  <a:lnTo>
                    <a:pt x="37" y="68"/>
                  </a:lnTo>
                  <a:lnTo>
                    <a:pt x="40" y="68"/>
                  </a:lnTo>
                  <a:lnTo>
                    <a:pt x="43" y="68"/>
                  </a:lnTo>
                  <a:lnTo>
                    <a:pt x="46" y="67"/>
                  </a:lnTo>
                  <a:lnTo>
                    <a:pt x="47" y="67"/>
                  </a:lnTo>
                  <a:lnTo>
                    <a:pt x="50" y="65"/>
                  </a:lnTo>
                  <a:lnTo>
                    <a:pt x="52" y="65"/>
                  </a:lnTo>
                  <a:lnTo>
                    <a:pt x="54" y="63"/>
                  </a:lnTo>
                  <a:lnTo>
                    <a:pt x="56" y="61"/>
                  </a:lnTo>
                  <a:lnTo>
                    <a:pt x="58" y="60"/>
                  </a:lnTo>
                  <a:lnTo>
                    <a:pt x="60" y="58"/>
                  </a:lnTo>
                  <a:lnTo>
                    <a:pt x="62" y="56"/>
                  </a:lnTo>
                  <a:lnTo>
                    <a:pt x="63" y="54"/>
                  </a:lnTo>
                  <a:lnTo>
                    <a:pt x="64" y="51"/>
                  </a:lnTo>
                  <a:lnTo>
                    <a:pt x="66" y="50"/>
                  </a:lnTo>
                  <a:lnTo>
                    <a:pt x="67" y="47"/>
                  </a:lnTo>
                  <a:lnTo>
                    <a:pt x="68" y="45"/>
                  </a:lnTo>
                  <a:lnTo>
                    <a:pt x="68" y="42"/>
                  </a:lnTo>
                  <a:lnTo>
                    <a:pt x="68" y="39"/>
                  </a:lnTo>
                  <a:lnTo>
                    <a:pt x="68" y="37"/>
                  </a:lnTo>
                  <a:lnTo>
                    <a:pt x="68" y="35"/>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0" name="Freeform 41"/>
            <p:cNvSpPr>
              <a:spLocks/>
            </p:cNvSpPr>
            <p:nvPr/>
          </p:nvSpPr>
          <p:spPr bwMode="auto">
            <a:xfrm>
              <a:off x="8850313" y="5359400"/>
              <a:ext cx="101600" cy="95250"/>
            </a:xfrm>
            <a:custGeom>
              <a:avLst/>
              <a:gdLst>
                <a:gd name="T0" fmla="*/ 69 w 70"/>
                <a:gd name="T1" fmla="*/ 32 h 69"/>
                <a:gd name="T2" fmla="*/ 68 w 70"/>
                <a:gd name="T3" fmla="*/ 27 h 69"/>
                <a:gd name="T4" fmla="*/ 67 w 70"/>
                <a:gd name="T5" fmla="*/ 21 h 69"/>
                <a:gd name="T6" fmla="*/ 64 w 70"/>
                <a:gd name="T7" fmla="*/ 17 h 69"/>
                <a:gd name="T8" fmla="*/ 61 w 70"/>
                <a:gd name="T9" fmla="*/ 13 h 69"/>
                <a:gd name="T10" fmla="*/ 58 w 70"/>
                <a:gd name="T11" fmla="*/ 9 h 69"/>
                <a:gd name="T12" fmla="*/ 54 w 70"/>
                <a:gd name="T13" fmla="*/ 5 h 69"/>
                <a:gd name="T14" fmla="*/ 50 w 70"/>
                <a:gd name="T15" fmla="*/ 3 h 69"/>
                <a:gd name="T16" fmla="*/ 44 w 70"/>
                <a:gd name="T17" fmla="*/ 1 h 69"/>
                <a:gd name="T18" fmla="*/ 40 w 70"/>
                <a:gd name="T19" fmla="*/ 1 h 69"/>
                <a:gd name="T20" fmla="*/ 34 w 70"/>
                <a:gd name="T21" fmla="*/ 0 h 69"/>
                <a:gd name="T22" fmla="*/ 30 w 70"/>
                <a:gd name="T23" fmla="*/ 1 h 69"/>
                <a:gd name="T24" fmla="*/ 24 w 70"/>
                <a:gd name="T25" fmla="*/ 1 h 69"/>
                <a:gd name="T26" fmla="*/ 19 w 70"/>
                <a:gd name="T27" fmla="*/ 3 h 69"/>
                <a:gd name="T28" fmla="*/ 15 w 70"/>
                <a:gd name="T29" fmla="*/ 5 h 69"/>
                <a:gd name="T30" fmla="*/ 11 w 70"/>
                <a:gd name="T31" fmla="*/ 9 h 69"/>
                <a:gd name="T32" fmla="*/ 7 w 70"/>
                <a:gd name="T33" fmla="*/ 13 h 69"/>
                <a:gd name="T34" fmla="*/ 4 w 70"/>
                <a:gd name="T35" fmla="*/ 17 h 69"/>
                <a:gd name="T36" fmla="*/ 3 w 70"/>
                <a:gd name="T37" fmla="*/ 21 h 69"/>
                <a:gd name="T38" fmla="*/ 1 w 70"/>
                <a:gd name="T39" fmla="*/ 27 h 69"/>
                <a:gd name="T40" fmla="*/ 0 w 70"/>
                <a:gd name="T41" fmla="*/ 32 h 69"/>
                <a:gd name="T42" fmla="*/ 0 w 70"/>
                <a:gd name="T43" fmla="*/ 37 h 69"/>
                <a:gd name="T44" fmla="*/ 1 w 70"/>
                <a:gd name="T45" fmla="*/ 42 h 69"/>
                <a:gd name="T46" fmla="*/ 3 w 70"/>
                <a:gd name="T47" fmla="*/ 47 h 69"/>
                <a:gd name="T48" fmla="*/ 4 w 70"/>
                <a:gd name="T49" fmla="*/ 51 h 69"/>
                <a:gd name="T50" fmla="*/ 7 w 70"/>
                <a:gd name="T51" fmla="*/ 56 h 69"/>
                <a:gd name="T52" fmla="*/ 11 w 70"/>
                <a:gd name="T53" fmla="*/ 60 h 69"/>
                <a:gd name="T54" fmla="*/ 15 w 70"/>
                <a:gd name="T55" fmla="*/ 63 h 69"/>
                <a:gd name="T56" fmla="*/ 19 w 70"/>
                <a:gd name="T57" fmla="*/ 65 h 69"/>
                <a:gd name="T58" fmla="*/ 24 w 70"/>
                <a:gd name="T59" fmla="*/ 67 h 69"/>
                <a:gd name="T60" fmla="*/ 30 w 70"/>
                <a:gd name="T61" fmla="*/ 68 h 69"/>
                <a:gd name="T62" fmla="*/ 34 w 70"/>
                <a:gd name="T63" fmla="*/ 68 h 69"/>
                <a:gd name="T64" fmla="*/ 40 w 70"/>
                <a:gd name="T65" fmla="*/ 68 h 69"/>
                <a:gd name="T66" fmla="*/ 44 w 70"/>
                <a:gd name="T67" fmla="*/ 67 h 69"/>
                <a:gd name="T68" fmla="*/ 50 w 70"/>
                <a:gd name="T69" fmla="*/ 65 h 69"/>
                <a:gd name="T70" fmla="*/ 54 w 70"/>
                <a:gd name="T71" fmla="*/ 63 h 69"/>
                <a:gd name="T72" fmla="*/ 58 w 70"/>
                <a:gd name="T73" fmla="*/ 60 h 69"/>
                <a:gd name="T74" fmla="*/ 61 w 70"/>
                <a:gd name="T75" fmla="*/ 56 h 69"/>
                <a:gd name="T76" fmla="*/ 64 w 70"/>
                <a:gd name="T77" fmla="*/ 51 h 69"/>
                <a:gd name="T78" fmla="*/ 67 w 70"/>
                <a:gd name="T79" fmla="*/ 47 h 69"/>
                <a:gd name="T80" fmla="*/ 68 w 70"/>
                <a:gd name="T81" fmla="*/ 42 h 69"/>
                <a:gd name="T82" fmla="*/ 69 w 70"/>
                <a:gd name="T83" fmla="*/ 3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0" h="69">
                  <a:moveTo>
                    <a:pt x="69" y="35"/>
                  </a:moveTo>
                  <a:lnTo>
                    <a:pt x="69" y="32"/>
                  </a:lnTo>
                  <a:lnTo>
                    <a:pt x="68" y="29"/>
                  </a:lnTo>
                  <a:lnTo>
                    <a:pt x="68" y="27"/>
                  </a:lnTo>
                  <a:lnTo>
                    <a:pt x="67" y="24"/>
                  </a:lnTo>
                  <a:lnTo>
                    <a:pt x="67" y="21"/>
                  </a:lnTo>
                  <a:lnTo>
                    <a:pt x="65" y="19"/>
                  </a:lnTo>
                  <a:lnTo>
                    <a:pt x="64" y="17"/>
                  </a:lnTo>
                  <a:lnTo>
                    <a:pt x="63" y="15"/>
                  </a:lnTo>
                  <a:lnTo>
                    <a:pt x="61" y="13"/>
                  </a:lnTo>
                  <a:lnTo>
                    <a:pt x="59" y="11"/>
                  </a:lnTo>
                  <a:lnTo>
                    <a:pt x="58" y="9"/>
                  </a:lnTo>
                  <a:lnTo>
                    <a:pt x="56" y="8"/>
                  </a:lnTo>
                  <a:lnTo>
                    <a:pt x="54" y="5"/>
                  </a:lnTo>
                  <a:lnTo>
                    <a:pt x="52" y="5"/>
                  </a:lnTo>
                  <a:lnTo>
                    <a:pt x="50" y="3"/>
                  </a:lnTo>
                  <a:lnTo>
                    <a:pt x="47" y="2"/>
                  </a:lnTo>
                  <a:lnTo>
                    <a:pt x="44" y="1"/>
                  </a:lnTo>
                  <a:lnTo>
                    <a:pt x="42" y="1"/>
                  </a:lnTo>
                  <a:lnTo>
                    <a:pt x="40" y="1"/>
                  </a:lnTo>
                  <a:lnTo>
                    <a:pt x="36" y="0"/>
                  </a:lnTo>
                  <a:lnTo>
                    <a:pt x="34" y="0"/>
                  </a:lnTo>
                  <a:lnTo>
                    <a:pt x="32" y="0"/>
                  </a:lnTo>
                  <a:lnTo>
                    <a:pt x="30" y="1"/>
                  </a:lnTo>
                  <a:lnTo>
                    <a:pt x="26" y="1"/>
                  </a:lnTo>
                  <a:lnTo>
                    <a:pt x="24" y="1"/>
                  </a:lnTo>
                  <a:lnTo>
                    <a:pt x="22" y="2"/>
                  </a:lnTo>
                  <a:lnTo>
                    <a:pt x="19" y="3"/>
                  </a:lnTo>
                  <a:lnTo>
                    <a:pt x="17" y="5"/>
                  </a:lnTo>
                  <a:lnTo>
                    <a:pt x="15" y="5"/>
                  </a:lnTo>
                  <a:lnTo>
                    <a:pt x="13" y="8"/>
                  </a:lnTo>
                  <a:lnTo>
                    <a:pt x="11" y="9"/>
                  </a:lnTo>
                  <a:lnTo>
                    <a:pt x="9" y="11"/>
                  </a:lnTo>
                  <a:lnTo>
                    <a:pt x="7" y="13"/>
                  </a:lnTo>
                  <a:lnTo>
                    <a:pt x="6" y="15"/>
                  </a:lnTo>
                  <a:lnTo>
                    <a:pt x="4" y="17"/>
                  </a:lnTo>
                  <a:lnTo>
                    <a:pt x="3" y="19"/>
                  </a:lnTo>
                  <a:lnTo>
                    <a:pt x="3" y="21"/>
                  </a:lnTo>
                  <a:lnTo>
                    <a:pt x="1" y="24"/>
                  </a:lnTo>
                  <a:lnTo>
                    <a:pt x="1" y="27"/>
                  </a:lnTo>
                  <a:lnTo>
                    <a:pt x="1" y="29"/>
                  </a:lnTo>
                  <a:lnTo>
                    <a:pt x="0" y="32"/>
                  </a:lnTo>
                  <a:lnTo>
                    <a:pt x="0" y="35"/>
                  </a:lnTo>
                  <a:lnTo>
                    <a:pt x="0" y="37"/>
                  </a:lnTo>
                  <a:lnTo>
                    <a:pt x="1" y="39"/>
                  </a:lnTo>
                  <a:lnTo>
                    <a:pt x="1" y="42"/>
                  </a:lnTo>
                  <a:lnTo>
                    <a:pt x="1" y="45"/>
                  </a:lnTo>
                  <a:lnTo>
                    <a:pt x="3" y="47"/>
                  </a:lnTo>
                  <a:lnTo>
                    <a:pt x="3" y="50"/>
                  </a:lnTo>
                  <a:lnTo>
                    <a:pt x="4" y="51"/>
                  </a:lnTo>
                  <a:lnTo>
                    <a:pt x="6" y="54"/>
                  </a:lnTo>
                  <a:lnTo>
                    <a:pt x="7" y="56"/>
                  </a:lnTo>
                  <a:lnTo>
                    <a:pt x="9" y="58"/>
                  </a:lnTo>
                  <a:lnTo>
                    <a:pt x="11" y="60"/>
                  </a:lnTo>
                  <a:lnTo>
                    <a:pt x="13" y="61"/>
                  </a:lnTo>
                  <a:lnTo>
                    <a:pt x="15" y="63"/>
                  </a:lnTo>
                  <a:lnTo>
                    <a:pt x="17" y="65"/>
                  </a:lnTo>
                  <a:lnTo>
                    <a:pt x="19" y="65"/>
                  </a:lnTo>
                  <a:lnTo>
                    <a:pt x="22" y="67"/>
                  </a:lnTo>
                  <a:lnTo>
                    <a:pt x="24" y="67"/>
                  </a:lnTo>
                  <a:lnTo>
                    <a:pt x="26" y="68"/>
                  </a:lnTo>
                  <a:lnTo>
                    <a:pt x="30" y="68"/>
                  </a:lnTo>
                  <a:lnTo>
                    <a:pt x="32" y="68"/>
                  </a:lnTo>
                  <a:lnTo>
                    <a:pt x="34" y="68"/>
                  </a:lnTo>
                  <a:lnTo>
                    <a:pt x="36" y="68"/>
                  </a:lnTo>
                  <a:lnTo>
                    <a:pt x="40" y="68"/>
                  </a:lnTo>
                  <a:lnTo>
                    <a:pt x="42" y="68"/>
                  </a:lnTo>
                  <a:lnTo>
                    <a:pt x="44" y="67"/>
                  </a:lnTo>
                  <a:lnTo>
                    <a:pt x="47" y="67"/>
                  </a:lnTo>
                  <a:lnTo>
                    <a:pt x="50" y="65"/>
                  </a:lnTo>
                  <a:lnTo>
                    <a:pt x="52" y="65"/>
                  </a:lnTo>
                  <a:lnTo>
                    <a:pt x="54" y="63"/>
                  </a:lnTo>
                  <a:lnTo>
                    <a:pt x="56" y="61"/>
                  </a:lnTo>
                  <a:lnTo>
                    <a:pt x="58" y="60"/>
                  </a:lnTo>
                  <a:lnTo>
                    <a:pt x="59" y="58"/>
                  </a:lnTo>
                  <a:lnTo>
                    <a:pt x="61" y="56"/>
                  </a:lnTo>
                  <a:lnTo>
                    <a:pt x="63" y="54"/>
                  </a:lnTo>
                  <a:lnTo>
                    <a:pt x="64" y="51"/>
                  </a:lnTo>
                  <a:lnTo>
                    <a:pt x="65" y="50"/>
                  </a:lnTo>
                  <a:lnTo>
                    <a:pt x="67" y="47"/>
                  </a:lnTo>
                  <a:lnTo>
                    <a:pt x="67" y="45"/>
                  </a:lnTo>
                  <a:lnTo>
                    <a:pt x="68" y="42"/>
                  </a:lnTo>
                  <a:lnTo>
                    <a:pt x="68" y="39"/>
                  </a:lnTo>
                  <a:lnTo>
                    <a:pt x="69" y="37"/>
                  </a:lnTo>
                  <a:lnTo>
                    <a:pt x="69" y="35"/>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1" name="Freeform 42"/>
            <p:cNvSpPr>
              <a:spLocks/>
            </p:cNvSpPr>
            <p:nvPr/>
          </p:nvSpPr>
          <p:spPr bwMode="auto">
            <a:xfrm>
              <a:off x="8105775" y="4938714"/>
              <a:ext cx="101600" cy="98425"/>
            </a:xfrm>
            <a:custGeom>
              <a:avLst/>
              <a:gdLst>
                <a:gd name="T0" fmla="*/ 69 w 70"/>
                <a:gd name="T1" fmla="*/ 31 h 70"/>
                <a:gd name="T2" fmla="*/ 68 w 70"/>
                <a:gd name="T3" fmla="*/ 26 h 70"/>
                <a:gd name="T4" fmla="*/ 66 w 70"/>
                <a:gd name="T5" fmla="*/ 21 h 70"/>
                <a:gd name="T6" fmla="*/ 65 w 70"/>
                <a:gd name="T7" fmla="*/ 17 h 70"/>
                <a:gd name="T8" fmla="*/ 62 w 70"/>
                <a:gd name="T9" fmla="*/ 13 h 70"/>
                <a:gd name="T10" fmla="*/ 58 w 70"/>
                <a:gd name="T11" fmla="*/ 8 h 70"/>
                <a:gd name="T12" fmla="*/ 54 w 70"/>
                <a:gd name="T13" fmla="*/ 6 h 70"/>
                <a:gd name="T14" fmla="*/ 49 w 70"/>
                <a:gd name="T15" fmla="*/ 3 h 70"/>
                <a:gd name="T16" fmla="*/ 44 w 70"/>
                <a:gd name="T17" fmla="*/ 1 h 70"/>
                <a:gd name="T18" fmla="*/ 40 w 70"/>
                <a:gd name="T19" fmla="*/ 0 h 70"/>
                <a:gd name="T20" fmla="*/ 35 w 70"/>
                <a:gd name="T21" fmla="*/ 0 h 70"/>
                <a:gd name="T22" fmla="*/ 30 w 70"/>
                <a:gd name="T23" fmla="*/ 0 h 70"/>
                <a:gd name="T24" fmla="*/ 25 w 70"/>
                <a:gd name="T25" fmla="*/ 1 h 70"/>
                <a:gd name="T26" fmla="*/ 19 w 70"/>
                <a:gd name="T27" fmla="*/ 3 h 70"/>
                <a:gd name="T28" fmla="*/ 15 w 70"/>
                <a:gd name="T29" fmla="*/ 6 h 70"/>
                <a:gd name="T30" fmla="*/ 11 w 70"/>
                <a:gd name="T31" fmla="*/ 8 h 70"/>
                <a:gd name="T32" fmla="*/ 8 w 70"/>
                <a:gd name="T33" fmla="*/ 13 h 70"/>
                <a:gd name="T34" fmla="*/ 4 w 70"/>
                <a:gd name="T35" fmla="*/ 17 h 70"/>
                <a:gd name="T36" fmla="*/ 3 w 70"/>
                <a:gd name="T37" fmla="*/ 21 h 70"/>
                <a:gd name="T38" fmla="*/ 1 w 70"/>
                <a:gd name="T39" fmla="*/ 26 h 70"/>
                <a:gd name="T40" fmla="*/ 0 w 70"/>
                <a:gd name="T41" fmla="*/ 31 h 70"/>
                <a:gd name="T42" fmla="*/ 0 w 70"/>
                <a:gd name="T43" fmla="*/ 36 h 70"/>
                <a:gd name="T44" fmla="*/ 1 w 70"/>
                <a:gd name="T45" fmla="*/ 41 h 70"/>
                <a:gd name="T46" fmla="*/ 3 w 70"/>
                <a:gd name="T47" fmla="*/ 46 h 70"/>
                <a:gd name="T48" fmla="*/ 4 w 70"/>
                <a:gd name="T49" fmla="*/ 51 h 70"/>
                <a:gd name="T50" fmla="*/ 8 w 70"/>
                <a:gd name="T51" fmla="*/ 55 h 70"/>
                <a:gd name="T52" fmla="*/ 11 w 70"/>
                <a:gd name="T53" fmla="*/ 58 h 70"/>
                <a:gd name="T54" fmla="*/ 15 w 70"/>
                <a:gd name="T55" fmla="*/ 62 h 70"/>
                <a:gd name="T56" fmla="*/ 19 w 70"/>
                <a:gd name="T57" fmla="*/ 64 h 70"/>
                <a:gd name="T58" fmla="*/ 25 w 70"/>
                <a:gd name="T59" fmla="*/ 66 h 70"/>
                <a:gd name="T60" fmla="*/ 30 w 70"/>
                <a:gd name="T61" fmla="*/ 68 h 70"/>
                <a:gd name="T62" fmla="*/ 35 w 70"/>
                <a:gd name="T63" fmla="*/ 69 h 70"/>
                <a:gd name="T64" fmla="*/ 40 w 70"/>
                <a:gd name="T65" fmla="*/ 68 h 70"/>
                <a:gd name="T66" fmla="*/ 44 w 70"/>
                <a:gd name="T67" fmla="*/ 66 h 70"/>
                <a:gd name="T68" fmla="*/ 49 w 70"/>
                <a:gd name="T69" fmla="*/ 64 h 70"/>
                <a:gd name="T70" fmla="*/ 54 w 70"/>
                <a:gd name="T71" fmla="*/ 62 h 70"/>
                <a:gd name="T72" fmla="*/ 58 w 70"/>
                <a:gd name="T73" fmla="*/ 58 h 70"/>
                <a:gd name="T74" fmla="*/ 62 w 70"/>
                <a:gd name="T75" fmla="*/ 55 h 70"/>
                <a:gd name="T76" fmla="*/ 65 w 70"/>
                <a:gd name="T77" fmla="*/ 51 h 70"/>
                <a:gd name="T78" fmla="*/ 66 w 70"/>
                <a:gd name="T79" fmla="*/ 46 h 70"/>
                <a:gd name="T80" fmla="*/ 68 w 70"/>
                <a:gd name="T81" fmla="*/ 41 h 70"/>
                <a:gd name="T82" fmla="*/ 69 w 70"/>
                <a:gd name="T83" fmla="*/ 3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0" h="70">
                  <a:moveTo>
                    <a:pt x="69" y="34"/>
                  </a:moveTo>
                  <a:lnTo>
                    <a:pt x="69" y="31"/>
                  </a:lnTo>
                  <a:lnTo>
                    <a:pt x="69" y="29"/>
                  </a:lnTo>
                  <a:lnTo>
                    <a:pt x="68" y="26"/>
                  </a:lnTo>
                  <a:lnTo>
                    <a:pt x="67" y="23"/>
                  </a:lnTo>
                  <a:lnTo>
                    <a:pt x="66" y="21"/>
                  </a:lnTo>
                  <a:lnTo>
                    <a:pt x="65" y="19"/>
                  </a:lnTo>
                  <a:lnTo>
                    <a:pt x="65" y="17"/>
                  </a:lnTo>
                  <a:lnTo>
                    <a:pt x="63" y="15"/>
                  </a:lnTo>
                  <a:lnTo>
                    <a:pt x="62" y="13"/>
                  </a:lnTo>
                  <a:lnTo>
                    <a:pt x="60" y="10"/>
                  </a:lnTo>
                  <a:lnTo>
                    <a:pt x="58" y="8"/>
                  </a:lnTo>
                  <a:lnTo>
                    <a:pt x="56" y="6"/>
                  </a:lnTo>
                  <a:lnTo>
                    <a:pt x="54" y="6"/>
                  </a:lnTo>
                  <a:lnTo>
                    <a:pt x="52" y="5"/>
                  </a:lnTo>
                  <a:lnTo>
                    <a:pt x="49" y="3"/>
                  </a:lnTo>
                  <a:lnTo>
                    <a:pt x="47" y="1"/>
                  </a:lnTo>
                  <a:lnTo>
                    <a:pt x="44" y="1"/>
                  </a:lnTo>
                  <a:lnTo>
                    <a:pt x="43" y="0"/>
                  </a:lnTo>
                  <a:lnTo>
                    <a:pt x="40" y="0"/>
                  </a:lnTo>
                  <a:lnTo>
                    <a:pt x="37" y="0"/>
                  </a:lnTo>
                  <a:lnTo>
                    <a:pt x="35" y="0"/>
                  </a:lnTo>
                  <a:lnTo>
                    <a:pt x="31" y="0"/>
                  </a:lnTo>
                  <a:lnTo>
                    <a:pt x="30" y="0"/>
                  </a:lnTo>
                  <a:lnTo>
                    <a:pt x="27" y="0"/>
                  </a:lnTo>
                  <a:lnTo>
                    <a:pt x="25" y="1"/>
                  </a:lnTo>
                  <a:lnTo>
                    <a:pt x="23" y="1"/>
                  </a:lnTo>
                  <a:lnTo>
                    <a:pt x="19" y="3"/>
                  </a:lnTo>
                  <a:lnTo>
                    <a:pt x="17" y="5"/>
                  </a:lnTo>
                  <a:lnTo>
                    <a:pt x="15" y="6"/>
                  </a:lnTo>
                  <a:lnTo>
                    <a:pt x="13" y="6"/>
                  </a:lnTo>
                  <a:lnTo>
                    <a:pt x="11" y="8"/>
                  </a:lnTo>
                  <a:lnTo>
                    <a:pt x="10" y="10"/>
                  </a:lnTo>
                  <a:lnTo>
                    <a:pt x="8" y="13"/>
                  </a:lnTo>
                  <a:lnTo>
                    <a:pt x="6" y="15"/>
                  </a:lnTo>
                  <a:lnTo>
                    <a:pt x="4" y="17"/>
                  </a:lnTo>
                  <a:lnTo>
                    <a:pt x="4" y="19"/>
                  </a:lnTo>
                  <a:lnTo>
                    <a:pt x="3" y="21"/>
                  </a:lnTo>
                  <a:lnTo>
                    <a:pt x="2" y="23"/>
                  </a:lnTo>
                  <a:lnTo>
                    <a:pt x="1" y="26"/>
                  </a:lnTo>
                  <a:lnTo>
                    <a:pt x="1" y="29"/>
                  </a:lnTo>
                  <a:lnTo>
                    <a:pt x="0" y="31"/>
                  </a:lnTo>
                  <a:lnTo>
                    <a:pt x="0" y="34"/>
                  </a:lnTo>
                  <a:lnTo>
                    <a:pt x="0" y="36"/>
                  </a:lnTo>
                  <a:lnTo>
                    <a:pt x="1" y="39"/>
                  </a:lnTo>
                  <a:lnTo>
                    <a:pt x="1" y="41"/>
                  </a:lnTo>
                  <a:lnTo>
                    <a:pt x="2" y="44"/>
                  </a:lnTo>
                  <a:lnTo>
                    <a:pt x="3" y="46"/>
                  </a:lnTo>
                  <a:lnTo>
                    <a:pt x="4" y="48"/>
                  </a:lnTo>
                  <a:lnTo>
                    <a:pt x="4" y="51"/>
                  </a:lnTo>
                  <a:lnTo>
                    <a:pt x="6" y="53"/>
                  </a:lnTo>
                  <a:lnTo>
                    <a:pt x="8" y="55"/>
                  </a:lnTo>
                  <a:lnTo>
                    <a:pt x="10" y="56"/>
                  </a:lnTo>
                  <a:lnTo>
                    <a:pt x="11" y="58"/>
                  </a:lnTo>
                  <a:lnTo>
                    <a:pt x="13" y="60"/>
                  </a:lnTo>
                  <a:lnTo>
                    <a:pt x="15" y="62"/>
                  </a:lnTo>
                  <a:lnTo>
                    <a:pt x="17" y="64"/>
                  </a:lnTo>
                  <a:lnTo>
                    <a:pt x="19" y="64"/>
                  </a:lnTo>
                  <a:lnTo>
                    <a:pt x="23" y="66"/>
                  </a:lnTo>
                  <a:lnTo>
                    <a:pt x="25" y="66"/>
                  </a:lnTo>
                  <a:lnTo>
                    <a:pt x="27" y="67"/>
                  </a:lnTo>
                  <a:lnTo>
                    <a:pt x="30" y="68"/>
                  </a:lnTo>
                  <a:lnTo>
                    <a:pt x="31" y="68"/>
                  </a:lnTo>
                  <a:lnTo>
                    <a:pt x="35" y="69"/>
                  </a:lnTo>
                  <a:lnTo>
                    <a:pt x="37" y="68"/>
                  </a:lnTo>
                  <a:lnTo>
                    <a:pt x="40" y="68"/>
                  </a:lnTo>
                  <a:lnTo>
                    <a:pt x="43" y="67"/>
                  </a:lnTo>
                  <a:lnTo>
                    <a:pt x="44" y="66"/>
                  </a:lnTo>
                  <a:lnTo>
                    <a:pt x="47" y="66"/>
                  </a:lnTo>
                  <a:lnTo>
                    <a:pt x="49" y="64"/>
                  </a:lnTo>
                  <a:lnTo>
                    <a:pt x="52" y="64"/>
                  </a:lnTo>
                  <a:lnTo>
                    <a:pt x="54" y="62"/>
                  </a:lnTo>
                  <a:lnTo>
                    <a:pt x="56" y="60"/>
                  </a:lnTo>
                  <a:lnTo>
                    <a:pt x="58" y="58"/>
                  </a:lnTo>
                  <a:lnTo>
                    <a:pt x="60" y="56"/>
                  </a:lnTo>
                  <a:lnTo>
                    <a:pt x="62" y="55"/>
                  </a:lnTo>
                  <a:lnTo>
                    <a:pt x="63" y="53"/>
                  </a:lnTo>
                  <a:lnTo>
                    <a:pt x="65" y="51"/>
                  </a:lnTo>
                  <a:lnTo>
                    <a:pt x="65" y="48"/>
                  </a:lnTo>
                  <a:lnTo>
                    <a:pt x="66" y="46"/>
                  </a:lnTo>
                  <a:lnTo>
                    <a:pt x="67" y="44"/>
                  </a:lnTo>
                  <a:lnTo>
                    <a:pt x="68" y="41"/>
                  </a:lnTo>
                  <a:lnTo>
                    <a:pt x="69" y="39"/>
                  </a:lnTo>
                  <a:lnTo>
                    <a:pt x="69" y="36"/>
                  </a:lnTo>
                  <a:lnTo>
                    <a:pt x="69" y="34"/>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2" name="Freeform 43"/>
            <p:cNvSpPr>
              <a:spLocks/>
            </p:cNvSpPr>
            <p:nvPr/>
          </p:nvSpPr>
          <p:spPr bwMode="auto">
            <a:xfrm>
              <a:off x="8756651" y="4938714"/>
              <a:ext cx="100013" cy="98425"/>
            </a:xfrm>
            <a:custGeom>
              <a:avLst/>
              <a:gdLst>
                <a:gd name="T0" fmla="*/ 68 w 69"/>
                <a:gd name="T1" fmla="*/ 31 h 70"/>
                <a:gd name="T2" fmla="*/ 68 w 69"/>
                <a:gd name="T3" fmla="*/ 26 h 70"/>
                <a:gd name="T4" fmla="*/ 66 w 69"/>
                <a:gd name="T5" fmla="*/ 21 h 70"/>
                <a:gd name="T6" fmla="*/ 64 w 69"/>
                <a:gd name="T7" fmla="*/ 17 h 70"/>
                <a:gd name="T8" fmla="*/ 61 w 69"/>
                <a:gd name="T9" fmla="*/ 13 h 70"/>
                <a:gd name="T10" fmla="*/ 58 w 69"/>
                <a:gd name="T11" fmla="*/ 8 h 70"/>
                <a:gd name="T12" fmla="*/ 53 w 69"/>
                <a:gd name="T13" fmla="*/ 6 h 70"/>
                <a:gd name="T14" fmla="*/ 49 w 69"/>
                <a:gd name="T15" fmla="*/ 3 h 70"/>
                <a:gd name="T16" fmla="*/ 45 w 69"/>
                <a:gd name="T17" fmla="*/ 1 h 70"/>
                <a:gd name="T18" fmla="*/ 39 w 69"/>
                <a:gd name="T19" fmla="*/ 0 h 70"/>
                <a:gd name="T20" fmla="*/ 34 w 69"/>
                <a:gd name="T21" fmla="*/ 0 h 70"/>
                <a:gd name="T22" fmla="*/ 29 w 69"/>
                <a:gd name="T23" fmla="*/ 0 h 70"/>
                <a:gd name="T24" fmla="*/ 24 w 69"/>
                <a:gd name="T25" fmla="*/ 1 h 70"/>
                <a:gd name="T26" fmla="*/ 19 w 69"/>
                <a:gd name="T27" fmla="*/ 3 h 70"/>
                <a:gd name="T28" fmla="*/ 14 w 69"/>
                <a:gd name="T29" fmla="*/ 6 h 70"/>
                <a:gd name="T30" fmla="*/ 11 w 69"/>
                <a:gd name="T31" fmla="*/ 8 h 70"/>
                <a:gd name="T32" fmla="*/ 8 w 69"/>
                <a:gd name="T33" fmla="*/ 13 h 70"/>
                <a:gd name="T34" fmla="*/ 4 w 69"/>
                <a:gd name="T35" fmla="*/ 17 h 70"/>
                <a:gd name="T36" fmla="*/ 2 w 69"/>
                <a:gd name="T37" fmla="*/ 21 h 70"/>
                <a:gd name="T38" fmla="*/ 0 w 69"/>
                <a:gd name="T39" fmla="*/ 26 h 70"/>
                <a:gd name="T40" fmla="*/ 0 w 69"/>
                <a:gd name="T41" fmla="*/ 31 h 70"/>
                <a:gd name="T42" fmla="*/ 0 w 69"/>
                <a:gd name="T43" fmla="*/ 36 h 70"/>
                <a:gd name="T44" fmla="*/ 0 w 69"/>
                <a:gd name="T45" fmla="*/ 41 h 70"/>
                <a:gd name="T46" fmla="*/ 2 w 69"/>
                <a:gd name="T47" fmla="*/ 46 h 70"/>
                <a:gd name="T48" fmla="*/ 4 w 69"/>
                <a:gd name="T49" fmla="*/ 51 h 70"/>
                <a:gd name="T50" fmla="*/ 8 w 69"/>
                <a:gd name="T51" fmla="*/ 55 h 70"/>
                <a:gd name="T52" fmla="*/ 11 w 69"/>
                <a:gd name="T53" fmla="*/ 58 h 70"/>
                <a:gd name="T54" fmla="*/ 14 w 69"/>
                <a:gd name="T55" fmla="*/ 62 h 70"/>
                <a:gd name="T56" fmla="*/ 19 w 69"/>
                <a:gd name="T57" fmla="*/ 64 h 70"/>
                <a:gd name="T58" fmla="*/ 24 w 69"/>
                <a:gd name="T59" fmla="*/ 66 h 70"/>
                <a:gd name="T60" fmla="*/ 29 w 69"/>
                <a:gd name="T61" fmla="*/ 68 h 70"/>
                <a:gd name="T62" fmla="*/ 34 w 69"/>
                <a:gd name="T63" fmla="*/ 69 h 70"/>
                <a:gd name="T64" fmla="*/ 39 w 69"/>
                <a:gd name="T65" fmla="*/ 68 h 70"/>
                <a:gd name="T66" fmla="*/ 45 w 69"/>
                <a:gd name="T67" fmla="*/ 66 h 70"/>
                <a:gd name="T68" fmla="*/ 49 w 69"/>
                <a:gd name="T69" fmla="*/ 64 h 70"/>
                <a:gd name="T70" fmla="*/ 53 w 69"/>
                <a:gd name="T71" fmla="*/ 62 h 70"/>
                <a:gd name="T72" fmla="*/ 58 w 69"/>
                <a:gd name="T73" fmla="*/ 58 h 70"/>
                <a:gd name="T74" fmla="*/ 61 w 69"/>
                <a:gd name="T75" fmla="*/ 55 h 70"/>
                <a:gd name="T76" fmla="*/ 64 w 69"/>
                <a:gd name="T77" fmla="*/ 51 h 70"/>
                <a:gd name="T78" fmla="*/ 66 w 69"/>
                <a:gd name="T79" fmla="*/ 46 h 70"/>
                <a:gd name="T80" fmla="*/ 68 w 69"/>
                <a:gd name="T81" fmla="*/ 41 h 70"/>
                <a:gd name="T82" fmla="*/ 68 w 69"/>
                <a:gd name="T83" fmla="*/ 3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9" h="70">
                  <a:moveTo>
                    <a:pt x="68" y="34"/>
                  </a:moveTo>
                  <a:lnTo>
                    <a:pt x="68" y="31"/>
                  </a:lnTo>
                  <a:lnTo>
                    <a:pt x="68" y="29"/>
                  </a:lnTo>
                  <a:lnTo>
                    <a:pt x="68" y="26"/>
                  </a:lnTo>
                  <a:lnTo>
                    <a:pt x="66" y="23"/>
                  </a:lnTo>
                  <a:lnTo>
                    <a:pt x="66" y="21"/>
                  </a:lnTo>
                  <a:lnTo>
                    <a:pt x="65" y="19"/>
                  </a:lnTo>
                  <a:lnTo>
                    <a:pt x="64" y="17"/>
                  </a:lnTo>
                  <a:lnTo>
                    <a:pt x="62" y="15"/>
                  </a:lnTo>
                  <a:lnTo>
                    <a:pt x="61" y="13"/>
                  </a:lnTo>
                  <a:lnTo>
                    <a:pt x="59" y="10"/>
                  </a:lnTo>
                  <a:lnTo>
                    <a:pt x="58" y="8"/>
                  </a:lnTo>
                  <a:lnTo>
                    <a:pt x="56" y="6"/>
                  </a:lnTo>
                  <a:lnTo>
                    <a:pt x="53" y="6"/>
                  </a:lnTo>
                  <a:lnTo>
                    <a:pt x="51" y="5"/>
                  </a:lnTo>
                  <a:lnTo>
                    <a:pt x="49" y="3"/>
                  </a:lnTo>
                  <a:lnTo>
                    <a:pt x="48" y="1"/>
                  </a:lnTo>
                  <a:lnTo>
                    <a:pt x="45" y="1"/>
                  </a:lnTo>
                  <a:lnTo>
                    <a:pt x="41" y="0"/>
                  </a:lnTo>
                  <a:lnTo>
                    <a:pt x="39" y="0"/>
                  </a:lnTo>
                  <a:lnTo>
                    <a:pt x="37" y="0"/>
                  </a:lnTo>
                  <a:lnTo>
                    <a:pt x="34" y="0"/>
                  </a:lnTo>
                  <a:lnTo>
                    <a:pt x="31" y="0"/>
                  </a:lnTo>
                  <a:lnTo>
                    <a:pt x="29" y="0"/>
                  </a:lnTo>
                  <a:lnTo>
                    <a:pt x="26" y="0"/>
                  </a:lnTo>
                  <a:lnTo>
                    <a:pt x="24" y="1"/>
                  </a:lnTo>
                  <a:lnTo>
                    <a:pt x="22" y="1"/>
                  </a:lnTo>
                  <a:lnTo>
                    <a:pt x="19" y="3"/>
                  </a:lnTo>
                  <a:lnTo>
                    <a:pt x="16" y="5"/>
                  </a:lnTo>
                  <a:lnTo>
                    <a:pt x="14" y="6"/>
                  </a:lnTo>
                  <a:lnTo>
                    <a:pt x="13" y="6"/>
                  </a:lnTo>
                  <a:lnTo>
                    <a:pt x="11" y="8"/>
                  </a:lnTo>
                  <a:lnTo>
                    <a:pt x="9" y="10"/>
                  </a:lnTo>
                  <a:lnTo>
                    <a:pt x="8" y="13"/>
                  </a:lnTo>
                  <a:lnTo>
                    <a:pt x="6" y="15"/>
                  </a:lnTo>
                  <a:lnTo>
                    <a:pt x="4" y="17"/>
                  </a:lnTo>
                  <a:lnTo>
                    <a:pt x="2" y="19"/>
                  </a:lnTo>
                  <a:lnTo>
                    <a:pt x="2" y="21"/>
                  </a:lnTo>
                  <a:lnTo>
                    <a:pt x="1" y="23"/>
                  </a:lnTo>
                  <a:lnTo>
                    <a:pt x="0" y="26"/>
                  </a:lnTo>
                  <a:lnTo>
                    <a:pt x="0" y="29"/>
                  </a:lnTo>
                  <a:lnTo>
                    <a:pt x="0" y="31"/>
                  </a:lnTo>
                  <a:lnTo>
                    <a:pt x="0" y="34"/>
                  </a:lnTo>
                  <a:lnTo>
                    <a:pt x="0" y="36"/>
                  </a:lnTo>
                  <a:lnTo>
                    <a:pt x="0" y="39"/>
                  </a:lnTo>
                  <a:lnTo>
                    <a:pt x="0" y="41"/>
                  </a:lnTo>
                  <a:lnTo>
                    <a:pt x="1" y="44"/>
                  </a:lnTo>
                  <a:lnTo>
                    <a:pt x="2" y="46"/>
                  </a:lnTo>
                  <a:lnTo>
                    <a:pt x="2" y="48"/>
                  </a:lnTo>
                  <a:lnTo>
                    <a:pt x="4" y="51"/>
                  </a:lnTo>
                  <a:lnTo>
                    <a:pt x="6" y="53"/>
                  </a:lnTo>
                  <a:lnTo>
                    <a:pt x="8" y="55"/>
                  </a:lnTo>
                  <a:lnTo>
                    <a:pt x="9" y="56"/>
                  </a:lnTo>
                  <a:lnTo>
                    <a:pt x="11" y="58"/>
                  </a:lnTo>
                  <a:lnTo>
                    <a:pt x="13" y="60"/>
                  </a:lnTo>
                  <a:lnTo>
                    <a:pt x="14" y="62"/>
                  </a:lnTo>
                  <a:lnTo>
                    <a:pt x="16" y="64"/>
                  </a:lnTo>
                  <a:lnTo>
                    <a:pt x="19" y="64"/>
                  </a:lnTo>
                  <a:lnTo>
                    <a:pt x="22" y="66"/>
                  </a:lnTo>
                  <a:lnTo>
                    <a:pt x="24" y="66"/>
                  </a:lnTo>
                  <a:lnTo>
                    <a:pt x="26" y="67"/>
                  </a:lnTo>
                  <a:lnTo>
                    <a:pt x="29" y="68"/>
                  </a:lnTo>
                  <a:lnTo>
                    <a:pt x="31" y="68"/>
                  </a:lnTo>
                  <a:lnTo>
                    <a:pt x="34" y="69"/>
                  </a:lnTo>
                  <a:lnTo>
                    <a:pt x="37" y="68"/>
                  </a:lnTo>
                  <a:lnTo>
                    <a:pt x="39" y="68"/>
                  </a:lnTo>
                  <a:lnTo>
                    <a:pt x="41" y="67"/>
                  </a:lnTo>
                  <a:lnTo>
                    <a:pt x="45" y="66"/>
                  </a:lnTo>
                  <a:lnTo>
                    <a:pt x="48" y="66"/>
                  </a:lnTo>
                  <a:lnTo>
                    <a:pt x="49" y="64"/>
                  </a:lnTo>
                  <a:lnTo>
                    <a:pt x="51" y="64"/>
                  </a:lnTo>
                  <a:lnTo>
                    <a:pt x="53" y="62"/>
                  </a:lnTo>
                  <a:lnTo>
                    <a:pt x="56" y="60"/>
                  </a:lnTo>
                  <a:lnTo>
                    <a:pt x="58" y="58"/>
                  </a:lnTo>
                  <a:lnTo>
                    <a:pt x="59" y="56"/>
                  </a:lnTo>
                  <a:lnTo>
                    <a:pt x="61" y="55"/>
                  </a:lnTo>
                  <a:lnTo>
                    <a:pt x="62" y="53"/>
                  </a:lnTo>
                  <a:lnTo>
                    <a:pt x="64" y="51"/>
                  </a:lnTo>
                  <a:lnTo>
                    <a:pt x="65" y="48"/>
                  </a:lnTo>
                  <a:lnTo>
                    <a:pt x="66" y="46"/>
                  </a:lnTo>
                  <a:lnTo>
                    <a:pt x="66" y="44"/>
                  </a:lnTo>
                  <a:lnTo>
                    <a:pt x="68" y="41"/>
                  </a:lnTo>
                  <a:lnTo>
                    <a:pt x="68" y="39"/>
                  </a:lnTo>
                  <a:lnTo>
                    <a:pt x="68" y="36"/>
                  </a:lnTo>
                  <a:lnTo>
                    <a:pt x="68" y="34"/>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3" name="Freeform 44"/>
            <p:cNvSpPr>
              <a:spLocks/>
            </p:cNvSpPr>
            <p:nvPr/>
          </p:nvSpPr>
          <p:spPr bwMode="auto">
            <a:xfrm>
              <a:off x="8272464" y="4841876"/>
              <a:ext cx="15875" cy="231775"/>
            </a:xfrm>
            <a:custGeom>
              <a:avLst/>
              <a:gdLst>
                <a:gd name="T0" fmla="*/ 10 w 11"/>
                <a:gd name="T1" fmla="*/ 0 h 165"/>
                <a:gd name="T2" fmla="*/ 0 w 11"/>
                <a:gd name="T3" fmla="*/ 59 h 165"/>
                <a:gd name="T4" fmla="*/ 0 w 11"/>
                <a:gd name="T5" fmla="*/ 164 h 165"/>
              </a:gdLst>
              <a:ahLst/>
              <a:cxnLst>
                <a:cxn ang="0">
                  <a:pos x="T0" y="T1"/>
                </a:cxn>
                <a:cxn ang="0">
                  <a:pos x="T2" y="T3"/>
                </a:cxn>
                <a:cxn ang="0">
                  <a:pos x="T4" y="T5"/>
                </a:cxn>
              </a:cxnLst>
              <a:rect l="0" t="0" r="r" b="b"/>
              <a:pathLst>
                <a:path w="11" h="165">
                  <a:moveTo>
                    <a:pt x="10" y="0"/>
                  </a:moveTo>
                  <a:lnTo>
                    <a:pt x="0" y="59"/>
                  </a:lnTo>
                  <a:lnTo>
                    <a:pt x="0" y="164"/>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4" name="Freeform 45"/>
            <p:cNvSpPr>
              <a:spLocks/>
            </p:cNvSpPr>
            <p:nvPr/>
          </p:nvSpPr>
          <p:spPr bwMode="auto">
            <a:xfrm>
              <a:off x="8664576" y="4841875"/>
              <a:ext cx="17463" cy="222250"/>
            </a:xfrm>
            <a:custGeom>
              <a:avLst/>
              <a:gdLst>
                <a:gd name="T0" fmla="*/ 0 w 12"/>
                <a:gd name="T1" fmla="*/ 0 h 159"/>
                <a:gd name="T2" fmla="*/ 8 w 12"/>
                <a:gd name="T3" fmla="*/ 55 h 159"/>
                <a:gd name="T4" fmla="*/ 11 w 12"/>
                <a:gd name="T5" fmla="*/ 158 h 159"/>
              </a:gdLst>
              <a:ahLst/>
              <a:cxnLst>
                <a:cxn ang="0">
                  <a:pos x="T0" y="T1"/>
                </a:cxn>
                <a:cxn ang="0">
                  <a:pos x="T2" y="T3"/>
                </a:cxn>
                <a:cxn ang="0">
                  <a:pos x="T4" y="T5"/>
                </a:cxn>
              </a:cxnLst>
              <a:rect l="0" t="0" r="r" b="b"/>
              <a:pathLst>
                <a:path w="12" h="159">
                  <a:moveTo>
                    <a:pt x="0" y="0"/>
                  </a:moveTo>
                  <a:lnTo>
                    <a:pt x="8" y="55"/>
                  </a:lnTo>
                  <a:lnTo>
                    <a:pt x="11" y="158"/>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5" name="Freeform 46"/>
            <p:cNvSpPr>
              <a:spLocks/>
            </p:cNvSpPr>
            <p:nvPr/>
          </p:nvSpPr>
          <p:spPr bwMode="auto">
            <a:xfrm>
              <a:off x="8251826" y="5253039"/>
              <a:ext cx="11113" cy="269875"/>
            </a:xfrm>
            <a:custGeom>
              <a:avLst/>
              <a:gdLst>
                <a:gd name="T0" fmla="*/ 6 w 7"/>
                <a:gd name="T1" fmla="*/ 0 h 193"/>
                <a:gd name="T2" fmla="*/ 0 w 7"/>
                <a:gd name="T3" fmla="*/ 55 h 193"/>
                <a:gd name="T4" fmla="*/ 0 w 7"/>
                <a:gd name="T5" fmla="*/ 192 h 193"/>
              </a:gdLst>
              <a:ahLst/>
              <a:cxnLst>
                <a:cxn ang="0">
                  <a:pos x="T0" y="T1"/>
                </a:cxn>
                <a:cxn ang="0">
                  <a:pos x="T2" y="T3"/>
                </a:cxn>
                <a:cxn ang="0">
                  <a:pos x="T4" y="T5"/>
                </a:cxn>
              </a:cxnLst>
              <a:rect l="0" t="0" r="r" b="b"/>
              <a:pathLst>
                <a:path w="7" h="193">
                  <a:moveTo>
                    <a:pt x="6" y="0"/>
                  </a:moveTo>
                  <a:lnTo>
                    <a:pt x="0" y="55"/>
                  </a:lnTo>
                  <a:lnTo>
                    <a:pt x="0" y="192"/>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6" name="Freeform 47"/>
            <p:cNvSpPr>
              <a:spLocks/>
            </p:cNvSpPr>
            <p:nvPr/>
          </p:nvSpPr>
          <p:spPr bwMode="auto">
            <a:xfrm>
              <a:off x="8680450" y="5256214"/>
              <a:ext cx="6350" cy="269875"/>
            </a:xfrm>
            <a:custGeom>
              <a:avLst/>
              <a:gdLst>
                <a:gd name="T0" fmla="*/ 0 w 4"/>
                <a:gd name="T1" fmla="*/ 0 h 192"/>
                <a:gd name="T2" fmla="*/ 3 w 4"/>
                <a:gd name="T3" fmla="*/ 49 h 192"/>
                <a:gd name="T4" fmla="*/ 3 w 4"/>
                <a:gd name="T5" fmla="*/ 191 h 192"/>
              </a:gdLst>
              <a:ahLst/>
              <a:cxnLst>
                <a:cxn ang="0">
                  <a:pos x="T0" y="T1"/>
                </a:cxn>
                <a:cxn ang="0">
                  <a:pos x="T2" y="T3"/>
                </a:cxn>
                <a:cxn ang="0">
                  <a:pos x="T4" y="T5"/>
                </a:cxn>
              </a:cxnLst>
              <a:rect l="0" t="0" r="r" b="b"/>
              <a:pathLst>
                <a:path w="4" h="192">
                  <a:moveTo>
                    <a:pt x="0" y="0"/>
                  </a:moveTo>
                  <a:lnTo>
                    <a:pt x="3" y="49"/>
                  </a:lnTo>
                  <a:lnTo>
                    <a:pt x="3" y="19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7" name="Freeform 48"/>
            <p:cNvSpPr>
              <a:spLocks/>
            </p:cNvSpPr>
            <p:nvPr/>
          </p:nvSpPr>
          <p:spPr bwMode="auto">
            <a:xfrm>
              <a:off x="8426450" y="4938714"/>
              <a:ext cx="101600" cy="98425"/>
            </a:xfrm>
            <a:custGeom>
              <a:avLst/>
              <a:gdLst>
                <a:gd name="T0" fmla="*/ 69 w 70"/>
                <a:gd name="T1" fmla="*/ 31 h 70"/>
                <a:gd name="T2" fmla="*/ 68 w 70"/>
                <a:gd name="T3" fmla="*/ 26 h 70"/>
                <a:gd name="T4" fmla="*/ 66 w 70"/>
                <a:gd name="T5" fmla="*/ 21 h 70"/>
                <a:gd name="T6" fmla="*/ 64 w 70"/>
                <a:gd name="T7" fmla="*/ 17 h 70"/>
                <a:gd name="T8" fmla="*/ 61 w 70"/>
                <a:gd name="T9" fmla="*/ 13 h 70"/>
                <a:gd name="T10" fmla="*/ 58 w 70"/>
                <a:gd name="T11" fmla="*/ 8 h 70"/>
                <a:gd name="T12" fmla="*/ 54 w 70"/>
                <a:gd name="T13" fmla="*/ 6 h 70"/>
                <a:gd name="T14" fmla="*/ 49 w 70"/>
                <a:gd name="T15" fmla="*/ 3 h 70"/>
                <a:gd name="T16" fmla="*/ 44 w 70"/>
                <a:gd name="T17" fmla="*/ 1 h 70"/>
                <a:gd name="T18" fmla="*/ 39 w 70"/>
                <a:gd name="T19" fmla="*/ 0 h 70"/>
                <a:gd name="T20" fmla="*/ 34 w 70"/>
                <a:gd name="T21" fmla="*/ 0 h 70"/>
                <a:gd name="T22" fmla="*/ 29 w 70"/>
                <a:gd name="T23" fmla="*/ 0 h 70"/>
                <a:gd name="T24" fmla="*/ 25 w 70"/>
                <a:gd name="T25" fmla="*/ 1 h 70"/>
                <a:gd name="T26" fmla="*/ 19 w 70"/>
                <a:gd name="T27" fmla="*/ 3 h 70"/>
                <a:gd name="T28" fmla="*/ 15 w 70"/>
                <a:gd name="T29" fmla="*/ 6 h 70"/>
                <a:gd name="T30" fmla="*/ 11 w 70"/>
                <a:gd name="T31" fmla="*/ 8 h 70"/>
                <a:gd name="T32" fmla="*/ 7 w 70"/>
                <a:gd name="T33" fmla="*/ 13 h 70"/>
                <a:gd name="T34" fmla="*/ 5 w 70"/>
                <a:gd name="T35" fmla="*/ 17 h 70"/>
                <a:gd name="T36" fmla="*/ 2 w 70"/>
                <a:gd name="T37" fmla="*/ 21 h 70"/>
                <a:gd name="T38" fmla="*/ 1 w 70"/>
                <a:gd name="T39" fmla="*/ 26 h 70"/>
                <a:gd name="T40" fmla="*/ 0 w 70"/>
                <a:gd name="T41" fmla="*/ 31 h 70"/>
                <a:gd name="T42" fmla="*/ 0 w 70"/>
                <a:gd name="T43" fmla="*/ 36 h 70"/>
                <a:gd name="T44" fmla="*/ 1 w 70"/>
                <a:gd name="T45" fmla="*/ 41 h 70"/>
                <a:gd name="T46" fmla="*/ 2 w 70"/>
                <a:gd name="T47" fmla="*/ 46 h 70"/>
                <a:gd name="T48" fmla="*/ 5 w 70"/>
                <a:gd name="T49" fmla="*/ 51 h 70"/>
                <a:gd name="T50" fmla="*/ 7 w 70"/>
                <a:gd name="T51" fmla="*/ 55 h 70"/>
                <a:gd name="T52" fmla="*/ 11 w 70"/>
                <a:gd name="T53" fmla="*/ 58 h 70"/>
                <a:gd name="T54" fmla="*/ 15 w 70"/>
                <a:gd name="T55" fmla="*/ 62 h 70"/>
                <a:gd name="T56" fmla="*/ 19 w 70"/>
                <a:gd name="T57" fmla="*/ 64 h 70"/>
                <a:gd name="T58" fmla="*/ 25 w 70"/>
                <a:gd name="T59" fmla="*/ 66 h 70"/>
                <a:gd name="T60" fmla="*/ 29 w 70"/>
                <a:gd name="T61" fmla="*/ 68 h 70"/>
                <a:gd name="T62" fmla="*/ 34 w 70"/>
                <a:gd name="T63" fmla="*/ 69 h 70"/>
                <a:gd name="T64" fmla="*/ 39 w 70"/>
                <a:gd name="T65" fmla="*/ 68 h 70"/>
                <a:gd name="T66" fmla="*/ 44 w 70"/>
                <a:gd name="T67" fmla="*/ 66 h 70"/>
                <a:gd name="T68" fmla="*/ 49 w 70"/>
                <a:gd name="T69" fmla="*/ 64 h 70"/>
                <a:gd name="T70" fmla="*/ 54 w 70"/>
                <a:gd name="T71" fmla="*/ 62 h 70"/>
                <a:gd name="T72" fmla="*/ 58 w 70"/>
                <a:gd name="T73" fmla="*/ 58 h 70"/>
                <a:gd name="T74" fmla="*/ 61 w 70"/>
                <a:gd name="T75" fmla="*/ 55 h 70"/>
                <a:gd name="T76" fmla="*/ 64 w 70"/>
                <a:gd name="T77" fmla="*/ 51 h 70"/>
                <a:gd name="T78" fmla="*/ 66 w 70"/>
                <a:gd name="T79" fmla="*/ 46 h 70"/>
                <a:gd name="T80" fmla="*/ 68 w 70"/>
                <a:gd name="T81" fmla="*/ 41 h 70"/>
                <a:gd name="T82" fmla="*/ 69 w 70"/>
                <a:gd name="T83" fmla="*/ 3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0" h="70">
                  <a:moveTo>
                    <a:pt x="69" y="34"/>
                  </a:moveTo>
                  <a:lnTo>
                    <a:pt x="69" y="31"/>
                  </a:lnTo>
                  <a:lnTo>
                    <a:pt x="68" y="29"/>
                  </a:lnTo>
                  <a:lnTo>
                    <a:pt x="68" y="26"/>
                  </a:lnTo>
                  <a:lnTo>
                    <a:pt x="67" y="23"/>
                  </a:lnTo>
                  <a:lnTo>
                    <a:pt x="66" y="21"/>
                  </a:lnTo>
                  <a:lnTo>
                    <a:pt x="66" y="19"/>
                  </a:lnTo>
                  <a:lnTo>
                    <a:pt x="64" y="17"/>
                  </a:lnTo>
                  <a:lnTo>
                    <a:pt x="62" y="15"/>
                  </a:lnTo>
                  <a:lnTo>
                    <a:pt x="61" y="13"/>
                  </a:lnTo>
                  <a:lnTo>
                    <a:pt x="60" y="10"/>
                  </a:lnTo>
                  <a:lnTo>
                    <a:pt x="58" y="8"/>
                  </a:lnTo>
                  <a:lnTo>
                    <a:pt x="56" y="6"/>
                  </a:lnTo>
                  <a:lnTo>
                    <a:pt x="54" y="6"/>
                  </a:lnTo>
                  <a:lnTo>
                    <a:pt x="51" y="5"/>
                  </a:lnTo>
                  <a:lnTo>
                    <a:pt x="49" y="3"/>
                  </a:lnTo>
                  <a:lnTo>
                    <a:pt x="46" y="1"/>
                  </a:lnTo>
                  <a:lnTo>
                    <a:pt x="44" y="1"/>
                  </a:lnTo>
                  <a:lnTo>
                    <a:pt x="43" y="0"/>
                  </a:lnTo>
                  <a:lnTo>
                    <a:pt x="39" y="0"/>
                  </a:lnTo>
                  <a:lnTo>
                    <a:pt x="36" y="0"/>
                  </a:lnTo>
                  <a:lnTo>
                    <a:pt x="34" y="0"/>
                  </a:lnTo>
                  <a:lnTo>
                    <a:pt x="32" y="0"/>
                  </a:lnTo>
                  <a:lnTo>
                    <a:pt x="29" y="0"/>
                  </a:lnTo>
                  <a:lnTo>
                    <a:pt x="26" y="0"/>
                  </a:lnTo>
                  <a:lnTo>
                    <a:pt x="25" y="1"/>
                  </a:lnTo>
                  <a:lnTo>
                    <a:pt x="21" y="1"/>
                  </a:lnTo>
                  <a:lnTo>
                    <a:pt x="19" y="3"/>
                  </a:lnTo>
                  <a:lnTo>
                    <a:pt x="17" y="5"/>
                  </a:lnTo>
                  <a:lnTo>
                    <a:pt x="15" y="6"/>
                  </a:lnTo>
                  <a:lnTo>
                    <a:pt x="13" y="6"/>
                  </a:lnTo>
                  <a:lnTo>
                    <a:pt x="11" y="8"/>
                  </a:lnTo>
                  <a:lnTo>
                    <a:pt x="9" y="10"/>
                  </a:lnTo>
                  <a:lnTo>
                    <a:pt x="7" y="13"/>
                  </a:lnTo>
                  <a:lnTo>
                    <a:pt x="6" y="15"/>
                  </a:lnTo>
                  <a:lnTo>
                    <a:pt x="5" y="17"/>
                  </a:lnTo>
                  <a:lnTo>
                    <a:pt x="3" y="19"/>
                  </a:lnTo>
                  <a:lnTo>
                    <a:pt x="2" y="21"/>
                  </a:lnTo>
                  <a:lnTo>
                    <a:pt x="2" y="23"/>
                  </a:lnTo>
                  <a:lnTo>
                    <a:pt x="1" y="26"/>
                  </a:lnTo>
                  <a:lnTo>
                    <a:pt x="0" y="29"/>
                  </a:lnTo>
                  <a:lnTo>
                    <a:pt x="0" y="31"/>
                  </a:lnTo>
                  <a:lnTo>
                    <a:pt x="0" y="34"/>
                  </a:lnTo>
                  <a:lnTo>
                    <a:pt x="0" y="36"/>
                  </a:lnTo>
                  <a:lnTo>
                    <a:pt x="0" y="39"/>
                  </a:lnTo>
                  <a:lnTo>
                    <a:pt x="1" y="41"/>
                  </a:lnTo>
                  <a:lnTo>
                    <a:pt x="2" y="44"/>
                  </a:lnTo>
                  <a:lnTo>
                    <a:pt x="2" y="46"/>
                  </a:lnTo>
                  <a:lnTo>
                    <a:pt x="3" y="48"/>
                  </a:lnTo>
                  <a:lnTo>
                    <a:pt x="5" y="51"/>
                  </a:lnTo>
                  <a:lnTo>
                    <a:pt x="6" y="53"/>
                  </a:lnTo>
                  <a:lnTo>
                    <a:pt x="7" y="55"/>
                  </a:lnTo>
                  <a:lnTo>
                    <a:pt x="9" y="56"/>
                  </a:lnTo>
                  <a:lnTo>
                    <a:pt x="11" y="58"/>
                  </a:lnTo>
                  <a:lnTo>
                    <a:pt x="13" y="60"/>
                  </a:lnTo>
                  <a:lnTo>
                    <a:pt x="15" y="62"/>
                  </a:lnTo>
                  <a:lnTo>
                    <a:pt x="17" y="64"/>
                  </a:lnTo>
                  <a:lnTo>
                    <a:pt x="19" y="64"/>
                  </a:lnTo>
                  <a:lnTo>
                    <a:pt x="21" y="66"/>
                  </a:lnTo>
                  <a:lnTo>
                    <a:pt x="25" y="66"/>
                  </a:lnTo>
                  <a:lnTo>
                    <a:pt x="26" y="67"/>
                  </a:lnTo>
                  <a:lnTo>
                    <a:pt x="29" y="68"/>
                  </a:lnTo>
                  <a:lnTo>
                    <a:pt x="32" y="68"/>
                  </a:lnTo>
                  <a:lnTo>
                    <a:pt x="34" y="69"/>
                  </a:lnTo>
                  <a:lnTo>
                    <a:pt x="36" y="68"/>
                  </a:lnTo>
                  <a:lnTo>
                    <a:pt x="39" y="68"/>
                  </a:lnTo>
                  <a:lnTo>
                    <a:pt x="43" y="67"/>
                  </a:lnTo>
                  <a:lnTo>
                    <a:pt x="44" y="66"/>
                  </a:lnTo>
                  <a:lnTo>
                    <a:pt x="46" y="66"/>
                  </a:lnTo>
                  <a:lnTo>
                    <a:pt x="49" y="64"/>
                  </a:lnTo>
                  <a:lnTo>
                    <a:pt x="51" y="64"/>
                  </a:lnTo>
                  <a:lnTo>
                    <a:pt x="54" y="62"/>
                  </a:lnTo>
                  <a:lnTo>
                    <a:pt x="56" y="60"/>
                  </a:lnTo>
                  <a:lnTo>
                    <a:pt x="58" y="58"/>
                  </a:lnTo>
                  <a:lnTo>
                    <a:pt x="60" y="56"/>
                  </a:lnTo>
                  <a:lnTo>
                    <a:pt x="61" y="55"/>
                  </a:lnTo>
                  <a:lnTo>
                    <a:pt x="62" y="53"/>
                  </a:lnTo>
                  <a:lnTo>
                    <a:pt x="64" y="51"/>
                  </a:lnTo>
                  <a:lnTo>
                    <a:pt x="66" y="48"/>
                  </a:lnTo>
                  <a:lnTo>
                    <a:pt x="66" y="46"/>
                  </a:lnTo>
                  <a:lnTo>
                    <a:pt x="67" y="44"/>
                  </a:lnTo>
                  <a:lnTo>
                    <a:pt x="68" y="41"/>
                  </a:lnTo>
                  <a:lnTo>
                    <a:pt x="68" y="39"/>
                  </a:lnTo>
                  <a:lnTo>
                    <a:pt x="69" y="36"/>
                  </a:lnTo>
                  <a:lnTo>
                    <a:pt x="69" y="34"/>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8" name="Freeform 49"/>
            <p:cNvSpPr>
              <a:spLocks/>
            </p:cNvSpPr>
            <p:nvPr/>
          </p:nvSpPr>
          <p:spPr bwMode="auto">
            <a:xfrm>
              <a:off x="8421688" y="5354639"/>
              <a:ext cx="101600" cy="96837"/>
            </a:xfrm>
            <a:custGeom>
              <a:avLst/>
              <a:gdLst>
                <a:gd name="T0" fmla="*/ 70 w 71"/>
                <a:gd name="T1" fmla="*/ 31 h 69"/>
                <a:gd name="T2" fmla="*/ 68 w 71"/>
                <a:gd name="T3" fmla="*/ 26 h 69"/>
                <a:gd name="T4" fmla="*/ 66 w 71"/>
                <a:gd name="T5" fmla="*/ 21 h 69"/>
                <a:gd name="T6" fmla="*/ 64 w 71"/>
                <a:gd name="T7" fmla="*/ 17 h 69"/>
                <a:gd name="T8" fmla="*/ 62 w 71"/>
                <a:gd name="T9" fmla="*/ 12 h 69"/>
                <a:gd name="T10" fmla="*/ 58 w 71"/>
                <a:gd name="T11" fmla="*/ 8 h 69"/>
                <a:gd name="T12" fmla="*/ 54 w 71"/>
                <a:gd name="T13" fmla="*/ 5 h 69"/>
                <a:gd name="T14" fmla="*/ 50 w 71"/>
                <a:gd name="T15" fmla="*/ 3 h 69"/>
                <a:gd name="T16" fmla="*/ 45 w 71"/>
                <a:gd name="T17" fmla="*/ 1 h 69"/>
                <a:gd name="T18" fmla="*/ 40 w 71"/>
                <a:gd name="T19" fmla="*/ 0 h 69"/>
                <a:gd name="T20" fmla="*/ 35 w 71"/>
                <a:gd name="T21" fmla="*/ 0 h 69"/>
                <a:gd name="T22" fmla="*/ 30 w 71"/>
                <a:gd name="T23" fmla="*/ 0 h 69"/>
                <a:gd name="T24" fmla="*/ 25 w 71"/>
                <a:gd name="T25" fmla="*/ 1 h 69"/>
                <a:gd name="T26" fmla="*/ 20 w 71"/>
                <a:gd name="T27" fmla="*/ 3 h 69"/>
                <a:gd name="T28" fmla="*/ 15 w 71"/>
                <a:gd name="T29" fmla="*/ 5 h 69"/>
                <a:gd name="T30" fmla="*/ 11 w 71"/>
                <a:gd name="T31" fmla="*/ 8 h 69"/>
                <a:gd name="T32" fmla="*/ 7 w 71"/>
                <a:gd name="T33" fmla="*/ 12 h 69"/>
                <a:gd name="T34" fmla="*/ 5 w 71"/>
                <a:gd name="T35" fmla="*/ 17 h 69"/>
                <a:gd name="T36" fmla="*/ 3 w 71"/>
                <a:gd name="T37" fmla="*/ 21 h 69"/>
                <a:gd name="T38" fmla="*/ 1 w 71"/>
                <a:gd name="T39" fmla="*/ 26 h 69"/>
                <a:gd name="T40" fmla="*/ 0 w 71"/>
                <a:gd name="T41" fmla="*/ 31 h 69"/>
                <a:gd name="T42" fmla="*/ 0 w 71"/>
                <a:gd name="T43" fmla="*/ 37 h 69"/>
                <a:gd name="T44" fmla="*/ 1 w 71"/>
                <a:gd name="T45" fmla="*/ 41 h 69"/>
                <a:gd name="T46" fmla="*/ 3 w 71"/>
                <a:gd name="T47" fmla="*/ 47 h 69"/>
                <a:gd name="T48" fmla="*/ 5 w 71"/>
                <a:gd name="T49" fmla="*/ 51 h 69"/>
                <a:gd name="T50" fmla="*/ 7 w 71"/>
                <a:gd name="T51" fmla="*/ 55 h 69"/>
                <a:gd name="T52" fmla="*/ 11 w 71"/>
                <a:gd name="T53" fmla="*/ 59 h 69"/>
                <a:gd name="T54" fmla="*/ 15 w 71"/>
                <a:gd name="T55" fmla="*/ 62 h 69"/>
                <a:gd name="T56" fmla="*/ 20 w 71"/>
                <a:gd name="T57" fmla="*/ 65 h 69"/>
                <a:gd name="T58" fmla="*/ 25 w 71"/>
                <a:gd name="T59" fmla="*/ 68 h 69"/>
                <a:gd name="T60" fmla="*/ 30 w 71"/>
                <a:gd name="T61" fmla="*/ 68 h 69"/>
                <a:gd name="T62" fmla="*/ 35 w 71"/>
                <a:gd name="T63" fmla="*/ 68 h 69"/>
                <a:gd name="T64" fmla="*/ 40 w 71"/>
                <a:gd name="T65" fmla="*/ 68 h 69"/>
                <a:gd name="T66" fmla="*/ 45 w 71"/>
                <a:gd name="T67" fmla="*/ 68 h 69"/>
                <a:gd name="T68" fmla="*/ 50 w 71"/>
                <a:gd name="T69" fmla="*/ 65 h 69"/>
                <a:gd name="T70" fmla="*/ 54 w 71"/>
                <a:gd name="T71" fmla="*/ 62 h 69"/>
                <a:gd name="T72" fmla="*/ 58 w 71"/>
                <a:gd name="T73" fmla="*/ 59 h 69"/>
                <a:gd name="T74" fmla="*/ 62 w 71"/>
                <a:gd name="T75" fmla="*/ 55 h 69"/>
                <a:gd name="T76" fmla="*/ 64 w 71"/>
                <a:gd name="T77" fmla="*/ 51 h 69"/>
                <a:gd name="T78" fmla="*/ 66 w 71"/>
                <a:gd name="T79" fmla="*/ 47 h 69"/>
                <a:gd name="T80" fmla="*/ 68 w 71"/>
                <a:gd name="T81" fmla="*/ 41 h 69"/>
                <a:gd name="T82" fmla="*/ 70 w 71"/>
                <a:gd name="T83" fmla="*/ 3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1" h="69">
                  <a:moveTo>
                    <a:pt x="70" y="34"/>
                  </a:moveTo>
                  <a:lnTo>
                    <a:pt x="70" y="31"/>
                  </a:lnTo>
                  <a:lnTo>
                    <a:pt x="68" y="28"/>
                  </a:lnTo>
                  <a:lnTo>
                    <a:pt x="68" y="26"/>
                  </a:lnTo>
                  <a:lnTo>
                    <a:pt x="68" y="24"/>
                  </a:lnTo>
                  <a:lnTo>
                    <a:pt x="66" y="21"/>
                  </a:lnTo>
                  <a:lnTo>
                    <a:pt x="65" y="19"/>
                  </a:lnTo>
                  <a:lnTo>
                    <a:pt x="64" y="17"/>
                  </a:lnTo>
                  <a:lnTo>
                    <a:pt x="64" y="14"/>
                  </a:lnTo>
                  <a:lnTo>
                    <a:pt x="62" y="12"/>
                  </a:lnTo>
                  <a:lnTo>
                    <a:pt x="60" y="10"/>
                  </a:lnTo>
                  <a:lnTo>
                    <a:pt x="58" y="8"/>
                  </a:lnTo>
                  <a:lnTo>
                    <a:pt x="57" y="6"/>
                  </a:lnTo>
                  <a:lnTo>
                    <a:pt x="54" y="5"/>
                  </a:lnTo>
                  <a:lnTo>
                    <a:pt x="51" y="4"/>
                  </a:lnTo>
                  <a:lnTo>
                    <a:pt x="50" y="3"/>
                  </a:lnTo>
                  <a:lnTo>
                    <a:pt x="47" y="2"/>
                  </a:lnTo>
                  <a:lnTo>
                    <a:pt x="45" y="1"/>
                  </a:lnTo>
                  <a:lnTo>
                    <a:pt x="42" y="0"/>
                  </a:lnTo>
                  <a:lnTo>
                    <a:pt x="40" y="0"/>
                  </a:lnTo>
                  <a:lnTo>
                    <a:pt x="37" y="0"/>
                  </a:lnTo>
                  <a:lnTo>
                    <a:pt x="35" y="0"/>
                  </a:lnTo>
                  <a:lnTo>
                    <a:pt x="31" y="0"/>
                  </a:lnTo>
                  <a:lnTo>
                    <a:pt x="30" y="0"/>
                  </a:lnTo>
                  <a:lnTo>
                    <a:pt x="27" y="0"/>
                  </a:lnTo>
                  <a:lnTo>
                    <a:pt x="25" y="1"/>
                  </a:lnTo>
                  <a:lnTo>
                    <a:pt x="21" y="2"/>
                  </a:lnTo>
                  <a:lnTo>
                    <a:pt x="20" y="3"/>
                  </a:lnTo>
                  <a:lnTo>
                    <a:pt x="17" y="4"/>
                  </a:lnTo>
                  <a:lnTo>
                    <a:pt x="15" y="5"/>
                  </a:lnTo>
                  <a:lnTo>
                    <a:pt x="13" y="6"/>
                  </a:lnTo>
                  <a:lnTo>
                    <a:pt x="11" y="8"/>
                  </a:lnTo>
                  <a:lnTo>
                    <a:pt x="9" y="10"/>
                  </a:lnTo>
                  <a:lnTo>
                    <a:pt x="7" y="12"/>
                  </a:lnTo>
                  <a:lnTo>
                    <a:pt x="6" y="14"/>
                  </a:lnTo>
                  <a:lnTo>
                    <a:pt x="5" y="17"/>
                  </a:lnTo>
                  <a:lnTo>
                    <a:pt x="3" y="19"/>
                  </a:lnTo>
                  <a:lnTo>
                    <a:pt x="3" y="21"/>
                  </a:lnTo>
                  <a:lnTo>
                    <a:pt x="1" y="24"/>
                  </a:lnTo>
                  <a:lnTo>
                    <a:pt x="1" y="26"/>
                  </a:lnTo>
                  <a:lnTo>
                    <a:pt x="0" y="28"/>
                  </a:lnTo>
                  <a:lnTo>
                    <a:pt x="0" y="31"/>
                  </a:lnTo>
                  <a:lnTo>
                    <a:pt x="0" y="34"/>
                  </a:lnTo>
                  <a:lnTo>
                    <a:pt x="0" y="37"/>
                  </a:lnTo>
                  <a:lnTo>
                    <a:pt x="0" y="38"/>
                  </a:lnTo>
                  <a:lnTo>
                    <a:pt x="1" y="41"/>
                  </a:lnTo>
                  <a:lnTo>
                    <a:pt x="1" y="44"/>
                  </a:lnTo>
                  <a:lnTo>
                    <a:pt x="3" y="47"/>
                  </a:lnTo>
                  <a:lnTo>
                    <a:pt x="3" y="49"/>
                  </a:lnTo>
                  <a:lnTo>
                    <a:pt x="5" y="51"/>
                  </a:lnTo>
                  <a:lnTo>
                    <a:pt x="6" y="53"/>
                  </a:lnTo>
                  <a:lnTo>
                    <a:pt x="7" y="55"/>
                  </a:lnTo>
                  <a:lnTo>
                    <a:pt x="9" y="57"/>
                  </a:lnTo>
                  <a:lnTo>
                    <a:pt x="11" y="59"/>
                  </a:lnTo>
                  <a:lnTo>
                    <a:pt x="13" y="60"/>
                  </a:lnTo>
                  <a:lnTo>
                    <a:pt x="15" y="62"/>
                  </a:lnTo>
                  <a:lnTo>
                    <a:pt x="17" y="64"/>
                  </a:lnTo>
                  <a:lnTo>
                    <a:pt x="20" y="65"/>
                  </a:lnTo>
                  <a:lnTo>
                    <a:pt x="21" y="66"/>
                  </a:lnTo>
                  <a:lnTo>
                    <a:pt x="25" y="68"/>
                  </a:lnTo>
                  <a:lnTo>
                    <a:pt x="27" y="68"/>
                  </a:lnTo>
                  <a:lnTo>
                    <a:pt x="30" y="68"/>
                  </a:lnTo>
                  <a:lnTo>
                    <a:pt x="31" y="68"/>
                  </a:lnTo>
                  <a:lnTo>
                    <a:pt x="35" y="68"/>
                  </a:lnTo>
                  <a:lnTo>
                    <a:pt x="37" y="68"/>
                  </a:lnTo>
                  <a:lnTo>
                    <a:pt x="40" y="68"/>
                  </a:lnTo>
                  <a:lnTo>
                    <a:pt x="42" y="68"/>
                  </a:lnTo>
                  <a:lnTo>
                    <a:pt x="45" y="68"/>
                  </a:lnTo>
                  <a:lnTo>
                    <a:pt x="47" y="66"/>
                  </a:lnTo>
                  <a:lnTo>
                    <a:pt x="50" y="65"/>
                  </a:lnTo>
                  <a:lnTo>
                    <a:pt x="51" y="64"/>
                  </a:lnTo>
                  <a:lnTo>
                    <a:pt x="54" y="62"/>
                  </a:lnTo>
                  <a:lnTo>
                    <a:pt x="57" y="60"/>
                  </a:lnTo>
                  <a:lnTo>
                    <a:pt x="58" y="59"/>
                  </a:lnTo>
                  <a:lnTo>
                    <a:pt x="60" y="57"/>
                  </a:lnTo>
                  <a:lnTo>
                    <a:pt x="62" y="55"/>
                  </a:lnTo>
                  <a:lnTo>
                    <a:pt x="64" y="53"/>
                  </a:lnTo>
                  <a:lnTo>
                    <a:pt x="64" y="51"/>
                  </a:lnTo>
                  <a:lnTo>
                    <a:pt x="65" y="49"/>
                  </a:lnTo>
                  <a:lnTo>
                    <a:pt x="66" y="47"/>
                  </a:lnTo>
                  <a:lnTo>
                    <a:pt x="68" y="44"/>
                  </a:lnTo>
                  <a:lnTo>
                    <a:pt x="68" y="41"/>
                  </a:lnTo>
                  <a:lnTo>
                    <a:pt x="68" y="38"/>
                  </a:lnTo>
                  <a:lnTo>
                    <a:pt x="70" y="37"/>
                  </a:lnTo>
                  <a:lnTo>
                    <a:pt x="70" y="34"/>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9" name="Freeform 50"/>
            <p:cNvSpPr>
              <a:spLocks/>
            </p:cNvSpPr>
            <p:nvPr/>
          </p:nvSpPr>
          <p:spPr bwMode="auto">
            <a:xfrm>
              <a:off x="8177214" y="5530851"/>
              <a:ext cx="142875" cy="130175"/>
            </a:xfrm>
            <a:custGeom>
              <a:avLst/>
              <a:gdLst>
                <a:gd name="T0" fmla="*/ 0 w 99"/>
                <a:gd name="T1" fmla="*/ 0 h 93"/>
                <a:gd name="T2" fmla="*/ 0 w 99"/>
                <a:gd name="T3" fmla="*/ 92 h 93"/>
                <a:gd name="T4" fmla="*/ 98 w 99"/>
                <a:gd name="T5" fmla="*/ 92 h 93"/>
                <a:gd name="T6" fmla="*/ 98 w 99"/>
                <a:gd name="T7" fmla="*/ 0 h 93"/>
              </a:gdLst>
              <a:ahLst/>
              <a:cxnLst>
                <a:cxn ang="0">
                  <a:pos x="T0" y="T1"/>
                </a:cxn>
                <a:cxn ang="0">
                  <a:pos x="T2" y="T3"/>
                </a:cxn>
                <a:cxn ang="0">
                  <a:pos x="T4" y="T5"/>
                </a:cxn>
                <a:cxn ang="0">
                  <a:pos x="T6" y="T7"/>
                </a:cxn>
              </a:cxnLst>
              <a:rect l="0" t="0" r="r" b="b"/>
              <a:pathLst>
                <a:path w="99" h="93">
                  <a:moveTo>
                    <a:pt x="0" y="0"/>
                  </a:moveTo>
                  <a:lnTo>
                    <a:pt x="0" y="92"/>
                  </a:lnTo>
                  <a:lnTo>
                    <a:pt x="98" y="92"/>
                  </a:lnTo>
                  <a:lnTo>
                    <a:pt x="98"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0" name="Freeform 51"/>
            <p:cNvSpPr>
              <a:spLocks/>
            </p:cNvSpPr>
            <p:nvPr/>
          </p:nvSpPr>
          <p:spPr bwMode="auto">
            <a:xfrm>
              <a:off x="8623301" y="5530851"/>
              <a:ext cx="131763" cy="130175"/>
            </a:xfrm>
            <a:custGeom>
              <a:avLst/>
              <a:gdLst>
                <a:gd name="T0" fmla="*/ 0 w 92"/>
                <a:gd name="T1" fmla="*/ 0 h 93"/>
                <a:gd name="T2" fmla="*/ 0 w 92"/>
                <a:gd name="T3" fmla="*/ 92 h 93"/>
                <a:gd name="T4" fmla="*/ 91 w 92"/>
                <a:gd name="T5" fmla="*/ 92 h 93"/>
                <a:gd name="T6" fmla="*/ 91 w 92"/>
                <a:gd name="T7" fmla="*/ 0 h 93"/>
              </a:gdLst>
              <a:ahLst/>
              <a:cxnLst>
                <a:cxn ang="0">
                  <a:pos x="T0" y="T1"/>
                </a:cxn>
                <a:cxn ang="0">
                  <a:pos x="T2" y="T3"/>
                </a:cxn>
                <a:cxn ang="0">
                  <a:pos x="T4" y="T5"/>
                </a:cxn>
                <a:cxn ang="0">
                  <a:pos x="T6" y="T7"/>
                </a:cxn>
              </a:cxnLst>
              <a:rect l="0" t="0" r="r" b="b"/>
              <a:pathLst>
                <a:path w="92" h="93">
                  <a:moveTo>
                    <a:pt x="0" y="0"/>
                  </a:moveTo>
                  <a:lnTo>
                    <a:pt x="0" y="92"/>
                  </a:lnTo>
                  <a:lnTo>
                    <a:pt x="91" y="92"/>
                  </a:lnTo>
                  <a:lnTo>
                    <a:pt x="91"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1" name="Line 52"/>
            <p:cNvSpPr>
              <a:spLocks noChangeShapeType="1"/>
            </p:cNvSpPr>
            <p:nvPr/>
          </p:nvSpPr>
          <p:spPr bwMode="auto">
            <a:xfrm>
              <a:off x="8040689" y="5643563"/>
              <a:ext cx="13652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2" name="Line 53"/>
            <p:cNvSpPr>
              <a:spLocks noChangeShapeType="1"/>
            </p:cNvSpPr>
            <p:nvPr/>
          </p:nvSpPr>
          <p:spPr bwMode="auto">
            <a:xfrm>
              <a:off x="8323263" y="5637213"/>
              <a:ext cx="2984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3" name="Line 54"/>
            <p:cNvSpPr>
              <a:spLocks noChangeShapeType="1"/>
            </p:cNvSpPr>
            <p:nvPr/>
          </p:nvSpPr>
          <p:spPr bwMode="auto">
            <a:xfrm>
              <a:off x="8758239" y="5643563"/>
              <a:ext cx="14763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4" name="Freeform 55"/>
            <p:cNvSpPr>
              <a:spLocks/>
            </p:cNvSpPr>
            <p:nvPr/>
          </p:nvSpPr>
          <p:spPr bwMode="auto">
            <a:xfrm>
              <a:off x="8196263" y="5545138"/>
              <a:ext cx="101600" cy="95250"/>
            </a:xfrm>
            <a:custGeom>
              <a:avLst/>
              <a:gdLst>
                <a:gd name="T0" fmla="*/ 70 w 71"/>
                <a:gd name="T1" fmla="*/ 18 h 68"/>
                <a:gd name="T2" fmla="*/ 70 w 71"/>
                <a:gd name="T3" fmla="*/ 49 h 68"/>
                <a:gd name="T4" fmla="*/ 50 w 71"/>
                <a:gd name="T5" fmla="*/ 67 h 68"/>
                <a:gd name="T6" fmla="*/ 20 w 71"/>
                <a:gd name="T7" fmla="*/ 67 h 68"/>
                <a:gd name="T8" fmla="*/ 0 w 71"/>
                <a:gd name="T9" fmla="*/ 49 h 68"/>
                <a:gd name="T10" fmla="*/ 0 w 71"/>
                <a:gd name="T11" fmla="*/ 18 h 68"/>
                <a:gd name="T12" fmla="*/ 20 w 71"/>
                <a:gd name="T13" fmla="*/ 0 h 68"/>
                <a:gd name="T14" fmla="*/ 20 w 71"/>
                <a:gd name="T15" fmla="*/ 0 h 68"/>
                <a:gd name="T16" fmla="*/ 50 w 71"/>
                <a:gd name="T17" fmla="*/ 0 h 68"/>
                <a:gd name="T18" fmla="*/ 70 w 71"/>
                <a:gd name="T19" fmla="*/ 18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68">
                  <a:moveTo>
                    <a:pt x="70" y="18"/>
                  </a:moveTo>
                  <a:lnTo>
                    <a:pt x="70" y="49"/>
                  </a:lnTo>
                  <a:lnTo>
                    <a:pt x="50" y="67"/>
                  </a:lnTo>
                  <a:lnTo>
                    <a:pt x="20" y="67"/>
                  </a:lnTo>
                  <a:lnTo>
                    <a:pt x="0" y="49"/>
                  </a:lnTo>
                  <a:lnTo>
                    <a:pt x="0" y="18"/>
                  </a:lnTo>
                  <a:lnTo>
                    <a:pt x="20" y="0"/>
                  </a:lnTo>
                  <a:lnTo>
                    <a:pt x="20" y="0"/>
                  </a:lnTo>
                  <a:lnTo>
                    <a:pt x="50" y="0"/>
                  </a:lnTo>
                  <a:lnTo>
                    <a:pt x="70" y="18"/>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5" name="Freeform 56"/>
            <p:cNvSpPr>
              <a:spLocks/>
            </p:cNvSpPr>
            <p:nvPr/>
          </p:nvSpPr>
          <p:spPr bwMode="auto">
            <a:xfrm>
              <a:off x="8642351" y="5545138"/>
              <a:ext cx="98425" cy="95250"/>
            </a:xfrm>
            <a:custGeom>
              <a:avLst/>
              <a:gdLst>
                <a:gd name="T0" fmla="*/ 68 w 69"/>
                <a:gd name="T1" fmla="*/ 18 h 68"/>
                <a:gd name="T2" fmla="*/ 68 w 69"/>
                <a:gd name="T3" fmla="*/ 49 h 68"/>
                <a:gd name="T4" fmla="*/ 49 w 69"/>
                <a:gd name="T5" fmla="*/ 67 h 68"/>
                <a:gd name="T6" fmla="*/ 19 w 69"/>
                <a:gd name="T7" fmla="*/ 67 h 68"/>
                <a:gd name="T8" fmla="*/ 0 w 69"/>
                <a:gd name="T9" fmla="*/ 49 h 68"/>
                <a:gd name="T10" fmla="*/ 0 w 69"/>
                <a:gd name="T11" fmla="*/ 18 h 68"/>
                <a:gd name="T12" fmla="*/ 19 w 69"/>
                <a:gd name="T13" fmla="*/ 0 h 68"/>
                <a:gd name="T14" fmla="*/ 19 w 69"/>
                <a:gd name="T15" fmla="*/ 0 h 68"/>
                <a:gd name="T16" fmla="*/ 49 w 69"/>
                <a:gd name="T17" fmla="*/ 0 h 68"/>
                <a:gd name="T18" fmla="*/ 68 w 69"/>
                <a:gd name="T19" fmla="*/ 18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68">
                  <a:moveTo>
                    <a:pt x="68" y="18"/>
                  </a:moveTo>
                  <a:lnTo>
                    <a:pt x="68" y="49"/>
                  </a:lnTo>
                  <a:lnTo>
                    <a:pt x="49" y="67"/>
                  </a:lnTo>
                  <a:lnTo>
                    <a:pt x="19" y="67"/>
                  </a:lnTo>
                  <a:lnTo>
                    <a:pt x="0" y="49"/>
                  </a:lnTo>
                  <a:lnTo>
                    <a:pt x="0" y="18"/>
                  </a:lnTo>
                  <a:lnTo>
                    <a:pt x="19" y="0"/>
                  </a:lnTo>
                  <a:lnTo>
                    <a:pt x="19" y="0"/>
                  </a:lnTo>
                  <a:lnTo>
                    <a:pt x="49" y="0"/>
                  </a:lnTo>
                  <a:lnTo>
                    <a:pt x="68" y="18"/>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6" name="Line 57"/>
            <p:cNvSpPr>
              <a:spLocks noChangeShapeType="1"/>
            </p:cNvSpPr>
            <p:nvPr/>
          </p:nvSpPr>
          <p:spPr bwMode="auto">
            <a:xfrm flipH="1">
              <a:off x="8261351" y="5072064"/>
              <a:ext cx="11113" cy="1809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7" name="Line 58"/>
            <p:cNvSpPr>
              <a:spLocks noChangeShapeType="1"/>
            </p:cNvSpPr>
            <p:nvPr/>
          </p:nvSpPr>
          <p:spPr bwMode="auto">
            <a:xfrm>
              <a:off x="8680451" y="5072064"/>
              <a:ext cx="4763" cy="1809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8" name="Freeform 59"/>
            <p:cNvSpPr>
              <a:spLocks/>
            </p:cNvSpPr>
            <p:nvPr/>
          </p:nvSpPr>
          <p:spPr bwMode="auto">
            <a:xfrm>
              <a:off x="8007350" y="5124450"/>
              <a:ext cx="260350" cy="122238"/>
            </a:xfrm>
            <a:custGeom>
              <a:avLst/>
              <a:gdLst>
                <a:gd name="T0" fmla="*/ 0 w 181"/>
                <a:gd name="T1" fmla="*/ 86 h 87"/>
                <a:gd name="T2" fmla="*/ 16 w 181"/>
                <a:gd name="T3" fmla="*/ 0 h 87"/>
                <a:gd name="T4" fmla="*/ 180 w 181"/>
                <a:gd name="T5" fmla="*/ 0 h 87"/>
                <a:gd name="T6" fmla="*/ 174 w 181"/>
                <a:gd name="T7" fmla="*/ 86 h 87"/>
                <a:gd name="T8" fmla="*/ 0 w 181"/>
                <a:gd name="T9" fmla="*/ 86 h 87"/>
              </a:gdLst>
              <a:ahLst/>
              <a:cxnLst>
                <a:cxn ang="0">
                  <a:pos x="T0" y="T1"/>
                </a:cxn>
                <a:cxn ang="0">
                  <a:pos x="T2" y="T3"/>
                </a:cxn>
                <a:cxn ang="0">
                  <a:pos x="T4" y="T5"/>
                </a:cxn>
                <a:cxn ang="0">
                  <a:pos x="T6" y="T7"/>
                </a:cxn>
                <a:cxn ang="0">
                  <a:pos x="T8" y="T9"/>
                </a:cxn>
              </a:cxnLst>
              <a:rect l="0" t="0" r="r" b="b"/>
              <a:pathLst>
                <a:path w="181" h="87">
                  <a:moveTo>
                    <a:pt x="0" y="86"/>
                  </a:moveTo>
                  <a:lnTo>
                    <a:pt x="16" y="0"/>
                  </a:lnTo>
                  <a:lnTo>
                    <a:pt x="180" y="0"/>
                  </a:lnTo>
                  <a:lnTo>
                    <a:pt x="174" y="86"/>
                  </a:lnTo>
                  <a:lnTo>
                    <a:pt x="0" y="86"/>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9" name="Freeform 60" descr="Outlined diamond"/>
            <p:cNvSpPr>
              <a:spLocks/>
            </p:cNvSpPr>
            <p:nvPr/>
          </p:nvSpPr>
          <p:spPr bwMode="auto">
            <a:xfrm>
              <a:off x="8013701" y="5175251"/>
              <a:ext cx="252413" cy="34925"/>
            </a:xfrm>
            <a:custGeom>
              <a:avLst/>
              <a:gdLst>
                <a:gd name="T0" fmla="*/ 6 w 175"/>
                <a:gd name="T1" fmla="*/ 0 h 25"/>
                <a:gd name="T2" fmla="*/ 174 w 175"/>
                <a:gd name="T3" fmla="*/ 0 h 25"/>
                <a:gd name="T4" fmla="*/ 169 w 175"/>
                <a:gd name="T5" fmla="*/ 24 h 25"/>
                <a:gd name="T6" fmla="*/ 0 w 175"/>
                <a:gd name="T7" fmla="*/ 23 h 25"/>
                <a:gd name="T8" fmla="*/ 6 w 175"/>
                <a:gd name="T9" fmla="*/ 1 h 25"/>
                <a:gd name="T10" fmla="*/ 6 w 175"/>
                <a:gd name="T11" fmla="*/ 0 h 25"/>
                <a:gd name="T12" fmla="*/ 6 w 175"/>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175" h="25">
                  <a:moveTo>
                    <a:pt x="6" y="0"/>
                  </a:moveTo>
                  <a:lnTo>
                    <a:pt x="174" y="0"/>
                  </a:lnTo>
                  <a:lnTo>
                    <a:pt x="169" y="24"/>
                  </a:lnTo>
                  <a:lnTo>
                    <a:pt x="0" y="23"/>
                  </a:lnTo>
                  <a:lnTo>
                    <a:pt x="6" y="1"/>
                  </a:lnTo>
                  <a:lnTo>
                    <a:pt x="6" y="0"/>
                  </a:lnTo>
                  <a:lnTo>
                    <a:pt x="6" y="0"/>
                  </a:lnTo>
                </a:path>
              </a:pathLst>
            </a:custGeom>
            <a:pattFill prst="openDmnd">
              <a:fgClr>
                <a:srgbClr val="000000"/>
              </a:fgClr>
              <a:bgClr>
                <a:srgbClr val="FFFFFF"/>
              </a:bgClr>
            </a:patt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0" name="Freeform 61"/>
            <p:cNvSpPr>
              <a:spLocks/>
            </p:cNvSpPr>
            <p:nvPr/>
          </p:nvSpPr>
          <p:spPr bwMode="auto">
            <a:xfrm>
              <a:off x="8008938" y="5180014"/>
              <a:ext cx="36512" cy="15875"/>
            </a:xfrm>
            <a:custGeom>
              <a:avLst/>
              <a:gdLst>
                <a:gd name="T0" fmla="*/ 3 w 26"/>
                <a:gd name="T1" fmla="*/ 1 h 12"/>
                <a:gd name="T2" fmla="*/ 25 w 26"/>
                <a:gd name="T3" fmla="*/ 3 h 12"/>
                <a:gd name="T4" fmla="*/ 23 w 26"/>
                <a:gd name="T5" fmla="*/ 11 h 12"/>
                <a:gd name="T6" fmla="*/ 0 w 26"/>
                <a:gd name="T7" fmla="*/ 11 h 12"/>
                <a:gd name="T8" fmla="*/ 3 w 26"/>
                <a:gd name="T9" fmla="*/ 0 h 12"/>
                <a:gd name="T10" fmla="*/ 3 w 26"/>
                <a:gd name="T11" fmla="*/ 1 h 12"/>
                <a:gd name="T12" fmla="*/ 3 w 26"/>
                <a:gd name="T13" fmla="*/ 1 h 12"/>
              </a:gdLst>
              <a:ahLst/>
              <a:cxnLst>
                <a:cxn ang="0">
                  <a:pos x="T0" y="T1"/>
                </a:cxn>
                <a:cxn ang="0">
                  <a:pos x="T2" y="T3"/>
                </a:cxn>
                <a:cxn ang="0">
                  <a:pos x="T4" y="T5"/>
                </a:cxn>
                <a:cxn ang="0">
                  <a:pos x="T6" y="T7"/>
                </a:cxn>
                <a:cxn ang="0">
                  <a:pos x="T8" y="T9"/>
                </a:cxn>
                <a:cxn ang="0">
                  <a:pos x="T10" y="T11"/>
                </a:cxn>
                <a:cxn ang="0">
                  <a:pos x="T12" y="T13"/>
                </a:cxn>
              </a:cxnLst>
              <a:rect l="0" t="0" r="r" b="b"/>
              <a:pathLst>
                <a:path w="26" h="12">
                  <a:moveTo>
                    <a:pt x="3" y="1"/>
                  </a:moveTo>
                  <a:lnTo>
                    <a:pt x="25" y="3"/>
                  </a:lnTo>
                  <a:lnTo>
                    <a:pt x="23" y="11"/>
                  </a:lnTo>
                  <a:lnTo>
                    <a:pt x="0" y="11"/>
                  </a:lnTo>
                  <a:lnTo>
                    <a:pt x="3" y="0"/>
                  </a:lnTo>
                  <a:lnTo>
                    <a:pt x="3" y="1"/>
                  </a:lnTo>
                  <a:lnTo>
                    <a:pt x="3" y="1"/>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1" name="Freeform 62"/>
            <p:cNvSpPr>
              <a:spLocks/>
            </p:cNvSpPr>
            <p:nvPr/>
          </p:nvSpPr>
          <p:spPr bwMode="auto">
            <a:xfrm>
              <a:off x="8682039" y="5118100"/>
              <a:ext cx="280987" cy="128588"/>
            </a:xfrm>
            <a:custGeom>
              <a:avLst/>
              <a:gdLst>
                <a:gd name="T0" fmla="*/ 176 w 195"/>
                <a:gd name="T1" fmla="*/ 0 h 92"/>
                <a:gd name="T2" fmla="*/ 0 w 195"/>
                <a:gd name="T3" fmla="*/ 0 h 92"/>
                <a:gd name="T4" fmla="*/ 3 w 195"/>
                <a:gd name="T5" fmla="*/ 91 h 92"/>
                <a:gd name="T6" fmla="*/ 194 w 195"/>
                <a:gd name="T7" fmla="*/ 91 h 92"/>
                <a:gd name="T8" fmla="*/ 176 w 195"/>
                <a:gd name="T9" fmla="*/ 3 h 92"/>
              </a:gdLst>
              <a:ahLst/>
              <a:cxnLst>
                <a:cxn ang="0">
                  <a:pos x="T0" y="T1"/>
                </a:cxn>
                <a:cxn ang="0">
                  <a:pos x="T2" y="T3"/>
                </a:cxn>
                <a:cxn ang="0">
                  <a:pos x="T4" y="T5"/>
                </a:cxn>
                <a:cxn ang="0">
                  <a:pos x="T6" y="T7"/>
                </a:cxn>
                <a:cxn ang="0">
                  <a:pos x="T8" y="T9"/>
                </a:cxn>
              </a:cxnLst>
              <a:rect l="0" t="0" r="r" b="b"/>
              <a:pathLst>
                <a:path w="195" h="92">
                  <a:moveTo>
                    <a:pt x="176" y="0"/>
                  </a:moveTo>
                  <a:lnTo>
                    <a:pt x="0" y="0"/>
                  </a:lnTo>
                  <a:lnTo>
                    <a:pt x="3" y="91"/>
                  </a:lnTo>
                  <a:lnTo>
                    <a:pt x="194" y="91"/>
                  </a:lnTo>
                  <a:lnTo>
                    <a:pt x="176" y="3"/>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2" name="Freeform 63" descr="Outlined diamond"/>
            <p:cNvSpPr>
              <a:spLocks/>
            </p:cNvSpPr>
            <p:nvPr/>
          </p:nvSpPr>
          <p:spPr bwMode="auto">
            <a:xfrm>
              <a:off x="8682039" y="5175251"/>
              <a:ext cx="274637" cy="41275"/>
            </a:xfrm>
            <a:custGeom>
              <a:avLst/>
              <a:gdLst>
                <a:gd name="T0" fmla="*/ 182 w 190"/>
                <a:gd name="T1" fmla="*/ 0 h 29"/>
                <a:gd name="T2" fmla="*/ 0 w 190"/>
                <a:gd name="T3" fmla="*/ 0 h 29"/>
                <a:gd name="T4" fmla="*/ 1 w 190"/>
                <a:gd name="T5" fmla="*/ 28 h 29"/>
                <a:gd name="T6" fmla="*/ 189 w 190"/>
                <a:gd name="T7" fmla="*/ 28 h 29"/>
                <a:gd name="T8" fmla="*/ 182 w 190"/>
                <a:gd name="T9" fmla="*/ 1 h 29"/>
                <a:gd name="T10" fmla="*/ 182 w 190"/>
                <a:gd name="T11" fmla="*/ 0 h 29"/>
                <a:gd name="T12" fmla="*/ 182 w 190"/>
                <a:gd name="T13" fmla="*/ 0 h 29"/>
              </a:gdLst>
              <a:ahLst/>
              <a:cxnLst>
                <a:cxn ang="0">
                  <a:pos x="T0" y="T1"/>
                </a:cxn>
                <a:cxn ang="0">
                  <a:pos x="T2" y="T3"/>
                </a:cxn>
                <a:cxn ang="0">
                  <a:pos x="T4" y="T5"/>
                </a:cxn>
                <a:cxn ang="0">
                  <a:pos x="T6" y="T7"/>
                </a:cxn>
                <a:cxn ang="0">
                  <a:pos x="T8" y="T9"/>
                </a:cxn>
                <a:cxn ang="0">
                  <a:pos x="T10" y="T11"/>
                </a:cxn>
                <a:cxn ang="0">
                  <a:pos x="T12" y="T13"/>
                </a:cxn>
              </a:cxnLst>
              <a:rect l="0" t="0" r="r" b="b"/>
              <a:pathLst>
                <a:path w="190" h="29">
                  <a:moveTo>
                    <a:pt x="182" y="0"/>
                  </a:moveTo>
                  <a:lnTo>
                    <a:pt x="0" y="0"/>
                  </a:lnTo>
                  <a:lnTo>
                    <a:pt x="1" y="28"/>
                  </a:lnTo>
                  <a:lnTo>
                    <a:pt x="189" y="28"/>
                  </a:lnTo>
                  <a:lnTo>
                    <a:pt x="182" y="1"/>
                  </a:lnTo>
                  <a:lnTo>
                    <a:pt x="182" y="0"/>
                  </a:lnTo>
                  <a:lnTo>
                    <a:pt x="182" y="0"/>
                  </a:lnTo>
                </a:path>
              </a:pathLst>
            </a:custGeom>
            <a:pattFill prst="openDmnd">
              <a:fgClr>
                <a:srgbClr val="000000"/>
              </a:fgClr>
              <a:bgClr>
                <a:srgbClr val="FFFFFF"/>
              </a:bgClr>
            </a:patt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3" name="Freeform 64"/>
            <p:cNvSpPr>
              <a:spLocks/>
            </p:cNvSpPr>
            <p:nvPr/>
          </p:nvSpPr>
          <p:spPr bwMode="auto">
            <a:xfrm>
              <a:off x="8912226" y="5183189"/>
              <a:ext cx="36513" cy="15875"/>
            </a:xfrm>
            <a:custGeom>
              <a:avLst/>
              <a:gdLst>
                <a:gd name="T0" fmla="*/ 25 w 26"/>
                <a:gd name="T1" fmla="*/ 0 h 11"/>
                <a:gd name="T2" fmla="*/ 0 w 26"/>
                <a:gd name="T3" fmla="*/ 1 h 11"/>
                <a:gd name="T4" fmla="*/ 0 w 26"/>
                <a:gd name="T5" fmla="*/ 10 h 11"/>
                <a:gd name="T6" fmla="*/ 25 w 26"/>
                <a:gd name="T7" fmla="*/ 10 h 11"/>
                <a:gd name="T8" fmla="*/ 25 w 26"/>
                <a:gd name="T9" fmla="*/ 1 h 11"/>
                <a:gd name="T10" fmla="*/ 25 w 26"/>
                <a:gd name="T11" fmla="*/ 0 h 11"/>
                <a:gd name="T12" fmla="*/ 25 w 26"/>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26" h="11">
                  <a:moveTo>
                    <a:pt x="25" y="0"/>
                  </a:moveTo>
                  <a:lnTo>
                    <a:pt x="0" y="1"/>
                  </a:lnTo>
                  <a:lnTo>
                    <a:pt x="0" y="10"/>
                  </a:lnTo>
                  <a:lnTo>
                    <a:pt x="25" y="10"/>
                  </a:lnTo>
                  <a:lnTo>
                    <a:pt x="25" y="1"/>
                  </a:lnTo>
                  <a:lnTo>
                    <a:pt x="25" y="0"/>
                  </a:lnTo>
                  <a:lnTo>
                    <a:pt x="25" y="0"/>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4" name="Freeform 65"/>
            <p:cNvSpPr>
              <a:spLocks/>
            </p:cNvSpPr>
            <p:nvPr/>
          </p:nvSpPr>
          <p:spPr bwMode="auto">
            <a:xfrm>
              <a:off x="8264525" y="5084763"/>
              <a:ext cx="419100" cy="163512"/>
            </a:xfrm>
            <a:custGeom>
              <a:avLst/>
              <a:gdLst>
                <a:gd name="T0" fmla="*/ 8 w 290"/>
                <a:gd name="T1" fmla="*/ 0 h 117"/>
                <a:gd name="T2" fmla="*/ 289 w 290"/>
                <a:gd name="T3" fmla="*/ 0 h 117"/>
                <a:gd name="T4" fmla="*/ 288 w 290"/>
                <a:gd name="T5" fmla="*/ 116 h 117"/>
                <a:gd name="T6" fmla="*/ 0 w 290"/>
                <a:gd name="T7" fmla="*/ 115 h 117"/>
                <a:gd name="T8" fmla="*/ 8 w 290"/>
                <a:gd name="T9" fmla="*/ 1 h 117"/>
              </a:gdLst>
              <a:ahLst/>
              <a:cxnLst>
                <a:cxn ang="0">
                  <a:pos x="T0" y="T1"/>
                </a:cxn>
                <a:cxn ang="0">
                  <a:pos x="T2" y="T3"/>
                </a:cxn>
                <a:cxn ang="0">
                  <a:pos x="T4" y="T5"/>
                </a:cxn>
                <a:cxn ang="0">
                  <a:pos x="T6" y="T7"/>
                </a:cxn>
                <a:cxn ang="0">
                  <a:pos x="T8" y="T9"/>
                </a:cxn>
              </a:cxnLst>
              <a:rect l="0" t="0" r="r" b="b"/>
              <a:pathLst>
                <a:path w="290" h="117">
                  <a:moveTo>
                    <a:pt x="8" y="0"/>
                  </a:moveTo>
                  <a:lnTo>
                    <a:pt x="289" y="0"/>
                  </a:lnTo>
                  <a:lnTo>
                    <a:pt x="288" y="116"/>
                  </a:lnTo>
                  <a:lnTo>
                    <a:pt x="0" y="115"/>
                  </a:lnTo>
                  <a:lnTo>
                    <a:pt x="8" y="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5" name="Freeform 66"/>
            <p:cNvSpPr>
              <a:spLocks/>
            </p:cNvSpPr>
            <p:nvPr/>
          </p:nvSpPr>
          <p:spPr bwMode="auto">
            <a:xfrm>
              <a:off x="8453439" y="4967288"/>
              <a:ext cx="41275" cy="38100"/>
            </a:xfrm>
            <a:custGeom>
              <a:avLst/>
              <a:gdLst>
                <a:gd name="T0" fmla="*/ 27 w 28"/>
                <a:gd name="T1" fmla="*/ 13 h 28"/>
                <a:gd name="T2" fmla="*/ 27 w 28"/>
                <a:gd name="T3" fmla="*/ 10 h 28"/>
                <a:gd name="T4" fmla="*/ 27 w 28"/>
                <a:gd name="T5" fmla="*/ 9 h 28"/>
                <a:gd name="T6" fmla="*/ 26 w 28"/>
                <a:gd name="T7" fmla="*/ 7 h 28"/>
                <a:gd name="T8" fmla="*/ 24 w 28"/>
                <a:gd name="T9" fmla="*/ 5 h 28"/>
                <a:gd name="T10" fmla="*/ 24 w 28"/>
                <a:gd name="T11" fmla="*/ 3 h 28"/>
                <a:gd name="T12" fmla="*/ 22 w 28"/>
                <a:gd name="T13" fmla="*/ 3 h 28"/>
                <a:gd name="T14" fmla="*/ 20 w 28"/>
                <a:gd name="T15" fmla="*/ 1 h 28"/>
                <a:gd name="T16" fmla="*/ 18 w 28"/>
                <a:gd name="T17" fmla="*/ 1 h 28"/>
                <a:gd name="T18" fmla="*/ 16 w 28"/>
                <a:gd name="T19" fmla="*/ 0 h 28"/>
                <a:gd name="T20" fmla="*/ 14 w 28"/>
                <a:gd name="T21" fmla="*/ 0 h 28"/>
                <a:gd name="T22" fmla="*/ 12 w 28"/>
                <a:gd name="T23" fmla="*/ 0 h 28"/>
                <a:gd name="T24" fmla="*/ 10 w 28"/>
                <a:gd name="T25" fmla="*/ 1 h 28"/>
                <a:gd name="T26" fmla="*/ 8 w 28"/>
                <a:gd name="T27" fmla="*/ 1 h 28"/>
                <a:gd name="T28" fmla="*/ 7 w 28"/>
                <a:gd name="T29" fmla="*/ 3 h 28"/>
                <a:gd name="T30" fmla="*/ 5 w 28"/>
                <a:gd name="T31" fmla="*/ 3 h 28"/>
                <a:gd name="T32" fmla="*/ 3 w 28"/>
                <a:gd name="T33" fmla="*/ 5 h 28"/>
                <a:gd name="T34" fmla="*/ 2 w 28"/>
                <a:gd name="T35" fmla="*/ 7 h 28"/>
                <a:gd name="T36" fmla="*/ 2 w 28"/>
                <a:gd name="T37" fmla="*/ 9 h 28"/>
                <a:gd name="T38" fmla="*/ 0 w 28"/>
                <a:gd name="T39" fmla="*/ 10 h 28"/>
                <a:gd name="T40" fmla="*/ 0 w 28"/>
                <a:gd name="T41" fmla="*/ 13 h 28"/>
                <a:gd name="T42" fmla="*/ 0 w 28"/>
                <a:gd name="T43" fmla="*/ 15 h 28"/>
                <a:gd name="T44" fmla="*/ 0 w 28"/>
                <a:gd name="T45" fmla="*/ 17 h 28"/>
                <a:gd name="T46" fmla="*/ 2 w 28"/>
                <a:gd name="T47" fmla="*/ 18 h 28"/>
                <a:gd name="T48" fmla="*/ 2 w 28"/>
                <a:gd name="T49" fmla="*/ 20 h 28"/>
                <a:gd name="T50" fmla="*/ 3 w 28"/>
                <a:gd name="T51" fmla="*/ 22 h 28"/>
                <a:gd name="T52" fmla="*/ 5 w 28"/>
                <a:gd name="T53" fmla="*/ 24 h 28"/>
                <a:gd name="T54" fmla="*/ 7 w 28"/>
                <a:gd name="T55" fmla="*/ 25 h 28"/>
                <a:gd name="T56" fmla="*/ 8 w 28"/>
                <a:gd name="T57" fmla="*/ 26 h 28"/>
                <a:gd name="T58" fmla="*/ 10 w 28"/>
                <a:gd name="T59" fmla="*/ 26 h 28"/>
                <a:gd name="T60" fmla="*/ 12 w 28"/>
                <a:gd name="T61" fmla="*/ 27 h 28"/>
                <a:gd name="T62" fmla="*/ 14 w 28"/>
                <a:gd name="T63" fmla="*/ 27 h 28"/>
                <a:gd name="T64" fmla="*/ 16 w 28"/>
                <a:gd name="T65" fmla="*/ 27 h 28"/>
                <a:gd name="T66" fmla="*/ 18 w 28"/>
                <a:gd name="T67" fmla="*/ 26 h 28"/>
                <a:gd name="T68" fmla="*/ 20 w 28"/>
                <a:gd name="T69" fmla="*/ 26 h 28"/>
                <a:gd name="T70" fmla="*/ 22 w 28"/>
                <a:gd name="T71" fmla="*/ 25 h 28"/>
                <a:gd name="T72" fmla="*/ 24 w 28"/>
                <a:gd name="T73" fmla="*/ 24 h 28"/>
                <a:gd name="T74" fmla="*/ 24 w 28"/>
                <a:gd name="T75" fmla="*/ 22 h 28"/>
                <a:gd name="T76" fmla="*/ 26 w 28"/>
                <a:gd name="T77" fmla="*/ 20 h 28"/>
                <a:gd name="T78" fmla="*/ 27 w 28"/>
                <a:gd name="T79" fmla="*/ 18 h 28"/>
                <a:gd name="T80" fmla="*/ 27 w 28"/>
                <a:gd name="T81" fmla="*/ 17 h 28"/>
                <a:gd name="T82" fmla="*/ 27 w 28"/>
                <a:gd name="T83" fmla="*/ 15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 h="28">
                  <a:moveTo>
                    <a:pt x="27" y="14"/>
                  </a:moveTo>
                  <a:lnTo>
                    <a:pt x="27" y="13"/>
                  </a:lnTo>
                  <a:lnTo>
                    <a:pt x="27" y="11"/>
                  </a:lnTo>
                  <a:lnTo>
                    <a:pt x="27" y="10"/>
                  </a:lnTo>
                  <a:lnTo>
                    <a:pt x="27" y="9"/>
                  </a:lnTo>
                  <a:lnTo>
                    <a:pt x="27" y="9"/>
                  </a:lnTo>
                  <a:lnTo>
                    <a:pt x="26" y="7"/>
                  </a:lnTo>
                  <a:lnTo>
                    <a:pt x="26" y="7"/>
                  </a:lnTo>
                  <a:lnTo>
                    <a:pt x="25" y="5"/>
                  </a:lnTo>
                  <a:lnTo>
                    <a:pt x="24" y="5"/>
                  </a:lnTo>
                  <a:lnTo>
                    <a:pt x="24" y="5"/>
                  </a:lnTo>
                  <a:lnTo>
                    <a:pt x="24" y="3"/>
                  </a:lnTo>
                  <a:lnTo>
                    <a:pt x="23" y="3"/>
                  </a:lnTo>
                  <a:lnTo>
                    <a:pt x="22" y="3"/>
                  </a:lnTo>
                  <a:lnTo>
                    <a:pt x="21" y="2"/>
                  </a:lnTo>
                  <a:lnTo>
                    <a:pt x="20" y="1"/>
                  </a:lnTo>
                  <a:lnTo>
                    <a:pt x="19" y="1"/>
                  </a:lnTo>
                  <a:lnTo>
                    <a:pt x="18" y="1"/>
                  </a:lnTo>
                  <a:lnTo>
                    <a:pt x="17" y="0"/>
                  </a:lnTo>
                  <a:lnTo>
                    <a:pt x="16" y="0"/>
                  </a:lnTo>
                  <a:lnTo>
                    <a:pt x="15" y="0"/>
                  </a:lnTo>
                  <a:lnTo>
                    <a:pt x="14" y="0"/>
                  </a:lnTo>
                  <a:lnTo>
                    <a:pt x="13" y="0"/>
                  </a:lnTo>
                  <a:lnTo>
                    <a:pt x="12" y="0"/>
                  </a:lnTo>
                  <a:lnTo>
                    <a:pt x="12" y="0"/>
                  </a:lnTo>
                  <a:lnTo>
                    <a:pt x="10" y="1"/>
                  </a:lnTo>
                  <a:lnTo>
                    <a:pt x="8" y="1"/>
                  </a:lnTo>
                  <a:lnTo>
                    <a:pt x="8" y="1"/>
                  </a:lnTo>
                  <a:lnTo>
                    <a:pt x="7" y="2"/>
                  </a:lnTo>
                  <a:lnTo>
                    <a:pt x="7" y="3"/>
                  </a:lnTo>
                  <a:lnTo>
                    <a:pt x="6" y="3"/>
                  </a:lnTo>
                  <a:lnTo>
                    <a:pt x="5" y="3"/>
                  </a:lnTo>
                  <a:lnTo>
                    <a:pt x="4" y="5"/>
                  </a:lnTo>
                  <a:lnTo>
                    <a:pt x="3" y="5"/>
                  </a:lnTo>
                  <a:lnTo>
                    <a:pt x="3" y="5"/>
                  </a:lnTo>
                  <a:lnTo>
                    <a:pt x="2" y="7"/>
                  </a:lnTo>
                  <a:lnTo>
                    <a:pt x="2" y="7"/>
                  </a:lnTo>
                  <a:lnTo>
                    <a:pt x="2" y="9"/>
                  </a:lnTo>
                  <a:lnTo>
                    <a:pt x="2" y="9"/>
                  </a:lnTo>
                  <a:lnTo>
                    <a:pt x="0" y="10"/>
                  </a:lnTo>
                  <a:lnTo>
                    <a:pt x="0" y="11"/>
                  </a:lnTo>
                  <a:lnTo>
                    <a:pt x="0" y="13"/>
                  </a:lnTo>
                  <a:lnTo>
                    <a:pt x="0" y="14"/>
                  </a:lnTo>
                  <a:lnTo>
                    <a:pt x="0" y="15"/>
                  </a:lnTo>
                  <a:lnTo>
                    <a:pt x="0" y="16"/>
                  </a:lnTo>
                  <a:lnTo>
                    <a:pt x="0" y="17"/>
                  </a:lnTo>
                  <a:lnTo>
                    <a:pt x="2" y="17"/>
                  </a:lnTo>
                  <a:lnTo>
                    <a:pt x="2" y="18"/>
                  </a:lnTo>
                  <a:lnTo>
                    <a:pt x="2" y="19"/>
                  </a:lnTo>
                  <a:lnTo>
                    <a:pt x="2" y="20"/>
                  </a:lnTo>
                  <a:lnTo>
                    <a:pt x="3" y="21"/>
                  </a:lnTo>
                  <a:lnTo>
                    <a:pt x="3" y="22"/>
                  </a:lnTo>
                  <a:lnTo>
                    <a:pt x="4" y="23"/>
                  </a:lnTo>
                  <a:lnTo>
                    <a:pt x="5" y="24"/>
                  </a:lnTo>
                  <a:lnTo>
                    <a:pt x="6" y="24"/>
                  </a:lnTo>
                  <a:lnTo>
                    <a:pt x="7" y="25"/>
                  </a:lnTo>
                  <a:lnTo>
                    <a:pt x="7" y="26"/>
                  </a:lnTo>
                  <a:lnTo>
                    <a:pt x="8" y="26"/>
                  </a:lnTo>
                  <a:lnTo>
                    <a:pt x="8" y="26"/>
                  </a:lnTo>
                  <a:lnTo>
                    <a:pt x="10" y="26"/>
                  </a:lnTo>
                  <a:lnTo>
                    <a:pt x="12" y="27"/>
                  </a:lnTo>
                  <a:lnTo>
                    <a:pt x="12" y="27"/>
                  </a:lnTo>
                  <a:lnTo>
                    <a:pt x="13" y="27"/>
                  </a:lnTo>
                  <a:lnTo>
                    <a:pt x="14" y="27"/>
                  </a:lnTo>
                  <a:lnTo>
                    <a:pt x="15" y="27"/>
                  </a:lnTo>
                  <a:lnTo>
                    <a:pt x="16" y="27"/>
                  </a:lnTo>
                  <a:lnTo>
                    <a:pt x="17" y="27"/>
                  </a:lnTo>
                  <a:lnTo>
                    <a:pt x="18" y="26"/>
                  </a:lnTo>
                  <a:lnTo>
                    <a:pt x="19" y="26"/>
                  </a:lnTo>
                  <a:lnTo>
                    <a:pt x="20" y="26"/>
                  </a:lnTo>
                  <a:lnTo>
                    <a:pt x="21" y="26"/>
                  </a:lnTo>
                  <a:lnTo>
                    <a:pt x="22" y="25"/>
                  </a:lnTo>
                  <a:lnTo>
                    <a:pt x="23" y="24"/>
                  </a:lnTo>
                  <a:lnTo>
                    <a:pt x="24" y="24"/>
                  </a:lnTo>
                  <a:lnTo>
                    <a:pt x="24" y="23"/>
                  </a:lnTo>
                  <a:lnTo>
                    <a:pt x="24" y="22"/>
                  </a:lnTo>
                  <a:lnTo>
                    <a:pt x="25" y="21"/>
                  </a:lnTo>
                  <a:lnTo>
                    <a:pt x="26" y="20"/>
                  </a:lnTo>
                  <a:lnTo>
                    <a:pt x="26" y="19"/>
                  </a:lnTo>
                  <a:lnTo>
                    <a:pt x="27" y="18"/>
                  </a:lnTo>
                  <a:lnTo>
                    <a:pt x="27" y="17"/>
                  </a:lnTo>
                  <a:lnTo>
                    <a:pt x="27" y="17"/>
                  </a:lnTo>
                  <a:lnTo>
                    <a:pt x="27" y="16"/>
                  </a:lnTo>
                  <a:lnTo>
                    <a:pt x="27" y="15"/>
                  </a:lnTo>
                  <a:lnTo>
                    <a:pt x="27" y="14"/>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6" name="Freeform 67"/>
            <p:cNvSpPr>
              <a:spLocks/>
            </p:cNvSpPr>
            <p:nvPr/>
          </p:nvSpPr>
          <p:spPr bwMode="auto">
            <a:xfrm>
              <a:off x="8448675" y="5383213"/>
              <a:ext cx="39688" cy="38100"/>
            </a:xfrm>
            <a:custGeom>
              <a:avLst/>
              <a:gdLst>
                <a:gd name="T0" fmla="*/ 27 w 28"/>
                <a:gd name="T1" fmla="*/ 12 h 28"/>
                <a:gd name="T2" fmla="*/ 26 w 28"/>
                <a:gd name="T3" fmla="*/ 10 h 28"/>
                <a:gd name="T4" fmla="*/ 26 w 28"/>
                <a:gd name="T5" fmla="*/ 8 h 28"/>
                <a:gd name="T6" fmla="*/ 24 w 28"/>
                <a:gd name="T7" fmla="*/ 6 h 28"/>
                <a:gd name="T8" fmla="*/ 23 w 28"/>
                <a:gd name="T9" fmla="*/ 4 h 28"/>
                <a:gd name="T10" fmla="*/ 22 w 28"/>
                <a:gd name="T11" fmla="*/ 3 h 28"/>
                <a:gd name="T12" fmla="*/ 21 w 28"/>
                <a:gd name="T13" fmla="*/ 2 h 28"/>
                <a:gd name="T14" fmla="*/ 19 w 28"/>
                <a:gd name="T15" fmla="*/ 1 h 28"/>
                <a:gd name="T16" fmla="*/ 17 w 28"/>
                <a:gd name="T17" fmla="*/ 0 h 28"/>
                <a:gd name="T18" fmla="*/ 14 w 28"/>
                <a:gd name="T19" fmla="*/ 0 h 28"/>
                <a:gd name="T20" fmla="*/ 12 w 28"/>
                <a:gd name="T21" fmla="*/ 0 h 28"/>
                <a:gd name="T22" fmla="*/ 11 w 28"/>
                <a:gd name="T23" fmla="*/ 0 h 28"/>
                <a:gd name="T24" fmla="*/ 9 w 28"/>
                <a:gd name="T25" fmla="*/ 0 h 28"/>
                <a:gd name="T26" fmla="*/ 7 w 28"/>
                <a:gd name="T27" fmla="*/ 1 h 28"/>
                <a:gd name="T28" fmla="*/ 6 w 28"/>
                <a:gd name="T29" fmla="*/ 2 h 28"/>
                <a:gd name="T30" fmla="*/ 4 w 28"/>
                <a:gd name="T31" fmla="*/ 3 h 28"/>
                <a:gd name="T32" fmla="*/ 2 w 28"/>
                <a:gd name="T33" fmla="*/ 4 h 28"/>
                <a:gd name="T34" fmla="*/ 1 w 28"/>
                <a:gd name="T35" fmla="*/ 6 h 28"/>
                <a:gd name="T36" fmla="*/ 0 w 28"/>
                <a:gd name="T37" fmla="*/ 8 h 28"/>
                <a:gd name="T38" fmla="*/ 0 w 28"/>
                <a:gd name="T39" fmla="*/ 10 h 28"/>
                <a:gd name="T40" fmla="*/ 0 w 28"/>
                <a:gd name="T41" fmla="*/ 12 h 28"/>
                <a:gd name="T42" fmla="*/ 0 w 28"/>
                <a:gd name="T43" fmla="*/ 14 h 28"/>
                <a:gd name="T44" fmla="*/ 0 w 28"/>
                <a:gd name="T45" fmla="*/ 17 h 28"/>
                <a:gd name="T46" fmla="*/ 0 w 28"/>
                <a:gd name="T47" fmla="*/ 18 h 28"/>
                <a:gd name="T48" fmla="*/ 1 w 28"/>
                <a:gd name="T49" fmla="*/ 20 h 28"/>
                <a:gd name="T50" fmla="*/ 2 w 28"/>
                <a:gd name="T51" fmla="*/ 21 h 28"/>
                <a:gd name="T52" fmla="*/ 4 w 28"/>
                <a:gd name="T53" fmla="*/ 23 h 28"/>
                <a:gd name="T54" fmla="*/ 6 w 28"/>
                <a:gd name="T55" fmla="*/ 24 h 28"/>
                <a:gd name="T56" fmla="*/ 7 w 28"/>
                <a:gd name="T57" fmla="*/ 25 h 28"/>
                <a:gd name="T58" fmla="*/ 9 w 28"/>
                <a:gd name="T59" fmla="*/ 26 h 28"/>
                <a:gd name="T60" fmla="*/ 11 w 28"/>
                <a:gd name="T61" fmla="*/ 27 h 28"/>
                <a:gd name="T62" fmla="*/ 12 w 28"/>
                <a:gd name="T63" fmla="*/ 27 h 28"/>
                <a:gd name="T64" fmla="*/ 14 w 28"/>
                <a:gd name="T65" fmla="*/ 27 h 28"/>
                <a:gd name="T66" fmla="*/ 17 w 28"/>
                <a:gd name="T67" fmla="*/ 26 h 28"/>
                <a:gd name="T68" fmla="*/ 19 w 28"/>
                <a:gd name="T69" fmla="*/ 25 h 28"/>
                <a:gd name="T70" fmla="*/ 21 w 28"/>
                <a:gd name="T71" fmla="*/ 24 h 28"/>
                <a:gd name="T72" fmla="*/ 22 w 28"/>
                <a:gd name="T73" fmla="*/ 23 h 28"/>
                <a:gd name="T74" fmla="*/ 23 w 28"/>
                <a:gd name="T75" fmla="*/ 21 h 28"/>
                <a:gd name="T76" fmla="*/ 24 w 28"/>
                <a:gd name="T77" fmla="*/ 20 h 28"/>
                <a:gd name="T78" fmla="*/ 26 w 28"/>
                <a:gd name="T79" fmla="*/ 18 h 28"/>
                <a:gd name="T80" fmla="*/ 26 w 28"/>
                <a:gd name="T81" fmla="*/ 17 h 28"/>
                <a:gd name="T82" fmla="*/ 27 w 28"/>
                <a:gd name="T83"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 h="28">
                  <a:moveTo>
                    <a:pt x="27" y="13"/>
                  </a:moveTo>
                  <a:lnTo>
                    <a:pt x="27" y="12"/>
                  </a:lnTo>
                  <a:lnTo>
                    <a:pt x="27" y="11"/>
                  </a:lnTo>
                  <a:lnTo>
                    <a:pt x="26" y="10"/>
                  </a:lnTo>
                  <a:lnTo>
                    <a:pt x="26" y="9"/>
                  </a:lnTo>
                  <a:lnTo>
                    <a:pt x="26" y="8"/>
                  </a:lnTo>
                  <a:lnTo>
                    <a:pt x="25" y="7"/>
                  </a:lnTo>
                  <a:lnTo>
                    <a:pt x="24" y="6"/>
                  </a:lnTo>
                  <a:lnTo>
                    <a:pt x="24" y="6"/>
                  </a:lnTo>
                  <a:lnTo>
                    <a:pt x="23" y="4"/>
                  </a:lnTo>
                  <a:lnTo>
                    <a:pt x="23" y="4"/>
                  </a:lnTo>
                  <a:lnTo>
                    <a:pt x="22" y="3"/>
                  </a:lnTo>
                  <a:lnTo>
                    <a:pt x="21" y="2"/>
                  </a:lnTo>
                  <a:lnTo>
                    <a:pt x="21" y="2"/>
                  </a:lnTo>
                  <a:lnTo>
                    <a:pt x="20" y="1"/>
                  </a:lnTo>
                  <a:lnTo>
                    <a:pt x="19" y="1"/>
                  </a:lnTo>
                  <a:lnTo>
                    <a:pt x="18" y="1"/>
                  </a:lnTo>
                  <a:lnTo>
                    <a:pt x="17" y="0"/>
                  </a:lnTo>
                  <a:lnTo>
                    <a:pt x="16" y="0"/>
                  </a:lnTo>
                  <a:lnTo>
                    <a:pt x="14" y="0"/>
                  </a:lnTo>
                  <a:lnTo>
                    <a:pt x="14" y="0"/>
                  </a:lnTo>
                  <a:lnTo>
                    <a:pt x="12" y="0"/>
                  </a:lnTo>
                  <a:lnTo>
                    <a:pt x="11" y="0"/>
                  </a:lnTo>
                  <a:lnTo>
                    <a:pt x="11" y="0"/>
                  </a:lnTo>
                  <a:lnTo>
                    <a:pt x="10" y="0"/>
                  </a:lnTo>
                  <a:lnTo>
                    <a:pt x="9" y="0"/>
                  </a:lnTo>
                  <a:lnTo>
                    <a:pt x="8" y="1"/>
                  </a:lnTo>
                  <a:lnTo>
                    <a:pt x="7" y="1"/>
                  </a:lnTo>
                  <a:lnTo>
                    <a:pt x="6" y="1"/>
                  </a:lnTo>
                  <a:lnTo>
                    <a:pt x="6" y="2"/>
                  </a:lnTo>
                  <a:lnTo>
                    <a:pt x="4" y="2"/>
                  </a:lnTo>
                  <a:lnTo>
                    <a:pt x="4" y="3"/>
                  </a:lnTo>
                  <a:lnTo>
                    <a:pt x="2" y="4"/>
                  </a:lnTo>
                  <a:lnTo>
                    <a:pt x="2" y="4"/>
                  </a:lnTo>
                  <a:lnTo>
                    <a:pt x="1" y="6"/>
                  </a:lnTo>
                  <a:lnTo>
                    <a:pt x="1" y="6"/>
                  </a:lnTo>
                  <a:lnTo>
                    <a:pt x="0" y="7"/>
                  </a:lnTo>
                  <a:lnTo>
                    <a:pt x="0" y="8"/>
                  </a:lnTo>
                  <a:lnTo>
                    <a:pt x="0" y="9"/>
                  </a:lnTo>
                  <a:lnTo>
                    <a:pt x="0" y="10"/>
                  </a:lnTo>
                  <a:lnTo>
                    <a:pt x="0" y="11"/>
                  </a:lnTo>
                  <a:lnTo>
                    <a:pt x="0" y="12"/>
                  </a:lnTo>
                  <a:lnTo>
                    <a:pt x="0" y="13"/>
                  </a:lnTo>
                  <a:lnTo>
                    <a:pt x="0" y="14"/>
                  </a:lnTo>
                  <a:lnTo>
                    <a:pt x="0" y="16"/>
                  </a:lnTo>
                  <a:lnTo>
                    <a:pt x="0" y="17"/>
                  </a:lnTo>
                  <a:lnTo>
                    <a:pt x="0" y="17"/>
                  </a:lnTo>
                  <a:lnTo>
                    <a:pt x="0" y="18"/>
                  </a:lnTo>
                  <a:lnTo>
                    <a:pt x="0" y="19"/>
                  </a:lnTo>
                  <a:lnTo>
                    <a:pt x="1" y="20"/>
                  </a:lnTo>
                  <a:lnTo>
                    <a:pt x="1" y="21"/>
                  </a:lnTo>
                  <a:lnTo>
                    <a:pt x="2" y="21"/>
                  </a:lnTo>
                  <a:lnTo>
                    <a:pt x="2" y="22"/>
                  </a:lnTo>
                  <a:lnTo>
                    <a:pt x="4" y="23"/>
                  </a:lnTo>
                  <a:lnTo>
                    <a:pt x="4" y="24"/>
                  </a:lnTo>
                  <a:lnTo>
                    <a:pt x="6" y="24"/>
                  </a:lnTo>
                  <a:lnTo>
                    <a:pt x="6" y="25"/>
                  </a:lnTo>
                  <a:lnTo>
                    <a:pt x="7" y="25"/>
                  </a:lnTo>
                  <a:lnTo>
                    <a:pt x="8" y="25"/>
                  </a:lnTo>
                  <a:lnTo>
                    <a:pt x="9" y="26"/>
                  </a:lnTo>
                  <a:lnTo>
                    <a:pt x="10" y="27"/>
                  </a:lnTo>
                  <a:lnTo>
                    <a:pt x="11" y="27"/>
                  </a:lnTo>
                  <a:lnTo>
                    <a:pt x="11" y="27"/>
                  </a:lnTo>
                  <a:lnTo>
                    <a:pt x="12" y="27"/>
                  </a:lnTo>
                  <a:lnTo>
                    <a:pt x="14" y="27"/>
                  </a:lnTo>
                  <a:lnTo>
                    <a:pt x="14" y="27"/>
                  </a:lnTo>
                  <a:lnTo>
                    <a:pt x="16" y="27"/>
                  </a:lnTo>
                  <a:lnTo>
                    <a:pt x="17" y="26"/>
                  </a:lnTo>
                  <a:lnTo>
                    <a:pt x="18" y="25"/>
                  </a:lnTo>
                  <a:lnTo>
                    <a:pt x="19" y="25"/>
                  </a:lnTo>
                  <a:lnTo>
                    <a:pt x="20" y="25"/>
                  </a:lnTo>
                  <a:lnTo>
                    <a:pt x="21" y="24"/>
                  </a:lnTo>
                  <a:lnTo>
                    <a:pt x="21" y="24"/>
                  </a:lnTo>
                  <a:lnTo>
                    <a:pt x="22" y="23"/>
                  </a:lnTo>
                  <a:lnTo>
                    <a:pt x="23" y="22"/>
                  </a:lnTo>
                  <a:lnTo>
                    <a:pt x="23" y="21"/>
                  </a:lnTo>
                  <a:lnTo>
                    <a:pt x="24" y="21"/>
                  </a:lnTo>
                  <a:lnTo>
                    <a:pt x="24" y="20"/>
                  </a:lnTo>
                  <a:lnTo>
                    <a:pt x="25" y="19"/>
                  </a:lnTo>
                  <a:lnTo>
                    <a:pt x="26" y="18"/>
                  </a:lnTo>
                  <a:lnTo>
                    <a:pt x="26" y="17"/>
                  </a:lnTo>
                  <a:lnTo>
                    <a:pt x="26" y="17"/>
                  </a:lnTo>
                  <a:lnTo>
                    <a:pt x="27" y="16"/>
                  </a:lnTo>
                  <a:lnTo>
                    <a:pt x="27" y="14"/>
                  </a:lnTo>
                  <a:lnTo>
                    <a:pt x="27" y="13"/>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7" name="Freeform 68" descr="Outlined diamond"/>
            <p:cNvSpPr>
              <a:spLocks/>
            </p:cNvSpPr>
            <p:nvPr/>
          </p:nvSpPr>
          <p:spPr bwMode="auto">
            <a:xfrm>
              <a:off x="8261350" y="5176838"/>
              <a:ext cx="420688" cy="42862"/>
            </a:xfrm>
            <a:custGeom>
              <a:avLst/>
              <a:gdLst>
                <a:gd name="T0" fmla="*/ 280 w 292"/>
                <a:gd name="T1" fmla="*/ 0 h 31"/>
                <a:gd name="T2" fmla="*/ 0 w 292"/>
                <a:gd name="T3" fmla="*/ 0 h 31"/>
                <a:gd name="T4" fmla="*/ 7 w 292"/>
                <a:gd name="T5" fmla="*/ 30 h 31"/>
                <a:gd name="T6" fmla="*/ 280 w 292"/>
                <a:gd name="T7" fmla="*/ 30 h 31"/>
                <a:gd name="T8" fmla="*/ 291 w 292"/>
                <a:gd name="T9" fmla="*/ 2 h 31"/>
                <a:gd name="T10" fmla="*/ 280 w 292"/>
                <a:gd name="T11" fmla="*/ 0 h 31"/>
                <a:gd name="T12" fmla="*/ 280 w 292"/>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292" h="31">
                  <a:moveTo>
                    <a:pt x="280" y="0"/>
                  </a:moveTo>
                  <a:lnTo>
                    <a:pt x="0" y="0"/>
                  </a:lnTo>
                  <a:lnTo>
                    <a:pt x="7" y="30"/>
                  </a:lnTo>
                  <a:lnTo>
                    <a:pt x="280" y="30"/>
                  </a:lnTo>
                  <a:lnTo>
                    <a:pt x="291" y="2"/>
                  </a:lnTo>
                  <a:lnTo>
                    <a:pt x="280" y="0"/>
                  </a:lnTo>
                  <a:lnTo>
                    <a:pt x="280" y="0"/>
                  </a:lnTo>
                </a:path>
              </a:pathLst>
            </a:custGeom>
            <a:pattFill prst="openDmnd">
              <a:fgClr>
                <a:srgbClr val="000000"/>
              </a:fgClr>
              <a:bgClr>
                <a:srgbClr val="FFFFFF"/>
              </a:bgClr>
            </a:patt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8" name="Freeform 69"/>
            <p:cNvSpPr>
              <a:spLocks/>
            </p:cNvSpPr>
            <p:nvPr/>
          </p:nvSpPr>
          <p:spPr bwMode="auto">
            <a:xfrm>
              <a:off x="6007101" y="4835526"/>
              <a:ext cx="817563" cy="854075"/>
            </a:xfrm>
            <a:custGeom>
              <a:avLst/>
              <a:gdLst>
                <a:gd name="T0" fmla="*/ 52 w 567"/>
                <a:gd name="T1" fmla="*/ 0 h 609"/>
                <a:gd name="T2" fmla="*/ 465 w 567"/>
                <a:gd name="T3" fmla="*/ 0 h 609"/>
                <a:gd name="T4" fmla="*/ 566 w 567"/>
                <a:gd name="T5" fmla="*/ 349 h 609"/>
                <a:gd name="T6" fmla="*/ 566 w 567"/>
                <a:gd name="T7" fmla="*/ 603 h 609"/>
                <a:gd name="T8" fmla="*/ 376 w 567"/>
                <a:gd name="T9" fmla="*/ 603 h 609"/>
                <a:gd name="T10" fmla="*/ 376 w 567"/>
                <a:gd name="T11" fmla="*/ 577 h 609"/>
                <a:gd name="T12" fmla="*/ 280 w 567"/>
                <a:gd name="T13" fmla="*/ 577 h 609"/>
                <a:gd name="T14" fmla="*/ 280 w 567"/>
                <a:gd name="T15" fmla="*/ 588 h 609"/>
                <a:gd name="T16" fmla="*/ 180 w 567"/>
                <a:gd name="T17" fmla="*/ 588 h 609"/>
                <a:gd name="T18" fmla="*/ 180 w 567"/>
                <a:gd name="T19" fmla="*/ 608 h 609"/>
                <a:gd name="T20" fmla="*/ 0 w 567"/>
                <a:gd name="T21" fmla="*/ 608 h 609"/>
                <a:gd name="T22" fmla="*/ 0 w 567"/>
                <a:gd name="T23" fmla="*/ 349 h 609"/>
                <a:gd name="T24" fmla="*/ 52 w 567"/>
                <a:gd name="T25" fmla="*/ 3 h 609"/>
                <a:gd name="T26" fmla="*/ 52 w 567"/>
                <a:gd name="T27" fmla="*/ 0 h 609"/>
                <a:gd name="T28" fmla="*/ 52 w 567"/>
                <a:gd name="T29" fmla="*/ 0 h 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7" h="609">
                  <a:moveTo>
                    <a:pt x="52" y="0"/>
                  </a:moveTo>
                  <a:lnTo>
                    <a:pt x="465" y="0"/>
                  </a:lnTo>
                  <a:lnTo>
                    <a:pt x="566" y="349"/>
                  </a:lnTo>
                  <a:lnTo>
                    <a:pt x="566" y="603"/>
                  </a:lnTo>
                  <a:lnTo>
                    <a:pt x="376" y="603"/>
                  </a:lnTo>
                  <a:lnTo>
                    <a:pt x="376" y="577"/>
                  </a:lnTo>
                  <a:lnTo>
                    <a:pt x="280" y="577"/>
                  </a:lnTo>
                  <a:lnTo>
                    <a:pt x="280" y="588"/>
                  </a:lnTo>
                  <a:lnTo>
                    <a:pt x="180" y="588"/>
                  </a:lnTo>
                  <a:lnTo>
                    <a:pt x="180" y="608"/>
                  </a:lnTo>
                  <a:lnTo>
                    <a:pt x="0" y="608"/>
                  </a:lnTo>
                  <a:lnTo>
                    <a:pt x="0" y="349"/>
                  </a:lnTo>
                  <a:lnTo>
                    <a:pt x="52" y="3"/>
                  </a:lnTo>
                  <a:lnTo>
                    <a:pt x="52" y="0"/>
                  </a:lnTo>
                  <a:lnTo>
                    <a:pt x="52" y="0"/>
                  </a:lnTo>
                </a:path>
              </a:pathLst>
            </a:custGeom>
            <a:gradFill rotWithShape="0">
              <a:gsLst>
                <a:gs pos="0">
                  <a:srgbClr val="FFE118"/>
                </a:gs>
                <a:gs pos="50000">
                  <a:srgbClr val="FFFF80"/>
                </a:gs>
                <a:gs pos="100000">
                  <a:srgbClr val="FFE118"/>
                </a:gs>
              </a:gsLst>
              <a:lin ang="5400000" scaled="1"/>
            </a:gra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9" name="Freeform 70"/>
            <p:cNvSpPr>
              <a:spLocks/>
            </p:cNvSpPr>
            <p:nvPr/>
          </p:nvSpPr>
          <p:spPr bwMode="auto">
            <a:xfrm>
              <a:off x="4762501" y="4835526"/>
              <a:ext cx="804863" cy="854075"/>
            </a:xfrm>
            <a:custGeom>
              <a:avLst/>
              <a:gdLst>
                <a:gd name="T0" fmla="*/ 508 w 558"/>
                <a:gd name="T1" fmla="*/ 0 h 609"/>
                <a:gd name="T2" fmla="*/ 95 w 558"/>
                <a:gd name="T3" fmla="*/ 0 h 609"/>
                <a:gd name="T4" fmla="*/ 0 w 558"/>
                <a:gd name="T5" fmla="*/ 349 h 609"/>
                <a:gd name="T6" fmla="*/ 0 w 558"/>
                <a:gd name="T7" fmla="*/ 603 h 609"/>
                <a:gd name="T8" fmla="*/ 185 w 558"/>
                <a:gd name="T9" fmla="*/ 603 h 609"/>
                <a:gd name="T10" fmla="*/ 185 w 558"/>
                <a:gd name="T11" fmla="*/ 577 h 609"/>
                <a:gd name="T12" fmla="*/ 280 w 558"/>
                <a:gd name="T13" fmla="*/ 577 h 609"/>
                <a:gd name="T14" fmla="*/ 280 w 558"/>
                <a:gd name="T15" fmla="*/ 588 h 609"/>
                <a:gd name="T16" fmla="*/ 381 w 558"/>
                <a:gd name="T17" fmla="*/ 588 h 609"/>
                <a:gd name="T18" fmla="*/ 381 w 558"/>
                <a:gd name="T19" fmla="*/ 608 h 609"/>
                <a:gd name="T20" fmla="*/ 557 w 558"/>
                <a:gd name="T21" fmla="*/ 608 h 609"/>
                <a:gd name="T22" fmla="*/ 557 w 558"/>
                <a:gd name="T23" fmla="*/ 349 h 609"/>
                <a:gd name="T24" fmla="*/ 508 w 558"/>
                <a:gd name="T25" fmla="*/ 3 h 609"/>
                <a:gd name="T26" fmla="*/ 508 w 558"/>
                <a:gd name="T27" fmla="*/ 0 h 609"/>
                <a:gd name="T28" fmla="*/ 508 w 558"/>
                <a:gd name="T29" fmla="*/ 0 h 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8" h="609">
                  <a:moveTo>
                    <a:pt x="508" y="0"/>
                  </a:moveTo>
                  <a:lnTo>
                    <a:pt x="95" y="0"/>
                  </a:lnTo>
                  <a:lnTo>
                    <a:pt x="0" y="349"/>
                  </a:lnTo>
                  <a:lnTo>
                    <a:pt x="0" y="603"/>
                  </a:lnTo>
                  <a:lnTo>
                    <a:pt x="185" y="603"/>
                  </a:lnTo>
                  <a:lnTo>
                    <a:pt x="185" y="577"/>
                  </a:lnTo>
                  <a:lnTo>
                    <a:pt x="280" y="577"/>
                  </a:lnTo>
                  <a:lnTo>
                    <a:pt x="280" y="588"/>
                  </a:lnTo>
                  <a:lnTo>
                    <a:pt x="381" y="588"/>
                  </a:lnTo>
                  <a:lnTo>
                    <a:pt x="381" y="608"/>
                  </a:lnTo>
                  <a:lnTo>
                    <a:pt x="557" y="608"/>
                  </a:lnTo>
                  <a:lnTo>
                    <a:pt x="557" y="349"/>
                  </a:lnTo>
                  <a:lnTo>
                    <a:pt x="508" y="3"/>
                  </a:lnTo>
                  <a:lnTo>
                    <a:pt x="508" y="0"/>
                  </a:lnTo>
                  <a:lnTo>
                    <a:pt x="508" y="0"/>
                  </a:lnTo>
                </a:path>
              </a:pathLst>
            </a:custGeom>
            <a:gradFill rotWithShape="0">
              <a:gsLst>
                <a:gs pos="0">
                  <a:srgbClr val="FFE118"/>
                </a:gs>
                <a:gs pos="50000">
                  <a:srgbClr val="FFFF80"/>
                </a:gs>
                <a:gs pos="100000">
                  <a:srgbClr val="FFE118"/>
                </a:gs>
              </a:gsLst>
              <a:lin ang="5400000" scaled="1"/>
            </a:gra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0" name="Line 71"/>
            <p:cNvSpPr>
              <a:spLocks noChangeShapeType="1"/>
            </p:cNvSpPr>
            <p:nvPr/>
          </p:nvSpPr>
          <p:spPr bwMode="auto">
            <a:xfrm flipH="1">
              <a:off x="4762500" y="4843463"/>
              <a:ext cx="139700" cy="4826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1" name="Freeform 72"/>
            <p:cNvSpPr>
              <a:spLocks/>
            </p:cNvSpPr>
            <p:nvPr/>
          </p:nvSpPr>
          <p:spPr bwMode="auto">
            <a:xfrm>
              <a:off x="4762500" y="5326063"/>
              <a:ext cx="268288" cy="355600"/>
            </a:xfrm>
            <a:custGeom>
              <a:avLst/>
              <a:gdLst>
                <a:gd name="T0" fmla="*/ 0 w 186"/>
                <a:gd name="T1" fmla="*/ 0 h 254"/>
                <a:gd name="T2" fmla="*/ 0 w 186"/>
                <a:gd name="T3" fmla="*/ 253 h 254"/>
                <a:gd name="T4" fmla="*/ 185 w 186"/>
                <a:gd name="T5" fmla="*/ 253 h 254"/>
                <a:gd name="T6" fmla="*/ 185 w 186"/>
                <a:gd name="T7" fmla="*/ 142 h 254"/>
              </a:gdLst>
              <a:ahLst/>
              <a:cxnLst>
                <a:cxn ang="0">
                  <a:pos x="T0" y="T1"/>
                </a:cxn>
                <a:cxn ang="0">
                  <a:pos x="T2" y="T3"/>
                </a:cxn>
                <a:cxn ang="0">
                  <a:pos x="T4" y="T5"/>
                </a:cxn>
                <a:cxn ang="0">
                  <a:pos x="T6" y="T7"/>
                </a:cxn>
              </a:cxnLst>
              <a:rect l="0" t="0" r="r" b="b"/>
              <a:pathLst>
                <a:path w="186" h="254">
                  <a:moveTo>
                    <a:pt x="0" y="0"/>
                  </a:moveTo>
                  <a:lnTo>
                    <a:pt x="0" y="253"/>
                  </a:lnTo>
                  <a:lnTo>
                    <a:pt x="185" y="253"/>
                  </a:lnTo>
                  <a:lnTo>
                    <a:pt x="185" y="142"/>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2" name="Freeform 73"/>
            <p:cNvSpPr>
              <a:spLocks/>
            </p:cNvSpPr>
            <p:nvPr/>
          </p:nvSpPr>
          <p:spPr bwMode="auto">
            <a:xfrm>
              <a:off x="5003800" y="4921250"/>
              <a:ext cx="52388" cy="50800"/>
            </a:xfrm>
            <a:custGeom>
              <a:avLst/>
              <a:gdLst>
                <a:gd name="T0" fmla="*/ 0 w 36"/>
                <a:gd name="T1" fmla="*/ 35 h 36"/>
                <a:gd name="T2" fmla="*/ 0 w 36"/>
                <a:gd name="T3" fmla="*/ 35 h 36"/>
                <a:gd name="T4" fmla="*/ 0 w 36"/>
                <a:gd name="T5" fmla="*/ 33 h 36"/>
                <a:gd name="T6" fmla="*/ 1 w 36"/>
                <a:gd name="T7" fmla="*/ 31 h 36"/>
                <a:gd name="T8" fmla="*/ 2 w 36"/>
                <a:gd name="T9" fmla="*/ 28 h 36"/>
                <a:gd name="T10" fmla="*/ 2 w 36"/>
                <a:gd name="T11" fmla="*/ 27 h 36"/>
                <a:gd name="T12" fmla="*/ 3 w 36"/>
                <a:gd name="T13" fmla="*/ 24 h 36"/>
                <a:gd name="T14" fmla="*/ 3 w 36"/>
                <a:gd name="T15" fmla="*/ 22 h 36"/>
                <a:gd name="T16" fmla="*/ 4 w 36"/>
                <a:gd name="T17" fmla="*/ 20 h 36"/>
                <a:gd name="T18" fmla="*/ 5 w 36"/>
                <a:gd name="T19" fmla="*/ 18 h 36"/>
                <a:gd name="T20" fmla="*/ 7 w 36"/>
                <a:gd name="T21" fmla="*/ 17 h 36"/>
                <a:gd name="T22" fmla="*/ 7 w 36"/>
                <a:gd name="T23" fmla="*/ 15 h 36"/>
                <a:gd name="T24" fmla="*/ 8 w 36"/>
                <a:gd name="T25" fmla="*/ 13 h 36"/>
                <a:gd name="T26" fmla="*/ 10 w 36"/>
                <a:gd name="T27" fmla="*/ 10 h 36"/>
                <a:gd name="T28" fmla="*/ 11 w 36"/>
                <a:gd name="T29" fmla="*/ 8 h 36"/>
                <a:gd name="T30" fmla="*/ 13 w 36"/>
                <a:gd name="T31" fmla="*/ 8 h 36"/>
                <a:gd name="T32" fmla="*/ 15 w 36"/>
                <a:gd name="T33" fmla="*/ 6 h 36"/>
                <a:gd name="T34" fmla="*/ 17 w 36"/>
                <a:gd name="T35" fmla="*/ 5 h 36"/>
                <a:gd name="T36" fmla="*/ 19 w 36"/>
                <a:gd name="T37" fmla="*/ 4 h 36"/>
                <a:gd name="T38" fmla="*/ 21 w 36"/>
                <a:gd name="T39" fmla="*/ 3 h 36"/>
                <a:gd name="T40" fmla="*/ 23 w 36"/>
                <a:gd name="T41" fmla="*/ 3 h 36"/>
                <a:gd name="T42" fmla="*/ 25 w 36"/>
                <a:gd name="T43" fmla="*/ 2 h 36"/>
                <a:gd name="T44" fmla="*/ 27 w 36"/>
                <a:gd name="T45" fmla="*/ 1 h 36"/>
                <a:gd name="T46" fmla="*/ 29 w 36"/>
                <a:gd name="T47" fmla="*/ 0 h 36"/>
                <a:gd name="T48" fmla="*/ 31 w 36"/>
                <a:gd name="T49" fmla="*/ 0 h 36"/>
                <a:gd name="T50" fmla="*/ 33 w 36"/>
                <a:gd name="T51" fmla="*/ 0 h 36"/>
                <a:gd name="T52" fmla="*/ 35 w 36"/>
                <a:gd name="T5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6">
                  <a:moveTo>
                    <a:pt x="0" y="35"/>
                  </a:moveTo>
                  <a:lnTo>
                    <a:pt x="0" y="35"/>
                  </a:lnTo>
                  <a:lnTo>
                    <a:pt x="0" y="33"/>
                  </a:lnTo>
                  <a:lnTo>
                    <a:pt x="1" y="31"/>
                  </a:lnTo>
                  <a:lnTo>
                    <a:pt x="2" y="28"/>
                  </a:lnTo>
                  <a:lnTo>
                    <a:pt x="2" y="27"/>
                  </a:lnTo>
                  <a:lnTo>
                    <a:pt x="3" y="24"/>
                  </a:lnTo>
                  <a:lnTo>
                    <a:pt x="3" y="22"/>
                  </a:lnTo>
                  <a:lnTo>
                    <a:pt x="4" y="20"/>
                  </a:lnTo>
                  <a:lnTo>
                    <a:pt x="5" y="18"/>
                  </a:lnTo>
                  <a:lnTo>
                    <a:pt x="7" y="17"/>
                  </a:lnTo>
                  <a:lnTo>
                    <a:pt x="7" y="15"/>
                  </a:lnTo>
                  <a:lnTo>
                    <a:pt x="8" y="13"/>
                  </a:lnTo>
                  <a:lnTo>
                    <a:pt x="10" y="10"/>
                  </a:lnTo>
                  <a:lnTo>
                    <a:pt x="11" y="8"/>
                  </a:lnTo>
                  <a:lnTo>
                    <a:pt x="13" y="8"/>
                  </a:lnTo>
                  <a:lnTo>
                    <a:pt x="15" y="6"/>
                  </a:lnTo>
                  <a:lnTo>
                    <a:pt x="17" y="5"/>
                  </a:lnTo>
                  <a:lnTo>
                    <a:pt x="19" y="4"/>
                  </a:lnTo>
                  <a:lnTo>
                    <a:pt x="21" y="3"/>
                  </a:lnTo>
                  <a:lnTo>
                    <a:pt x="23" y="3"/>
                  </a:lnTo>
                  <a:lnTo>
                    <a:pt x="25" y="2"/>
                  </a:lnTo>
                  <a:lnTo>
                    <a:pt x="27" y="1"/>
                  </a:lnTo>
                  <a:lnTo>
                    <a:pt x="29" y="0"/>
                  </a:lnTo>
                  <a:lnTo>
                    <a:pt x="31" y="0"/>
                  </a:lnTo>
                  <a:lnTo>
                    <a:pt x="33" y="0"/>
                  </a:lnTo>
                  <a:lnTo>
                    <a:pt x="35"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3" name="Freeform 74"/>
            <p:cNvSpPr>
              <a:spLocks/>
            </p:cNvSpPr>
            <p:nvPr/>
          </p:nvSpPr>
          <p:spPr bwMode="auto">
            <a:xfrm>
              <a:off x="4949826" y="5186364"/>
              <a:ext cx="28575" cy="65087"/>
            </a:xfrm>
            <a:custGeom>
              <a:avLst/>
              <a:gdLst>
                <a:gd name="T0" fmla="*/ 19 w 20"/>
                <a:gd name="T1" fmla="*/ 45 h 46"/>
                <a:gd name="T2" fmla="*/ 19 w 20"/>
                <a:gd name="T3" fmla="*/ 45 h 46"/>
                <a:gd name="T4" fmla="*/ 17 w 20"/>
                <a:gd name="T5" fmla="*/ 45 h 46"/>
                <a:gd name="T6" fmla="*/ 16 w 20"/>
                <a:gd name="T7" fmla="*/ 44 h 46"/>
                <a:gd name="T8" fmla="*/ 13 w 20"/>
                <a:gd name="T9" fmla="*/ 43 h 46"/>
                <a:gd name="T10" fmla="*/ 12 w 20"/>
                <a:gd name="T11" fmla="*/ 41 h 46"/>
                <a:gd name="T12" fmla="*/ 10 w 20"/>
                <a:gd name="T13" fmla="*/ 40 h 46"/>
                <a:gd name="T14" fmla="*/ 8 w 20"/>
                <a:gd name="T15" fmla="*/ 38 h 46"/>
                <a:gd name="T16" fmla="*/ 8 w 20"/>
                <a:gd name="T17" fmla="*/ 36 h 46"/>
                <a:gd name="T18" fmla="*/ 6 w 20"/>
                <a:gd name="T19" fmla="*/ 35 h 46"/>
                <a:gd name="T20" fmla="*/ 5 w 20"/>
                <a:gd name="T21" fmla="*/ 33 h 46"/>
                <a:gd name="T22" fmla="*/ 4 w 20"/>
                <a:gd name="T23" fmla="*/ 31 h 46"/>
                <a:gd name="T24" fmla="*/ 2 w 20"/>
                <a:gd name="T25" fmla="*/ 28 h 46"/>
                <a:gd name="T26" fmla="*/ 2 w 20"/>
                <a:gd name="T27" fmla="*/ 26 h 46"/>
                <a:gd name="T28" fmla="*/ 2 w 20"/>
                <a:gd name="T29" fmla="*/ 25 h 46"/>
                <a:gd name="T30" fmla="*/ 0 w 20"/>
                <a:gd name="T31" fmla="*/ 23 h 46"/>
                <a:gd name="T32" fmla="*/ 0 w 20"/>
                <a:gd name="T33" fmla="*/ 21 h 46"/>
                <a:gd name="T34" fmla="*/ 0 w 20"/>
                <a:gd name="T35" fmla="*/ 18 h 46"/>
                <a:gd name="T36" fmla="*/ 0 w 20"/>
                <a:gd name="T37" fmla="*/ 16 h 46"/>
                <a:gd name="T38" fmla="*/ 0 w 20"/>
                <a:gd name="T39" fmla="*/ 14 h 46"/>
                <a:gd name="T40" fmla="*/ 0 w 20"/>
                <a:gd name="T41" fmla="*/ 12 h 46"/>
                <a:gd name="T42" fmla="*/ 0 w 20"/>
                <a:gd name="T43" fmla="*/ 10 h 46"/>
                <a:gd name="T44" fmla="*/ 0 w 20"/>
                <a:gd name="T45" fmla="*/ 8 h 46"/>
                <a:gd name="T46" fmla="*/ 2 w 20"/>
                <a:gd name="T47" fmla="*/ 6 h 46"/>
                <a:gd name="T48" fmla="*/ 2 w 20"/>
                <a:gd name="T49" fmla="*/ 4 h 46"/>
                <a:gd name="T50" fmla="*/ 2 w 20"/>
                <a:gd name="T51" fmla="*/ 2 h 46"/>
                <a:gd name="T52" fmla="*/ 4 w 20"/>
                <a:gd name="T53"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 h="46">
                  <a:moveTo>
                    <a:pt x="19" y="45"/>
                  </a:moveTo>
                  <a:lnTo>
                    <a:pt x="19" y="45"/>
                  </a:lnTo>
                  <a:lnTo>
                    <a:pt x="17" y="45"/>
                  </a:lnTo>
                  <a:lnTo>
                    <a:pt x="16" y="44"/>
                  </a:lnTo>
                  <a:lnTo>
                    <a:pt x="13" y="43"/>
                  </a:lnTo>
                  <a:lnTo>
                    <a:pt x="12" y="41"/>
                  </a:lnTo>
                  <a:lnTo>
                    <a:pt x="10" y="40"/>
                  </a:lnTo>
                  <a:lnTo>
                    <a:pt x="8" y="38"/>
                  </a:lnTo>
                  <a:lnTo>
                    <a:pt x="8" y="36"/>
                  </a:lnTo>
                  <a:lnTo>
                    <a:pt x="6" y="35"/>
                  </a:lnTo>
                  <a:lnTo>
                    <a:pt x="5" y="33"/>
                  </a:lnTo>
                  <a:lnTo>
                    <a:pt x="4" y="31"/>
                  </a:lnTo>
                  <a:lnTo>
                    <a:pt x="2" y="28"/>
                  </a:lnTo>
                  <a:lnTo>
                    <a:pt x="2" y="26"/>
                  </a:lnTo>
                  <a:lnTo>
                    <a:pt x="2" y="25"/>
                  </a:lnTo>
                  <a:lnTo>
                    <a:pt x="0" y="23"/>
                  </a:lnTo>
                  <a:lnTo>
                    <a:pt x="0" y="21"/>
                  </a:lnTo>
                  <a:lnTo>
                    <a:pt x="0" y="18"/>
                  </a:lnTo>
                  <a:lnTo>
                    <a:pt x="0" y="16"/>
                  </a:lnTo>
                  <a:lnTo>
                    <a:pt x="0" y="14"/>
                  </a:lnTo>
                  <a:lnTo>
                    <a:pt x="0" y="12"/>
                  </a:lnTo>
                  <a:lnTo>
                    <a:pt x="0" y="10"/>
                  </a:lnTo>
                  <a:lnTo>
                    <a:pt x="0" y="8"/>
                  </a:lnTo>
                  <a:lnTo>
                    <a:pt x="2" y="6"/>
                  </a:lnTo>
                  <a:lnTo>
                    <a:pt x="2" y="4"/>
                  </a:lnTo>
                  <a:lnTo>
                    <a:pt x="2" y="2"/>
                  </a:lnTo>
                  <a:lnTo>
                    <a:pt x="4"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4" name="Line 75"/>
            <p:cNvSpPr>
              <a:spLocks noChangeShapeType="1"/>
            </p:cNvSpPr>
            <p:nvPr/>
          </p:nvSpPr>
          <p:spPr bwMode="auto">
            <a:xfrm>
              <a:off x="5059363" y="4921250"/>
              <a:ext cx="44291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5" name="Line 76"/>
            <p:cNvSpPr>
              <a:spLocks noChangeShapeType="1"/>
            </p:cNvSpPr>
            <p:nvPr/>
          </p:nvSpPr>
          <p:spPr bwMode="auto">
            <a:xfrm flipH="1">
              <a:off x="4956176" y="4976814"/>
              <a:ext cx="47625" cy="20478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6" name="Line 77"/>
            <p:cNvSpPr>
              <a:spLocks noChangeShapeType="1"/>
            </p:cNvSpPr>
            <p:nvPr/>
          </p:nvSpPr>
          <p:spPr bwMode="auto">
            <a:xfrm>
              <a:off x="4987926" y="5249863"/>
              <a:ext cx="55721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7" name="Freeform 78"/>
            <p:cNvSpPr>
              <a:spLocks/>
            </p:cNvSpPr>
            <p:nvPr/>
          </p:nvSpPr>
          <p:spPr bwMode="auto">
            <a:xfrm>
              <a:off x="5013326" y="5070476"/>
              <a:ext cx="49213" cy="47625"/>
            </a:xfrm>
            <a:custGeom>
              <a:avLst/>
              <a:gdLst>
                <a:gd name="T0" fmla="*/ 0 w 34"/>
                <a:gd name="T1" fmla="*/ 33 h 34"/>
                <a:gd name="T2" fmla="*/ 0 w 34"/>
                <a:gd name="T3" fmla="*/ 33 h 34"/>
                <a:gd name="T4" fmla="*/ 0 w 34"/>
                <a:gd name="T5" fmla="*/ 31 h 34"/>
                <a:gd name="T6" fmla="*/ 0 w 34"/>
                <a:gd name="T7" fmla="*/ 29 h 34"/>
                <a:gd name="T8" fmla="*/ 0 w 34"/>
                <a:gd name="T9" fmla="*/ 27 h 34"/>
                <a:gd name="T10" fmla="*/ 0 w 34"/>
                <a:gd name="T11" fmla="*/ 25 h 34"/>
                <a:gd name="T12" fmla="*/ 0 w 34"/>
                <a:gd name="T13" fmla="*/ 23 h 34"/>
                <a:gd name="T14" fmla="*/ 1 w 34"/>
                <a:gd name="T15" fmla="*/ 21 h 34"/>
                <a:gd name="T16" fmla="*/ 1 w 34"/>
                <a:gd name="T17" fmla="*/ 19 h 34"/>
                <a:gd name="T18" fmla="*/ 3 w 34"/>
                <a:gd name="T19" fmla="*/ 17 h 34"/>
                <a:gd name="T20" fmla="*/ 4 w 34"/>
                <a:gd name="T21" fmla="*/ 15 h 34"/>
                <a:gd name="T22" fmla="*/ 5 w 34"/>
                <a:gd name="T23" fmla="*/ 13 h 34"/>
                <a:gd name="T24" fmla="*/ 7 w 34"/>
                <a:gd name="T25" fmla="*/ 11 h 34"/>
                <a:gd name="T26" fmla="*/ 8 w 34"/>
                <a:gd name="T27" fmla="*/ 10 h 34"/>
                <a:gd name="T28" fmla="*/ 10 w 34"/>
                <a:gd name="T29" fmla="*/ 9 h 34"/>
                <a:gd name="T30" fmla="*/ 11 w 34"/>
                <a:gd name="T31" fmla="*/ 7 h 34"/>
                <a:gd name="T32" fmla="*/ 13 w 34"/>
                <a:gd name="T33" fmla="*/ 7 h 34"/>
                <a:gd name="T34" fmla="*/ 14 w 34"/>
                <a:gd name="T35" fmla="*/ 5 h 34"/>
                <a:gd name="T36" fmla="*/ 16 w 34"/>
                <a:gd name="T37" fmla="*/ 4 h 34"/>
                <a:gd name="T38" fmla="*/ 18 w 34"/>
                <a:gd name="T39" fmla="*/ 2 h 34"/>
                <a:gd name="T40" fmla="*/ 20 w 34"/>
                <a:gd name="T41" fmla="*/ 2 h 34"/>
                <a:gd name="T42" fmla="*/ 22 w 34"/>
                <a:gd name="T43" fmla="*/ 0 h 34"/>
                <a:gd name="T44" fmla="*/ 24 w 34"/>
                <a:gd name="T45" fmla="*/ 0 h 34"/>
                <a:gd name="T46" fmla="*/ 26 w 34"/>
                <a:gd name="T47" fmla="*/ 0 h 34"/>
                <a:gd name="T48" fmla="*/ 29 w 34"/>
                <a:gd name="T49" fmla="*/ 0 h 34"/>
                <a:gd name="T50" fmla="*/ 31 w 34"/>
                <a:gd name="T51" fmla="*/ 0 h 34"/>
                <a:gd name="T52" fmla="*/ 33 w 34"/>
                <a:gd name="T5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4" h="34">
                  <a:moveTo>
                    <a:pt x="0" y="33"/>
                  </a:moveTo>
                  <a:lnTo>
                    <a:pt x="0" y="33"/>
                  </a:lnTo>
                  <a:lnTo>
                    <a:pt x="0" y="31"/>
                  </a:lnTo>
                  <a:lnTo>
                    <a:pt x="0" y="29"/>
                  </a:lnTo>
                  <a:lnTo>
                    <a:pt x="0" y="27"/>
                  </a:lnTo>
                  <a:lnTo>
                    <a:pt x="0" y="25"/>
                  </a:lnTo>
                  <a:lnTo>
                    <a:pt x="0" y="23"/>
                  </a:lnTo>
                  <a:lnTo>
                    <a:pt x="1" y="21"/>
                  </a:lnTo>
                  <a:lnTo>
                    <a:pt x="1" y="19"/>
                  </a:lnTo>
                  <a:lnTo>
                    <a:pt x="3" y="17"/>
                  </a:lnTo>
                  <a:lnTo>
                    <a:pt x="4" y="15"/>
                  </a:lnTo>
                  <a:lnTo>
                    <a:pt x="5" y="13"/>
                  </a:lnTo>
                  <a:lnTo>
                    <a:pt x="7" y="11"/>
                  </a:lnTo>
                  <a:lnTo>
                    <a:pt x="8" y="10"/>
                  </a:lnTo>
                  <a:lnTo>
                    <a:pt x="10" y="9"/>
                  </a:lnTo>
                  <a:lnTo>
                    <a:pt x="11" y="7"/>
                  </a:lnTo>
                  <a:lnTo>
                    <a:pt x="13" y="7"/>
                  </a:lnTo>
                  <a:lnTo>
                    <a:pt x="14" y="5"/>
                  </a:lnTo>
                  <a:lnTo>
                    <a:pt x="16" y="4"/>
                  </a:lnTo>
                  <a:lnTo>
                    <a:pt x="18" y="2"/>
                  </a:lnTo>
                  <a:lnTo>
                    <a:pt x="20" y="2"/>
                  </a:lnTo>
                  <a:lnTo>
                    <a:pt x="22" y="0"/>
                  </a:lnTo>
                  <a:lnTo>
                    <a:pt x="24" y="0"/>
                  </a:lnTo>
                  <a:lnTo>
                    <a:pt x="26" y="0"/>
                  </a:lnTo>
                  <a:lnTo>
                    <a:pt x="29" y="0"/>
                  </a:lnTo>
                  <a:lnTo>
                    <a:pt x="31" y="0"/>
                  </a:lnTo>
                  <a:lnTo>
                    <a:pt x="33"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8" name="Line 79"/>
            <p:cNvSpPr>
              <a:spLocks noChangeShapeType="1"/>
            </p:cNvSpPr>
            <p:nvPr/>
          </p:nvSpPr>
          <p:spPr bwMode="auto">
            <a:xfrm>
              <a:off x="5059364" y="5070475"/>
              <a:ext cx="47307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9" name="Freeform 80"/>
            <p:cNvSpPr>
              <a:spLocks/>
            </p:cNvSpPr>
            <p:nvPr/>
          </p:nvSpPr>
          <p:spPr bwMode="auto">
            <a:xfrm>
              <a:off x="4976814" y="5140326"/>
              <a:ext cx="28575" cy="93663"/>
            </a:xfrm>
            <a:custGeom>
              <a:avLst/>
              <a:gdLst>
                <a:gd name="T0" fmla="*/ 10 w 20"/>
                <a:gd name="T1" fmla="*/ 66 h 67"/>
                <a:gd name="T2" fmla="*/ 10 w 20"/>
                <a:gd name="T3" fmla="*/ 66 h 67"/>
                <a:gd name="T4" fmla="*/ 9 w 20"/>
                <a:gd name="T5" fmla="*/ 65 h 67"/>
                <a:gd name="T6" fmla="*/ 9 w 20"/>
                <a:gd name="T7" fmla="*/ 64 h 67"/>
                <a:gd name="T8" fmla="*/ 8 w 20"/>
                <a:gd name="T9" fmla="*/ 63 h 67"/>
                <a:gd name="T10" fmla="*/ 8 w 20"/>
                <a:gd name="T11" fmla="*/ 63 h 67"/>
                <a:gd name="T12" fmla="*/ 7 w 20"/>
                <a:gd name="T13" fmla="*/ 61 h 67"/>
                <a:gd name="T14" fmla="*/ 6 w 20"/>
                <a:gd name="T15" fmla="*/ 59 h 67"/>
                <a:gd name="T16" fmla="*/ 5 w 20"/>
                <a:gd name="T17" fmla="*/ 58 h 67"/>
                <a:gd name="T18" fmla="*/ 5 w 20"/>
                <a:gd name="T19" fmla="*/ 57 h 67"/>
                <a:gd name="T20" fmla="*/ 4 w 20"/>
                <a:gd name="T21" fmla="*/ 55 h 67"/>
                <a:gd name="T22" fmla="*/ 3 w 20"/>
                <a:gd name="T23" fmla="*/ 53 h 67"/>
                <a:gd name="T24" fmla="*/ 3 w 20"/>
                <a:gd name="T25" fmla="*/ 51 h 67"/>
                <a:gd name="T26" fmla="*/ 2 w 20"/>
                <a:gd name="T27" fmla="*/ 49 h 67"/>
                <a:gd name="T28" fmla="*/ 2 w 20"/>
                <a:gd name="T29" fmla="*/ 48 h 67"/>
                <a:gd name="T30" fmla="*/ 2 w 20"/>
                <a:gd name="T31" fmla="*/ 45 h 67"/>
                <a:gd name="T32" fmla="*/ 1 w 20"/>
                <a:gd name="T33" fmla="*/ 43 h 67"/>
                <a:gd name="T34" fmla="*/ 1 w 20"/>
                <a:gd name="T35" fmla="*/ 41 h 67"/>
                <a:gd name="T36" fmla="*/ 1 w 20"/>
                <a:gd name="T37" fmla="*/ 39 h 67"/>
                <a:gd name="T38" fmla="*/ 0 w 20"/>
                <a:gd name="T39" fmla="*/ 37 h 67"/>
                <a:gd name="T40" fmla="*/ 0 w 20"/>
                <a:gd name="T41" fmla="*/ 35 h 67"/>
                <a:gd name="T42" fmla="*/ 0 w 20"/>
                <a:gd name="T43" fmla="*/ 33 h 67"/>
                <a:gd name="T44" fmla="*/ 0 w 20"/>
                <a:gd name="T45" fmla="*/ 31 h 67"/>
                <a:gd name="T46" fmla="*/ 1 w 20"/>
                <a:gd name="T47" fmla="*/ 29 h 67"/>
                <a:gd name="T48" fmla="*/ 1 w 20"/>
                <a:gd name="T49" fmla="*/ 27 h 67"/>
                <a:gd name="T50" fmla="*/ 1 w 20"/>
                <a:gd name="T51" fmla="*/ 25 h 67"/>
                <a:gd name="T52" fmla="*/ 2 w 20"/>
                <a:gd name="T53" fmla="*/ 23 h 67"/>
                <a:gd name="T54" fmla="*/ 2 w 20"/>
                <a:gd name="T55" fmla="*/ 21 h 67"/>
                <a:gd name="T56" fmla="*/ 2 w 20"/>
                <a:gd name="T57" fmla="*/ 18 h 67"/>
                <a:gd name="T58" fmla="*/ 3 w 20"/>
                <a:gd name="T59" fmla="*/ 17 h 67"/>
                <a:gd name="T60" fmla="*/ 3 w 20"/>
                <a:gd name="T61" fmla="*/ 15 h 67"/>
                <a:gd name="T62" fmla="*/ 4 w 20"/>
                <a:gd name="T63" fmla="*/ 12 h 67"/>
                <a:gd name="T64" fmla="*/ 5 w 20"/>
                <a:gd name="T65" fmla="*/ 10 h 67"/>
                <a:gd name="T66" fmla="*/ 5 w 20"/>
                <a:gd name="T67" fmla="*/ 10 h 67"/>
                <a:gd name="T68" fmla="*/ 6 w 20"/>
                <a:gd name="T69" fmla="*/ 8 h 67"/>
                <a:gd name="T70" fmla="*/ 7 w 20"/>
                <a:gd name="T71" fmla="*/ 7 h 67"/>
                <a:gd name="T72" fmla="*/ 8 w 20"/>
                <a:gd name="T73" fmla="*/ 6 h 67"/>
                <a:gd name="T74" fmla="*/ 8 w 20"/>
                <a:gd name="T75" fmla="*/ 4 h 67"/>
                <a:gd name="T76" fmla="*/ 9 w 20"/>
                <a:gd name="T77" fmla="*/ 3 h 67"/>
                <a:gd name="T78" fmla="*/ 9 w 20"/>
                <a:gd name="T79" fmla="*/ 2 h 67"/>
                <a:gd name="T80" fmla="*/ 10 w 20"/>
                <a:gd name="T81" fmla="*/ 1 h 67"/>
                <a:gd name="T82" fmla="*/ 10 w 20"/>
                <a:gd name="T83" fmla="*/ 0 h 67"/>
                <a:gd name="T84" fmla="*/ 12 w 20"/>
                <a:gd name="T85" fmla="*/ 0 h 67"/>
                <a:gd name="T86" fmla="*/ 12 w 20"/>
                <a:gd name="T87" fmla="*/ 0 h 67"/>
                <a:gd name="T88" fmla="*/ 13 w 20"/>
                <a:gd name="T89" fmla="*/ 0 h 67"/>
                <a:gd name="T90" fmla="*/ 15 w 20"/>
                <a:gd name="T91" fmla="*/ 0 h 67"/>
                <a:gd name="T92" fmla="*/ 15 w 20"/>
                <a:gd name="T93" fmla="*/ 0 h 67"/>
                <a:gd name="T94" fmla="*/ 17 w 20"/>
                <a:gd name="T95" fmla="*/ 0 h 67"/>
                <a:gd name="T96" fmla="*/ 17 w 20"/>
                <a:gd name="T97" fmla="*/ 0 h 67"/>
                <a:gd name="T98" fmla="*/ 17 w 20"/>
                <a:gd name="T99" fmla="*/ 0 h 67"/>
                <a:gd name="T100" fmla="*/ 19 w 20"/>
                <a:gd name="T101" fmla="*/ 0 h 67"/>
                <a:gd name="T102" fmla="*/ 19 w 20"/>
                <a:gd name="T103" fmla="*/ 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67">
                  <a:moveTo>
                    <a:pt x="10" y="66"/>
                  </a:moveTo>
                  <a:lnTo>
                    <a:pt x="10" y="66"/>
                  </a:lnTo>
                  <a:lnTo>
                    <a:pt x="9" y="65"/>
                  </a:lnTo>
                  <a:lnTo>
                    <a:pt x="9" y="64"/>
                  </a:lnTo>
                  <a:lnTo>
                    <a:pt x="8" y="63"/>
                  </a:lnTo>
                  <a:lnTo>
                    <a:pt x="8" y="63"/>
                  </a:lnTo>
                  <a:lnTo>
                    <a:pt x="7" y="61"/>
                  </a:lnTo>
                  <a:lnTo>
                    <a:pt x="6" y="59"/>
                  </a:lnTo>
                  <a:lnTo>
                    <a:pt x="5" y="58"/>
                  </a:lnTo>
                  <a:lnTo>
                    <a:pt x="5" y="57"/>
                  </a:lnTo>
                  <a:lnTo>
                    <a:pt x="4" y="55"/>
                  </a:lnTo>
                  <a:lnTo>
                    <a:pt x="3" y="53"/>
                  </a:lnTo>
                  <a:lnTo>
                    <a:pt x="3" y="51"/>
                  </a:lnTo>
                  <a:lnTo>
                    <a:pt x="2" y="49"/>
                  </a:lnTo>
                  <a:lnTo>
                    <a:pt x="2" y="48"/>
                  </a:lnTo>
                  <a:lnTo>
                    <a:pt x="2" y="45"/>
                  </a:lnTo>
                  <a:lnTo>
                    <a:pt x="1" y="43"/>
                  </a:lnTo>
                  <a:lnTo>
                    <a:pt x="1" y="41"/>
                  </a:lnTo>
                  <a:lnTo>
                    <a:pt x="1" y="39"/>
                  </a:lnTo>
                  <a:lnTo>
                    <a:pt x="0" y="37"/>
                  </a:lnTo>
                  <a:lnTo>
                    <a:pt x="0" y="35"/>
                  </a:lnTo>
                  <a:lnTo>
                    <a:pt x="0" y="33"/>
                  </a:lnTo>
                  <a:lnTo>
                    <a:pt x="0" y="31"/>
                  </a:lnTo>
                  <a:lnTo>
                    <a:pt x="1" y="29"/>
                  </a:lnTo>
                  <a:lnTo>
                    <a:pt x="1" y="27"/>
                  </a:lnTo>
                  <a:lnTo>
                    <a:pt x="1" y="25"/>
                  </a:lnTo>
                  <a:lnTo>
                    <a:pt x="2" y="23"/>
                  </a:lnTo>
                  <a:lnTo>
                    <a:pt x="2" y="21"/>
                  </a:lnTo>
                  <a:lnTo>
                    <a:pt x="2" y="18"/>
                  </a:lnTo>
                  <a:lnTo>
                    <a:pt x="3" y="17"/>
                  </a:lnTo>
                  <a:lnTo>
                    <a:pt x="3" y="15"/>
                  </a:lnTo>
                  <a:lnTo>
                    <a:pt x="4" y="12"/>
                  </a:lnTo>
                  <a:lnTo>
                    <a:pt x="5" y="10"/>
                  </a:lnTo>
                  <a:lnTo>
                    <a:pt x="5" y="10"/>
                  </a:lnTo>
                  <a:lnTo>
                    <a:pt x="6" y="8"/>
                  </a:lnTo>
                  <a:lnTo>
                    <a:pt x="7" y="7"/>
                  </a:lnTo>
                  <a:lnTo>
                    <a:pt x="8" y="6"/>
                  </a:lnTo>
                  <a:lnTo>
                    <a:pt x="8" y="4"/>
                  </a:lnTo>
                  <a:lnTo>
                    <a:pt x="9" y="3"/>
                  </a:lnTo>
                  <a:lnTo>
                    <a:pt x="9" y="2"/>
                  </a:lnTo>
                  <a:lnTo>
                    <a:pt x="10" y="1"/>
                  </a:lnTo>
                  <a:lnTo>
                    <a:pt x="10" y="0"/>
                  </a:lnTo>
                  <a:lnTo>
                    <a:pt x="12" y="0"/>
                  </a:lnTo>
                  <a:lnTo>
                    <a:pt x="12" y="0"/>
                  </a:lnTo>
                  <a:lnTo>
                    <a:pt x="13" y="0"/>
                  </a:lnTo>
                  <a:lnTo>
                    <a:pt x="15" y="0"/>
                  </a:lnTo>
                  <a:lnTo>
                    <a:pt x="15" y="0"/>
                  </a:lnTo>
                  <a:lnTo>
                    <a:pt x="17" y="0"/>
                  </a:lnTo>
                  <a:lnTo>
                    <a:pt x="17" y="0"/>
                  </a:lnTo>
                  <a:lnTo>
                    <a:pt x="17" y="0"/>
                  </a:lnTo>
                  <a:lnTo>
                    <a:pt x="19" y="0"/>
                  </a:lnTo>
                  <a:lnTo>
                    <a:pt x="19" y="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0" name="Line 81"/>
            <p:cNvSpPr>
              <a:spLocks noChangeShapeType="1"/>
            </p:cNvSpPr>
            <p:nvPr/>
          </p:nvSpPr>
          <p:spPr bwMode="auto">
            <a:xfrm flipH="1">
              <a:off x="4991101" y="5119689"/>
              <a:ext cx="22225" cy="12858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1" name="Freeform 82"/>
            <p:cNvSpPr>
              <a:spLocks/>
            </p:cNvSpPr>
            <p:nvPr/>
          </p:nvSpPr>
          <p:spPr bwMode="auto">
            <a:xfrm>
              <a:off x="4775201" y="5133975"/>
              <a:ext cx="28575" cy="95250"/>
            </a:xfrm>
            <a:custGeom>
              <a:avLst/>
              <a:gdLst>
                <a:gd name="T0" fmla="*/ 10 w 20"/>
                <a:gd name="T1" fmla="*/ 67 h 68"/>
                <a:gd name="T2" fmla="*/ 10 w 20"/>
                <a:gd name="T3" fmla="*/ 67 h 68"/>
                <a:gd name="T4" fmla="*/ 9 w 20"/>
                <a:gd name="T5" fmla="*/ 67 h 68"/>
                <a:gd name="T6" fmla="*/ 8 w 20"/>
                <a:gd name="T7" fmla="*/ 65 h 68"/>
                <a:gd name="T8" fmla="*/ 7 w 20"/>
                <a:gd name="T9" fmla="*/ 65 h 68"/>
                <a:gd name="T10" fmla="*/ 6 w 20"/>
                <a:gd name="T11" fmla="*/ 63 h 68"/>
                <a:gd name="T12" fmla="*/ 5 w 20"/>
                <a:gd name="T13" fmla="*/ 62 h 68"/>
                <a:gd name="T14" fmla="*/ 4 w 20"/>
                <a:gd name="T15" fmla="*/ 61 h 68"/>
                <a:gd name="T16" fmla="*/ 4 w 20"/>
                <a:gd name="T17" fmla="*/ 60 h 68"/>
                <a:gd name="T18" fmla="*/ 3 w 20"/>
                <a:gd name="T19" fmla="*/ 58 h 68"/>
                <a:gd name="T20" fmla="*/ 3 w 20"/>
                <a:gd name="T21" fmla="*/ 57 h 68"/>
                <a:gd name="T22" fmla="*/ 2 w 20"/>
                <a:gd name="T23" fmla="*/ 55 h 68"/>
                <a:gd name="T24" fmla="*/ 2 w 20"/>
                <a:gd name="T25" fmla="*/ 53 h 68"/>
                <a:gd name="T26" fmla="*/ 2 w 20"/>
                <a:gd name="T27" fmla="*/ 51 h 68"/>
                <a:gd name="T28" fmla="*/ 1 w 20"/>
                <a:gd name="T29" fmla="*/ 49 h 68"/>
                <a:gd name="T30" fmla="*/ 1 w 20"/>
                <a:gd name="T31" fmla="*/ 47 h 68"/>
                <a:gd name="T32" fmla="*/ 0 w 20"/>
                <a:gd name="T33" fmla="*/ 45 h 68"/>
                <a:gd name="T34" fmla="*/ 0 w 20"/>
                <a:gd name="T35" fmla="*/ 43 h 68"/>
                <a:gd name="T36" fmla="*/ 0 w 20"/>
                <a:gd name="T37" fmla="*/ 41 h 68"/>
                <a:gd name="T38" fmla="*/ 0 w 20"/>
                <a:gd name="T39" fmla="*/ 39 h 68"/>
                <a:gd name="T40" fmla="*/ 0 w 20"/>
                <a:gd name="T41" fmla="*/ 36 h 68"/>
                <a:gd name="T42" fmla="*/ 0 w 20"/>
                <a:gd name="T43" fmla="*/ 34 h 68"/>
                <a:gd name="T44" fmla="*/ 0 w 20"/>
                <a:gd name="T45" fmla="*/ 32 h 68"/>
                <a:gd name="T46" fmla="*/ 0 w 20"/>
                <a:gd name="T47" fmla="*/ 31 h 68"/>
                <a:gd name="T48" fmla="*/ 0 w 20"/>
                <a:gd name="T49" fmla="*/ 28 h 68"/>
                <a:gd name="T50" fmla="*/ 0 w 20"/>
                <a:gd name="T51" fmla="*/ 26 h 68"/>
                <a:gd name="T52" fmla="*/ 0 w 20"/>
                <a:gd name="T53" fmla="*/ 24 h 68"/>
                <a:gd name="T54" fmla="*/ 1 w 20"/>
                <a:gd name="T55" fmla="*/ 22 h 68"/>
                <a:gd name="T56" fmla="*/ 2 w 20"/>
                <a:gd name="T57" fmla="*/ 20 h 68"/>
                <a:gd name="T58" fmla="*/ 2 w 20"/>
                <a:gd name="T59" fmla="*/ 17 h 68"/>
                <a:gd name="T60" fmla="*/ 2 w 20"/>
                <a:gd name="T61" fmla="*/ 16 h 68"/>
                <a:gd name="T62" fmla="*/ 2 w 20"/>
                <a:gd name="T63" fmla="*/ 14 h 68"/>
                <a:gd name="T64" fmla="*/ 3 w 20"/>
                <a:gd name="T65" fmla="*/ 12 h 68"/>
                <a:gd name="T66" fmla="*/ 3 w 20"/>
                <a:gd name="T67" fmla="*/ 11 h 68"/>
                <a:gd name="T68" fmla="*/ 4 w 20"/>
                <a:gd name="T69" fmla="*/ 10 h 68"/>
                <a:gd name="T70" fmla="*/ 5 w 20"/>
                <a:gd name="T71" fmla="*/ 8 h 68"/>
                <a:gd name="T72" fmla="*/ 6 w 20"/>
                <a:gd name="T73" fmla="*/ 6 h 68"/>
                <a:gd name="T74" fmla="*/ 6 w 20"/>
                <a:gd name="T75" fmla="*/ 5 h 68"/>
                <a:gd name="T76" fmla="*/ 8 w 20"/>
                <a:gd name="T77" fmla="*/ 4 h 68"/>
                <a:gd name="T78" fmla="*/ 9 w 20"/>
                <a:gd name="T79" fmla="*/ 4 h 68"/>
                <a:gd name="T80" fmla="*/ 9 w 20"/>
                <a:gd name="T81" fmla="*/ 3 h 68"/>
                <a:gd name="T82" fmla="*/ 10 w 20"/>
                <a:gd name="T83" fmla="*/ 2 h 68"/>
                <a:gd name="T84" fmla="*/ 10 w 20"/>
                <a:gd name="T85" fmla="*/ 1 h 68"/>
                <a:gd name="T86" fmla="*/ 12 w 20"/>
                <a:gd name="T87" fmla="*/ 1 h 68"/>
                <a:gd name="T88" fmla="*/ 13 w 20"/>
                <a:gd name="T89" fmla="*/ 0 h 68"/>
                <a:gd name="T90" fmla="*/ 13 w 20"/>
                <a:gd name="T91" fmla="*/ 0 h 68"/>
                <a:gd name="T92" fmla="*/ 15 w 20"/>
                <a:gd name="T93" fmla="*/ 0 h 68"/>
                <a:gd name="T94" fmla="*/ 15 w 20"/>
                <a:gd name="T95" fmla="*/ 0 h 68"/>
                <a:gd name="T96" fmla="*/ 16 w 20"/>
                <a:gd name="T97" fmla="*/ 1 h 68"/>
                <a:gd name="T98" fmla="*/ 17 w 20"/>
                <a:gd name="T99" fmla="*/ 1 h 68"/>
                <a:gd name="T100" fmla="*/ 17 w 20"/>
                <a:gd name="T101" fmla="*/ 2 h 68"/>
                <a:gd name="T102" fmla="*/ 19 w 20"/>
                <a:gd name="T103"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68">
                  <a:moveTo>
                    <a:pt x="10" y="67"/>
                  </a:moveTo>
                  <a:lnTo>
                    <a:pt x="10" y="67"/>
                  </a:lnTo>
                  <a:lnTo>
                    <a:pt x="9" y="67"/>
                  </a:lnTo>
                  <a:lnTo>
                    <a:pt x="8" y="65"/>
                  </a:lnTo>
                  <a:lnTo>
                    <a:pt x="7" y="65"/>
                  </a:lnTo>
                  <a:lnTo>
                    <a:pt x="6" y="63"/>
                  </a:lnTo>
                  <a:lnTo>
                    <a:pt x="5" y="62"/>
                  </a:lnTo>
                  <a:lnTo>
                    <a:pt x="4" y="61"/>
                  </a:lnTo>
                  <a:lnTo>
                    <a:pt x="4" y="60"/>
                  </a:lnTo>
                  <a:lnTo>
                    <a:pt x="3" y="58"/>
                  </a:lnTo>
                  <a:lnTo>
                    <a:pt x="3" y="57"/>
                  </a:lnTo>
                  <a:lnTo>
                    <a:pt x="2" y="55"/>
                  </a:lnTo>
                  <a:lnTo>
                    <a:pt x="2" y="53"/>
                  </a:lnTo>
                  <a:lnTo>
                    <a:pt x="2" y="51"/>
                  </a:lnTo>
                  <a:lnTo>
                    <a:pt x="1" y="49"/>
                  </a:lnTo>
                  <a:lnTo>
                    <a:pt x="1" y="47"/>
                  </a:lnTo>
                  <a:lnTo>
                    <a:pt x="0" y="45"/>
                  </a:lnTo>
                  <a:lnTo>
                    <a:pt x="0" y="43"/>
                  </a:lnTo>
                  <a:lnTo>
                    <a:pt x="0" y="41"/>
                  </a:lnTo>
                  <a:lnTo>
                    <a:pt x="0" y="39"/>
                  </a:lnTo>
                  <a:lnTo>
                    <a:pt x="0" y="36"/>
                  </a:lnTo>
                  <a:lnTo>
                    <a:pt x="0" y="34"/>
                  </a:lnTo>
                  <a:lnTo>
                    <a:pt x="0" y="32"/>
                  </a:lnTo>
                  <a:lnTo>
                    <a:pt x="0" y="31"/>
                  </a:lnTo>
                  <a:lnTo>
                    <a:pt x="0" y="28"/>
                  </a:lnTo>
                  <a:lnTo>
                    <a:pt x="0" y="26"/>
                  </a:lnTo>
                  <a:lnTo>
                    <a:pt x="0" y="24"/>
                  </a:lnTo>
                  <a:lnTo>
                    <a:pt x="1" y="22"/>
                  </a:lnTo>
                  <a:lnTo>
                    <a:pt x="2" y="20"/>
                  </a:lnTo>
                  <a:lnTo>
                    <a:pt x="2" y="17"/>
                  </a:lnTo>
                  <a:lnTo>
                    <a:pt x="2" y="16"/>
                  </a:lnTo>
                  <a:lnTo>
                    <a:pt x="2" y="14"/>
                  </a:lnTo>
                  <a:lnTo>
                    <a:pt x="3" y="12"/>
                  </a:lnTo>
                  <a:lnTo>
                    <a:pt x="3" y="11"/>
                  </a:lnTo>
                  <a:lnTo>
                    <a:pt x="4" y="10"/>
                  </a:lnTo>
                  <a:lnTo>
                    <a:pt x="5" y="8"/>
                  </a:lnTo>
                  <a:lnTo>
                    <a:pt x="6" y="6"/>
                  </a:lnTo>
                  <a:lnTo>
                    <a:pt x="6" y="5"/>
                  </a:lnTo>
                  <a:lnTo>
                    <a:pt x="8" y="4"/>
                  </a:lnTo>
                  <a:lnTo>
                    <a:pt x="9" y="4"/>
                  </a:lnTo>
                  <a:lnTo>
                    <a:pt x="9" y="3"/>
                  </a:lnTo>
                  <a:lnTo>
                    <a:pt x="10" y="2"/>
                  </a:lnTo>
                  <a:lnTo>
                    <a:pt x="10" y="1"/>
                  </a:lnTo>
                  <a:lnTo>
                    <a:pt x="12" y="1"/>
                  </a:lnTo>
                  <a:lnTo>
                    <a:pt x="13" y="0"/>
                  </a:lnTo>
                  <a:lnTo>
                    <a:pt x="13" y="0"/>
                  </a:lnTo>
                  <a:lnTo>
                    <a:pt x="15" y="0"/>
                  </a:lnTo>
                  <a:lnTo>
                    <a:pt x="15" y="0"/>
                  </a:lnTo>
                  <a:lnTo>
                    <a:pt x="16" y="1"/>
                  </a:lnTo>
                  <a:lnTo>
                    <a:pt x="17" y="1"/>
                  </a:lnTo>
                  <a:lnTo>
                    <a:pt x="17" y="2"/>
                  </a:lnTo>
                  <a:lnTo>
                    <a:pt x="19" y="2"/>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2" name="Freeform 83"/>
            <p:cNvSpPr>
              <a:spLocks/>
            </p:cNvSpPr>
            <p:nvPr/>
          </p:nvSpPr>
          <p:spPr bwMode="auto">
            <a:xfrm>
              <a:off x="4756151" y="5135563"/>
              <a:ext cx="28575" cy="95250"/>
            </a:xfrm>
            <a:custGeom>
              <a:avLst/>
              <a:gdLst>
                <a:gd name="T0" fmla="*/ 9 w 19"/>
                <a:gd name="T1" fmla="*/ 67 h 68"/>
                <a:gd name="T2" fmla="*/ 9 w 19"/>
                <a:gd name="T3" fmla="*/ 67 h 68"/>
                <a:gd name="T4" fmla="*/ 8 w 19"/>
                <a:gd name="T5" fmla="*/ 66 h 68"/>
                <a:gd name="T6" fmla="*/ 7 w 19"/>
                <a:gd name="T7" fmla="*/ 66 h 68"/>
                <a:gd name="T8" fmla="*/ 6 w 19"/>
                <a:gd name="T9" fmla="*/ 64 h 68"/>
                <a:gd name="T10" fmla="*/ 6 w 19"/>
                <a:gd name="T11" fmla="*/ 62 h 68"/>
                <a:gd name="T12" fmla="*/ 5 w 19"/>
                <a:gd name="T13" fmla="*/ 62 h 68"/>
                <a:gd name="T14" fmla="*/ 5 w 19"/>
                <a:gd name="T15" fmla="*/ 61 h 68"/>
                <a:gd name="T16" fmla="*/ 4 w 19"/>
                <a:gd name="T17" fmla="*/ 60 h 68"/>
                <a:gd name="T18" fmla="*/ 3 w 19"/>
                <a:gd name="T19" fmla="*/ 58 h 68"/>
                <a:gd name="T20" fmla="*/ 3 w 19"/>
                <a:gd name="T21" fmla="*/ 56 h 68"/>
                <a:gd name="T22" fmla="*/ 2 w 19"/>
                <a:gd name="T23" fmla="*/ 54 h 68"/>
                <a:gd name="T24" fmla="*/ 2 w 19"/>
                <a:gd name="T25" fmla="*/ 52 h 68"/>
                <a:gd name="T26" fmla="*/ 1 w 19"/>
                <a:gd name="T27" fmla="*/ 50 h 68"/>
                <a:gd name="T28" fmla="*/ 0 w 19"/>
                <a:gd name="T29" fmla="*/ 48 h 68"/>
                <a:gd name="T30" fmla="*/ 0 w 19"/>
                <a:gd name="T31" fmla="*/ 46 h 68"/>
                <a:gd name="T32" fmla="*/ 0 w 19"/>
                <a:gd name="T33" fmla="*/ 46 h 68"/>
                <a:gd name="T34" fmla="*/ 0 w 19"/>
                <a:gd name="T35" fmla="*/ 42 h 68"/>
                <a:gd name="T36" fmla="*/ 0 w 19"/>
                <a:gd name="T37" fmla="*/ 41 h 68"/>
                <a:gd name="T38" fmla="*/ 0 w 19"/>
                <a:gd name="T39" fmla="*/ 38 h 68"/>
                <a:gd name="T40" fmla="*/ 0 w 19"/>
                <a:gd name="T41" fmla="*/ 36 h 68"/>
                <a:gd name="T42" fmla="*/ 0 w 19"/>
                <a:gd name="T43" fmla="*/ 34 h 68"/>
                <a:gd name="T44" fmla="*/ 0 w 19"/>
                <a:gd name="T45" fmla="*/ 32 h 68"/>
                <a:gd name="T46" fmla="*/ 0 w 19"/>
                <a:gd name="T47" fmla="*/ 30 h 68"/>
                <a:gd name="T48" fmla="*/ 0 w 19"/>
                <a:gd name="T49" fmla="*/ 28 h 68"/>
                <a:gd name="T50" fmla="*/ 0 w 19"/>
                <a:gd name="T51" fmla="*/ 26 h 68"/>
                <a:gd name="T52" fmla="*/ 0 w 19"/>
                <a:gd name="T53" fmla="*/ 24 h 68"/>
                <a:gd name="T54" fmla="*/ 0 w 19"/>
                <a:gd name="T55" fmla="*/ 21 h 68"/>
                <a:gd name="T56" fmla="*/ 1 w 19"/>
                <a:gd name="T57" fmla="*/ 20 h 68"/>
                <a:gd name="T58" fmla="*/ 1 w 19"/>
                <a:gd name="T59" fmla="*/ 17 h 68"/>
                <a:gd name="T60" fmla="*/ 2 w 19"/>
                <a:gd name="T61" fmla="*/ 15 h 68"/>
                <a:gd name="T62" fmla="*/ 2 w 19"/>
                <a:gd name="T63" fmla="*/ 13 h 68"/>
                <a:gd name="T64" fmla="*/ 3 w 19"/>
                <a:gd name="T65" fmla="*/ 13 h 68"/>
                <a:gd name="T66" fmla="*/ 3 w 19"/>
                <a:gd name="T67" fmla="*/ 11 h 68"/>
                <a:gd name="T68" fmla="*/ 5 w 19"/>
                <a:gd name="T69" fmla="*/ 10 h 68"/>
                <a:gd name="T70" fmla="*/ 5 w 19"/>
                <a:gd name="T71" fmla="*/ 8 h 68"/>
                <a:gd name="T72" fmla="*/ 6 w 19"/>
                <a:gd name="T73" fmla="*/ 7 h 68"/>
                <a:gd name="T74" fmla="*/ 6 w 19"/>
                <a:gd name="T75" fmla="*/ 5 h 68"/>
                <a:gd name="T76" fmla="*/ 7 w 19"/>
                <a:gd name="T77" fmla="*/ 4 h 68"/>
                <a:gd name="T78" fmla="*/ 8 w 19"/>
                <a:gd name="T79" fmla="*/ 3 h 68"/>
                <a:gd name="T80" fmla="*/ 9 w 19"/>
                <a:gd name="T81" fmla="*/ 3 h 68"/>
                <a:gd name="T82" fmla="*/ 10 w 19"/>
                <a:gd name="T83" fmla="*/ 2 h 68"/>
                <a:gd name="T84" fmla="*/ 11 w 19"/>
                <a:gd name="T85" fmla="*/ 1 h 68"/>
                <a:gd name="T86" fmla="*/ 12 w 19"/>
                <a:gd name="T87" fmla="*/ 1 h 68"/>
                <a:gd name="T88" fmla="*/ 12 w 19"/>
                <a:gd name="T89" fmla="*/ 0 h 68"/>
                <a:gd name="T90" fmla="*/ 13 w 19"/>
                <a:gd name="T91" fmla="*/ 0 h 68"/>
                <a:gd name="T92" fmla="*/ 14 w 19"/>
                <a:gd name="T93" fmla="*/ 0 h 68"/>
                <a:gd name="T94" fmla="*/ 15 w 19"/>
                <a:gd name="T95" fmla="*/ 0 h 68"/>
                <a:gd name="T96" fmla="*/ 15 w 19"/>
                <a:gd name="T97" fmla="*/ 1 h 68"/>
                <a:gd name="T98" fmla="*/ 16 w 19"/>
                <a:gd name="T99" fmla="*/ 1 h 68"/>
                <a:gd name="T100" fmla="*/ 17 w 19"/>
                <a:gd name="T101" fmla="*/ 2 h 68"/>
                <a:gd name="T102" fmla="*/ 18 w 19"/>
                <a:gd name="T103" fmla="*/ 3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 h="68">
                  <a:moveTo>
                    <a:pt x="9" y="67"/>
                  </a:moveTo>
                  <a:lnTo>
                    <a:pt x="9" y="67"/>
                  </a:lnTo>
                  <a:lnTo>
                    <a:pt x="8" y="66"/>
                  </a:lnTo>
                  <a:lnTo>
                    <a:pt x="7" y="66"/>
                  </a:lnTo>
                  <a:lnTo>
                    <a:pt x="6" y="64"/>
                  </a:lnTo>
                  <a:lnTo>
                    <a:pt x="6" y="62"/>
                  </a:lnTo>
                  <a:lnTo>
                    <a:pt x="5" y="62"/>
                  </a:lnTo>
                  <a:lnTo>
                    <a:pt x="5" y="61"/>
                  </a:lnTo>
                  <a:lnTo>
                    <a:pt x="4" y="60"/>
                  </a:lnTo>
                  <a:lnTo>
                    <a:pt x="3" y="58"/>
                  </a:lnTo>
                  <a:lnTo>
                    <a:pt x="3" y="56"/>
                  </a:lnTo>
                  <a:lnTo>
                    <a:pt x="2" y="54"/>
                  </a:lnTo>
                  <a:lnTo>
                    <a:pt x="2" y="52"/>
                  </a:lnTo>
                  <a:lnTo>
                    <a:pt x="1" y="50"/>
                  </a:lnTo>
                  <a:lnTo>
                    <a:pt x="0" y="48"/>
                  </a:lnTo>
                  <a:lnTo>
                    <a:pt x="0" y="46"/>
                  </a:lnTo>
                  <a:lnTo>
                    <a:pt x="0" y="46"/>
                  </a:lnTo>
                  <a:lnTo>
                    <a:pt x="0" y="42"/>
                  </a:lnTo>
                  <a:lnTo>
                    <a:pt x="0" y="41"/>
                  </a:lnTo>
                  <a:lnTo>
                    <a:pt x="0" y="38"/>
                  </a:lnTo>
                  <a:lnTo>
                    <a:pt x="0" y="36"/>
                  </a:lnTo>
                  <a:lnTo>
                    <a:pt x="0" y="34"/>
                  </a:lnTo>
                  <a:lnTo>
                    <a:pt x="0" y="32"/>
                  </a:lnTo>
                  <a:lnTo>
                    <a:pt x="0" y="30"/>
                  </a:lnTo>
                  <a:lnTo>
                    <a:pt x="0" y="28"/>
                  </a:lnTo>
                  <a:lnTo>
                    <a:pt x="0" y="26"/>
                  </a:lnTo>
                  <a:lnTo>
                    <a:pt x="0" y="24"/>
                  </a:lnTo>
                  <a:lnTo>
                    <a:pt x="0" y="21"/>
                  </a:lnTo>
                  <a:lnTo>
                    <a:pt x="1" y="20"/>
                  </a:lnTo>
                  <a:lnTo>
                    <a:pt x="1" y="17"/>
                  </a:lnTo>
                  <a:lnTo>
                    <a:pt x="2" y="15"/>
                  </a:lnTo>
                  <a:lnTo>
                    <a:pt x="2" y="13"/>
                  </a:lnTo>
                  <a:lnTo>
                    <a:pt x="3" y="13"/>
                  </a:lnTo>
                  <a:lnTo>
                    <a:pt x="3" y="11"/>
                  </a:lnTo>
                  <a:lnTo>
                    <a:pt x="5" y="10"/>
                  </a:lnTo>
                  <a:lnTo>
                    <a:pt x="5" y="8"/>
                  </a:lnTo>
                  <a:lnTo>
                    <a:pt x="6" y="7"/>
                  </a:lnTo>
                  <a:lnTo>
                    <a:pt x="6" y="5"/>
                  </a:lnTo>
                  <a:lnTo>
                    <a:pt x="7" y="4"/>
                  </a:lnTo>
                  <a:lnTo>
                    <a:pt x="8" y="3"/>
                  </a:lnTo>
                  <a:lnTo>
                    <a:pt x="9" y="3"/>
                  </a:lnTo>
                  <a:lnTo>
                    <a:pt x="10" y="2"/>
                  </a:lnTo>
                  <a:lnTo>
                    <a:pt x="11" y="1"/>
                  </a:lnTo>
                  <a:lnTo>
                    <a:pt x="12" y="1"/>
                  </a:lnTo>
                  <a:lnTo>
                    <a:pt x="12" y="0"/>
                  </a:lnTo>
                  <a:lnTo>
                    <a:pt x="13" y="0"/>
                  </a:lnTo>
                  <a:lnTo>
                    <a:pt x="14" y="0"/>
                  </a:lnTo>
                  <a:lnTo>
                    <a:pt x="15" y="0"/>
                  </a:lnTo>
                  <a:lnTo>
                    <a:pt x="15" y="1"/>
                  </a:lnTo>
                  <a:lnTo>
                    <a:pt x="16" y="1"/>
                  </a:lnTo>
                  <a:lnTo>
                    <a:pt x="17" y="2"/>
                  </a:lnTo>
                  <a:lnTo>
                    <a:pt x="18" y="3"/>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3" name="Freeform 84"/>
            <p:cNvSpPr>
              <a:spLocks/>
            </p:cNvSpPr>
            <p:nvPr/>
          </p:nvSpPr>
          <p:spPr bwMode="auto">
            <a:xfrm>
              <a:off x="4737101" y="5135563"/>
              <a:ext cx="28575" cy="95250"/>
            </a:xfrm>
            <a:custGeom>
              <a:avLst/>
              <a:gdLst>
                <a:gd name="T0" fmla="*/ 10 w 20"/>
                <a:gd name="T1" fmla="*/ 67 h 68"/>
                <a:gd name="T2" fmla="*/ 10 w 20"/>
                <a:gd name="T3" fmla="*/ 67 h 68"/>
                <a:gd name="T4" fmla="*/ 9 w 20"/>
                <a:gd name="T5" fmla="*/ 66 h 68"/>
                <a:gd name="T6" fmla="*/ 9 w 20"/>
                <a:gd name="T7" fmla="*/ 66 h 68"/>
                <a:gd name="T8" fmla="*/ 8 w 20"/>
                <a:gd name="T9" fmla="*/ 64 h 68"/>
                <a:gd name="T10" fmla="*/ 7 w 20"/>
                <a:gd name="T11" fmla="*/ 62 h 68"/>
                <a:gd name="T12" fmla="*/ 6 w 20"/>
                <a:gd name="T13" fmla="*/ 62 h 68"/>
                <a:gd name="T14" fmla="*/ 6 w 20"/>
                <a:gd name="T15" fmla="*/ 61 h 68"/>
                <a:gd name="T16" fmla="*/ 4 w 20"/>
                <a:gd name="T17" fmla="*/ 60 h 68"/>
                <a:gd name="T18" fmla="*/ 4 w 20"/>
                <a:gd name="T19" fmla="*/ 58 h 68"/>
                <a:gd name="T20" fmla="*/ 4 w 20"/>
                <a:gd name="T21" fmla="*/ 56 h 68"/>
                <a:gd name="T22" fmla="*/ 2 w 20"/>
                <a:gd name="T23" fmla="*/ 54 h 68"/>
                <a:gd name="T24" fmla="*/ 2 w 20"/>
                <a:gd name="T25" fmla="*/ 52 h 68"/>
                <a:gd name="T26" fmla="*/ 2 w 20"/>
                <a:gd name="T27" fmla="*/ 50 h 68"/>
                <a:gd name="T28" fmla="*/ 2 w 20"/>
                <a:gd name="T29" fmla="*/ 48 h 68"/>
                <a:gd name="T30" fmla="*/ 2 w 20"/>
                <a:gd name="T31" fmla="*/ 46 h 68"/>
                <a:gd name="T32" fmla="*/ 0 w 20"/>
                <a:gd name="T33" fmla="*/ 46 h 68"/>
                <a:gd name="T34" fmla="*/ 0 w 20"/>
                <a:gd name="T35" fmla="*/ 42 h 68"/>
                <a:gd name="T36" fmla="*/ 0 w 20"/>
                <a:gd name="T37" fmla="*/ 41 h 68"/>
                <a:gd name="T38" fmla="*/ 0 w 20"/>
                <a:gd name="T39" fmla="*/ 38 h 68"/>
                <a:gd name="T40" fmla="*/ 0 w 20"/>
                <a:gd name="T41" fmla="*/ 36 h 68"/>
                <a:gd name="T42" fmla="*/ 0 w 20"/>
                <a:gd name="T43" fmla="*/ 34 h 68"/>
                <a:gd name="T44" fmla="*/ 0 w 20"/>
                <a:gd name="T45" fmla="*/ 32 h 68"/>
                <a:gd name="T46" fmla="*/ 0 w 20"/>
                <a:gd name="T47" fmla="*/ 30 h 68"/>
                <a:gd name="T48" fmla="*/ 0 w 20"/>
                <a:gd name="T49" fmla="*/ 28 h 68"/>
                <a:gd name="T50" fmla="*/ 0 w 20"/>
                <a:gd name="T51" fmla="*/ 26 h 68"/>
                <a:gd name="T52" fmla="*/ 0 w 20"/>
                <a:gd name="T53" fmla="*/ 24 h 68"/>
                <a:gd name="T54" fmla="*/ 2 w 20"/>
                <a:gd name="T55" fmla="*/ 21 h 68"/>
                <a:gd name="T56" fmla="*/ 2 w 20"/>
                <a:gd name="T57" fmla="*/ 20 h 68"/>
                <a:gd name="T58" fmla="*/ 2 w 20"/>
                <a:gd name="T59" fmla="*/ 17 h 68"/>
                <a:gd name="T60" fmla="*/ 2 w 20"/>
                <a:gd name="T61" fmla="*/ 15 h 68"/>
                <a:gd name="T62" fmla="*/ 2 w 20"/>
                <a:gd name="T63" fmla="*/ 13 h 68"/>
                <a:gd name="T64" fmla="*/ 4 w 20"/>
                <a:gd name="T65" fmla="*/ 13 h 68"/>
                <a:gd name="T66" fmla="*/ 4 w 20"/>
                <a:gd name="T67" fmla="*/ 11 h 68"/>
                <a:gd name="T68" fmla="*/ 6 w 20"/>
                <a:gd name="T69" fmla="*/ 10 h 68"/>
                <a:gd name="T70" fmla="*/ 6 w 20"/>
                <a:gd name="T71" fmla="*/ 8 h 68"/>
                <a:gd name="T72" fmla="*/ 6 w 20"/>
                <a:gd name="T73" fmla="*/ 7 h 68"/>
                <a:gd name="T74" fmla="*/ 7 w 20"/>
                <a:gd name="T75" fmla="*/ 5 h 68"/>
                <a:gd name="T76" fmla="*/ 8 w 20"/>
                <a:gd name="T77" fmla="*/ 4 h 68"/>
                <a:gd name="T78" fmla="*/ 9 w 20"/>
                <a:gd name="T79" fmla="*/ 3 h 68"/>
                <a:gd name="T80" fmla="*/ 9 w 20"/>
                <a:gd name="T81" fmla="*/ 3 h 68"/>
                <a:gd name="T82" fmla="*/ 10 w 20"/>
                <a:gd name="T83" fmla="*/ 2 h 68"/>
                <a:gd name="T84" fmla="*/ 10 w 20"/>
                <a:gd name="T85" fmla="*/ 1 h 68"/>
                <a:gd name="T86" fmla="*/ 12 w 20"/>
                <a:gd name="T87" fmla="*/ 1 h 68"/>
                <a:gd name="T88" fmla="*/ 12 w 20"/>
                <a:gd name="T89" fmla="*/ 0 h 68"/>
                <a:gd name="T90" fmla="*/ 14 w 20"/>
                <a:gd name="T91" fmla="*/ 0 h 68"/>
                <a:gd name="T92" fmla="*/ 14 w 20"/>
                <a:gd name="T93" fmla="*/ 0 h 68"/>
                <a:gd name="T94" fmla="*/ 15 w 20"/>
                <a:gd name="T95" fmla="*/ 0 h 68"/>
                <a:gd name="T96" fmla="*/ 16 w 20"/>
                <a:gd name="T97" fmla="*/ 1 h 68"/>
                <a:gd name="T98" fmla="*/ 17 w 20"/>
                <a:gd name="T99" fmla="*/ 1 h 68"/>
                <a:gd name="T100" fmla="*/ 18 w 20"/>
                <a:gd name="T101" fmla="*/ 2 h 68"/>
                <a:gd name="T102" fmla="*/ 19 w 20"/>
                <a:gd name="T103" fmla="*/ 3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68">
                  <a:moveTo>
                    <a:pt x="10" y="67"/>
                  </a:moveTo>
                  <a:lnTo>
                    <a:pt x="10" y="67"/>
                  </a:lnTo>
                  <a:lnTo>
                    <a:pt x="9" y="66"/>
                  </a:lnTo>
                  <a:lnTo>
                    <a:pt x="9" y="66"/>
                  </a:lnTo>
                  <a:lnTo>
                    <a:pt x="8" y="64"/>
                  </a:lnTo>
                  <a:lnTo>
                    <a:pt x="7" y="62"/>
                  </a:lnTo>
                  <a:lnTo>
                    <a:pt x="6" y="62"/>
                  </a:lnTo>
                  <a:lnTo>
                    <a:pt x="6" y="61"/>
                  </a:lnTo>
                  <a:lnTo>
                    <a:pt x="4" y="60"/>
                  </a:lnTo>
                  <a:lnTo>
                    <a:pt x="4" y="58"/>
                  </a:lnTo>
                  <a:lnTo>
                    <a:pt x="4" y="56"/>
                  </a:lnTo>
                  <a:lnTo>
                    <a:pt x="2" y="54"/>
                  </a:lnTo>
                  <a:lnTo>
                    <a:pt x="2" y="52"/>
                  </a:lnTo>
                  <a:lnTo>
                    <a:pt x="2" y="50"/>
                  </a:lnTo>
                  <a:lnTo>
                    <a:pt x="2" y="48"/>
                  </a:lnTo>
                  <a:lnTo>
                    <a:pt x="2" y="46"/>
                  </a:lnTo>
                  <a:lnTo>
                    <a:pt x="0" y="46"/>
                  </a:lnTo>
                  <a:lnTo>
                    <a:pt x="0" y="42"/>
                  </a:lnTo>
                  <a:lnTo>
                    <a:pt x="0" y="41"/>
                  </a:lnTo>
                  <a:lnTo>
                    <a:pt x="0" y="38"/>
                  </a:lnTo>
                  <a:lnTo>
                    <a:pt x="0" y="36"/>
                  </a:lnTo>
                  <a:lnTo>
                    <a:pt x="0" y="34"/>
                  </a:lnTo>
                  <a:lnTo>
                    <a:pt x="0" y="32"/>
                  </a:lnTo>
                  <a:lnTo>
                    <a:pt x="0" y="30"/>
                  </a:lnTo>
                  <a:lnTo>
                    <a:pt x="0" y="28"/>
                  </a:lnTo>
                  <a:lnTo>
                    <a:pt x="0" y="26"/>
                  </a:lnTo>
                  <a:lnTo>
                    <a:pt x="0" y="24"/>
                  </a:lnTo>
                  <a:lnTo>
                    <a:pt x="2" y="21"/>
                  </a:lnTo>
                  <a:lnTo>
                    <a:pt x="2" y="20"/>
                  </a:lnTo>
                  <a:lnTo>
                    <a:pt x="2" y="17"/>
                  </a:lnTo>
                  <a:lnTo>
                    <a:pt x="2" y="15"/>
                  </a:lnTo>
                  <a:lnTo>
                    <a:pt x="2" y="13"/>
                  </a:lnTo>
                  <a:lnTo>
                    <a:pt x="4" y="13"/>
                  </a:lnTo>
                  <a:lnTo>
                    <a:pt x="4" y="11"/>
                  </a:lnTo>
                  <a:lnTo>
                    <a:pt x="6" y="10"/>
                  </a:lnTo>
                  <a:lnTo>
                    <a:pt x="6" y="8"/>
                  </a:lnTo>
                  <a:lnTo>
                    <a:pt x="6" y="7"/>
                  </a:lnTo>
                  <a:lnTo>
                    <a:pt x="7" y="5"/>
                  </a:lnTo>
                  <a:lnTo>
                    <a:pt x="8" y="4"/>
                  </a:lnTo>
                  <a:lnTo>
                    <a:pt x="9" y="3"/>
                  </a:lnTo>
                  <a:lnTo>
                    <a:pt x="9" y="3"/>
                  </a:lnTo>
                  <a:lnTo>
                    <a:pt x="10" y="2"/>
                  </a:lnTo>
                  <a:lnTo>
                    <a:pt x="10" y="1"/>
                  </a:lnTo>
                  <a:lnTo>
                    <a:pt x="12" y="1"/>
                  </a:lnTo>
                  <a:lnTo>
                    <a:pt x="12" y="0"/>
                  </a:lnTo>
                  <a:lnTo>
                    <a:pt x="14" y="0"/>
                  </a:lnTo>
                  <a:lnTo>
                    <a:pt x="14" y="0"/>
                  </a:lnTo>
                  <a:lnTo>
                    <a:pt x="15" y="0"/>
                  </a:lnTo>
                  <a:lnTo>
                    <a:pt x="16" y="1"/>
                  </a:lnTo>
                  <a:lnTo>
                    <a:pt x="17" y="1"/>
                  </a:lnTo>
                  <a:lnTo>
                    <a:pt x="18" y="2"/>
                  </a:lnTo>
                  <a:lnTo>
                    <a:pt x="19" y="3"/>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4" name="Freeform 85"/>
            <p:cNvSpPr>
              <a:spLocks/>
            </p:cNvSpPr>
            <p:nvPr/>
          </p:nvSpPr>
          <p:spPr bwMode="auto">
            <a:xfrm>
              <a:off x="4719639" y="5138738"/>
              <a:ext cx="26987" cy="93662"/>
            </a:xfrm>
            <a:custGeom>
              <a:avLst/>
              <a:gdLst>
                <a:gd name="T0" fmla="*/ 8 w 19"/>
                <a:gd name="T1" fmla="*/ 66 h 67"/>
                <a:gd name="T2" fmla="*/ 8 w 19"/>
                <a:gd name="T3" fmla="*/ 66 h 67"/>
                <a:gd name="T4" fmla="*/ 8 w 19"/>
                <a:gd name="T5" fmla="*/ 65 h 67"/>
                <a:gd name="T6" fmla="*/ 6 w 19"/>
                <a:gd name="T7" fmla="*/ 65 h 67"/>
                <a:gd name="T8" fmla="*/ 6 w 19"/>
                <a:gd name="T9" fmla="*/ 64 h 67"/>
                <a:gd name="T10" fmla="*/ 5 w 19"/>
                <a:gd name="T11" fmla="*/ 62 h 67"/>
                <a:gd name="T12" fmla="*/ 4 w 19"/>
                <a:gd name="T13" fmla="*/ 62 h 67"/>
                <a:gd name="T14" fmla="*/ 4 w 19"/>
                <a:gd name="T15" fmla="*/ 60 h 67"/>
                <a:gd name="T16" fmla="*/ 4 w 19"/>
                <a:gd name="T17" fmla="*/ 59 h 67"/>
                <a:gd name="T18" fmla="*/ 2 w 19"/>
                <a:gd name="T19" fmla="*/ 57 h 67"/>
                <a:gd name="T20" fmla="*/ 2 w 19"/>
                <a:gd name="T21" fmla="*/ 55 h 67"/>
                <a:gd name="T22" fmla="*/ 1 w 19"/>
                <a:gd name="T23" fmla="*/ 54 h 67"/>
                <a:gd name="T24" fmla="*/ 1 w 19"/>
                <a:gd name="T25" fmla="*/ 52 h 67"/>
                <a:gd name="T26" fmla="*/ 1 w 19"/>
                <a:gd name="T27" fmla="*/ 50 h 67"/>
                <a:gd name="T28" fmla="*/ 0 w 19"/>
                <a:gd name="T29" fmla="*/ 48 h 67"/>
                <a:gd name="T30" fmla="*/ 0 w 19"/>
                <a:gd name="T31" fmla="*/ 46 h 67"/>
                <a:gd name="T32" fmla="*/ 0 w 19"/>
                <a:gd name="T33" fmla="*/ 44 h 67"/>
                <a:gd name="T34" fmla="*/ 0 w 19"/>
                <a:gd name="T35" fmla="*/ 42 h 67"/>
                <a:gd name="T36" fmla="*/ 0 w 19"/>
                <a:gd name="T37" fmla="*/ 40 h 67"/>
                <a:gd name="T38" fmla="*/ 0 w 19"/>
                <a:gd name="T39" fmla="*/ 38 h 67"/>
                <a:gd name="T40" fmla="*/ 0 w 19"/>
                <a:gd name="T41" fmla="*/ 36 h 67"/>
                <a:gd name="T42" fmla="*/ 0 w 19"/>
                <a:gd name="T43" fmla="*/ 33 h 67"/>
                <a:gd name="T44" fmla="*/ 0 w 19"/>
                <a:gd name="T45" fmla="*/ 31 h 67"/>
                <a:gd name="T46" fmla="*/ 0 w 19"/>
                <a:gd name="T47" fmla="*/ 29 h 67"/>
                <a:gd name="T48" fmla="*/ 0 w 19"/>
                <a:gd name="T49" fmla="*/ 28 h 67"/>
                <a:gd name="T50" fmla="*/ 0 w 19"/>
                <a:gd name="T51" fmla="*/ 25 h 67"/>
                <a:gd name="T52" fmla="*/ 0 w 19"/>
                <a:gd name="T53" fmla="*/ 23 h 67"/>
                <a:gd name="T54" fmla="*/ 0 w 19"/>
                <a:gd name="T55" fmla="*/ 21 h 67"/>
                <a:gd name="T56" fmla="*/ 0 w 19"/>
                <a:gd name="T57" fmla="*/ 19 h 67"/>
                <a:gd name="T58" fmla="*/ 1 w 19"/>
                <a:gd name="T59" fmla="*/ 17 h 67"/>
                <a:gd name="T60" fmla="*/ 1 w 19"/>
                <a:gd name="T61" fmla="*/ 15 h 67"/>
                <a:gd name="T62" fmla="*/ 2 w 19"/>
                <a:gd name="T63" fmla="*/ 13 h 67"/>
                <a:gd name="T64" fmla="*/ 2 w 19"/>
                <a:gd name="T65" fmla="*/ 11 h 67"/>
                <a:gd name="T66" fmla="*/ 2 w 19"/>
                <a:gd name="T67" fmla="*/ 11 h 67"/>
                <a:gd name="T68" fmla="*/ 4 w 19"/>
                <a:gd name="T69" fmla="*/ 9 h 67"/>
                <a:gd name="T70" fmla="*/ 4 w 19"/>
                <a:gd name="T71" fmla="*/ 8 h 67"/>
                <a:gd name="T72" fmla="*/ 5 w 19"/>
                <a:gd name="T73" fmla="*/ 6 h 67"/>
                <a:gd name="T74" fmla="*/ 5 w 19"/>
                <a:gd name="T75" fmla="*/ 5 h 67"/>
                <a:gd name="T76" fmla="*/ 6 w 19"/>
                <a:gd name="T77" fmla="*/ 3 h 67"/>
                <a:gd name="T78" fmla="*/ 8 w 19"/>
                <a:gd name="T79" fmla="*/ 2 h 67"/>
                <a:gd name="T80" fmla="*/ 8 w 19"/>
                <a:gd name="T81" fmla="*/ 1 h 67"/>
                <a:gd name="T82" fmla="*/ 10 w 19"/>
                <a:gd name="T83" fmla="*/ 1 h 67"/>
                <a:gd name="T84" fmla="*/ 10 w 19"/>
                <a:gd name="T85" fmla="*/ 1 h 67"/>
                <a:gd name="T86" fmla="*/ 10 w 19"/>
                <a:gd name="T87" fmla="*/ 1 h 67"/>
                <a:gd name="T88" fmla="*/ 11 w 19"/>
                <a:gd name="T89" fmla="*/ 0 h 67"/>
                <a:gd name="T90" fmla="*/ 12 w 19"/>
                <a:gd name="T91" fmla="*/ 0 h 67"/>
                <a:gd name="T92" fmla="*/ 14 w 19"/>
                <a:gd name="T93" fmla="*/ 0 h 67"/>
                <a:gd name="T94" fmla="*/ 14 w 19"/>
                <a:gd name="T95" fmla="*/ 0 h 67"/>
                <a:gd name="T96" fmla="*/ 14 w 19"/>
                <a:gd name="T97" fmla="*/ 1 h 67"/>
                <a:gd name="T98" fmla="*/ 16 w 19"/>
                <a:gd name="T99" fmla="*/ 1 h 67"/>
                <a:gd name="T100" fmla="*/ 16 w 19"/>
                <a:gd name="T101" fmla="*/ 1 h 67"/>
                <a:gd name="T102" fmla="*/ 18 w 19"/>
                <a:gd name="T103" fmla="*/ 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 h="67">
                  <a:moveTo>
                    <a:pt x="8" y="66"/>
                  </a:moveTo>
                  <a:lnTo>
                    <a:pt x="8" y="66"/>
                  </a:lnTo>
                  <a:lnTo>
                    <a:pt x="8" y="65"/>
                  </a:lnTo>
                  <a:lnTo>
                    <a:pt x="6" y="65"/>
                  </a:lnTo>
                  <a:lnTo>
                    <a:pt x="6" y="64"/>
                  </a:lnTo>
                  <a:lnTo>
                    <a:pt x="5" y="62"/>
                  </a:lnTo>
                  <a:lnTo>
                    <a:pt x="4" y="62"/>
                  </a:lnTo>
                  <a:lnTo>
                    <a:pt x="4" y="60"/>
                  </a:lnTo>
                  <a:lnTo>
                    <a:pt x="4" y="59"/>
                  </a:lnTo>
                  <a:lnTo>
                    <a:pt x="2" y="57"/>
                  </a:lnTo>
                  <a:lnTo>
                    <a:pt x="2" y="55"/>
                  </a:lnTo>
                  <a:lnTo>
                    <a:pt x="1" y="54"/>
                  </a:lnTo>
                  <a:lnTo>
                    <a:pt x="1" y="52"/>
                  </a:lnTo>
                  <a:lnTo>
                    <a:pt x="1" y="50"/>
                  </a:lnTo>
                  <a:lnTo>
                    <a:pt x="0" y="48"/>
                  </a:lnTo>
                  <a:lnTo>
                    <a:pt x="0" y="46"/>
                  </a:lnTo>
                  <a:lnTo>
                    <a:pt x="0" y="44"/>
                  </a:lnTo>
                  <a:lnTo>
                    <a:pt x="0" y="42"/>
                  </a:lnTo>
                  <a:lnTo>
                    <a:pt x="0" y="40"/>
                  </a:lnTo>
                  <a:lnTo>
                    <a:pt x="0" y="38"/>
                  </a:lnTo>
                  <a:lnTo>
                    <a:pt x="0" y="36"/>
                  </a:lnTo>
                  <a:lnTo>
                    <a:pt x="0" y="33"/>
                  </a:lnTo>
                  <a:lnTo>
                    <a:pt x="0" y="31"/>
                  </a:lnTo>
                  <a:lnTo>
                    <a:pt x="0" y="29"/>
                  </a:lnTo>
                  <a:lnTo>
                    <a:pt x="0" y="28"/>
                  </a:lnTo>
                  <a:lnTo>
                    <a:pt x="0" y="25"/>
                  </a:lnTo>
                  <a:lnTo>
                    <a:pt x="0" y="23"/>
                  </a:lnTo>
                  <a:lnTo>
                    <a:pt x="0" y="21"/>
                  </a:lnTo>
                  <a:lnTo>
                    <a:pt x="0" y="19"/>
                  </a:lnTo>
                  <a:lnTo>
                    <a:pt x="1" y="17"/>
                  </a:lnTo>
                  <a:lnTo>
                    <a:pt x="1" y="15"/>
                  </a:lnTo>
                  <a:lnTo>
                    <a:pt x="2" y="13"/>
                  </a:lnTo>
                  <a:lnTo>
                    <a:pt x="2" y="11"/>
                  </a:lnTo>
                  <a:lnTo>
                    <a:pt x="2" y="11"/>
                  </a:lnTo>
                  <a:lnTo>
                    <a:pt x="4" y="9"/>
                  </a:lnTo>
                  <a:lnTo>
                    <a:pt x="4" y="8"/>
                  </a:lnTo>
                  <a:lnTo>
                    <a:pt x="5" y="6"/>
                  </a:lnTo>
                  <a:lnTo>
                    <a:pt x="5" y="5"/>
                  </a:lnTo>
                  <a:lnTo>
                    <a:pt x="6" y="3"/>
                  </a:lnTo>
                  <a:lnTo>
                    <a:pt x="8" y="2"/>
                  </a:lnTo>
                  <a:lnTo>
                    <a:pt x="8" y="1"/>
                  </a:lnTo>
                  <a:lnTo>
                    <a:pt x="10" y="1"/>
                  </a:lnTo>
                  <a:lnTo>
                    <a:pt x="10" y="1"/>
                  </a:lnTo>
                  <a:lnTo>
                    <a:pt x="10" y="1"/>
                  </a:lnTo>
                  <a:lnTo>
                    <a:pt x="11" y="0"/>
                  </a:lnTo>
                  <a:lnTo>
                    <a:pt x="12" y="0"/>
                  </a:lnTo>
                  <a:lnTo>
                    <a:pt x="14" y="0"/>
                  </a:lnTo>
                  <a:lnTo>
                    <a:pt x="14" y="0"/>
                  </a:lnTo>
                  <a:lnTo>
                    <a:pt x="14" y="1"/>
                  </a:lnTo>
                  <a:lnTo>
                    <a:pt x="16" y="1"/>
                  </a:lnTo>
                  <a:lnTo>
                    <a:pt x="16" y="1"/>
                  </a:lnTo>
                  <a:lnTo>
                    <a:pt x="18" y="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5" name="Freeform 86"/>
            <p:cNvSpPr>
              <a:spLocks/>
            </p:cNvSpPr>
            <p:nvPr/>
          </p:nvSpPr>
          <p:spPr bwMode="auto">
            <a:xfrm>
              <a:off x="4695825" y="5138738"/>
              <a:ext cx="26988" cy="93662"/>
            </a:xfrm>
            <a:custGeom>
              <a:avLst/>
              <a:gdLst>
                <a:gd name="T0" fmla="*/ 9 w 19"/>
                <a:gd name="T1" fmla="*/ 66 h 67"/>
                <a:gd name="T2" fmla="*/ 9 w 19"/>
                <a:gd name="T3" fmla="*/ 66 h 67"/>
                <a:gd name="T4" fmla="*/ 9 w 19"/>
                <a:gd name="T5" fmla="*/ 65 h 67"/>
                <a:gd name="T6" fmla="*/ 7 w 19"/>
                <a:gd name="T7" fmla="*/ 65 h 67"/>
                <a:gd name="T8" fmla="*/ 7 w 19"/>
                <a:gd name="T9" fmla="*/ 64 h 67"/>
                <a:gd name="T10" fmla="*/ 7 w 19"/>
                <a:gd name="T11" fmla="*/ 62 h 67"/>
                <a:gd name="T12" fmla="*/ 6 w 19"/>
                <a:gd name="T13" fmla="*/ 62 h 67"/>
                <a:gd name="T14" fmla="*/ 5 w 19"/>
                <a:gd name="T15" fmla="*/ 60 h 67"/>
                <a:gd name="T16" fmla="*/ 4 w 19"/>
                <a:gd name="T17" fmla="*/ 59 h 67"/>
                <a:gd name="T18" fmla="*/ 3 w 19"/>
                <a:gd name="T19" fmla="*/ 57 h 67"/>
                <a:gd name="T20" fmla="*/ 3 w 19"/>
                <a:gd name="T21" fmla="*/ 55 h 67"/>
                <a:gd name="T22" fmla="*/ 3 w 19"/>
                <a:gd name="T23" fmla="*/ 54 h 67"/>
                <a:gd name="T24" fmla="*/ 3 w 19"/>
                <a:gd name="T25" fmla="*/ 52 h 67"/>
                <a:gd name="T26" fmla="*/ 3 w 19"/>
                <a:gd name="T27" fmla="*/ 50 h 67"/>
                <a:gd name="T28" fmla="*/ 2 w 19"/>
                <a:gd name="T29" fmla="*/ 48 h 67"/>
                <a:gd name="T30" fmla="*/ 1 w 19"/>
                <a:gd name="T31" fmla="*/ 46 h 67"/>
                <a:gd name="T32" fmla="*/ 1 w 19"/>
                <a:gd name="T33" fmla="*/ 44 h 67"/>
                <a:gd name="T34" fmla="*/ 1 w 19"/>
                <a:gd name="T35" fmla="*/ 42 h 67"/>
                <a:gd name="T36" fmla="*/ 1 w 19"/>
                <a:gd name="T37" fmla="*/ 40 h 67"/>
                <a:gd name="T38" fmla="*/ 1 w 19"/>
                <a:gd name="T39" fmla="*/ 38 h 67"/>
                <a:gd name="T40" fmla="*/ 0 w 19"/>
                <a:gd name="T41" fmla="*/ 36 h 67"/>
                <a:gd name="T42" fmla="*/ 0 w 19"/>
                <a:gd name="T43" fmla="*/ 33 h 67"/>
                <a:gd name="T44" fmla="*/ 0 w 19"/>
                <a:gd name="T45" fmla="*/ 31 h 67"/>
                <a:gd name="T46" fmla="*/ 1 w 19"/>
                <a:gd name="T47" fmla="*/ 29 h 67"/>
                <a:gd name="T48" fmla="*/ 1 w 19"/>
                <a:gd name="T49" fmla="*/ 28 h 67"/>
                <a:gd name="T50" fmla="*/ 1 w 19"/>
                <a:gd name="T51" fmla="*/ 25 h 67"/>
                <a:gd name="T52" fmla="*/ 1 w 19"/>
                <a:gd name="T53" fmla="*/ 23 h 67"/>
                <a:gd name="T54" fmla="*/ 1 w 19"/>
                <a:gd name="T55" fmla="*/ 21 h 67"/>
                <a:gd name="T56" fmla="*/ 2 w 19"/>
                <a:gd name="T57" fmla="*/ 19 h 67"/>
                <a:gd name="T58" fmla="*/ 3 w 19"/>
                <a:gd name="T59" fmla="*/ 17 h 67"/>
                <a:gd name="T60" fmla="*/ 3 w 19"/>
                <a:gd name="T61" fmla="*/ 15 h 67"/>
                <a:gd name="T62" fmla="*/ 3 w 19"/>
                <a:gd name="T63" fmla="*/ 13 h 67"/>
                <a:gd name="T64" fmla="*/ 3 w 19"/>
                <a:gd name="T65" fmla="*/ 11 h 67"/>
                <a:gd name="T66" fmla="*/ 4 w 19"/>
                <a:gd name="T67" fmla="*/ 11 h 67"/>
                <a:gd name="T68" fmla="*/ 5 w 19"/>
                <a:gd name="T69" fmla="*/ 9 h 67"/>
                <a:gd name="T70" fmla="*/ 5 w 19"/>
                <a:gd name="T71" fmla="*/ 8 h 67"/>
                <a:gd name="T72" fmla="*/ 7 w 19"/>
                <a:gd name="T73" fmla="*/ 6 h 67"/>
                <a:gd name="T74" fmla="*/ 7 w 19"/>
                <a:gd name="T75" fmla="*/ 5 h 67"/>
                <a:gd name="T76" fmla="*/ 7 w 19"/>
                <a:gd name="T77" fmla="*/ 3 h 67"/>
                <a:gd name="T78" fmla="*/ 8 w 19"/>
                <a:gd name="T79" fmla="*/ 2 h 67"/>
                <a:gd name="T80" fmla="*/ 9 w 19"/>
                <a:gd name="T81" fmla="*/ 1 h 67"/>
                <a:gd name="T82" fmla="*/ 10 w 19"/>
                <a:gd name="T83" fmla="*/ 1 h 67"/>
                <a:gd name="T84" fmla="*/ 11 w 19"/>
                <a:gd name="T85" fmla="*/ 1 h 67"/>
                <a:gd name="T86" fmla="*/ 12 w 19"/>
                <a:gd name="T87" fmla="*/ 1 h 67"/>
                <a:gd name="T88" fmla="*/ 13 w 19"/>
                <a:gd name="T89" fmla="*/ 0 h 67"/>
                <a:gd name="T90" fmla="*/ 14 w 19"/>
                <a:gd name="T91" fmla="*/ 0 h 67"/>
                <a:gd name="T92" fmla="*/ 14 w 19"/>
                <a:gd name="T93" fmla="*/ 0 h 67"/>
                <a:gd name="T94" fmla="*/ 16 w 19"/>
                <a:gd name="T95" fmla="*/ 0 h 67"/>
                <a:gd name="T96" fmla="*/ 17 w 19"/>
                <a:gd name="T97" fmla="*/ 1 h 67"/>
                <a:gd name="T98" fmla="*/ 17 w 19"/>
                <a:gd name="T99" fmla="*/ 1 h 67"/>
                <a:gd name="T100" fmla="*/ 18 w 19"/>
                <a:gd name="T101" fmla="*/ 1 h 67"/>
                <a:gd name="T102" fmla="*/ 18 w 19"/>
                <a:gd name="T103" fmla="*/ 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 h="67">
                  <a:moveTo>
                    <a:pt x="9" y="66"/>
                  </a:moveTo>
                  <a:lnTo>
                    <a:pt x="9" y="66"/>
                  </a:lnTo>
                  <a:lnTo>
                    <a:pt x="9" y="65"/>
                  </a:lnTo>
                  <a:lnTo>
                    <a:pt x="7" y="65"/>
                  </a:lnTo>
                  <a:lnTo>
                    <a:pt x="7" y="64"/>
                  </a:lnTo>
                  <a:lnTo>
                    <a:pt x="7" y="62"/>
                  </a:lnTo>
                  <a:lnTo>
                    <a:pt x="6" y="62"/>
                  </a:lnTo>
                  <a:lnTo>
                    <a:pt x="5" y="60"/>
                  </a:lnTo>
                  <a:lnTo>
                    <a:pt x="4" y="59"/>
                  </a:lnTo>
                  <a:lnTo>
                    <a:pt x="3" y="57"/>
                  </a:lnTo>
                  <a:lnTo>
                    <a:pt x="3" y="55"/>
                  </a:lnTo>
                  <a:lnTo>
                    <a:pt x="3" y="54"/>
                  </a:lnTo>
                  <a:lnTo>
                    <a:pt x="3" y="52"/>
                  </a:lnTo>
                  <a:lnTo>
                    <a:pt x="3" y="50"/>
                  </a:lnTo>
                  <a:lnTo>
                    <a:pt x="2" y="48"/>
                  </a:lnTo>
                  <a:lnTo>
                    <a:pt x="1" y="46"/>
                  </a:lnTo>
                  <a:lnTo>
                    <a:pt x="1" y="44"/>
                  </a:lnTo>
                  <a:lnTo>
                    <a:pt x="1" y="42"/>
                  </a:lnTo>
                  <a:lnTo>
                    <a:pt x="1" y="40"/>
                  </a:lnTo>
                  <a:lnTo>
                    <a:pt x="1" y="38"/>
                  </a:lnTo>
                  <a:lnTo>
                    <a:pt x="0" y="36"/>
                  </a:lnTo>
                  <a:lnTo>
                    <a:pt x="0" y="33"/>
                  </a:lnTo>
                  <a:lnTo>
                    <a:pt x="0" y="31"/>
                  </a:lnTo>
                  <a:lnTo>
                    <a:pt x="1" y="29"/>
                  </a:lnTo>
                  <a:lnTo>
                    <a:pt x="1" y="28"/>
                  </a:lnTo>
                  <a:lnTo>
                    <a:pt x="1" y="25"/>
                  </a:lnTo>
                  <a:lnTo>
                    <a:pt x="1" y="23"/>
                  </a:lnTo>
                  <a:lnTo>
                    <a:pt x="1" y="21"/>
                  </a:lnTo>
                  <a:lnTo>
                    <a:pt x="2" y="19"/>
                  </a:lnTo>
                  <a:lnTo>
                    <a:pt x="3" y="17"/>
                  </a:lnTo>
                  <a:lnTo>
                    <a:pt x="3" y="15"/>
                  </a:lnTo>
                  <a:lnTo>
                    <a:pt x="3" y="13"/>
                  </a:lnTo>
                  <a:lnTo>
                    <a:pt x="3" y="11"/>
                  </a:lnTo>
                  <a:lnTo>
                    <a:pt x="4" y="11"/>
                  </a:lnTo>
                  <a:lnTo>
                    <a:pt x="5" y="9"/>
                  </a:lnTo>
                  <a:lnTo>
                    <a:pt x="5" y="8"/>
                  </a:lnTo>
                  <a:lnTo>
                    <a:pt x="7" y="6"/>
                  </a:lnTo>
                  <a:lnTo>
                    <a:pt x="7" y="5"/>
                  </a:lnTo>
                  <a:lnTo>
                    <a:pt x="7" y="3"/>
                  </a:lnTo>
                  <a:lnTo>
                    <a:pt x="8" y="2"/>
                  </a:lnTo>
                  <a:lnTo>
                    <a:pt x="9" y="1"/>
                  </a:lnTo>
                  <a:lnTo>
                    <a:pt x="10" y="1"/>
                  </a:lnTo>
                  <a:lnTo>
                    <a:pt x="11" y="1"/>
                  </a:lnTo>
                  <a:lnTo>
                    <a:pt x="12" y="1"/>
                  </a:lnTo>
                  <a:lnTo>
                    <a:pt x="13" y="0"/>
                  </a:lnTo>
                  <a:lnTo>
                    <a:pt x="14" y="0"/>
                  </a:lnTo>
                  <a:lnTo>
                    <a:pt x="14" y="0"/>
                  </a:lnTo>
                  <a:lnTo>
                    <a:pt x="16" y="0"/>
                  </a:lnTo>
                  <a:lnTo>
                    <a:pt x="17" y="1"/>
                  </a:lnTo>
                  <a:lnTo>
                    <a:pt x="17" y="1"/>
                  </a:lnTo>
                  <a:lnTo>
                    <a:pt x="18" y="1"/>
                  </a:lnTo>
                  <a:lnTo>
                    <a:pt x="18" y="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6" name="Freeform 87"/>
            <p:cNvSpPr>
              <a:spLocks/>
            </p:cNvSpPr>
            <p:nvPr/>
          </p:nvSpPr>
          <p:spPr bwMode="auto">
            <a:xfrm>
              <a:off x="4679950" y="5138738"/>
              <a:ext cx="26988" cy="93662"/>
            </a:xfrm>
            <a:custGeom>
              <a:avLst/>
              <a:gdLst>
                <a:gd name="T0" fmla="*/ 10 w 19"/>
                <a:gd name="T1" fmla="*/ 66 h 67"/>
                <a:gd name="T2" fmla="*/ 10 w 19"/>
                <a:gd name="T3" fmla="*/ 66 h 67"/>
                <a:gd name="T4" fmla="*/ 8 w 19"/>
                <a:gd name="T5" fmla="*/ 65 h 67"/>
                <a:gd name="T6" fmla="*/ 7 w 19"/>
                <a:gd name="T7" fmla="*/ 65 h 67"/>
                <a:gd name="T8" fmla="*/ 6 w 19"/>
                <a:gd name="T9" fmla="*/ 64 h 67"/>
                <a:gd name="T10" fmla="*/ 6 w 19"/>
                <a:gd name="T11" fmla="*/ 62 h 67"/>
                <a:gd name="T12" fmla="*/ 5 w 19"/>
                <a:gd name="T13" fmla="*/ 62 h 67"/>
                <a:gd name="T14" fmla="*/ 4 w 19"/>
                <a:gd name="T15" fmla="*/ 60 h 67"/>
                <a:gd name="T16" fmla="*/ 3 w 19"/>
                <a:gd name="T17" fmla="*/ 59 h 67"/>
                <a:gd name="T18" fmla="*/ 3 w 19"/>
                <a:gd name="T19" fmla="*/ 57 h 67"/>
                <a:gd name="T20" fmla="*/ 2 w 19"/>
                <a:gd name="T21" fmla="*/ 55 h 67"/>
                <a:gd name="T22" fmla="*/ 1 w 19"/>
                <a:gd name="T23" fmla="*/ 54 h 67"/>
                <a:gd name="T24" fmla="*/ 1 w 19"/>
                <a:gd name="T25" fmla="*/ 52 h 67"/>
                <a:gd name="T26" fmla="*/ 0 w 19"/>
                <a:gd name="T27" fmla="*/ 50 h 67"/>
                <a:gd name="T28" fmla="*/ 0 w 19"/>
                <a:gd name="T29" fmla="*/ 48 h 67"/>
                <a:gd name="T30" fmla="*/ 0 w 19"/>
                <a:gd name="T31" fmla="*/ 46 h 67"/>
                <a:gd name="T32" fmla="*/ 0 w 19"/>
                <a:gd name="T33" fmla="*/ 44 h 67"/>
                <a:gd name="T34" fmla="*/ 0 w 19"/>
                <a:gd name="T35" fmla="*/ 42 h 67"/>
                <a:gd name="T36" fmla="*/ 0 w 19"/>
                <a:gd name="T37" fmla="*/ 40 h 67"/>
                <a:gd name="T38" fmla="*/ 0 w 19"/>
                <a:gd name="T39" fmla="*/ 38 h 67"/>
                <a:gd name="T40" fmla="*/ 0 w 19"/>
                <a:gd name="T41" fmla="*/ 36 h 67"/>
                <a:gd name="T42" fmla="*/ 0 w 19"/>
                <a:gd name="T43" fmla="*/ 33 h 67"/>
                <a:gd name="T44" fmla="*/ 0 w 19"/>
                <a:gd name="T45" fmla="*/ 31 h 67"/>
                <a:gd name="T46" fmla="*/ 0 w 19"/>
                <a:gd name="T47" fmla="*/ 29 h 67"/>
                <a:gd name="T48" fmla="*/ 0 w 19"/>
                <a:gd name="T49" fmla="*/ 28 h 67"/>
                <a:gd name="T50" fmla="*/ 0 w 19"/>
                <a:gd name="T51" fmla="*/ 25 h 67"/>
                <a:gd name="T52" fmla="*/ 0 w 19"/>
                <a:gd name="T53" fmla="*/ 23 h 67"/>
                <a:gd name="T54" fmla="*/ 0 w 19"/>
                <a:gd name="T55" fmla="*/ 21 h 67"/>
                <a:gd name="T56" fmla="*/ 0 w 19"/>
                <a:gd name="T57" fmla="*/ 19 h 67"/>
                <a:gd name="T58" fmla="*/ 0 w 19"/>
                <a:gd name="T59" fmla="*/ 17 h 67"/>
                <a:gd name="T60" fmla="*/ 1 w 19"/>
                <a:gd name="T61" fmla="*/ 15 h 67"/>
                <a:gd name="T62" fmla="*/ 1 w 19"/>
                <a:gd name="T63" fmla="*/ 13 h 67"/>
                <a:gd name="T64" fmla="*/ 2 w 19"/>
                <a:gd name="T65" fmla="*/ 11 h 67"/>
                <a:gd name="T66" fmla="*/ 3 w 19"/>
                <a:gd name="T67" fmla="*/ 11 h 67"/>
                <a:gd name="T68" fmla="*/ 4 w 19"/>
                <a:gd name="T69" fmla="*/ 9 h 67"/>
                <a:gd name="T70" fmla="*/ 5 w 19"/>
                <a:gd name="T71" fmla="*/ 8 h 67"/>
                <a:gd name="T72" fmla="*/ 5 w 19"/>
                <a:gd name="T73" fmla="*/ 6 h 67"/>
                <a:gd name="T74" fmla="*/ 6 w 19"/>
                <a:gd name="T75" fmla="*/ 5 h 67"/>
                <a:gd name="T76" fmla="*/ 7 w 19"/>
                <a:gd name="T77" fmla="*/ 3 h 67"/>
                <a:gd name="T78" fmla="*/ 8 w 19"/>
                <a:gd name="T79" fmla="*/ 2 h 67"/>
                <a:gd name="T80" fmla="*/ 8 w 19"/>
                <a:gd name="T81" fmla="*/ 1 h 67"/>
                <a:gd name="T82" fmla="*/ 10 w 19"/>
                <a:gd name="T83" fmla="*/ 1 h 67"/>
                <a:gd name="T84" fmla="*/ 10 w 19"/>
                <a:gd name="T85" fmla="*/ 1 h 67"/>
                <a:gd name="T86" fmla="*/ 11 w 19"/>
                <a:gd name="T87" fmla="*/ 1 h 67"/>
                <a:gd name="T88" fmla="*/ 12 w 19"/>
                <a:gd name="T89" fmla="*/ 0 h 67"/>
                <a:gd name="T90" fmla="*/ 13 w 19"/>
                <a:gd name="T91" fmla="*/ 0 h 67"/>
                <a:gd name="T92" fmla="*/ 14 w 19"/>
                <a:gd name="T93" fmla="*/ 0 h 67"/>
                <a:gd name="T94" fmla="*/ 14 w 19"/>
                <a:gd name="T95" fmla="*/ 0 h 67"/>
                <a:gd name="T96" fmla="*/ 15 w 19"/>
                <a:gd name="T97" fmla="*/ 1 h 67"/>
                <a:gd name="T98" fmla="*/ 16 w 19"/>
                <a:gd name="T99" fmla="*/ 1 h 67"/>
                <a:gd name="T100" fmla="*/ 17 w 19"/>
                <a:gd name="T101" fmla="*/ 1 h 67"/>
                <a:gd name="T102" fmla="*/ 18 w 19"/>
                <a:gd name="T103" fmla="*/ 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 h="67">
                  <a:moveTo>
                    <a:pt x="10" y="66"/>
                  </a:moveTo>
                  <a:lnTo>
                    <a:pt x="10" y="66"/>
                  </a:lnTo>
                  <a:lnTo>
                    <a:pt x="8" y="65"/>
                  </a:lnTo>
                  <a:lnTo>
                    <a:pt x="7" y="65"/>
                  </a:lnTo>
                  <a:lnTo>
                    <a:pt x="6" y="64"/>
                  </a:lnTo>
                  <a:lnTo>
                    <a:pt x="6" y="62"/>
                  </a:lnTo>
                  <a:lnTo>
                    <a:pt x="5" y="62"/>
                  </a:lnTo>
                  <a:lnTo>
                    <a:pt x="4" y="60"/>
                  </a:lnTo>
                  <a:lnTo>
                    <a:pt x="3" y="59"/>
                  </a:lnTo>
                  <a:lnTo>
                    <a:pt x="3" y="57"/>
                  </a:lnTo>
                  <a:lnTo>
                    <a:pt x="2" y="55"/>
                  </a:lnTo>
                  <a:lnTo>
                    <a:pt x="1" y="54"/>
                  </a:lnTo>
                  <a:lnTo>
                    <a:pt x="1" y="52"/>
                  </a:lnTo>
                  <a:lnTo>
                    <a:pt x="0" y="50"/>
                  </a:lnTo>
                  <a:lnTo>
                    <a:pt x="0" y="48"/>
                  </a:lnTo>
                  <a:lnTo>
                    <a:pt x="0" y="46"/>
                  </a:lnTo>
                  <a:lnTo>
                    <a:pt x="0" y="44"/>
                  </a:lnTo>
                  <a:lnTo>
                    <a:pt x="0" y="42"/>
                  </a:lnTo>
                  <a:lnTo>
                    <a:pt x="0" y="40"/>
                  </a:lnTo>
                  <a:lnTo>
                    <a:pt x="0" y="38"/>
                  </a:lnTo>
                  <a:lnTo>
                    <a:pt x="0" y="36"/>
                  </a:lnTo>
                  <a:lnTo>
                    <a:pt x="0" y="33"/>
                  </a:lnTo>
                  <a:lnTo>
                    <a:pt x="0" y="31"/>
                  </a:lnTo>
                  <a:lnTo>
                    <a:pt x="0" y="29"/>
                  </a:lnTo>
                  <a:lnTo>
                    <a:pt x="0" y="28"/>
                  </a:lnTo>
                  <a:lnTo>
                    <a:pt x="0" y="25"/>
                  </a:lnTo>
                  <a:lnTo>
                    <a:pt x="0" y="23"/>
                  </a:lnTo>
                  <a:lnTo>
                    <a:pt x="0" y="21"/>
                  </a:lnTo>
                  <a:lnTo>
                    <a:pt x="0" y="19"/>
                  </a:lnTo>
                  <a:lnTo>
                    <a:pt x="0" y="17"/>
                  </a:lnTo>
                  <a:lnTo>
                    <a:pt x="1" y="15"/>
                  </a:lnTo>
                  <a:lnTo>
                    <a:pt x="1" y="13"/>
                  </a:lnTo>
                  <a:lnTo>
                    <a:pt x="2" y="11"/>
                  </a:lnTo>
                  <a:lnTo>
                    <a:pt x="3" y="11"/>
                  </a:lnTo>
                  <a:lnTo>
                    <a:pt x="4" y="9"/>
                  </a:lnTo>
                  <a:lnTo>
                    <a:pt x="5" y="8"/>
                  </a:lnTo>
                  <a:lnTo>
                    <a:pt x="5" y="6"/>
                  </a:lnTo>
                  <a:lnTo>
                    <a:pt x="6" y="5"/>
                  </a:lnTo>
                  <a:lnTo>
                    <a:pt x="7" y="3"/>
                  </a:lnTo>
                  <a:lnTo>
                    <a:pt x="8" y="2"/>
                  </a:lnTo>
                  <a:lnTo>
                    <a:pt x="8" y="1"/>
                  </a:lnTo>
                  <a:lnTo>
                    <a:pt x="10" y="1"/>
                  </a:lnTo>
                  <a:lnTo>
                    <a:pt x="10" y="1"/>
                  </a:lnTo>
                  <a:lnTo>
                    <a:pt x="11" y="1"/>
                  </a:lnTo>
                  <a:lnTo>
                    <a:pt x="12" y="0"/>
                  </a:lnTo>
                  <a:lnTo>
                    <a:pt x="13" y="0"/>
                  </a:lnTo>
                  <a:lnTo>
                    <a:pt x="14" y="0"/>
                  </a:lnTo>
                  <a:lnTo>
                    <a:pt x="14" y="0"/>
                  </a:lnTo>
                  <a:lnTo>
                    <a:pt x="15" y="1"/>
                  </a:lnTo>
                  <a:lnTo>
                    <a:pt x="16" y="1"/>
                  </a:lnTo>
                  <a:lnTo>
                    <a:pt x="17" y="1"/>
                  </a:lnTo>
                  <a:lnTo>
                    <a:pt x="18" y="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7" name="Freeform 88"/>
            <p:cNvSpPr>
              <a:spLocks/>
            </p:cNvSpPr>
            <p:nvPr/>
          </p:nvSpPr>
          <p:spPr bwMode="auto">
            <a:xfrm>
              <a:off x="4662489" y="5138738"/>
              <a:ext cx="28575" cy="93662"/>
            </a:xfrm>
            <a:custGeom>
              <a:avLst/>
              <a:gdLst>
                <a:gd name="T0" fmla="*/ 9 w 19"/>
                <a:gd name="T1" fmla="*/ 66 h 67"/>
                <a:gd name="T2" fmla="*/ 9 w 19"/>
                <a:gd name="T3" fmla="*/ 66 h 67"/>
                <a:gd name="T4" fmla="*/ 9 w 19"/>
                <a:gd name="T5" fmla="*/ 65 h 67"/>
                <a:gd name="T6" fmla="*/ 8 w 19"/>
                <a:gd name="T7" fmla="*/ 65 h 67"/>
                <a:gd name="T8" fmla="*/ 8 w 19"/>
                <a:gd name="T9" fmla="*/ 64 h 67"/>
                <a:gd name="T10" fmla="*/ 6 w 19"/>
                <a:gd name="T11" fmla="*/ 62 h 67"/>
                <a:gd name="T12" fmla="*/ 6 w 19"/>
                <a:gd name="T13" fmla="*/ 62 h 67"/>
                <a:gd name="T14" fmla="*/ 5 w 19"/>
                <a:gd name="T15" fmla="*/ 60 h 67"/>
                <a:gd name="T16" fmla="*/ 4 w 19"/>
                <a:gd name="T17" fmla="*/ 59 h 67"/>
                <a:gd name="T18" fmla="*/ 3 w 19"/>
                <a:gd name="T19" fmla="*/ 57 h 67"/>
                <a:gd name="T20" fmla="*/ 3 w 19"/>
                <a:gd name="T21" fmla="*/ 55 h 67"/>
                <a:gd name="T22" fmla="*/ 3 w 19"/>
                <a:gd name="T23" fmla="*/ 54 h 67"/>
                <a:gd name="T24" fmla="*/ 2 w 19"/>
                <a:gd name="T25" fmla="*/ 52 h 67"/>
                <a:gd name="T26" fmla="*/ 2 w 19"/>
                <a:gd name="T27" fmla="*/ 50 h 67"/>
                <a:gd name="T28" fmla="*/ 2 w 19"/>
                <a:gd name="T29" fmla="*/ 48 h 67"/>
                <a:gd name="T30" fmla="*/ 2 w 19"/>
                <a:gd name="T31" fmla="*/ 46 h 67"/>
                <a:gd name="T32" fmla="*/ 0 w 19"/>
                <a:gd name="T33" fmla="*/ 44 h 67"/>
                <a:gd name="T34" fmla="*/ 0 w 19"/>
                <a:gd name="T35" fmla="*/ 42 h 67"/>
                <a:gd name="T36" fmla="*/ 0 w 19"/>
                <a:gd name="T37" fmla="*/ 40 h 67"/>
                <a:gd name="T38" fmla="*/ 0 w 19"/>
                <a:gd name="T39" fmla="*/ 38 h 67"/>
                <a:gd name="T40" fmla="*/ 0 w 19"/>
                <a:gd name="T41" fmla="*/ 36 h 67"/>
                <a:gd name="T42" fmla="*/ 0 w 19"/>
                <a:gd name="T43" fmla="*/ 33 h 67"/>
                <a:gd name="T44" fmla="*/ 0 w 19"/>
                <a:gd name="T45" fmla="*/ 31 h 67"/>
                <a:gd name="T46" fmla="*/ 0 w 19"/>
                <a:gd name="T47" fmla="*/ 29 h 67"/>
                <a:gd name="T48" fmla="*/ 0 w 19"/>
                <a:gd name="T49" fmla="*/ 28 h 67"/>
                <a:gd name="T50" fmla="*/ 0 w 19"/>
                <a:gd name="T51" fmla="*/ 25 h 67"/>
                <a:gd name="T52" fmla="*/ 2 w 19"/>
                <a:gd name="T53" fmla="*/ 23 h 67"/>
                <a:gd name="T54" fmla="*/ 2 w 19"/>
                <a:gd name="T55" fmla="*/ 21 h 67"/>
                <a:gd name="T56" fmla="*/ 2 w 19"/>
                <a:gd name="T57" fmla="*/ 19 h 67"/>
                <a:gd name="T58" fmla="*/ 2 w 19"/>
                <a:gd name="T59" fmla="*/ 17 h 67"/>
                <a:gd name="T60" fmla="*/ 3 w 19"/>
                <a:gd name="T61" fmla="*/ 15 h 67"/>
                <a:gd name="T62" fmla="*/ 3 w 19"/>
                <a:gd name="T63" fmla="*/ 13 h 67"/>
                <a:gd name="T64" fmla="*/ 3 w 19"/>
                <a:gd name="T65" fmla="*/ 11 h 67"/>
                <a:gd name="T66" fmla="*/ 4 w 19"/>
                <a:gd name="T67" fmla="*/ 11 h 67"/>
                <a:gd name="T68" fmla="*/ 4 w 19"/>
                <a:gd name="T69" fmla="*/ 9 h 67"/>
                <a:gd name="T70" fmla="*/ 5 w 19"/>
                <a:gd name="T71" fmla="*/ 8 h 67"/>
                <a:gd name="T72" fmla="*/ 6 w 19"/>
                <a:gd name="T73" fmla="*/ 6 h 67"/>
                <a:gd name="T74" fmla="*/ 7 w 19"/>
                <a:gd name="T75" fmla="*/ 5 h 67"/>
                <a:gd name="T76" fmla="*/ 8 w 19"/>
                <a:gd name="T77" fmla="*/ 3 h 67"/>
                <a:gd name="T78" fmla="*/ 9 w 19"/>
                <a:gd name="T79" fmla="*/ 2 h 67"/>
                <a:gd name="T80" fmla="*/ 9 w 19"/>
                <a:gd name="T81" fmla="*/ 1 h 67"/>
                <a:gd name="T82" fmla="*/ 10 w 19"/>
                <a:gd name="T83" fmla="*/ 1 h 67"/>
                <a:gd name="T84" fmla="*/ 11 w 19"/>
                <a:gd name="T85" fmla="*/ 1 h 67"/>
                <a:gd name="T86" fmla="*/ 12 w 19"/>
                <a:gd name="T87" fmla="*/ 1 h 67"/>
                <a:gd name="T88" fmla="*/ 12 w 19"/>
                <a:gd name="T89" fmla="*/ 0 h 67"/>
                <a:gd name="T90" fmla="*/ 12 w 19"/>
                <a:gd name="T91" fmla="*/ 0 h 67"/>
                <a:gd name="T92" fmla="*/ 13 w 19"/>
                <a:gd name="T93" fmla="*/ 0 h 67"/>
                <a:gd name="T94" fmla="*/ 14 w 19"/>
                <a:gd name="T95" fmla="*/ 0 h 67"/>
                <a:gd name="T96" fmla="*/ 15 w 19"/>
                <a:gd name="T97" fmla="*/ 1 h 67"/>
                <a:gd name="T98" fmla="*/ 16 w 19"/>
                <a:gd name="T99" fmla="*/ 1 h 67"/>
                <a:gd name="T100" fmla="*/ 17 w 19"/>
                <a:gd name="T101" fmla="*/ 1 h 67"/>
                <a:gd name="T102" fmla="*/ 18 w 19"/>
                <a:gd name="T103" fmla="*/ 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 h="67">
                  <a:moveTo>
                    <a:pt x="9" y="66"/>
                  </a:moveTo>
                  <a:lnTo>
                    <a:pt x="9" y="66"/>
                  </a:lnTo>
                  <a:lnTo>
                    <a:pt x="9" y="65"/>
                  </a:lnTo>
                  <a:lnTo>
                    <a:pt x="8" y="65"/>
                  </a:lnTo>
                  <a:lnTo>
                    <a:pt x="8" y="64"/>
                  </a:lnTo>
                  <a:lnTo>
                    <a:pt x="6" y="62"/>
                  </a:lnTo>
                  <a:lnTo>
                    <a:pt x="6" y="62"/>
                  </a:lnTo>
                  <a:lnTo>
                    <a:pt x="5" y="60"/>
                  </a:lnTo>
                  <a:lnTo>
                    <a:pt x="4" y="59"/>
                  </a:lnTo>
                  <a:lnTo>
                    <a:pt x="3" y="57"/>
                  </a:lnTo>
                  <a:lnTo>
                    <a:pt x="3" y="55"/>
                  </a:lnTo>
                  <a:lnTo>
                    <a:pt x="3" y="54"/>
                  </a:lnTo>
                  <a:lnTo>
                    <a:pt x="2" y="52"/>
                  </a:lnTo>
                  <a:lnTo>
                    <a:pt x="2" y="50"/>
                  </a:lnTo>
                  <a:lnTo>
                    <a:pt x="2" y="48"/>
                  </a:lnTo>
                  <a:lnTo>
                    <a:pt x="2" y="46"/>
                  </a:lnTo>
                  <a:lnTo>
                    <a:pt x="0" y="44"/>
                  </a:lnTo>
                  <a:lnTo>
                    <a:pt x="0" y="42"/>
                  </a:lnTo>
                  <a:lnTo>
                    <a:pt x="0" y="40"/>
                  </a:lnTo>
                  <a:lnTo>
                    <a:pt x="0" y="38"/>
                  </a:lnTo>
                  <a:lnTo>
                    <a:pt x="0" y="36"/>
                  </a:lnTo>
                  <a:lnTo>
                    <a:pt x="0" y="33"/>
                  </a:lnTo>
                  <a:lnTo>
                    <a:pt x="0" y="31"/>
                  </a:lnTo>
                  <a:lnTo>
                    <a:pt x="0" y="29"/>
                  </a:lnTo>
                  <a:lnTo>
                    <a:pt x="0" y="28"/>
                  </a:lnTo>
                  <a:lnTo>
                    <a:pt x="0" y="25"/>
                  </a:lnTo>
                  <a:lnTo>
                    <a:pt x="2" y="23"/>
                  </a:lnTo>
                  <a:lnTo>
                    <a:pt x="2" y="21"/>
                  </a:lnTo>
                  <a:lnTo>
                    <a:pt x="2" y="19"/>
                  </a:lnTo>
                  <a:lnTo>
                    <a:pt x="2" y="17"/>
                  </a:lnTo>
                  <a:lnTo>
                    <a:pt x="3" y="15"/>
                  </a:lnTo>
                  <a:lnTo>
                    <a:pt x="3" y="13"/>
                  </a:lnTo>
                  <a:lnTo>
                    <a:pt x="3" y="11"/>
                  </a:lnTo>
                  <a:lnTo>
                    <a:pt x="4" y="11"/>
                  </a:lnTo>
                  <a:lnTo>
                    <a:pt x="4" y="9"/>
                  </a:lnTo>
                  <a:lnTo>
                    <a:pt x="5" y="8"/>
                  </a:lnTo>
                  <a:lnTo>
                    <a:pt x="6" y="6"/>
                  </a:lnTo>
                  <a:lnTo>
                    <a:pt x="7" y="5"/>
                  </a:lnTo>
                  <a:lnTo>
                    <a:pt x="8" y="3"/>
                  </a:lnTo>
                  <a:lnTo>
                    <a:pt x="9" y="2"/>
                  </a:lnTo>
                  <a:lnTo>
                    <a:pt x="9" y="1"/>
                  </a:lnTo>
                  <a:lnTo>
                    <a:pt x="10" y="1"/>
                  </a:lnTo>
                  <a:lnTo>
                    <a:pt x="11" y="1"/>
                  </a:lnTo>
                  <a:lnTo>
                    <a:pt x="12" y="1"/>
                  </a:lnTo>
                  <a:lnTo>
                    <a:pt x="12" y="0"/>
                  </a:lnTo>
                  <a:lnTo>
                    <a:pt x="12" y="0"/>
                  </a:lnTo>
                  <a:lnTo>
                    <a:pt x="13" y="0"/>
                  </a:lnTo>
                  <a:lnTo>
                    <a:pt x="14" y="0"/>
                  </a:lnTo>
                  <a:lnTo>
                    <a:pt x="15" y="1"/>
                  </a:lnTo>
                  <a:lnTo>
                    <a:pt x="16" y="1"/>
                  </a:lnTo>
                  <a:lnTo>
                    <a:pt x="17" y="1"/>
                  </a:lnTo>
                  <a:lnTo>
                    <a:pt x="18" y="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8" name="Line 89"/>
            <p:cNvSpPr>
              <a:spLocks noChangeShapeType="1"/>
            </p:cNvSpPr>
            <p:nvPr/>
          </p:nvSpPr>
          <p:spPr bwMode="auto">
            <a:xfrm flipH="1">
              <a:off x="4675188" y="5232400"/>
              <a:ext cx="1143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9" name="Freeform 90"/>
            <p:cNvSpPr>
              <a:spLocks/>
            </p:cNvSpPr>
            <p:nvPr/>
          </p:nvSpPr>
          <p:spPr bwMode="auto">
            <a:xfrm>
              <a:off x="5048251" y="5359400"/>
              <a:ext cx="100013" cy="96838"/>
            </a:xfrm>
            <a:custGeom>
              <a:avLst/>
              <a:gdLst>
                <a:gd name="T0" fmla="*/ 68 w 69"/>
                <a:gd name="T1" fmla="*/ 32 h 69"/>
                <a:gd name="T2" fmla="*/ 68 w 69"/>
                <a:gd name="T3" fmla="*/ 27 h 69"/>
                <a:gd name="T4" fmla="*/ 66 w 69"/>
                <a:gd name="T5" fmla="*/ 22 h 69"/>
                <a:gd name="T6" fmla="*/ 64 w 69"/>
                <a:gd name="T7" fmla="*/ 17 h 69"/>
                <a:gd name="T8" fmla="*/ 61 w 69"/>
                <a:gd name="T9" fmla="*/ 13 h 69"/>
                <a:gd name="T10" fmla="*/ 58 w 69"/>
                <a:gd name="T11" fmla="*/ 9 h 69"/>
                <a:gd name="T12" fmla="*/ 54 w 69"/>
                <a:gd name="T13" fmla="*/ 6 h 69"/>
                <a:gd name="T14" fmla="*/ 49 w 69"/>
                <a:gd name="T15" fmla="*/ 3 h 69"/>
                <a:gd name="T16" fmla="*/ 44 w 69"/>
                <a:gd name="T17" fmla="*/ 1 h 69"/>
                <a:gd name="T18" fmla="*/ 40 w 69"/>
                <a:gd name="T19" fmla="*/ 1 h 69"/>
                <a:gd name="T20" fmla="*/ 34 w 69"/>
                <a:gd name="T21" fmla="*/ 0 h 69"/>
                <a:gd name="T22" fmla="*/ 28 w 69"/>
                <a:gd name="T23" fmla="*/ 1 h 69"/>
                <a:gd name="T24" fmla="*/ 24 w 69"/>
                <a:gd name="T25" fmla="*/ 1 h 69"/>
                <a:gd name="T26" fmla="*/ 19 w 69"/>
                <a:gd name="T27" fmla="*/ 3 h 69"/>
                <a:gd name="T28" fmla="*/ 14 w 69"/>
                <a:gd name="T29" fmla="*/ 6 h 69"/>
                <a:gd name="T30" fmla="*/ 10 w 69"/>
                <a:gd name="T31" fmla="*/ 9 h 69"/>
                <a:gd name="T32" fmla="*/ 8 w 69"/>
                <a:gd name="T33" fmla="*/ 13 h 69"/>
                <a:gd name="T34" fmla="*/ 4 w 69"/>
                <a:gd name="T35" fmla="*/ 17 h 69"/>
                <a:gd name="T36" fmla="*/ 2 w 69"/>
                <a:gd name="T37" fmla="*/ 22 h 69"/>
                <a:gd name="T38" fmla="*/ 0 w 69"/>
                <a:gd name="T39" fmla="*/ 27 h 69"/>
                <a:gd name="T40" fmla="*/ 0 w 69"/>
                <a:gd name="T41" fmla="*/ 32 h 69"/>
                <a:gd name="T42" fmla="*/ 0 w 69"/>
                <a:gd name="T43" fmla="*/ 37 h 69"/>
                <a:gd name="T44" fmla="*/ 0 w 69"/>
                <a:gd name="T45" fmla="*/ 42 h 69"/>
                <a:gd name="T46" fmla="*/ 2 w 69"/>
                <a:gd name="T47" fmla="*/ 47 h 69"/>
                <a:gd name="T48" fmla="*/ 4 w 69"/>
                <a:gd name="T49" fmla="*/ 52 h 69"/>
                <a:gd name="T50" fmla="*/ 8 w 69"/>
                <a:gd name="T51" fmla="*/ 56 h 69"/>
                <a:gd name="T52" fmla="*/ 10 w 69"/>
                <a:gd name="T53" fmla="*/ 59 h 69"/>
                <a:gd name="T54" fmla="*/ 14 w 69"/>
                <a:gd name="T55" fmla="*/ 63 h 69"/>
                <a:gd name="T56" fmla="*/ 19 w 69"/>
                <a:gd name="T57" fmla="*/ 66 h 69"/>
                <a:gd name="T58" fmla="*/ 24 w 69"/>
                <a:gd name="T59" fmla="*/ 67 h 69"/>
                <a:gd name="T60" fmla="*/ 28 w 69"/>
                <a:gd name="T61" fmla="*/ 68 h 69"/>
                <a:gd name="T62" fmla="*/ 34 w 69"/>
                <a:gd name="T63" fmla="*/ 68 h 69"/>
                <a:gd name="T64" fmla="*/ 40 w 69"/>
                <a:gd name="T65" fmla="*/ 68 h 69"/>
                <a:gd name="T66" fmla="*/ 44 w 69"/>
                <a:gd name="T67" fmla="*/ 67 h 69"/>
                <a:gd name="T68" fmla="*/ 49 w 69"/>
                <a:gd name="T69" fmla="*/ 66 h 69"/>
                <a:gd name="T70" fmla="*/ 54 w 69"/>
                <a:gd name="T71" fmla="*/ 63 h 69"/>
                <a:gd name="T72" fmla="*/ 58 w 69"/>
                <a:gd name="T73" fmla="*/ 59 h 69"/>
                <a:gd name="T74" fmla="*/ 61 w 69"/>
                <a:gd name="T75" fmla="*/ 56 h 69"/>
                <a:gd name="T76" fmla="*/ 64 w 69"/>
                <a:gd name="T77" fmla="*/ 52 h 69"/>
                <a:gd name="T78" fmla="*/ 66 w 69"/>
                <a:gd name="T79" fmla="*/ 47 h 69"/>
                <a:gd name="T80" fmla="*/ 68 w 69"/>
                <a:gd name="T81" fmla="*/ 42 h 69"/>
                <a:gd name="T82" fmla="*/ 68 w 69"/>
                <a:gd name="T83" fmla="*/ 3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9" h="69">
                  <a:moveTo>
                    <a:pt x="68" y="34"/>
                  </a:moveTo>
                  <a:lnTo>
                    <a:pt x="68" y="32"/>
                  </a:lnTo>
                  <a:lnTo>
                    <a:pt x="68" y="28"/>
                  </a:lnTo>
                  <a:lnTo>
                    <a:pt x="68" y="27"/>
                  </a:lnTo>
                  <a:lnTo>
                    <a:pt x="67" y="24"/>
                  </a:lnTo>
                  <a:lnTo>
                    <a:pt x="66" y="22"/>
                  </a:lnTo>
                  <a:lnTo>
                    <a:pt x="65" y="19"/>
                  </a:lnTo>
                  <a:lnTo>
                    <a:pt x="64" y="17"/>
                  </a:lnTo>
                  <a:lnTo>
                    <a:pt x="62" y="16"/>
                  </a:lnTo>
                  <a:lnTo>
                    <a:pt x="61" y="13"/>
                  </a:lnTo>
                  <a:lnTo>
                    <a:pt x="60" y="11"/>
                  </a:lnTo>
                  <a:lnTo>
                    <a:pt x="58" y="9"/>
                  </a:lnTo>
                  <a:lnTo>
                    <a:pt x="55" y="7"/>
                  </a:lnTo>
                  <a:lnTo>
                    <a:pt x="54" y="6"/>
                  </a:lnTo>
                  <a:lnTo>
                    <a:pt x="51" y="4"/>
                  </a:lnTo>
                  <a:lnTo>
                    <a:pt x="49" y="3"/>
                  </a:lnTo>
                  <a:lnTo>
                    <a:pt x="47" y="2"/>
                  </a:lnTo>
                  <a:lnTo>
                    <a:pt x="44" y="1"/>
                  </a:lnTo>
                  <a:lnTo>
                    <a:pt x="42" y="1"/>
                  </a:lnTo>
                  <a:lnTo>
                    <a:pt x="40" y="1"/>
                  </a:lnTo>
                  <a:lnTo>
                    <a:pt x="37" y="0"/>
                  </a:lnTo>
                  <a:lnTo>
                    <a:pt x="34" y="0"/>
                  </a:lnTo>
                  <a:lnTo>
                    <a:pt x="32" y="0"/>
                  </a:lnTo>
                  <a:lnTo>
                    <a:pt x="28" y="1"/>
                  </a:lnTo>
                  <a:lnTo>
                    <a:pt x="27" y="1"/>
                  </a:lnTo>
                  <a:lnTo>
                    <a:pt x="24" y="1"/>
                  </a:lnTo>
                  <a:lnTo>
                    <a:pt x="22" y="2"/>
                  </a:lnTo>
                  <a:lnTo>
                    <a:pt x="19" y="3"/>
                  </a:lnTo>
                  <a:lnTo>
                    <a:pt x="17" y="4"/>
                  </a:lnTo>
                  <a:lnTo>
                    <a:pt x="14" y="6"/>
                  </a:lnTo>
                  <a:lnTo>
                    <a:pt x="12" y="7"/>
                  </a:lnTo>
                  <a:lnTo>
                    <a:pt x="10" y="9"/>
                  </a:lnTo>
                  <a:lnTo>
                    <a:pt x="9" y="11"/>
                  </a:lnTo>
                  <a:lnTo>
                    <a:pt x="8" y="13"/>
                  </a:lnTo>
                  <a:lnTo>
                    <a:pt x="6" y="16"/>
                  </a:lnTo>
                  <a:lnTo>
                    <a:pt x="4" y="17"/>
                  </a:lnTo>
                  <a:lnTo>
                    <a:pt x="4" y="19"/>
                  </a:lnTo>
                  <a:lnTo>
                    <a:pt x="2" y="22"/>
                  </a:lnTo>
                  <a:lnTo>
                    <a:pt x="2" y="24"/>
                  </a:lnTo>
                  <a:lnTo>
                    <a:pt x="0" y="27"/>
                  </a:lnTo>
                  <a:lnTo>
                    <a:pt x="0" y="28"/>
                  </a:lnTo>
                  <a:lnTo>
                    <a:pt x="0" y="32"/>
                  </a:lnTo>
                  <a:lnTo>
                    <a:pt x="0" y="34"/>
                  </a:lnTo>
                  <a:lnTo>
                    <a:pt x="0" y="37"/>
                  </a:lnTo>
                  <a:lnTo>
                    <a:pt x="0" y="40"/>
                  </a:lnTo>
                  <a:lnTo>
                    <a:pt x="0" y="42"/>
                  </a:lnTo>
                  <a:lnTo>
                    <a:pt x="2" y="45"/>
                  </a:lnTo>
                  <a:lnTo>
                    <a:pt x="2" y="47"/>
                  </a:lnTo>
                  <a:lnTo>
                    <a:pt x="4" y="49"/>
                  </a:lnTo>
                  <a:lnTo>
                    <a:pt x="4" y="52"/>
                  </a:lnTo>
                  <a:lnTo>
                    <a:pt x="6" y="53"/>
                  </a:lnTo>
                  <a:lnTo>
                    <a:pt x="8" y="56"/>
                  </a:lnTo>
                  <a:lnTo>
                    <a:pt x="9" y="57"/>
                  </a:lnTo>
                  <a:lnTo>
                    <a:pt x="10" y="59"/>
                  </a:lnTo>
                  <a:lnTo>
                    <a:pt x="12" y="61"/>
                  </a:lnTo>
                  <a:lnTo>
                    <a:pt x="14" y="63"/>
                  </a:lnTo>
                  <a:lnTo>
                    <a:pt x="17" y="65"/>
                  </a:lnTo>
                  <a:lnTo>
                    <a:pt x="19" y="66"/>
                  </a:lnTo>
                  <a:lnTo>
                    <a:pt x="22" y="67"/>
                  </a:lnTo>
                  <a:lnTo>
                    <a:pt x="24" y="67"/>
                  </a:lnTo>
                  <a:lnTo>
                    <a:pt x="27" y="67"/>
                  </a:lnTo>
                  <a:lnTo>
                    <a:pt x="28" y="68"/>
                  </a:lnTo>
                  <a:lnTo>
                    <a:pt x="32" y="68"/>
                  </a:lnTo>
                  <a:lnTo>
                    <a:pt x="34" y="68"/>
                  </a:lnTo>
                  <a:lnTo>
                    <a:pt x="37" y="68"/>
                  </a:lnTo>
                  <a:lnTo>
                    <a:pt x="40" y="68"/>
                  </a:lnTo>
                  <a:lnTo>
                    <a:pt x="42" y="67"/>
                  </a:lnTo>
                  <a:lnTo>
                    <a:pt x="44" y="67"/>
                  </a:lnTo>
                  <a:lnTo>
                    <a:pt x="47" y="67"/>
                  </a:lnTo>
                  <a:lnTo>
                    <a:pt x="49" y="66"/>
                  </a:lnTo>
                  <a:lnTo>
                    <a:pt x="51" y="65"/>
                  </a:lnTo>
                  <a:lnTo>
                    <a:pt x="54" y="63"/>
                  </a:lnTo>
                  <a:lnTo>
                    <a:pt x="55" y="61"/>
                  </a:lnTo>
                  <a:lnTo>
                    <a:pt x="58" y="59"/>
                  </a:lnTo>
                  <a:lnTo>
                    <a:pt x="60" y="57"/>
                  </a:lnTo>
                  <a:lnTo>
                    <a:pt x="61" y="56"/>
                  </a:lnTo>
                  <a:lnTo>
                    <a:pt x="62" y="53"/>
                  </a:lnTo>
                  <a:lnTo>
                    <a:pt x="64" y="52"/>
                  </a:lnTo>
                  <a:lnTo>
                    <a:pt x="65" y="49"/>
                  </a:lnTo>
                  <a:lnTo>
                    <a:pt x="66" y="47"/>
                  </a:lnTo>
                  <a:lnTo>
                    <a:pt x="67" y="45"/>
                  </a:lnTo>
                  <a:lnTo>
                    <a:pt x="68" y="42"/>
                  </a:lnTo>
                  <a:lnTo>
                    <a:pt x="68" y="40"/>
                  </a:lnTo>
                  <a:lnTo>
                    <a:pt x="68" y="37"/>
                  </a:lnTo>
                  <a:lnTo>
                    <a:pt x="68" y="34"/>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0" name="Freeform 91"/>
            <p:cNvSpPr>
              <a:spLocks/>
            </p:cNvSpPr>
            <p:nvPr/>
          </p:nvSpPr>
          <p:spPr bwMode="auto">
            <a:xfrm>
              <a:off x="5094288" y="4938714"/>
              <a:ext cx="101600" cy="98425"/>
            </a:xfrm>
            <a:custGeom>
              <a:avLst/>
              <a:gdLst>
                <a:gd name="T0" fmla="*/ 69 w 70"/>
                <a:gd name="T1" fmla="*/ 33 h 70"/>
                <a:gd name="T2" fmla="*/ 68 w 70"/>
                <a:gd name="T3" fmla="*/ 27 h 70"/>
                <a:gd name="T4" fmla="*/ 66 w 70"/>
                <a:gd name="T5" fmla="*/ 23 h 70"/>
                <a:gd name="T6" fmla="*/ 64 w 70"/>
                <a:gd name="T7" fmla="*/ 17 h 70"/>
                <a:gd name="T8" fmla="*/ 62 w 70"/>
                <a:gd name="T9" fmla="*/ 13 h 70"/>
                <a:gd name="T10" fmla="*/ 58 w 70"/>
                <a:gd name="T11" fmla="*/ 9 h 70"/>
                <a:gd name="T12" fmla="*/ 54 w 70"/>
                <a:gd name="T13" fmla="*/ 6 h 70"/>
                <a:gd name="T14" fmla="*/ 50 w 70"/>
                <a:gd name="T15" fmla="*/ 4 h 70"/>
                <a:gd name="T16" fmla="*/ 44 w 70"/>
                <a:gd name="T17" fmla="*/ 2 h 70"/>
                <a:gd name="T18" fmla="*/ 40 w 70"/>
                <a:gd name="T19" fmla="*/ 1 h 70"/>
                <a:gd name="T20" fmla="*/ 35 w 70"/>
                <a:gd name="T21" fmla="*/ 0 h 70"/>
                <a:gd name="T22" fmla="*/ 30 w 70"/>
                <a:gd name="T23" fmla="*/ 1 h 70"/>
                <a:gd name="T24" fmla="*/ 25 w 70"/>
                <a:gd name="T25" fmla="*/ 2 h 70"/>
                <a:gd name="T26" fmla="*/ 20 w 70"/>
                <a:gd name="T27" fmla="*/ 4 h 70"/>
                <a:gd name="T28" fmla="*/ 15 w 70"/>
                <a:gd name="T29" fmla="*/ 6 h 70"/>
                <a:gd name="T30" fmla="*/ 12 w 70"/>
                <a:gd name="T31" fmla="*/ 9 h 70"/>
                <a:gd name="T32" fmla="*/ 8 w 70"/>
                <a:gd name="T33" fmla="*/ 13 h 70"/>
                <a:gd name="T34" fmla="*/ 5 w 70"/>
                <a:gd name="T35" fmla="*/ 17 h 70"/>
                <a:gd name="T36" fmla="*/ 3 w 70"/>
                <a:gd name="T37" fmla="*/ 23 h 70"/>
                <a:gd name="T38" fmla="*/ 2 w 70"/>
                <a:gd name="T39" fmla="*/ 27 h 70"/>
                <a:gd name="T40" fmla="*/ 0 w 70"/>
                <a:gd name="T41" fmla="*/ 33 h 70"/>
                <a:gd name="T42" fmla="*/ 0 w 70"/>
                <a:gd name="T43" fmla="*/ 37 h 70"/>
                <a:gd name="T44" fmla="*/ 2 w 70"/>
                <a:gd name="T45" fmla="*/ 43 h 70"/>
                <a:gd name="T46" fmla="*/ 3 w 70"/>
                <a:gd name="T47" fmla="*/ 47 h 70"/>
                <a:gd name="T48" fmla="*/ 5 w 70"/>
                <a:gd name="T49" fmla="*/ 52 h 70"/>
                <a:gd name="T50" fmla="*/ 8 w 70"/>
                <a:gd name="T51" fmla="*/ 56 h 70"/>
                <a:gd name="T52" fmla="*/ 12 w 70"/>
                <a:gd name="T53" fmla="*/ 60 h 70"/>
                <a:gd name="T54" fmla="*/ 15 w 70"/>
                <a:gd name="T55" fmla="*/ 63 h 70"/>
                <a:gd name="T56" fmla="*/ 20 w 70"/>
                <a:gd name="T57" fmla="*/ 66 h 70"/>
                <a:gd name="T58" fmla="*/ 25 w 70"/>
                <a:gd name="T59" fmla="*/ 67 h 70"/>
                <a:gd name="T60" fmla="*/ 30 w 70"/>
                <a:gd name="T61" fmla="*/ 69 h 70"/>
                <a:gd name="T62" fmla="*/ 35 w 70"/>
                <a:gd name="T63" fmla="*/ 69 h 70"/>
                <a:gd name="T64" fmla="*/ 40 w 70"/>
                <a:gd name="T65" fmla="*/ 69 h 70"/>
                <a:gd name="T66" fmla="*/ 44 w 70"/>
                <a:gd name="T67" fmla="*/ 67 h 70"/>
                <a:gd name="T68" fmla="*/ 50 w 70"/>
                <a:gd name="T69" fmla="*/ 66 h 70"/>
                <a:gd name="T70" fmla="*/ 54 w 70"/>
                <a:gd name="T71" fmla="*/ 63 h 70"/>
                <a:gd name="T72" fmla="*/ 58 w 70"/>
                <a:gd name="T73" fmla="*/ 60 h 70"/>
                <a:gd name="T74" fmla="*/ 62 w 70"/>
                <a:gd name="T75" fmla="*/ 56 h 70"/>
                <a:gd name="T76" fmla="*/ 64 w 70"/>
                <a:gd name="T77" fmla="*/ 52 h 70"/>
                <a:gd name="T78" fmla="*/ 66 w 70"/>
                <a:gd name="T79" fmla="*/ 47 h 70"/>
                <a:gd name="T80" fmla="*/ 68 w 70"/>
                <a:gd name="T81" fmla="*/ 43 h 70"/>
                <a:gd name="T82" fmla="*/ 69 w 70"/>
                <a:gd name="T83" fmla="*/ 3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0" h="70">
                  <a:moveTo>
                    <a:pt x="69" y="35"/>
                  </a:moveTo>
                  <a:lnTo>
                    <a:pt x="69" y="33"/>
                  </a:lnTo>
                  <a:lnTo>
                    <a:pt x="69" y="30"/>
                  </a:lnTo>
                  <a:lnTo>
                    <a:pt x="68" y="27"/>
                  </a:lnTo>
                  <a:lnTo>
                    <a:pt x="68" y="24"/>
                  </a:lnTo>
                  <a:lnTo>
                    <a:pt x="66" y="23"/>
                  </a:lnTo>
                  <a:lnTo>
                    <a:pt x="65" y="20"/>
                  </a:lnTo>
                  <a:lnTo>
                    <a:pt x="64" y="17"/>
                  </a:lnTo>
                  <a:lnTo>
                    <a:pt x="64" y="16"/>
                  </a:lnTo>
                  <a:lnTo>
                    <a:pt x="62" y="13"/>
                  </a:lnTo>
                  <a:lnTo>
                    <a:pt x="60" y="11"/>
                  </a:lnTo>
                  <a:lnTo>
                    <a:pt x="58" y="9"/>
                  </a:lnTo>
                  <a:lnTo>
                    <a:pt x="56" y="8"/>
                  </a:lnTo>
                  <a:lnTo>
                    <a:pt x="54" y="6"/>
                  </a:lnTo>
                  <a:lnTo>
                    <a:pt x="52" y="6"/>
                  </a:lnTo>
                  <a:lnTo>
                    <a:pt x="50" y="4"/>
                  </a:lnTo>
                  <a:lnTo>
                    <a:pt x="48" y="3"/>
                  </a:lnTo>
                  <a:lnTo>
                    <a:pt x="44" y="2"/>
                  </a:lnTo>
                  <a:lnTo>
                    <a:pt x="43" y="1"/>
                  </a:lnTo>
                  <a:lnTo>
                    <a:pt x="40" y="1"/>
                  </a:lnTo>
                  <a:lnTo>
                    <a:pt x="38" y="0"/>
                  </a:lnTo>
                  <a:lnTo>
                    <a:pt x="35" y="0"/>
                  </a:lnTo>
                  <a:lnTo>
                    <a:pt x="32" y="0"/>
                  </a:lnTo>
                  <a:lnTo>
                    <a:pt x="30" y="1"/>
                  </a:lnTo>
                  <a:lnTo>
                    <a:pt x="28" y="1"/>
                  </a:lnTo>
                  <a:lnTo>
                    <a:pt x="25" y="2"/>
                  </a:lnTo>
                  <a:lnTo>
                    <a:pt x="22" y="3"/>
                  </a:lnTo>
                  <a:lnTo>
                    <a:pt x="20" y="4"/>
                  </a:lnTo>
                  <a:lnTo>
                    <a:pt x="18" y="6"/>
                  </a:lnTo>
                  <a:lnTo>
                    <a:pt x="15" y="6"/>
                  </a:lnTo>
                  <a:lnTo>
                    <a:pt x="13" y="8"/>
                  </a:lnTo>
                  <a:lnTo>
                    <a:pt x="12" y="9"/>
                  </a:lnTo>
                  <a:lnTo>
                    <a:pt x="10" y="11"/>
                  </a:lnTo>
                  <a:lnTo>
                    <a:pt x="8" y="13"/>
                  </a:lnTo>
                  <a:lnTo>
                    <a:pt x="6" y="16"/>
                  </a:lnTo>
                  <a:lnTo>
                    <a:pt x="5" y="17"/>
                  </a:lnTo>
                  <a:lnTo>
                    <a:pt x="4" y="20"/>
                  </a:lnTo>
                  <a:lnTo>
                    <a:pt x="3" y="23"/>
                  </a:lnTo>
                  <a:lnTo>
                    <a:pt x="2" y="24"/>
                  </a:lnTo>
                  <a:lnTo>
                    <a:pt x="2" y="27"/>
                  </a:lnTo>
                  <a:lnTo>
                    <a:pt x="1" y="30"/>
                  </a:lnTo>
                  <a:lnTo>
                    <a:pt x="0" y="33"/>
                  </a:lnTo>
                  <a:lnTo>
                    <a:pt x="0" y="35"/>
                  </a:lnTo>
                  <a:lnTo>
                    <a:pt x="0" y="37"/>
                  </a:lnTo>
                  <a:lnTo>
                    <a:pt x="1" y="40"/>
                  </a:lnTo>
                  <a:lnTo>
                    <a:pt x="2" y="43"/>
                  </a:lnTo>
                  <a:lnTo>
                    <a:pt x="2" y="45"/>
                  </a:lnTo>
                  <a:lnTo>
                    <a:pt x="3" y="47"/>
                  </a:lnTo>
                  <a:lnTo>
                    <a:pt x="4" y="49"/>
                  </a:lnTo>
                  <a:lnTo>
                    <a:pt x="5" y="52"/>
                  </a:lnTo>
                  <a:lnTo>
                    <a:pt x="6" y="55"/>
                  </a:lnTo>
                  <a:lnTo>
                    <a:pt x="8" y="56"/>
                  </a:lnTo>
                  <a:lnTo>
                    <a:pt x="10" y="57"/>
                  </a:lnTo>
                  <a:lnTo>
                    <a:pt x="12" y="60"/>
                  </a:lnTo>
                  <a:lnTo>
                    <a:pt x="13" y="61"/>
                  </a:lnTo>
                  <a:lnTo>
                    <a:pt x="15" y="63"/>
                  </a:lnTo>
                  <a:lnTo>
                    <a:pt x="18" y="65"/>
                  </a:lnTo>
                  <a:lnTo>
                    <a:pt x="20" y="66"/>
                  </a:lnTo>
                  <a:lnTo>
                    <a:pt x="22" y="66"/>
                  </a:lnTo>
                  <a:lnTo>
                    <a:pt x="25" y="67"/>
                  </a:lnTo>
                  <a:lnTo>
                    <a:pt x="28" y="68"/>
                  </a:lnTo>
                  <a:lnTo>
                    <a:pt x="30" y="69"/>
                  </a:lnTo>
                  <a:lnTo>
                    <a:pt x="32" y="69"/>
                  </a:lnTo>
                  <a:lnTo>
                    <a:pt x="35" y="69"/>
                  </a:lnTo>
                  <a:lnTo>
                    <a:pt x="38" y="69"/>
                  </a:lnTo>
                  <a:lnTo>
                    <a:pt x="40" y="69"/>
                  </a:lnTo>
                  <a:lnTo>
                    <a:pt x="43" y="68"/>
                  </a:lnTo>
                  <a:lnTo>
                    <a:pt x="44" y="67"/>
                  </a:lnTo>
                  <a:lnTo>
                    <a:pt x="48" y="66"/>
                  </a:lnTo>
                  <a:lnTo>
                    <a:pt x="50" y="66"/>
                  </a:lnTo>
                  <a:lnTo>
                    <a:pt x="52" y="65"/>
                  </a:lnTo>
                  <a:lnTo>
                    <a:pt x="54" y="63"/>
                  </a:lnTo>
                  <a:lnTo>
                    <a:pt x="56" y="61"/>
                  </a:lnTo>
                  <a:lnTo>
                    <a:pt x="58" y="60"/>
                  </a:lnTo>
                  <a:lnTo>
                    <a:pt x="60" y="57"/>
                  </a:lnTo>
                  <a:lnTo>
                    <a:pt x="62" y="56"/>
                  </a:lnTo>
                  <a:lnTo>
                    <a:pt x="64" y="55"/>
                  </a:lnTo>
                  <a:lnTo>
                    <a:pt x="64" y="52"/>
                  </a:lnTo>
                  <a:lnTo>
                    <a:pt x="65" y="49"/>
                  </a:lnTo>
                  <a:lnTo>
                    <a:pt x="66" y="47"/>
                  </a:lnTo>
                  <a:lnTo>
                    <a:pt x="68" y="45"/>
                  </a:lnTo>
                  <a:lnTo>
                    <a:pt x="68" y="43"/>
                  </a:lnTo>
                  <a:lnTo>
                    <a:pt x="69" y="40"/>
                  </a:lnTo>
                  <a:lnTo>
                    <a:pt x="69" y="37"/>
                  </a:lnTo>
                  <a:lnTo>
                    <a:pt x="69" y="35"/>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1" name="Freeform 92"/>
            <p:cNvSpPr>
              <a:spLocks/>
            </p:cNvSpPr>
            <p:nvPr/>
          </p:nvSpPr>
          <p:spPr bwMode="auto">
            <a:xfrm>
              <a:off x="5259388" y="4843464"/>
              <a:ext cx="17462" cy="231775"/>
            </a:xfrm>
            <a:custGeom>
              <a:avLst/>
              <a:gdLst>
                <a:gd name="T0" fmla="*/ 11 w 12"/>
                <a:gd name="T1" fmla="*/ 0 h 166"/>
                <a:gd name="T2" fmla="*/ 0 w 12"/>
                <a:gd name="T3" fmla="*/ 59 h 166"/>
                <a:gd name="T4" fmla="*/ 0 w 12"/>
                <a:gd name="T5" fmla="*/ 165 h 166"/>
              </a:gdLst>
              <a:ahLst/>
              <a:cxnLst>
                <a:cxn ang="0">
                  <a:pos x="T0" y="T1"/>
                </a:cxn>
                <a:cxn ang="0">
                  <a:pos x="T2" y="T3"/>
                </a:cxn>
                <a:cxn ang="0">
                  <a:pos x="T4" y="T5"/>
                </a:cxn>
              </a:cxnLst>
              <a:rect l="0" t="0" r="r" b="b"/>
              <a:pathLst>
                <a:path w="12" h="166">
                  <a:moveTo>
                    <a:pt x="11" y="0"/>
                  </a:moveTo>
                  <a:lnTo>
                    <a:pt x="0" y="59"/>
                  </a:lnTo>
                  <a:lnTo>
                    <a:pt x="0" y="165"/>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2" name="Freeform 93"/>
            <p:cNvSpPr>
              <a:spLocks/>
            </p:cNvSpPr>
            <p:nvPr/>
          </p:nvSpPr>
          <p:spPr bwMode="auto">
            <a:xfrm>
              <a:off x="5238750" y="5253039"/>
              <a:ext cx="12700" cy="269875"/>
            </a:xfrm>
            <a:custGeom>
              <a:avLst/>
              <a:gdLst>
                <a:gd name="T0" fmla="*/ 8 w 9"/>
                <a:gd name="T1" fmla="*/ 0 h 192"/>
                <a:gd name="T2" fmla="*/ 0 w 9"/>
                <a:gd name="T3" fmla="*/ 55 h 192"/>
                <a:gd name="T4" fmla="*/ 0 w 9"/>
                <a:gd name="T5" fmla="*/ 191 h 192"/>
              </a:gdLst>
              <a:ahLst/>
              <a:cxnLst>
                <a:cxn ang="0">
                  <a:pos x="T0" y="T1"/>
                </a:cxn>
                <a:cxn ang="0">
                  <a:pos x="T2" y="T3"/>
                </a:cxn>
                <a:cxn ang="0">
                  <a:pos x="T4" y="T5"/>
                </a:cxn>
              </a:cxnLst>
              <a:rect l="0" t="0" r="r" b="b"/>
              <a:pathLst>
                <a:path w="9" h="192">
                  <a:moveTo>
                    <a:pt x="8" y="0"/>
                  </a:moveTo>
                  <a:lnTo>
                    <a:pt x="0" y="55"/>
                  </a:lnTo>
                  <a:lnTo>
                    <a:pt x="0" y="19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3" name="Freeform 94"/>
            <p:cNvSpPr>
              <a:spLocks/>
            </p:cNvSpPr>
            <p:nvPr/>
          </p:nvSpPr>
          <p:spPr bwMode="auto">
            <a:xfrm>
              <a:off x="5167314" y="5530851"/>
              <a:ext cx="141287" cy="130175"/>
            </a:xfrm>
            <a:custGeom>
              <a:avLst/>
              <a:gdLst>
                <a:gd name="T0" fmla="*/ 0 w 98"/>
                <a:gd name="T1" fmla="*/ 0 h 93"/>
                <a:gd name="T2" fmla="*/ 0 w 98"/>
                <a:gd name="T3" fmla="*/ 92 h 93"/>
                <a:gd name="T4" fmla="*/ 97 w 98"/>
                <a:gd name="T5" fmla="*/ 92 h 93"/>
                <a:gd name="T6" fmla="*/ 97 w 98"/>
                <a:gd name="T7" fmla="*/ 0 h 93"/>
              </a:gdLst>
              <a:ahLst/>
              <a:cxnLst>
                <a:cxn ang="0">
                  <a:pos x="T0" y="T1"/>
                </a:cxn>
                <a:cxn ang="0">
                  <a:pos x="T2" y="T3"/>
                </a:cxn>
                <a:cxn ang="0">
                  <a:pos x="T4" y="T5"/>
                </a:cxn>
                <a:cxn ang="0">
                  <a:pos x="T6" y="T7"/>
                </a:cxn>
              </a:cxnLst>
              <a:rect l="0" t="0" r="r" b="b"/>
              <a:pathLst>
                <a:path w="98" h="93">
                  <a:moveTo>
                    <a:pt x="0" y="0"/>
                  </a:moveTo>
                  <a:lnTo>
                    <a:pt x="0" y="92"/>
                  </a:lnTo>
                  <a:lnTo>
                    <a:pt x="97" y="92"/>
                  </a:lnTo>
                  <a:lnTo>
                    <a:pt x="97"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4" name="Line 95"/>
            <p:cNvSpPr>
              <a:spLocks noChangeShapeType="1"/>
            </p:cNvSpPr>
            <p:nvPr/>
          </p:nvSpPr>
          <p:spPr bwMode="auto">
            <a:xfrm>
              <a:off x="5029201" y="5645150"/>
              <a:ext cx="13811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5" name="Freeform 96"/>
            <p:cNvSpPr>
              <a:spLocks/>
            </p:cNvSpPr>
            <p:nvPr/>
          </p:nvSpPr>
          <p:spPr bwMode="auto">
            <a:xfrm>
              <a:off x="5183188" y="5546725"/>
              <a:ext cx="101600" cy="96838"/>
            </a:xfrm>
            <a:custGeom>
              <a:avLst/>
              <a:gdLst>
                <a:gd name="T0" fmla="*/ 69 w 70"/>
                <a:gd name="T1" fmla="*/ 19 h 69"/>
                <a:gd name="T2" fmla="*/ 69 w 70"/>
                <a:gd name="T3" fmla="*/ 48 h 69"/>
                <a:gd name="T4" fmla="*/ 49 w 70"/>
                <a:gd name="T5" fmla="*/ 68 h 69"/>
                <a:gd name="T6" fmla="*/ 20 w 70"/>
                <a:gd name="T7" fmla="*/ 68 h 69"/>
                <a:gd name="T8" fmla="*/ 0 w 70"/>
                <a:gd name="T9" fmla="*/ 48 h 69"/>
                <a:gd name="T10" fmla="*/ 0 w 70"/>
                <a:gd name="T11" fmla="*/ 19 h 69"/>
                <a:gd name="T12" fmla="*/ 20 w 70"/>
                <a:gd name="T13" fmla="*/ 0 h 69"/>
                <a:gd name="T14" fmla="*/ 20 w 70"/>
                <a:gd name="T15" fmla="*/ 0 h 69"/>
                <a:gd name="T16" fmla="*/ 49 w 70"/>
                <a:gd name="T17" fmla="*/ 0 h 69"/>
                <a:gd name="T18" fmla="*/ 69 w 70"/>
                <a:gd name="T19" fmla="*/ 1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69" y="19"/>
                  </a:moveTo>
                  <a:lnTo>
                    <a:pt x="69" y="48"/>
                  </a:lnTo>
                  <a:lnTo>
                    <a:pt x="49" y="68"/>
                  </a:lnTo>
                  <a:lnTo>
                    <a:pt x="20" y="68"/>
                  </a:lnTo>
                  <a:lnTo>
                    <a:pt x="0" y="48"/>
                  </a:lnTo>
                  <a:lnTo>
                    <a:pt x="0" y="19"/>
                  </a:lnTo>
                  <a:lnTo>
                    <a:pt x="20" y="0"/>
                  </a:lnTo>
                  <a:lnTo>
                    <a:pt x="20" y="0"/>
                  </a:lnTo>
                  <a:lnTo>
                    <a:pt x="49" y="0"/>
                  </a:lnTo>
                  <a:lnTo>
                    <a:pt x="69" y="19"/>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6" name="Line 97"/>
            <p:cNvSpPr>
              <a:spLocks noChangeShapeType="1"/>
            </p:cNvSpPr>
            <p:nvPr/>
          </p:nvSpPr>
          <p:spPr bwMode="auto">
            <a:xfrm flipH="1">
              <a:off x="5249864" y="5073650"/>
              <a:ext cx="9525" cy="1793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7" name="Freeform 98"/>
            <p:cNvSpPr>
              <a:spLocks/>
            </p:cNvSpPr>
            <p:nvPr/>
          </p:nvSpPr>
          <p:spPr bwMode="auto">
            <a:xfrm>
              <a:off x="4994275" y="5126039"/>
              <a:ext cx="261938" cy="123825"/>
            </a:xfrm>
            <a:custGeom>
              <a:avLst/>
              <a:gdLst>
                <a:gd name="T0" fmla="*/ 0 w 181"/>
                <a:gd name="T1" fmla="*/ 87 h 88"/>
                <a:gd name="T2" fmla="*/ 16 w 181"/>
                <a:gd name="T3" fmla="*/ 0 h 88"/>
                <a:gd name="T4" fmla="*/ 180 w 181"/>
                <a:gd name="T5" fmla="*/ 0 h 88"/>
                <a:gd name="T6" fmla="*/ 175 w 181"/>
                <a:gd name="T7" fmla="*/ 87 h 88"/>
                <a:gd name="T8" fmla="*/ 0 w 181"/>
                <a:gd name="T9" fmla="*/ 87 h 88"/>
              </a:gdLst>
              <a:ahLst/>
              <a:cxnLst>
                <a:cxn ang="0">
                  <a:pos x="T0" y="T1"/>
                </a:cxn>
                <a:cxn ang="0">
                  <a:pos x="T2" y="T3"/>
                </a:cxn>
                <a:cxn ang="0">
                  <a:pos x="T4" y="T5"/>
                </a:cxn>
                <a:cxn ang="0">
                  <a:pos x="T6" y="T7"/>
                </a:cxn>
                <a:cxn ang="0">
                  <a:pos x="T8" y="T9"/>
                </a:cxn>
              </a:cxnLst>
              <a:rect l="0" t="0" r="r" b="b"/>
              <a:pathLst>
                <a:path w="181" h="88">
                  <a:moveTo>
                    <a:pt x="0" y="87"/>
                  </a:moveTo>
                  <a:lnTo>
                    <a:pt x="16" y="0"/>
                  </a:lnTo>
                  <a:lnTo>
                    <a:pt x="180" y="0"/>
                  </a:lnTo>
                  <a:lnTo>
                    <a:pt x="175" y="87"/>
                  </a:lnTo>
                  <a:lnTo>
                    <a:pt x="0" y="87"/>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8" name="Freeform 99" descr="Outlined diamond"/>
            <p:cNvSpPr>
              <a:spLocks/>
            </p:cNvSpPr>
            <p:nvPr/>
          </p:nvSpPr>
          <p:spPr bwMode="auto">
            <a:xfrm>
              <a:off x="5003801" y="5175250"/>
              <a:ext cx="250825" cy="38100"/>
            </a:xfrm>
            <a:custGeom>
              <a:avLst/>
              <a:gdLst>
                <a:gd name="T0" fmla="*/ 5 w 174"/>
                <a:gd name="T1" fmla="*/ 0 h 27"/>
                <a:gd name="T2" fmla="*/ 173 w 174"/>
                <a:gd name="T3" fmla="*/ 0 h 27"/>
                <a:gd name="T4" fmla="*/ 167 w 174"/>
                <a:gd name="T5" fmla="*/ 26 h 27"/>
                <a:gd name="T6" fmla="*/ 0 w 174"/>
                <a:gd name="T7" fmla="*/ 24 h 27"/>
                <a:gd name="T8" fmla="*/ 5 w 174"/>
                <a:gd name="T9" fmla="*/ 2 h 27"/>
                <a:gd name="T10" fmla="*/ 5 w 174"/>
                <a:gd name="T11" fmla="*/ 0 h 27"/>
                <a:gd name="T12" fmla="*/ 5 w 17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74" h="27">
                  <a:moveTo>
                    <a:pt x="5" y="0"/>
                  </a:moveTo>
                  <a:lnTo>
                    <a:pt x="173" y="0"/>
                  </a:lnTo>
                  <a:lnTo>
                    <a:pt x="167" y="26"/>
                  </a:lnTo>
                  <a:lnTo>
                    <a:pt x="0" y="24"/>
                  </a:lnTo>
                  <a:lnTo>
                    <a:pt x="5" y="2"/>
                  </a:lnTo>
                  <a:lnTo>
                    <a:pt x="5" y="0"/>
                  </a:lnTo>
                  <a:lnTo>
                    <a:pt x="5" y="0"/>
                  </a:lnTo>
                </a:path>
              </a:pathLst>
            </a:custGeom>
            <a:pattFill prst="openDmnd">
              <a:fgClr>
                <a:srgbClr val="000000"/>
              </a:fgClr>
              <a:bgClr>
                <a:srgbClr val="FFFFFF"/>
              </a:bgClr>
            </a:patt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9" name="Freeform 100"/>
            <p:cNvSpPr>
              <a:spLocks/>
            </p:cNvSpPr>
            <p:nvPr/>
          </p:nvSpPr>
          <p:spPr bwMode="auto">
            <a:xfrm>
              <a:off x="4995864" y="5181601"/>
              <a:ext cx="39687" cy="17463"/>
            </a:xfrm>
            <a:custGeom>
              <a:avLst/>
              <a:gdLst>
                <a:gd name="T0" fmla="*/ 3 w 27"/>
                <a:gd name="T1" fmla="*/ 2 h 13"/>
                <a:gd name="T2" fmla="*/ 26 w 27"/>
                <a:gd name="T3" fmla="*/ 3 h 13"/>
                <a:gd name="T4" fmla="*/ 23 w 27"/>
                <a:gd name="T5" fmla="*/ 12 h 13"/>
                <a:gd name="T6" fmla="*/ 0 w 27"/>
                <a:gd name="T7" fmla="*/ 12 h 13"/>
                <a:gd name="T8" fmla="*/ 3 w 27"/>
                <a:gd name="T9" fmla="*/ 0 h 13"/>
                <a:gd name="T10" fmla="*/ 3 w 27"/>
                <a:gd name="T11" fmla="*/ 2 h 13"/>
                <a:gd name="T12" fmla="*/ 3 w 27"/>
                <a:gd name="T13" fmla="*/ 2 h 13"/>
              </a:gdLst>
              <a:ahLst/>
              <a:cxnLst>
                <a:cxn ang="0">
                  <a:pos x="T0" y="T1"/>
                </a:cxn>
                <a:cxn ang="0">
                  <a:pos x="T2" y="T3"/>
                </a:cxn>
                <a:cxn ang="0">
                  <a:pos x="T4" y="T5"/>
                </a:cxn>
                <a:cxn ang="0">
                  <a:pos x="T6" y="T7"/>
                </a:cxn>
                <a:cxn ang="0">
                  <a:pos x="T8" y="T9"/>
                </a:cxn>
                <a:cxn ang="0">
                  <a:pos x="T10" y="T11"/>
                </a:cxn>
                <a:cxn ang="0">
                  <a:pos x="T12" y="T13"/>
                </a:cxn>
              </a:cxnLst>
              <a:rect l="0" t="0" r="r" b="b"/>
              <a:pathLst>
                <a:path w="27" h="13">
                  <a:moveTo>
                    <a:pt x="3" y="2"/>
                  </a:moveTo>
                  <a:lnTo>
                    <a:pt x="26" y="3"/>
                  </a:lnTo>
                  <a:lnTo>
                    <a:pt x="23" y="12"/>
                  </a:lnTo>
                  <a:lnTo>
                    <a:pt x="0" y="12"/>
                  </a:lnTo>
                  <a:lnTo>
                    <a:pt x="3" y="0"/>
                  </a:lnTo>
                  <a:lnTo>
                    <a:pt x="3" y="2"/>
                  </a:lnTo>
                  <a:lnTo>
                    <a:pt x="3" y="2"/>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0" name="Line 101"/>
            <p:cNvSpPr>
              <a:spLocks noChangeShapeType="1"/>
            </p:cNvSpPr>
            <p:nvPr/>
          </p:nvSpPr>
          <p:spPr bwMode="auto">
            <a:xfrm flipH="1" flipV="1">
              <a:off x="5491164" y="4837114"/>
              <a:ext cx="73025" cy="4984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1" name="Line 102"/>
            <p:cNvSpPr>
              <a:spLocks noChangeShapeType="1"/>
            </p:cNvSpPr>
            <p:nvPr/>
          </p:nvSpPr>
          <p:spPr bwMode="auto">
            <a:xfrm flipH="1">
              <a:off x="4910139" y="4837113"/>
              <a:ext cx="57467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2" name="Freeform 103"/>
            <p:cNvSpPr>
              <a:spLocks/>
            </p:cNvSpPr>
            <p:nvPr/>
          </p:nvSpPr>
          <p:spPr bwMode="auto">
            <a:xfrm>
              <a:off x="5311775" y="5338764"/>
              <a:ext cx="254000" cy="352425"/>
            </a:xfrm>
            <a:custGeom>
              <a:avLst/>
              <a:gdLst>
                <a:gd name="T0" fmla="*/ 0 w 176"/>
                <a:gd name="T1" fmla="*/ 140 h 251"/>
                <a:gd name="T2" fmla="*/ 0 w 176"/>
                <a:gd name="T3" fmla="*/ 250 h 251"/>
                <a:gd name="T4" fmla="*/ 175 w 176"/>
                <a:gd name="T5" fmla="*/ 250 h 251"/>
                <a:gd name="T6" fmla="*/ 175 w 176"/>
                <a:gd name="T7" fmla="*/ 0 h 251"/>
              </a:gdLst>
              <a:ahLst/>
              <a:cxnLst>
                <a:cxn ang="0">
                  <a:pos x="T0" y="T1"/>
                </a:cxn>
                <a:cxn ang="0">
                  <a:pos x="T2" y="T3"/>
                </a:cxn>
                <a:cxn ang="0">
                  <a:pos x="T4" y="T5"/>
                </a:cxn>
                <a:cxn ang="0">
                  <a:pos x="T6" y="T7"/>
                </a:cxn>
              </a:cxnLst>
              <a:rect l="0" t="0" r="r" b="b"/>
              <a:pathLst>
                <a:path w="176" h="251">
                  <a:moveTo>
                    <a:pt x="0" y="140"/>
                  </a:moveTo>
                  <a:lnTo>
                    <a:pt x="0" y="250"/>
                  </a:lnTo>
                  <a:lnTo>
                    <a:pt x="175" y="250"/>
                  </a:lnTo>
                  <a:lnTo>
                    <a:pt x="175"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3" name="Line 104"/>
            <p:cNvSpPr>
              <a:spLocks noChangeShapeType="1"/>
            </p:cNvSpPr>
            <p:nvPr/>
          </p:nvSpPr>
          <p:spPr bwMode="auto">
            <a:xfrm>
              <a:off x="4762500" y="5326063"/>
              <a:ext cx="80168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4" name="Line 105"/>
            <p:cNvSpPr>
              <a:spLocks noChangeShapeType="1"/>
            </p:cNvSpPr>
            <p:nvPr/>
          </p:nvSpPr>
          <p:spPr bwMode="auto">
            <a:xfrm>
              <a:off x="5029201" y="5526088"/>
              <a:ext cx="27781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5" name="Line 106"/>
            <p:cNvSpPr>
              <a:spLocks noChangeShapeType="1"/>
            </p:cNvSpPr>
            <p:nvPr/>
          </p:nvSpPr>
          <p:spPr bwMode="auto">
            <a:xfrm>
              <a:off x="6678613" y="4846638"/>
              <a:ext cx="144462" cy="4826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6" name="Freeform 107"/>
            <p:cNvSpPr>
              <a:spLocks/>
            </p:cNvSpPr>
            <p:nvPr/>
          </p:nvSpPr>
          <p:spPr bwMode="auto">
            <a:xfrm>
              <a:off x="6551613" y="5329238"/>
              <a:ext cx="273050" cy="355600"/>
            </a:xfrm>
            <a:custGeom>
              <a:avLst/>
              <a:gdLst>
                <a:gd name="T0" fmla="*/ 188 w 189"/>
                <a:gd name="T1" fmla="*/ 0 h 254"/>
                <a:gd name="T2" fmla="*/ 188 w 189"/>
                <a:gd name="T3" fmla="*/ 253 h 254"/>
                <a:gd name="T4" fmla="*/ 0 w 189"/>
                <a:gd name="T5" fmla="*/ 253 h 254"/>
                <a:gd name="T6" fmla="*/ 0 w 189"/>
                <a:gd name="T7" fmla="*/ 143 h 254"/>
              </a:gdLst>
              <a:ahLst/>
              <a:cxnLst>
                <a:cxn ang="0">
                  <a:pos x="T0" y="T1"/>
                </a:cxn>
                <a:cxn ang="0">
                  <a:pos x="T2" y="T3"/>
                </a:cxn>
                <a:cxn ang="0">
                  <a:pos x="T4" y="T5"/>
                </a:cxn>
                <a:cxn ang="0">
                  <a:pos x="T6" y="T7"/>
                </a:cxn>
              </a:cxnLst>
              <a:rect l="0" t="0" r="r" b="b"/>
              <a:pathLst>
                <a:path w="189" h="254">
                  <a:moveTo>
                    <a:pt x="188" y="0"/>
                  </a:moveTo>
                  <a:lnTo>
                    <a:pt x="188" y="253"/>
                  </a:lnTo>
                  <a:lnTo>
                    <a:pt x="0" y="253"/>
                  </a:lnTo>
                  <a:lnTo>
                    <a:pt x="0" y="143"/>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7" name="Freeform 108"/>
            <p:cNvSpPr>
              <a:spLocks/>
            </p:cNvSpPr>
            <p:nvPr/>
          </p:nvSpPr>
          <p:spPr bwMode="auto">
            <a:xfrm>
              <a:off x="6526214" y="4924425"/>
              <a:ext cx="52387" cy="50800"/>
            </a:xfrm>
            <a:custGeom>
              <a:avLst/>
              <a:gdLst>
                <a:gd name="T0" fmla="*/ 35 w 36"/>
                <a:gd name="T1" fmla="*/ 35 h 36"/>
                <a:gd name="T2" fmla="*/ 35 w 36"/>
                <a:gd name="T3" fmla="*/ 35 h 36"/>
                <a:gd name="T4" fmla="*/ 35 w 36"/>
                <a:gd name="T5" fmla="*/ 33 h 36"/>
                <a:gd name="T6" fmla="*/ 35 w 36"/>
                <a:gd name="T7" fmla="*/ 31 h 36"/>
                <a:gd name="T8" fmla="*/ 35 w 36"/>
                <a:gd name="T9" fmla="*/ 27 h 36"/>
                <a:gd name="T10" fmla="*/ 34 w 36"/>
                <a:gd name="T11" fmla="*/ 26 h 36"/>
                <a:gd name="T12" fmla="*/ 34 w 36"/>
                <a:gd name="T13" fmla="*/ 23 h 36"/>
                <a:gd name="T14" fmla="*/ 32 w 36"/>
                <a:gd name="T15" fmla="*/ 22 h 36"/>
                <a:gd name="T16" fmla="*/ 32 w 36"/>
                <a:gd name="T17" fmla="*/ 20 h 36"/>
                <a:gd name="T18" fmla="*/ 31 w 36"/>
                <a:gd name="T19" fmla="*/ 17 h 36"/>
                <a:gd name="T20" fmla="*/ 29 w 36"/>
                <a:gd name="T21" fmla="*/ 16 h 36"/>
                <a:gd name="T22" fmla="*/ 28 w 36"/>
                <a:gd name="T23" fmla="*/ 15 h 36"/>
                <a:gd name="T24" fmla="*/ 27 w 36"/>
                <a:gd name="T25" fmla="*/ 13 h 36"/>
                <a:gd name="T26" fmla="*/ 25 w 36"/>
                <a:gd name="T27" fmla="*/ 11 h 36"/>
                <a:gd name="T28" fmla="*/ 23 w 36"/>
                <a:gd name="T29" fmla="*/ 9 h 36"/>
                <a:gd name="T30" fmla="*/ 23 w 36"/>
                <a:gd name="T31" fmla="*/ 8 h 36"/>
                <a:gd name="T32" fmla="*/ 21 w 36"/>
                <a:gd name="T33" fmla="*/ 6 h 36"/>
                <a:gd name="T34" fmla="*/ 19 w 36"/>
                <a:gd name="T35" fmla="*/ 6 h 36"/>
                <a:gd name="T36" fmla="*/ 17 w 36"/>
                <a:gd name="T37" fmla="*/ 5 h 36"/>
                <a:gd name="T38" fmla="*/ 15 w 36"/>
                <a:gd name="T39" fmla="*/ 4 h 36"/>
                <a:gd name="T40" fmla="*/ 13 w 36"/>
                <a:gd name="T41" fmla="*/ 2 h 36"/>
                <a:gd name="T42" fmla="*/ 10 w 36"/>
                <a:gd name="T43" fmla="*/ 2 h 36"/>
                <a:gd name="T44" fmla="*/ 8 w 36"/>
                <a:gd name="T45" fmla="*/ 1 h 36"/>
                <a:gd name="T46" fmla="*/ 6 w 36"/>
                <a:gd name="T47" fmla="*/ 0 h 36"/>
                <a:gd name="T48" fmla="*/ 5 w 36"/>
                <a:gd name="T49" fmla="*/ 0 h 36"/>
                <a:gd name="T50" fmla="*/ 2 w 36"/>
                <a:gd name="T51" fmla="*/ 0 h 36"/>
                <a:gd name="T52" fmla="*/ 0 w 36"/>
                <a:gd name="T5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6">
                  <a:moveTo>
                    <a:pt x="35" y="35"/>
                  </a:moveTo>
                  <a:lnTo>
                    <a:pt x="35" y="35"/>
                  </a:lnTo>
                  <a:lnTo>
                    <a:pt x="35" y="33"/>
                  </a:lnTo>
                  <a:lnTo>
                    <a:pt x="35" y="31"/>
                  </a:lnTo>
                  <a:lnTo>
                    <a:pt x="35" y="27"/>
                  </a:lnTo>
                  <a:lnTo>
                    <a:pt x="34" y="26"/>
                  </a:lnTo>
                  <a:lnTo>
                    <a:pt x="34" y="23"/>
                  </a:lnTo>
                  <a:lnTo>
                    <a:pt x="32" y="22"/>
                  </a:lnTo>
                  <a:lnTo>
                    <a:pt x="32" y="20"/>
                  </a:lnTo>
                  <a:lnTo>
                    <a:pt x="31" y="17"/>
                  </a:lnTo>
                  <a:lnTo>
                    <a:pt x="29" y="16"/>
                  </a:lnTo>
                  <a:lnTo>
                    <a:pt x="28" y="15"/>
                  </a:lnTo>
                  <a:lnTo>
                    <a:pt x="27" y="13"/>
                  </a:lnTo>
                  <a:lnTo>
                    <a:pt x="25" y="11"/>
                  </a:lnTo>
                  <a:lnTo>
                    <a:pt x="23" y="9"/>
                  </a:lnTo>
                  <a:lnTo>
                    <a:pt x="23" y="8"/>
                  </a:lnTo>
                  <a:lnTo>
                    <a:pt x="21" y="6"/>
                  </a:lnTo>
                  <a:lnTo>
                    <a:pt x="19" y="6"/>
                  </a:lnTo>
                  <a:lnTo>
                    <a:pt x="17" y="5"/>
                  </a:lnTo>
                  <a:lnTo>
                    <a:pt x="15" y="4"/>
                  </a:lnTo>
                  <a:lnTo>
                    <a:pt x="13" y="2"/>
                  </a:lnTo>
                  <a:lnTo>
                    <a:pt x="10" y="2"/>
                  </a:lnTo>
                  <a:lnTo>
                    <a:pt x="8" y="1"/>
                  </a:lnTo>
                  <a:lnTo>
                    <a:pt x="6" y="0"/>
                  </a:lnTo>
                  <a:lnTo>
                    <a:pt x="5" y="0"/>
                  </a:lnTo>
                  <a:lnTo>
                    <a:pt x="2" y="0"/>
                  </a:lnTo>
                  <a:lnTo>
                    <a:pt x="0"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8" name="Freeform 109"/>
            <p:cNvSpPr>
              <a:spLocks/>
            </p:cNvSpPr>
            <p:nvPr/>
          </p:nvSpPr>
          <p:spPr bwMode="auto">
            <a:xfrm>
              <a:off x="6604001" y="5189539"/>
              <a:ext cx="30163" cy="65087"/>
            </a:xfrm>
            <a:custGeom>
              <a:avLst/>
              <a:gdLst>
                <a:gd name="T0" fmla="*/ 0 w 21"/>
                <a:gd name="T1" fmla="*/ 46 h 47"/>
                <a:gd name="T2" fmla="*/ 0 w 21"/>
                <a:gd name="T3" fmla="*/ 46 h 47"/>
                <a:gd name="T4" fmla="*/ 2 w 21"/>
                <a:gd name="T5" fmla="*/ 45 h 47"/>
                <a:gd name="T6" fmla="*/ 3 w 21"/>
                <a:gd name="T7" fmla="*/ 43 h 47"/>
                <a:gd name="T8" fmla="*/ 6 w 21"/>
                <a:gd name="T9" fmla="*/ 43 h 47"/>
                <a:gd name="T10" fmla="*/ 7 w 21"/>
                <a:gd name="T11" fmla="*/ 41 h 47"/>
                <a:gd name="T12" fmla="*/ 8 w 21"/>
                <a:gd name="T13" fmla="*/ 40 h 47"/>
                <a:gd name="T14" fmla="*/ 10 w 21"/>
                <a:gd name="T15" fmla="*/ 39 h 47"/>
                <a:gd name="T16" fmla="*/ 12 w 21"/>
                <a:gd name="T17" fmla="*/ 37 h 47"/>
                <a:gd name="T18" fmla="*/ 13 w 21"/>
                <a:gd name="T19" fmla="*/ 35 h 47"/>
                <a:gd name="T20" fmla="*/ 14 w 21"/>
                <a:gd name="T21" fmla="*/ 33 h 47"/>
                <a:gd name="T22" fmla="*/ 16 w 21"/>
                <a:gd name="T23" fmla="*/ 31 h 47"/>
                <a:gd name="T24" fmla="*/ 16 w 21"/>
                <a:gd name="T25" fmla="*/ 29 h 47"/>
                <a:gd name="T26" fmla="*/ 18 w 21"/>
                <a:gd name="T27" fmla="*/ 26 h 47"/>
                <a:gd name="T28" fmla="*/ 18 w 21"/>
                <a:gd name="T29" fmla="*/ 25 h 47"/>
                <a:gd name="T30" fmla="*/ 19 w 21"/>
                <a:gd name="T31" fmla="*/ 23 h 47"/>
                <a:gd name="T32" fmla="*/ 19 w 21"/>
                <a:gd name="T33" fmla="*/ 22 h 47"/>
                <a:gd name="T34" fmla="*/ 20 w 21"/>
                <a:gd name="T35" fmla="*/ 19 h 47"/>
                <a:gd name="T36" fmla="*/ 20 w 21"/>
                <a:gd name="T37" fmla="*/ 17 h 47"/>
                <a:gd name="T38" fmla="*/ 20 w 21"/>
                <a:gd name="T39" fmla="*/ 14 h 47"/>
                <a:gd name="T40" fmla="*/ 20 w 21"/>
                <a:gd name="T41" fmla="*/ 12 h 47"/>
                <a:gd name="T42" fmla="*/ 19 w 21"/>
                <a:gd name="T43" fmla="*/ 10 h 47"/>
                <a:gd name="T44" fmla="*/ 19 w 21"/>
                <a:gd name="T45" fmla="*/ 8 h 47"/>
                <a:gd name="T46" fmla="*/ 19 w 21"/>
                <a:gd name="T47" fmla="*/ 6 h 47"/>
                <a:gd name="T48" fmla="*/ 18 w 21"/>
                <a:gd name="T49" fmla="*/ 4 h 47"/>
                <a:gd name="T50" fmla="*/ 18 w 21"/>
                <a:gd name="T51" fmla="*/ 2 h 47"/>
                <a:gd name="T52" fmla="*/ 16 w 21"/>
                <a:gd name="T53"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 h="47">
                  <a:moveTo>
                    <a:pt x="0" y="46"/>
                  </a:moveTo>
                  <a:lnTo>
                    <a:pt x="0" y="46"/>
                  </a:lnTo>
                  <a:lnTo>
                    <a:pt x="2" y="45"/>
                  </a:lnTo>
                  <a:lnTo>
                    <a:pt x="3" y="43"/>
                  </a:lnTo>
                  <a:lnTo>
                    <a:pt x="6" y="43"/>
                  </a:lnTo>
                  <a:lnTo>
                    <a:pt x="7" y="41"/>
                  </a:lnTo>
                  <a:lnTo>
                    <a:pt x="8" y="40"/>
                  </a:lnTo>
                  <a:lnTo>
                    <a:pt x="10" y="39"/>
                  </a:lnTo>
                  <a:lnTo>
                    <a:pt x="12" y="37"/>
                  </a:lnTo>
                  <a:lnTo>
                    <a:pt x="13" y="35"/>
                  </a:lnTo>
                  <a:lnTo>
                    <a:pt x="14" y="33"/>
                  </a:lnTo>
                  <a:lnTo>
                    <a:pt x="16" y="31"/>
                  </a:lnTo>
                  <a:lnTo>
                    <a:pt x="16" y="29"/>
                  </a:lnTo>
                  <a:lnTo>
                    <a:pt x="18" y="26"/>
                  </a:lnTo>
                  <a:lnTo>
                    <a:pt x="18" y="25"/>
                  </a:lnTo>
                  <a:lnTo>
                    <a:pt x="19" y="23"/>
                  </a:lnTo>
                  <a:lnTo>
                    <a:pt x="19" y="22"/>
                  </a:lnTo>
                  <a:lnTo>
                    <a:pt x="20" y="19"/>
                  </a:lnTo>
                  <a:lnTo>
                    <a:pt x="20" y="17"/>
                  </a:lnTo>
                  <a:lnTo>
                    <a:pt x="20" y="14"/>
                  </a:lnTo>
                  <a:lnTo>
                    <a:pt x="20" y="12"/>
                  </a:lnTo>
                  <a:lnTo>
                    <a:pt x="19" y="10"/>
                  </a:lnTo>
                  <a:lnTo>
                    <a:pt x="19" y="8"/>
                  </a:lnTo>
                  <a:lnTo>
                    <a:pt x="19" y="6"/>
                  </a:lnTo>
                  <a:lnTo>
                    <a:pt x="18" y="4"/>
                  </a:lnTo>
                  <a:lnTo>
                    <a:pt x="18" y="2"/>
                  </a:lnTo>
                  <a:lnTo>
                    <a:pt x="16"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9" name="Line 110"/>
            <p:cNvSpPr>
              <a:spLocks noChangeShapeType="1"/>
            </p:cNvSpPr>
            <p:nvPr/>
          </p:nvSpPr>
          <p:spPr bwMode="auto">
            <a:xfrm flipH="1">
              <a:off x="6070601" y="4922838"/>
              <a:ext cx="44926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0" name="Line 111"/>
            <p:cNvSpPr>
              <a:spLocks noChangeShapeType="1"/>
            </p:cNvSpPr>
            <p:nvPr/>
          </p:nvSpPr>
          <p:spPr bwMode="auto">
            <a:xfrm>
              <a:off x="6580189" y="4978400"/>
              <a:ext cx="47625" cy="2047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1" name="Line 112"/>
            <p:cNvSpPr>
              <a:spLocks noChangeShapeType="1"/>
            </p:cNvSpPr>
            <p:nvPr/>
          </p:nvSpPr>
          <p:spPr bwMode="auto">
            <a:xfrm flipH="1">
              <a:off x="6027739" y="5253038"/>
              <a:ext cx="56673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2" name="Freeform 113"/>
            <p:cNvSpPr>
              <a:spLocks/>
            </p:cNvSpPr>
            <p:nvPr/>
          </p:nvSpPr>
          <p:spPr bwMode="auto">
            <a:xfrm>
              <a:off x="6519863" y="5072063"/>
              <a:ext cx="50800" cy="49212"/>
            </a:xfrm>
            <a:custGeom>
              <a:avLst/>
              <a:gdLst>
                <a:gd name="T0" fmla="*/ 34 w 35"/>
                <a:gd name="T1" fmla="*/ 35 h 36"/>
                <a:gd name="T2" fmla="*/ 34 w 35"/>
                <a:gd name="T3" fmla="*/ 35 h 36"/>
                <a:gd name="T4" fmla="*/ 34 w 35"/>
                <a:gd name="T5" fmla="*/ 32 h 36"/>
                <a:gd name="T6" fmla="*/ 33 w 35"/>
                <a:gd name="T7" fmla="*/ 30 h 36"/>
                <a:gd name="T8" fmla="*/ 33 w 35"/>
                <a:gd name="T9" fmla="*/ 28 h 36"/>
                <a:gd name="T10" fmla="*/ 32 w 35"/>
                <a:gd name="T11" fmla="*/ 27 h 36"/>
                <a:gd name="T12" fmla="*/ 32 w 35"/>
                <a:gd name="T13" fmla="*/ 24 h 36"/>
                <a:gd name="T14" fmla="*/ 32 w 35"/>
                <a:gd name="T15" fmla="*/ 22 h 36"/>
                <a:gd name="T16" fmla="*/ 31 w 35"/>
                <a:gd name="T17" fmla="*/ 20 h 36"/>
                <a:gd name="T18" fmla="*/ 29 w 35"/>
                <a:gd name="T19" fmla="*/ 18 h 36"/>
                <a:gd name="T20" fmla="*/ 28 w 35"/>
                <a:gd name="T21" fmla="*/ 16 h 36"/>
                <a:gd name="T22" fmla="*/ 27 w 35"/>
                <a:gd name="T23" fmla="*/ 14 h 36"/>
                <a:gd name="T24" fmla="*/ 27 w 35"/>
                <a:gd name="T25" fmla="*/ 12 h 36"/>
                <a:gd name="T26" fmla="*/ 25 w 35"/>
                <a:gd name="T27" fmla="*/ 10 h 36"/>
                <a:gd name="T28" fmla="*/ 23 w 35"/>
                <a:gd name="T29" fmla="*/ 10 h 36"/>
                <a:gd name="T30" fmla="*/ 22 w 35"/>
                <a:gd name="T31" fmla="*/ 9 h 36"/>
                <a:gd name="T32" fmla="*/ 19 w 35"/>
                <a:gd name="T33" fmla="*/ 7 h 36"/>
                <a:gd name="T34" fmla="*/ 18 w 35"/>
                <a:gd name="T35" fmla="*/ 6 h 36"/>
                <a:gd name="T36" fmla="*/ 16 w 35"/>
                <a:gd name="T37" fmla="*/ 4 h 36"/>
                <a:gd name="T38" fmla="*/ 14 w 35"/>
                <a:gd name="T39" fmla="*/ 4 h 36"/>
                <a:gd name="T40" fmla="*/ 12 w 35"/>
                <a:gd name="T41" fmla="*/ 4 h 36"/>
                <a:gd name="T42" fmla="*/ 10 w 35"/>
                <a:gd name="T43" fmla="*/ 2 h 36"/>
                <a:gd name="T44" fmla="*/ 8 w 35"/>
                <a:gd name="T45" fmla="*/ 2 h 36"/>
                <a:gd name="T46" fmla="*/ 6 w 35"/>
                <a:gd name="T47" fmla="*/ 0 h 36"/>
                <a:gd name="T48" fmla="*/ 4 w 35"/>
                <a:gd name="T49" fmla="*/ 0 h 36"/>
                <a:gd name="T50" fmla="*/ 1 w 35"/>
                <a:gd name="T51" fmla="*/ 0 h 36"/>
                <a:gd name="T52" fmla="*/ 0 w 35"/>
                <a:gd name="T5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 h="36">
                  <a:moveTo>
                    <a:pt x="34" y="35"/>
                  </a:moveTo>
                  <a:lnTo>
                    <a:pt x="34" y="35"/>
                  </a:lnTo>
                  <a:lnTo>
                    <a:pt x="34" y="32"/>
                  </a:lnTo>
                  <a:lnTo>
                    <a:pt x="33" y="30"/>
                  </a:lnTo>
                  <a:lnTo>
                    <a:pt x="33" y="28"/>
                  </a:lnTo>
                  <a:lnTo>
                    <a:pt x="32" y="27"/>
                  </a:lnTo>
                  <a:lnTo>
                    <a:pt x="32" y="24"/>
                  </a:lnTo>
                  <a:lnTo>
                    <a:pt x="32" y="22"/>
                  </a:lnTo>
                  <a:lnTo>
                    <a:pt x="31" y="20"/>
                  </a:lnTo>
                  <a:lnTo>
                    <a:pt x="29" y="18"/>
                  </a:lnTo>
                  <a:lnTo>
                    <a:pt x="28" y="16"/>
                  </a:lnTo>
                  <a:lnTo>
                    <a:pt x="27" y="14"/>
                  </a:lnTo>
                  <a:lnTo>
                    <a:pt x="27" y="12"/>
                  </a:lnTo>
                  <a:lnTo>
                    <a:pt x="25" y="10"/>
                  </a:lnTo>
                  <a:lnTo>
                    <a:pt x="23" y="10"/>
                  </a:lnTo>
                  <a:lnTo>
                    <a:pt x="22" y="9"/>
                  </a:lnTo>
                  <a:lnTo>
                    <a:pt x="19" y="7"/>
                  </a:lnTo>
                  <a:lnTo>
                    <a:pt x="18" y="6"/>
                  </a:lnTo>
                  <a:lnTo>
                    <a:pt x="16" y="4"/>
                  </a:lnTo>
                  <a:lnTo>
                    <a:pt x="14" y="4"/>
                  </a:lnTo>
                  <a:lnTo>
                    <a:pt x="12" y="4"/>
                  </a:lnTo>
                  <a:lnTo>
                    <a:pt x="10" y="2"/>
                  </a:lnTo>
                  <a:lnTo>
                    <a:pt x="8" y="2"/>
                  </a:lnTo>
                  <a:lnTo>
                    <a:pt x="6" y="0"/>
                  </a:lnTo>
                  <a:lnTo>
                    <a:pt x="4" y="0"/>
                  </a:lnTo>
                  <a:lnTo>
                    <a:pt x="1" y="0"/>
                  </a:lnTo>
                  <a:lnTo>
                    <a:pt x="0"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3" name="Line 114"/>
            <p:cNvSpPr>
              <a:spLocks noChangeShapeType="1"/>
            </p:cNvSpPr>
            <p:nvPr/>
          </p:nvSpPr>
          <p:spPr bwMode="auto">
            <a:xfrm flipH="1">
              <a:off x="6040439" y="5072063"/>
              <a:ext cx="47942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4" name="Freeform 115"/>
            <p:cNvSpPr>
              <a:spLocks/>
            </p:cNvSpPr>
            <p:nvPr/>
          </p:nvSpPr>
          <p:spPr bwMode="auto">
            <a:xfrm>
              <a:off x="6577014" y="5141913"/>
              <a:ext cx="28575" cy="95250"/>
            </a:xfrm>
            <a:custGeom>
              <a:avLst/>
              <a:gdLst>
                <a:gd name="T0" fmla="*/ 9 w 20"/>
                <a:gd name="T1" fmla="*/ 67 h 68"/>
                <a:gd name="T2" fmla="*/ 9 w 20"/>
                <a:gd name="T3" fmla="*/ 67 h 68"/>
                <a:gd name="T4" fmla="*/ 10 w 20"/>
                <a:gd name="T5" fmla="*/ 67 h 68"/>
                <a:gd name="T6" fmla="*/ 12 w 20"/>
                <a:gd name="T7" fmla="*/ 66 h 68"/>
                <a:gd name="T8" fmla="*/ 12 w 20"/>
                <a:gd name="T9" fmla="*/ 65 h 68"/>
                <a:gd name="T10" fmla="*/ 13 w 20"/>
                <a:gd name="T11" fmla="*/ 64 h 68"/>
                <a:gd name="T12" fmla="*/ 13 w 20"/>
                <a:gd name="T13" fmla="*/ 62 h 68"/>
                <a:gd name="T14" fmla="*/ 14 w 20"/>
                <a:gd name="T15" fmla="*/ 60 h 68"/>
                <a:gd name="T16" fmla="*/ 15 w 20"/>
                <a:gd name="T17" fmla="*/ 59 h 68"/>
                <a:gd name="T18" fmla="*/ 16 w 20"/>
                <a:gd name="T19" fmla="*/ 58 h 68"/>
                <a:gd name="T20" fmla="*/ 16 w 20"/>
                <a:gd name="T21" fmla="*/ 57 h 68"/>
                <a:gd name="T22" fmla="*/ 17 w 20"/>
                <a:gd name="T23" fmla="*/ 55 h 68"/>
                <a:gd name="T24" fmla="*/ 17 w 20"/>
                <a:gd name="T25" fmla="*/ 52 h 68"/>
                <a:gd name="T26" fmla="*/ 17 w 20"/>
                <a:gd name="T27" fmla="*/ 51 h 68"/>
                <a:gd name="T28" fmla="*/ 17 w 20"/>
                <a:gd name="T29" fmla="*/ 48 h 68"/>
                <a:gd name="T30" fmla="*/ 19 w 20"/>
                <a:gd name="T31" fmla="*/ 47 h 68"/>
                <a:gd name="T32" fmla="*/ 19 w 20"/>
                <a:gd name="T33" fmla="*/ 45 h 68"/>
                <a:gd name="T34" fmla="*/ 19 w 20"/>
                <a:gd name="T35" fmla="*/ 42 h 68"/>
                <a:gd name="T36" fmla="*/ 19 w 20"/>
                <a:gd name="T37" fmla="*/ 41 h 68"/>
                <a:gd name="T38" fmla="*/ 19 w 20"/>
                <a:gd name="T39" fmla="*/ 38 h 68"/>
                <a:gd name="T40" fmla="*/ 19 w 20"/>
                <a:gd name="T41" fmla="*/ 37 h 68"/>
                <a:gd name="T42" fmla="*/ 19 w 20"/>
                <a:gd name="T43" fmla="*/ 34 h 68"/>
                <a:gd name="T44" fmla="*/ 19 w 20"/>
                <a:gd name="T45" fmla="*/ 32 h 68"/>
                <a:gd name="T46" fmla="*/ 19 w 20"/>
                <a:gd name="T47" fmla="*/ 30 h 68"/>
                <a:gd name="T48" fmla="*/ 19 w 20"/>
                <a:gd name="T49" fmla="*/ 28 h 68"/>
                <a:gd name="T50" fmla="*/ 19 w 20"/>
                <a:gd name="T51" fmla="*/ 26 h 68"/>
                <a:gd name="T52" fmla="*/ 19 w 20"/>
                <a:gd name="T53" fmla="*/ 24 h 68"/>
                <a:gd name="T54" fmla="*/ 19 w 20"/>
                <a:gd name="T55" fmla="*/ 22 h 68"/>
                <a:gd name="T56" fmla="*/ 17 w 20"/>
                <a:gd name="T57" fmla="*/ 19 h 68"/>
                <a:gd name="T58" fmla="*/ 17 w 20"/>
                <a:gd name="T59" fmla="*/ 18 h 68"/>
                <a:gd name="T60" fmla="*/ 17 w 20"/>
                <a:gd name="T61" fmla="*/ 16 h 68"/>
                <a:gd name="T62" fmla="*/ 16 w 20"/>
                <a:gd name="T63" fmla="*/ 14 h 68"/>
                <a:gd name="T64" fmla="*/ 16 w 20"/>
                <a:gd name="T65" fmla="*/ 12 h 68"/>
                <a:gd name="T66" fmla="*/ 15 w 20"/>
                <a:gd name="T67" fmla="*/ 10 h 68"/>
                <a:gd name="T68" fmla="*/ 15 w 20"/>
                <a:gd name="T69" fmla="*/ 9 h 68"/>
                <a:gd name="T70" fmla="*/ 13 w 20"/>
                <a:gd name="T71" fmla="*/ 8 h 68"/>
                <a:gd name="T72" fmla="*/ 13 w 20"/>
                <a:gd name="T73" fmla="*/ 6 h 68"/>
                <a:gd name="T74" fmla="*/ 12 w 20"/>
                <a:gd name="T75" fmla="*/ 6 h 68"/>
                <a:gd name="T76" fmla="*/ 12 w 20"/>
                <a:gd name="T77" fmla="*/ 4 h 68"/>
                <a:gd name="T78" fmla="*/ 10 w 20"/>
                <a:gd name="T79" fmla="*/ 4 h 68"/>
                <a:gd name="T80" fmla="*/ 10 w 20"/>
                <a:gd name="T81" fmla="*/ 2 h 68"/>
                <a:gd name="T82" fmla="*/ 9 w 20"/>
                <a:gd name="T83" fmla="*/ 2 h 68"/>
                <a:gd name="T84" fmla="*/ 8 w 20"/>
                <a:gd name="T85" fmla="*/ 1 h 68"/>
                <a:gd name="T86" fmla="*/ 7 w 20"/>
                <a:gd name="T87" fmla="*/ 1 h 68"/>
                <a:gd name="T88" fmla="*/ 6 w 20"/>
                <a:gd name="T89" fmla="*/ 0 h 68"/>
                <a:gd name="T90" fmla="*/ 5 w 20"/>
                <a:gd name="T91" fmla="*/ 0 h 68"/>
                <a:gd name="T92" fmla="*/ 4 w 20"/>
                <a:gd name="T93" fmla="*/ 0 h 68"/>
                <a:gd name="T94" fmla="*/ 4 w 20"/>
                <a:gd name="T95" fmla="*/ 0 h 68"/>
                <a:gd name="T96" fmla="*/ 3 w 20"/>
                <a:gd name="T97" fmla="*/ 0 h 68"/>
                <a:gd name="T98" fmla="*/ 2 w 20"/>
                <a:gd name="T99" fmla="*/ 1 h 68"/>
                <a:gd name="T100" fmla="*/ 2 w 20"/>
                <a:gd name="T101" fmla="*/ 2 h 68"/>
                <a:gd name="T102" fmla="*/ 0 w 20"/>
                <a:gd name="T103"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68">
                  <a:moveTo>
                    <a:pt x="9" y="67"/>
                  </a:moveTo>
                  <a:lnTo>
                    <a:pt x="9" y="67"/>
                  </a:lnTo>
                  <a:lnTo>
                    <a:pt x="10" y="67"/>
                  </a:lnTo>
                  <a:lnTo>
                    <a:pt x="12" y="66"/>
                  </a:lnTo>
                  <a:lnTo>
                    <a:pt x="12" y="65"/>
                  </a:lnTo>
                  <a:lnTo>
                    <a:pt x="13" y="64"/>
                  </a:lnTo>
                  <a:lnTo>
                    <a:pt x="13" y="62"/>
                  </a:lnTo>
                  <a:lnTo>
                    <a:pt x="14" y="60"/>
                  </a:lnTo>
                  <a:lnTo>
                    <a:pt x="15" y="59"/>
                  </a:lnTo>
                  <a:lnTo>
                    <a:pt x="16" y="58"/>
                  </a:lnTo>
                  <a:lnTo>
                    <a:pt x="16" y="57"/>
                  </a:lnTo>
                  <a:lnTo>
                    <a:pt x="17" y="55"/>
                  </a:lnTo>
                  <a:lnTo>
                    <a:pt x="17" y="52"/>
                  </a:lnTo>
                  <a:lnTo>
                    <a:pt x="17" y="51"/>
                  </a:lnTo>
                  <a:lnTo>
                    <a:pt x="17" y="48"/>
                  </a:lnTo>
                  <a:lnTo>
                    <a:pt x="19" y="47"/>
                  </a:lnTo>
                  <a:lnTo>
                    <a:pt x="19" y="45"/>
                  </a:lnTo>
                  <a:lnTo>
                    <a:pt x="19" y="42"/>
                  </a:lnTo>
                  <a:lnTo>
                    <a:pt x="19" y="41"/>
                  </a:lnTo>
                  <a:lnTo>
                    <a:pt x="19" y="38"/>
                  </a:lnTo>
                  <a:lnTo>
                    <a:pt x="19" y="37"/>
                  </a:lnTo>
                  <a:lnTo>
                    <a:pt x="19" y="34"/>
                  </a:lnTo>
                  <a:lnTo>
                    <a:pt x="19" y="32"/>
                  </a:lnTo>
                  <a:lnTo>
                    <a:pt x="19" y="30"/>
                  </a:lnTo>
                  <a:lnTo>
                    <a:pt x="19" y="28"/>
                  </a:lnTo>
                  <a:lnTo>
                    <a:pt x="19" y="26"/>
                  </a:lnTo>
                  <a:lnTo>
                    <a:pt x="19" y="24"/>
                  </a:lnTo>
                  <a:lnTo>
                    <a:pt x="19" y="22"/>
                  </a:lnTo>
                  <a:lnTo>
                    <a:pt x="17" y="19"/>
                  </a:lnTo>
                  <a:lnTo>
                    <a:pt x="17" y="18"/>
                  </a:lnTo>
                  <a:lnTo>
                    <a:pt x="17" y="16"/>
                  </a:lnTo>
                  <a:lnTo>
                    <a:pt x="16" y="14"/>
                  </a:lnTo>
                  <a:lnTo>
                    <a:pt x="16" y="12"/>
                  </a:lnTo>
                  <a:lnTo>
                    <a:pt x="15" y="10"/>
                  </a:lnTo>
                  <a:lnTo>
                    <a:pt x="15" y="9"/>
                  </a:lnTo>
                  <a:lnTo>
                    <a:pt x="13" y="8"/>
                  </a:lnTo>
                  <a:lnTo>
                    <a:pt x="13" y="6"/>
                  </a:lnTo>
                  <a:lnTo>
                    <a:pt x="12" y="6"/>
                  </a:lnTo>
                  <a:lnTo>
                    <a:pt x="12" y="4"/>
                  </a:lnTo>
                  <a:lnTo>
                    <a:pt x="10" y="4"/>
                  </a:lnTo>
                  <a:lnTo>
                    <a:pt x="10" y="2"/>
                  </a:lnTo>
                  <a:lnTo>
                    <a:pt x="9" y="2"/>
                  </a:lnTo>
                  <a:lnTo>
                    <a:pt x="8" y="1"/>
                  </a:lnTo>
                  <a:lnTo>
                    <a:pt x="7" y="1"/>
                  </a:lnTo>
                  <a:lnTo>
                    <a:pt x="6" y="0"/>
                  </a:lnTo>
                  <a:lnTo>
                    <a:pt x="5" y="0"/>
                  </a:lnTo>
                  <a:lnTo>
                    <a:pt x="4" y="0"/>
                  </a:lnTo>
                  <a:lnTo>
                    <a:pt x="4" y="0"/>
                  </a:lnTo>
                  <a:lnTo>
                    <a:pt x="3" y="0"/>
                  </a:lnTo>
                  <a:lnTo>
                    <a:pt x="2" y="1"/>
                  </a:lnTo>
                  <a:lnTo>
                    <a:pt x="2" y="2"/>
                  </a:lnTo>
                  <a:lnTo>
                    <a:pt x="0" y="2"/>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5" name="Line 116"/>
            <p:cNvSpPr>
              <a:spLocks noChangeShapeType="1"/>
            </p:cNvSpPr>
            <p:nvPr/>
          </p:nvSpPr>
          <p:spPr bwMode="auto">
            <a:xfrm>
              <a:off x="6565900" y="5121275"/>
              <a:ext cx="25400" cy="1285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6" name="Freeform 117"/>
            <p:cNvSpPr>
              <a:spLocks/>
            </p:cNvSpPr>
            <p:nvPr/>
          </p:nvSpPr>
          <p:spPr bwMode="auto">
            <a:xfrm>
              <a:off x="6781801" y="5137150"/>
              <a:ext cx="30163" cy="96838"/>
            </a:xfrm>
            <a:custGeom>
              <a:avLst/>
              <a:gdLst>
                <a:gd name="T0" fmla="*/ 11 w 21"/>
                <a:gd name="T1" fmla="*/ 68 h 69"/>
                <a:gd name="T2" fmla="*/ 11 w 21"/>
                <a:gd name="T3" fmla="*/ 68 h 69"/>
                <a:gd name="T4" fmla="*/ 11 w 21"/>
                <a:gd name="T5" fmla="*/ 67 h 69"/>
                <a:gd name="T6" fmla="*/ 13 w 21"/>
                <a:gd name="T7" fmla="*/ 66 h 69"/>
                <a:gd name="T8" fmla="*/ 13 w 21"/>
                <a:gd name="T9" fmla="*/ 64 h 69"/>
                <a:gd name="T10" fmla="*/ 13 w 21"/>
                <a:gd name="T11" fmla="*/ 63 h 69"/>
                <a:gd name="T12" fmla="*/ 14 w 21"/>
                <a:gd name="T13" fmla="*/ 62 h 69"/>
                <a:gd name="T14" fmla="*/ 14 w 21"/>
                <a:gd name="T15" fmla="*/ 61 h 69"/>
                <a:gd name="T16" fmla="*/ 14 w 21"/>
                <a:gd name="T17" fmla="*/ 60 h 69"/>
                <a:gd name="T18" fmla="*/ 16 w 21"/>
                <a:gd name="T19" fmla="*/ 59 h 69"/>
                <a:gd name="T20" fmla="*/ 16 w 21"/>
                <a:gd name="T21" fmla="*/ 57 h 69"/>
                <a:gd name="T22" fmla="*/ 17 w 21"/>
                <a:gd name="T23" fmla="*/ 55 h 69"/>
                <a:gd name="T24" fmla="*/ 17 w 21"/>
                <a:gd name="T25" fmla="*/ 53 h 69"/>
                <a:gd name="T26" fmla="*/ 17 w 21"/>
                <a:gd name="T27" fmla="*/ 51 h 69"/>
                <a:gd name="T28" fmla="*/ 18 w 21"/>
                <a:gd name="T29" fmla="*/ 49 h 69"/>
                <a:gd name="T30" fmla="*/ 19 w 21"/>
                <a:gd name="T31" fmla="*/ 47 h 69"/>
                <a:gd name="T32" fmla="*/ 19 w 21"/>
                <a:gd name="T33" fmla="*/ 45 h 69"/>
                <a:gd name="T34" fmla="*/ 19 w 21"/>
                <a:gd name="T35" fmla="*/ 43 h 69"/>
                <a:gd name="T36" fmla="*/ 19 w 21"/>
                <a:gd name="T37" fmla="*/ 41 h 69"/>
                <a:gd name="T38" fmla="*/ 19 w 21"/>
                <a:gd name="T39" fmla="*/ 39 h 69"/>
                <a:gd name="T40" fmla="*/ 20 w 21"/>
                <a:gd name="T41" fmla="*/ 37 h 69"/>
                <a:gd name="T42" fmla="*/ 20 w 21"/>
                <a:gd name="T43" fmla="*/ 35 h 69"/>
                <a:gd name="T44" fmla="*/ 19 w 21"/>
                <a:gd name="T45" fmla="*/ 31 h 69"/>
                <a:gd name="T46" fmla="*/ 19 w 21"/>
                <a:gd name="T47" fmla="*/ 30 h 69"/>
                <a:gd name="T48" fmla="*/ 19 w 21"/>
                <a:gd name="T49" fmla="*/ 28 h 69"/>
                <a:gd name="T50" fmla="*/ 19 w 21"/>
                <a:gd name="T51" fmla="*/ 27 h 69"/>
                <a:gd name="T52" fmla="*/ 19 w 21"/>
                <a:gd name="T53" fmla="*/ 23 h 69"/>
                <a:gd name="T54" fmla="*/ 19 w 21"/>
                <a:gd name="T55" fmla="*/ 22 h 69"/>
                <a:gd name="T56" fmla="*/ 18 w 21"/>
                <a:gd name="T57" fmla="*/ 19 h 69"/>
                <a:gd name="T58" fmla="*/ 17 w 21"/>
                <a:gd name="T59" fmla="*/ 17 h 69"/>
                <a:gd name="T60" fmla="*/ 17 w 21"/>
                <a:gd name="T61" fmla="*/ 16 h 69"/>
                <a:gd name="T62" fmla="*/ 16 w 21"/>
                <a:gd name="T63" fmla="*/ 14 h 69"/>
                <a:gd name="T64" fmla="*/ 16 w 21"/>
                <a:gd name="T65" fmla="*/ 12 h 69"/>
                <a:gd name="T66" fmla="*/ 16 w 21"/>
                <a:gd name="T67" fmla="*/ 11 h 69"/>
                <a:gd name="T68" fmla="*/ 14 w 21"/>
                <a:gd name="T69" fmla="*/ 9 h 69"/>
                <a:gd name="T70" fmla="*/ 14 w 21"/>
                <a:gd name="T71" fmla="*/ 9 h 69"/>
                <a:gd name="T72" fmla="*/ 13 w 21"/>
                <a:gd name="T73" fmla="*/ 7 h 69"/>
                <a:gd name="T74" fmla="*/ 13 w 21"/>
                <a:gd name="T75" fmla="*/ 5 h 69"/>
                <a:gd name="T76" fmla="*/ 13 w 21"/>
                <a:gd name="T77" fmla="*/ 5 h 69"/>
                <a:gd name="T78" fmla="*/ 11 w 21"/>
                <a:gd name="T79" fmla="*/ 3 h 69"/>
                <a:gd name="T80" fmla="*/ 11 w 21"/>
                <a:gd name="T81" fmla="*/ 2 h 69"/>
                <a:gd name="T82" fmla="*/ 10 w 21"/>
                <a:gd name="T83" fmla="*/ 2 h 69"/>
                <a:gd name="T84" fmla="*/ 9 w 21"/>
                <a:gd name="T85" fmla="*/ 2 h 69"/>
                <a:gd name="T86" fmla="*/ 7 w 21"/>
                <a:gd name="T87" fmla="*/ 0 h 69"/>
                <a:gd name="T88" fmla="*/ 7 w 21"/>
                <a:gd name="T89" fmla="*/ 0 h 69"/>
                <a:gd name="T90" fmla="*/ 6 w 21"/>
                <a:gd name="T91" fmla="*/ 0 h 69"/>
                <a:gd name="T92" fmla="*/ 5 w 21"/>
                <a:gd name="T93" fmla="*/ 0 h 69"/>
                <a:gd name="T94" fmla="*/ 5 w 21"/>
                <a:gd name="T95" fmla="*/ 0 h 69"/>
                <a:gd name="T96" fmla="*/ 3 w 21"/>
                <a:gd name="T97" fmla="*/ 0 h 69"/>
                <a:gd name="T98" fmla="*/ 2 w 21"/>
                <a:gd name="T99" fmla="*/ 0 h 69"/>
                <a:gd name="T100" fmla="*/ 2 w 21"/>
                <a:gd name="T101" fmla="*/ 2 h 69"/>
                <a:gd name="T102" fmla="*/ 0 w 21"/>
                <a:gd name="T103" fmla="*/ 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 h="69">
                  <a:moveTo>
                    <a:pt x="11" y="68"/>
                  </a:moveTo>
                  <a:lnTo>
                    <a:pt x="11" y="68"/>
                  </a:lnTo>
                  <a:lnTo>
                    <a:pt x="11" y="67"/>
                  </a:lnTo>
                  <a:lnTo>
                    <a:pt x="13" y="66"/>
                  </a:lnTo>
                  <a:lnTo>
                    <a:pt x="13" y="64"/>
                  </a:lnTo>
                  <a:lnTo>
                    <a:pt x="13" y="63"/>
                  </a:lnTo>
                  <a:lnTo>
                    <a:pt x="14" y="62"/>
                  </a:lnTo>
                  <a:lnTo>
                    <a:pt x="14" y="61"/>
                  </a:lnTo>
                  <a:lnTo>
                    <a:pt x="14" y="60"/>
                  </a:lnTo>
                  <a:lnTo>
                    <a:pt x="16" y="59"/>
                  </a:lnTo>
                  <a:lnTo>
                    <a:pt x="16" y="57"/>
                  </a:lnTo>
                  <a:lnTo>
                    <a:pt x="17" y="55"/>
                  </a:lnTo>
                  <a:lnTo>
                    <a:pt x="17" y="53"/>
                  </a:lnTo>
                  <a:lnTo>
                    <a:pt x="17" y="51"/>
                  </a:lnTo>
                  <a:lnTo>
                    <a:pt x="18" y="49"/>
                  </a:lnTo>
                  <a:lnTo>
                    <a:pt x="19" y="47"/>
                  </a:lnTo>
                  <a:lnTo>
                    <a:pt x="19" y="45"/>
                  </a:lnTo>
                  <a:lnTo>
                    <a:pt x="19" y="43"/>
                  </a:lnTo>
                  <a:lnTo>
                    <a:pt x="19" y="41"/>
                  </a:lnTo>
                  <a:lnTo>
                    <a:pt x="19" y="39"/>
                  </a:lnTo>
                  <a:lnTo>
                    <a:pt x="20" y="37"/>
                  </a:lnTo>
                  <a:lnTo>
                    <a:pt x="20" y="35"/>
                  </a:lnTo>
                  <a:lnTo>
                    <a:pt x="19" y="31"/>
                  </a:lnTo>
                  <a:lnTo>
                    <a:pt x="19" y="30"/>
                  </a:lnTo>
                  <a:lnTo>
                    <a:pt x="19" y="28"/>
                  </a:lnTo>
                  <a:lnTo>
                    <a:pt x="19" y="27"/>
                  </a:lnTo>
                  <a:lnTo>
                    <a:pt x="19" y="23"/>
                  </a:lnTo>
                  <a:lnTo>
                    <a:pt x="19" y="22"/>
                  </a:lnTo>
                  <a:lnTo>
                    <a:pt x="18" y="19"/>
                  </a:lnTo>
                  <a:lnTo>
                    <a:pt x="17" y="17"/>
                  </a:lnTo>
                  <a:lnTo>
                    <a:pt x="17" y="16"/>
                  </a:lnTo>
                  <a:lnTo>
                    <a:pt x="16" y="14"/>
                  </a:lnTo>
                  <a:lnTo>
                    <a:pt x="16" y="12"/>
                  </a:lnTo>
                  <a:lnTo>
                    <a:pt x="16" y="11"/>
                  </a:lnTo>
                  <a:lnTo>
                    <a:pt x="14" y="9"/>
                  </a:lnTo>
                  <a:lnTo>
                    <a:pt x="14" y="9"/>
                  </a:lnTo>
                  <a:lnTo>
                    <a:pt x="13" y="7"/>
                  </a:lnTo>
                  <a:lnTo>
                    <a:pt x="13" y="5"/>
                  </a:lnTo>
                  <a:lnTo>
                    <a:pt x="13" y="5"/>
                  </a:lnTo>
                  <a:lnTo>
                    <a:pt x="11" y="3"/>
                  </a:lnTo>
                  <a:lnTo>
                    <a:pt x="11" y="2"/>
                  </a:lnTo>
                  <a:lnTo>
                    <a:pt x="10" y="2"/>
                  </a:lnTo>
                  <a:lnTo>
                    <a:pt x="9" y="2"/>
                  </a:lnTo>
                  <a:lnTo>
                    <a:pt x="7" y="0"/>
                  </a:lnTo>
                  <a:lnTo>
                    <a:pt x="7" y="0"/>
                  </a:lnTo>
                  <a:lnTo>
                    <a:pt x="6" y="0"/>
                  </a:lnTo>
                  <a:lnTo>
                    <a:pt x="5" y="0"/>
                  </a:lnTo>
                  <a:lnTo>
                    <a:pt x="5" y="0"/>
                  </a:lnTo>
                  <a:lnTo>
                    <a:pt x="3" y="0"/>
                  </a:lnTo>
                  <a:lnTo>
                    <a:pt x="2" y="0"/>
                  </a:lnTo>
                  <a:lnTo>
                    <a:pt x="2" y="2"/>
                  </a:lnTo>
                  <a:lnTo>
                    <a:pt x="0" y="2"/>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7" name="Freeform 118"/>
            <p:cNvSpPr>
              <a:spLocks/>
            </p:cNvSpPr>
            <p:nvPr/>
          </p:nvSpPr>
          <p:spPr bwMode="auto">
            <a:xfrm>
              <a:off x="6802439" y="5140326"/>
              <a:ext cx="28575" cy="93663"/>
            </a:xfrm>
            <a:custGeom>
              <a:avLst/>
              <a:gdLst>
                <a:gd name="T0" fmla="*/ 9 w 20"/>
                <a:gd name="T1" fmla="*/ 66 h 67"/>
                <a:gd name="T2" fmla="*/ 9 w 20"/>
                <a:gd name="T3" fmla="*/ 66 h 67"/>
                <a:gd name="T4" fmla="*/ 10 w 20"/>
                <a:gd name="T5" fmla="*/ 66 h 67"/>
                <a:gd name="T6" fmla="*/ 11 w 20"/>
                <a:gd name="T7" fmla="*/ 65 h 67"/>
                <a:gd name="T8" fmla="*/ 12 w 20"/>
                <a:gd name="T9" fmla="*/ 63 h 67"/>
                <a:gd name="T10" fmla="*/ 13 w 20"/>
                <a:gd name="T11" fmla="*/ 62 h 67"/>
                <a:gd name="T12" fmla="*/ 13 w 20"/>
                <a:gd name="T13" fmla="*/ 61 h 67"/>
                <a:gd name="T14" fmla="*/ 15 w 20"/>
                <a:gd name="T15" fmla="*/ 59 h 67"/>
                <a:gd name="T16" fmla="*/ 15 w 20"/>
                <a:gd name="T17" fmla="*/ 58 h 67"/>
                <a:gd name="T18" fmla="*/ 15 w 20"/>
                <a:gd name="T19" fmla="*/ 58 h 67"/>
                <a:gd name="T20" fmla="*/ 16 w 20"/>
                <a:gd name="T21" fmla="*/ 55 h 67"/>
                <a:gd name="T22" fmla="*/ 17 w 20"/>
                <a:gd name="T23" fmla="*/ 53 h 67"/>
                <a:gd name="T24" fmla="*/ 17 w 20"/>
                <a:gd name="T25" fmla="*/ 52 h 67"/>
                <a:gd name="T26" fmla="*/ 17 w 20"/>
                <a:gd name="T27" fmla="*/ 49 h 67"/>
                <a:gd name="T28" fmla="*/ 17 w 20"/>
                <a:gd name="T29" fmla="*/ 48 h 67"/>
                <a:gd name="T30" fmla="*/ 17 w 20"/>
                <a:gd name="T31" fmla="*/ 46 h 67"/>
                <a:gd name="T32" fmla="*/ 19 w 20"/>
                <a:gd name="T33" fmla="*/ 43 h 67"/>
                <a:gd name="T34" fmla="*/ 19 w 20"/>
                <a:gd name="T35" fmla="*/ 42 h 67"/>
                <a:gd name="T36" fmla="*/ 19 w 20"/>
                <a:gd name="T37" fmla="*/ 39 h 67"/>
                <a:gd name="T38" fmla="*/ 19 w 20"/>
                <a:gd name="T39" fmla="*/ 38 h 67"/>
                <a:gd name="T40" fmla="*/ 19 w 20"/>
                <a:gd name="T41" fmla="*/ 35 h 67"/>
                <a:gd name="T42" fmla="*/ 19 w 20"/>
                <a:gd name="T43" fmla="*/ 33 h 67"/>
                <a:gd name="T44" fmla="*/ 19 w 20"/>
                <a:gd name="T45" fmla="*/ 31 h 67"/>
                <a:gd name="T46" fmla="*/ 19 w 20"/>
                <a:gd name="T47" fmla="*/ 29 h 67"/>
                <a:gd name="T48" fmla="*/ 19 w 20"/>
                <a:gd name="T49" fmla="*/ 27 h 67"/>
                <a:gd name="T50" fmla="*/ 19 w 20"/>
                <a:gd name="T51" fmla="*/ 25 h 67"/>
                <a:gd name="T52" fmla="*/ 17 w 20"/>
                <a:gd name="T53" fmla="*/ 23 h 67"/>
                <a:gd name="T54" fmla="*/ 17 w 20"/>
                <a:gd name="T55" fmla="*/ 20 h 67"/>
                <a:gd name="T56" fmla="*/ 17 w 20"/>
                <a:gd name="T57" fmla="*/ 19 h 67"/>
                <a:gd name="T58" fmla="*/ 17 w 20"/>
                <a:gd name="T59" fmla="*/ 17 h 67"/>
                <a:gd name="T60" fmla="*/ 17 w 20"/>
                <a:gd name="T61" fmla="*/ 15 h 67"/>
                <a:gd name="T62" fmla="*/ 17 w 20"/>
                <a:gd name="T63" fmla="*/ 13 h 67"/>
                <a:gd name="T64" fmla="*/ 16 w 20"/>
                <a:gd name="T65" fmla="*/ 11 h 67"/>
                <a:gd name="T66" fmla="*/ 15 w 20"/>
                <a:gd name="T67" fmla="*/ 10 h 67"/>
                <a:gd name="T68" fmla="*/ 15 w 20"/>
                <a:gd name="T69" fmla="*/ 8 h 67"/>
                <a:gd name="T70" fmla="*/ 13 w 20"/>
                <a:gd name="T71" fmla="*/ 7 h 67"/>
                <a:gd name="T72" fmla="*/ 13 w 20"/>
                <a:gd name="T73" fmla="*/ 7 h 67"/>
                <a:gd name="T74" fmla="*/ 12 w 20"/>
                <a:gd name="T75" fmla="*/ 5 h 67"/>
                <a:gd name="T76" fmla="*/ 12 w 20"/>
                <a:gd name="T77" fmla="*/ 3 h 67"/>
                <a:gd name="T78" fmla="*/ 11 w 20"/>
                <a:gd name="T79" fmla="*/ 2 h 67"/>
                <a:gd name="T80" fmla="*/ 10 w 20"/>
                <a:gd name="T81" fmla="*/ 1 h 67"/>
                <a:gd name="T82" fmla="*/ 9 w 20"/>
                <a:gd name="T83" fmla="*/ 1 h 67"/>
                <a:gd name="T84" fmla="*/ 7 w 20"/>
                <a:gd name="T85" fmla="*/ 0 h 67"/>
                <a:gd name="T86" fmla="*/ 7 w 20"/>
                <a:gd name="T87" fmla="*/ 0 h 67"/>
                <a:gd name="T88" fmla="*/ 7 w 20"/>
                <a:gd name="T89" fmla="*/ 0 h 67"/>
                <a:gd name="T90" fmla="*/ 5 w 20"/>
                <a:gd name="T91" fmla="*/ 0 h 67"/>
                <a:gd name="T92" fmla="*/ 5 w 20"/>
                <a:gd name="T93" fmla="*/ 0 h 67"/>
                <a:gd name="T94" fmla="*/ 3 w 20"/>
                <a:gd name="T95" fmla="*/ 0 h 67"/>
                <a:gd name="T96" fmla="*/ 2 w 20"/>
                <a:gd name="T97" fmla="*/ 0 h 67"/>
                <a:gd name="T98" fmla="*/ 2 w 20"/>
                <a:gd name="T99" fmla="*/ 0 h 67"/>
                <a:gd name="T100" fmla="*/ 0 w 20"/>
                <a:gd name="T101" fmla="*/ 0 h 67"/>
                <a:gd name="T102" fmla="*/ 0 w 20"/>
                <a:gd name="T103" fmla="*/ 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67">
                  <a:moveTo>
                    <a:pt x="9" y="66"/>
                  </a:moveTo>
                  <a:lnTo>
                    <a:pt x="9" y="66"/>
                  </a:lnTo>
                  <a:lnTo>
                    <a:pt x="10" y="66"/>
                  </a:lnTo>
                  <a:lnTo>
                    <a:pt x="11" y="65"/>
                  </a:lnTo>
                  <a:lnTo>
                    <a:pt x="12" y="63"/>
                  </a:lnTo>
                  <a:lnTo>
                    <a:pt x="13" y="62"/>
                  </a:lnTo>
                  <a:lnTo>
                    <a:pt x="13" y="61"/>
                  </a:lnTo>
                  <a:lnTo>
                    <a:pt x="15" y="59"/>
                  </a:lnTo>
                  <a:lnTo>
                    <a:pt x="15" y="58"/>
                  </a:lnTo>
                  <a:lnTo>
                    <a:pt x="15" y="58"/>
                  </a:lnTo>
                  <a:lnTo>
                    <a:pt x="16" y="55"/>
                  </a:lnTo>
                  <a:lnTo>
                    <a:pt x="17" y="53"/>
                  </a:lnTo>
                  <a:lnTo>
                    <a:pt x="17" y="52"/>
                  </a:lnTo>
                  <a:lnTo>
                    <a:pt x="17" y="49"/>
                  </a:lnTo>
                  <a:lnTo>
                    <a:pt x="17" y="48"/>
                  </a:lnTo>
                  <a:lnTo>
                    <a:pt x="17" y="46"/>
                  </a:lnTo>
                  <a:lnTo>
                    <a:pt x="19" y="43"/>
                  </a:lnTo>
                  <a:lnTo>
                    <a:pt x="19" y="42"/>
                  </a:lnTo>
                  <a:lnTo>
                    <a:pt x="19" y="39"/>
                  </a:lnTo>
                  <a:lnTo>
                    <a:pt x="19" y="38"/>
                  </a:lnTo>
                  <a:lnTo>
                    <a:pt x="19" y="35"/>
                  </a:lnTo>
                  <a:lnTo>
                    <a:pt x="19" y="33"/>
                  </a:lnTo>
                  <a:lnTo>
                    <a:pt x="19" y="31"/>
                  </a:lnTo>
                  <a:lnTo>
                    <a:pt x="19" y="29"/>
                  </a:lnTo>
                  <a:lnTo>
                    <a:pt x="19" y="27"/>
                  </a:lnTo>
                  <a:lnTo>
                    <a:pt x="19" y="25"/>
                  </a:lnTo>
                  <a:lnTo>
                    <a:pt x="17" y="23"/>
                  </a:lnTo>
                  <a:lnTo>
                    <a:pt x="17" y="20"/>
                  </a:lnTo>
                  <a:lnTo>
                    <a:pt x="17" y="19"/>
                  </a:lnTo>
                  <a:lnTo>
                    <a:pt x="17" y="17"/>
                  </a:lnTo>
                  <a:lnTo>
                    <a:pt x="17" y="15"/>
                  </a:lnTo>
                  <a:lnTo>
                    <a:pt x="17" y="13"/>
                  </a:lnTo>
                  <a:lnTo>
                    <a:pt x="16" y="11"/>
                  </a:lnTo>
                  <a:lnTo>
                    <a:pt x="15" y="10"/>
                  </a:lnTo>
                  <a:lnTo>
                    <a:pt x="15" y="8"/>
                  </a:lnTo>
                  <a:lnTo>
                    <a:pt x="13" y="7"/>
                  </a:lnTo>
                  <a:lnTo>
                    <a:pt x="13" y="7"/>
                  </a:lnTo>
                  <a:lnTo>
                    <a:pt x="12" y="5"/>
                  </a:lnTo>
                  <a:lnTo>
                    <a:pt x="12" y="3"/>
                  </a:lnTo>
                  <a:lnTo>
                    <a:pt x="11" y="2"/>
                  </a:lnTo>
                  <a:lnTo>
                    <a:pt x="10" y="1"/>
                  </a:lnTo>
                  <a:lnTo>
                    <a:pt x="9" y="1"/>
                  </a:lnTo>
                  <a:lnTo>
                    <a:pt x="7" y="0"/>
                  </a:lnTo>
                  <a:lnTo>
                    <a:pt x="7" y="0"/>
                  </a:lnTo>
                  <a:lnTo>
                    <a:pt x="7" y="0"/>
                  </a:lnTo>
                  <a:lnTo>
                    <a:pt x="5" y="0"/>
                  </a:lnTo>
                  <a:lnTo>
                    <a:pt x="5" y="0"/>
                  </a:lnTo>
                  <a:lnTo>
                    <a:pt x="3" y="0"/>
                  </a:lnTo>
                  <a:lnTo>
                    <a:pt x="2" y="0"/>
                  </a:lnTo>
                  <a:lnTo>
                    <a:pt x="2" y="0"/>
                  </a:lnTo>
                  <a:lnTo>
                    <a:pt x="0" y="0"/>
                  </a:lnTo>
                  <a:lnTo>
                    <a:pt x="0" y="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8" name="Freeform 119"/>
            <p:cNvSpPr>
              <a:spLocks/>
            </p:cNvSpPr>
            <p:nvPr/>
          </p:nvSpPr>
          <p:spPr bwMode="auto">
            <a:xfrm>
              <a:off x="6819901" y="5140326"/>
              <a:ext cx="30163" cy="93663"/>
            </a:xfrm>
            <a:custGeom>
              <a:avLst/>
              <a:gdLst>
                <a:gd name="T0" fmla="*/ 10 w 21"/>
                <a:gd name="T1" fmla="*/ 66 h 67"/>
                <a:gd name="T2" fmla="*/ 10 w 21"/>
                <a:gd name="T3" fmla="*/ 66 h 67"/>
                <a:gd name="T4" fmla="*/ 10 w 21"/>
                <a:gd name="T5" fmla="*/ 66 h 67"/>
                <a:gd name="T6" fmla="*/ 12 w 21"/>
                <a:gd name="T7" fmla="*/ 65 h 67"/>
                <a:gd name="T8" fmla="*/ 12 w 21"/>
                <a:gd name="T9" fmla="*/ 63 h 67"/>
                <a:gd name="T10" fmla="*/ 14 w 21"/>
                <a:gd name="T11" fmla="*/ 62 h 67"/>
                <a:gd name="T12" fmla="*/ 14 w 21"/>
                <a:gd name="T13" fmla="*/ 61 h 67"/>
                <a:gd name="T14" fmla="*/ 15 w 21"/>
                <a:gd name="T15" fmla="*/ 59 h 67"/>
                <a:gd name="T16" fmla="*/ 16 w 21"/>
                <a:gd name="T17" fmla="*/ 58 h 67"/>
                <a:gd name="T18" fmla="*/ 17 w 21"/>
                <a:gd name="T19" fmla="*/ 58 h 67"/>
                <a:gd name="T20" fmla="*/ 17 w 21"/>
                <a:gd name="T21" fmla="*/ 55 h 67"/>
                <a:gd name="T22" fmla="*/ 18 w 21"/>
                <a:gd name="T23" fmla="*/ 53 h 67"/>
                <a:gd name="T24" fmla="*/ 18 w 21"/>
                <a:gd name="T25" fmla="*/ 52 h 67"/>
                <a:gd name="T26" fmla="*/ 18 w 21"/>
                <a:gd name="T27" fmla="*/ 49 h 67"/>
                <a:gd name="T28" fmla="*/ 18 w 21"/>
                <a:gd name="T29" fmla="*/ 48 h 67"/>
                <a:gd name="T30" fmla="*/ 19 w 21"/>
                <a:gd name="T31" fmla="*/ 46 h 67"/>
                <a:gd name="T32" fmla="*/ 19 w 21"/>
                <a:gd name="T33" fmla="*/ 43 h 67"/>
                <a:gd name="T34" fmla="*/ 19 w 21"/>
                <a:gd name="T35" fmla="*/ 42 h 67"/>
                <a:gd name="T36" fmla="*/ 19 w 21"/>
                <a:gd name="T37" fmla="*/ 39 h 67"/>
                <a:gd name="T38" fmla="*/ 19 w 21"/>
                <a:gd name="T39" fmla="*/ 38 h 67"/>
                <a:gd name="T40" fmla="*/ 20 w 21"/>
                <a:gd name="T41" fmla="*/ 35 h 67"/>
                <a:gd name="T42" fmla="*/ 20 w 21"/>
                <a:gd name="T43" fmla="*/ 33 h 67"/>
                <a:gd name="T44" fmla="*/ 19 w 21"/>
                <a:gd name="T45" fmla="*/ 31 h 67"/>
                <a:gd name="T46" fmla="*/ 19 w 21"/>
                <a:gd name="T47" fmla="*/ 29 h 67"/>
                <a:gd name="T48" fmla="*/ 19 w 21"/>
                <a:gd name="T49" fmla="*/ 27 h 67"/>
                <a:gd name="T50" fmla="*/ 19 w 21"/>
                <a:gd name="T51" fmla="*/ 25 h 67"/>
                <a:gd name="T52" fmla="*/ 19 w 21"/>
                <a:gd name="T53" fmla="*/ 23 h 67"/>
                <a:gd name="T54" fmla="*/ 18 w 21"/>
                <a:gd name="T55" fmla="*/ 20 h 67"/>
                <a:gd name="T56" fmla="*/ 18 w 21"/>
                <a:gd name="T57" fmla="*/ 19 h 67"/>
                <a:gd name="T58" fmla="*/ 18 w 21"/>
                <a:gd name="T59" fmla="*/ 17 h 67"/>
                <a:gd name="T60" fmla="*/ 18 w 21"/>
                <a:gd name="T61" fmla="*/ 15 h 67"/>
                <a:gd name="T62" fmla="*/ 17 w 21"/>
                <a:gd name="T63" fmla="*/ 13 h 67"/>
                <a:gd name="T64" fmla="*/ 17 w 21"/>
                <a:gd name="T65" fmla="*/ 11 h 67"/>
                <a:gd name="T66" fmla="*/ 16 w 21"/>
                <a:gd name="T67" fmla="*/ 10 h 67"/>
                <a:gd name="T68" fmla="*/ 15 w 21"/>
                <a:gd name="T69" fmla="*/ 8 h 67"/>
                <a:gd name="T70" fmla="*/ 14 w 21"/>
                <a:gd name="T71" fmla="*/ 7 h 67"/>
                <a:gd name="T72" fmla="*/ 14 w 21"/>
                <a:gd name="T73" fmla="*/ 7 h 67"/>
                <a:gd name="T74" fmla="*/ 14 w 21"/>
                <a:gd name="T75" fmla="*/ 5 h 67"/>
                <a:gd name="T76" fmla="*/ 12 w 21"/>
                <a:gd name="T77" fmla="*/ 3 h 67"/>
                <a:gd name="T78" fmla="*/ 12 w 21"/>
                <a:gd name="T79" fmla="*/ 2 h 67"/>
                <a:gd name="T80" fmla="*/ 10 w 21"/>
                <a:gd name="T81" fmla="*/ 1 h 67"/>
                <a:gd name="T82" fmla="*/ 10 w 21"/>
                <a:gd name="T83" fmla="*/ 1 h 67"/>
                <a:gd name="T84" fmla="*/ 9 w 21"/>
                <a:gd name="T85" fmla="*/ 0 h 67"/>
                <a:gd name="T86" fmla="*/ 8 w 21"/>
                <a:gd name="T87" fmla="*/ 0 h 67"/>
                <a:gd name="T88" fmla="*/ 6 w 21"/>
                <a:gd name="T89" fmla="*/ 0 h 67"/>
                <a:gd name="T90" fmla="*/ 6 w 21"/>
                <a:gd name="T91" fmla="*/ 0 h 67"/>
                <a:gd name="T92" fmla="*/ 4 w 21"/>
                <a:gd name="T93" fmla="*/ 0 h 67"/>
                <a:gd name="T94" fmla="*/ 4 w 21"/>
                <a:gd name="T95" fmla="*/ 0 h 67"/>
                <a:gd name="T96" fmla="*/ 4 w 21"/>
                <a:gd name="T97" fmla="*/ 0 h 67"/>
                <a:gd name="T98" fmla="*/ 2 w 21"/>
                <a:gd name="T99" fmla="*/ 0 h 67"/>
                <a:gd name="T100" fmla="*/ 2 w 21"/>
                <a:gd name="T101" fmla="*/ 0 h 67"/>
                <a:gd name="T102" fmla="*/ 0 w 21"/>
                <a:gd name="T103" fmla="*/ 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 h="67">
                  <a:moveTo>
                    <a:pt x="10" y="66"/>
                  </a:moveTo>
                  <a:lnTo>
                    <a:pt x="10" y="66"/>
                  </a:lnTo>
                  <a:lnTo>
                    <a:pt x="10" y="66"/>
                  </a:lnTo>
                  <a:lnTo>
                    <a:pt x="12" y="65"/>
                  </a:lnTo>
                  <a:lnTo>
                    <a:pt x="12" y="63"/>
                  </a:lnTo>
                  <a:lnTo>
                    <a:pt x="14" y="62"/>
                  </a:lnTo>
                  <a:lnTo>
                    <a:pt x="14" y="61"/>
                  </a:lnTo>
                  <a:lnTo>
                    <a:pt x="15" y="59"/>
                  </a:lnTo>
                  <a:lnTo>
                    <a:pt x="16" y="58"/>
                  </a:lnTo>
                  <a:lnTo>
                    <a:pt x="17" y="58"/>
                  </a:lnTo>
                  <a:lnTo>
                    <a:pt x="17" y="55"/>
                  </a:lnTo>
                  <a:lnTo>
                    <a:pt x="18" y="53"/>
                  </a:lnTo>
                  <a:lnTo>
                    <a:pt x="18" y="52"/>
                  </a:lnTo>
                  <a:lnTo>
                    <a:pt x="18" y="49"/>
                  </a:lnTo>
                  <a:lnTo>
                    <a:pt x="18" y="48"/>
                  </a:lnTo>
                  <a:lnTo>
                    <a:pt x="19" y="46"/>
                  </a:lnTo>
                  <a:lnTo>
                    <a:pt x="19" y="43"/>
                  </a:lnTo>
                  <a:lnTo>
                    <a:pt x="19" y="42"/>
                  </a:lnTo>
                  <a:lnTo>
                    <a:pt x="19" y="39"/>
                  </a:lnTo>
                  <a:lnTo>
                    <a:pt x="19" y="38"/>
                  </a:lnTo>
                  <a:lnTo>
                    <a:pt x="20" y="35"/>
                  </a:lnTo>
                  <a:lnTo>
                    <a:pt x="20" y="33"/>
                  </a:lnTo>
                  <a:lnTo>
                    <a:pt x="19" y="31"/>
                  </a:lnTo>
                  <a:lnTo>
                    <a:pt x="19" y="29"/>
                  </a:lnTo>
                  <a:lnTo>
                    <a:pt x="19" y="27"/>
                  </a:lnTo>
                  <a:lnTo>
                    <a:pt x="19" y="25"/>
                  </a:lnTo>
                  <a:lnTo>
                    <a:pt x="19" y="23"/>
                  </a:lnTo>
                  <a:lnTo>
                    <a:pt x="18" y="20"/>
                  </a:lnTo>
                  <a:lnTo>
                    <a:pt x="18" y="19"/>
                  </a:lnTo>
                  <a:lnTo>
                    <a:pt x="18" y="17"/>
                  </a:lnTo>
                  <a:lnTo>
                    <a:pt x="18" y="15"/>
                  </a:lnTo>
                  <a:lnTo>
                    <a:pt x="17" y="13"/>
                  </a:lnTo>
                  <a:lnTo>
                    <a:pt x="17" y="11"/>
                  </a:lnTo>
                  <a:lnTo>
                    <a:pt x="16" y="10"/>
                  </a:lnTo>
                  <a:lnTo>
                    <a:pt x="15" y="8"/>
                  </a:lnTo>
                  <a:lnTo>
                    <a:pt x="14" y="7"/>
                  </a:lnTo>
                  <a:lnTo>
                    <a:pt x="14" y="7"/>
                  </a:lnTo>
                  <a:lnTo>
                    <a:pt x="14" y="5"/>
                  </a:lnTo>
                  <a:lnTo>
                    <a:pt x="12" y="3"/>
                  </a:lnTo>
                  <a:lnTo>
                    <a:pt x="12" y="2"/>
                  </a:lnTo>
                  <a:lnTo>
                    <a:pt x="10" y="1"/>
                  </a:lnTo>
                  <a:lnTo>
                    <a:pt x="10" y="1"/>
                  </a:lnTo>
                  <a:lnTo>
                    <a:pt x="9" y="0"/>
                  </a:lnTo>
                  <a:lnTo>
                    <a:pt x="8" y="0"/>
                  </a:lnTo>
                  <a:lnTo>
                    <a:pt x="6" y="0"/>
                  </a:lnTo>
                  <a:lnTo>
                    <a:pt x="6" y="0"/>
                  </a:lnTo>
                  <a:lnTo>
                    <a:pt x="4" y="0"/>
                  </a:lnTo>
                  <a:lnTo>
                    <a:pt x="4" y="0"/>
                  </a:lnTo>
                  <a:lnTo>
                    <a:pt x="4" y="0"/>
                  </a:lnTo>
                  <a:lnTo>
                    <a:pt x="2" y="0"/>
                  </a:lnTo>
                  <a:lnTo>
                    <a:pt x="2" y="0"/>
                  </a:lnTo>
                  <a:lnTo>
                    <a:pt x="0" y="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9" name="Freeform 120"/>
            <p:cNvSpPr>
              <a:spLocks/>
            </p:cNvSpPr>
            <p:nvPr/>
          </p:nvSpPr>
          <p:spPr bwMode="auto">
            <a:xfrm>
              <a:off x="6840538" y="5140325"/>
              <a:ext cx="30162" cy="96838"/>
            </a:xfrm>
            <a:custGeom>
              <a:avLst/>
              <a:gdLst>
                <a:gd name="T0" fmla="*/ 10 w 21"/>
                <a:gd name="T1" fmla="*/ 68 h 69"/>
                <a:gd name="T2" fmla="*/ 10 w 21"/>
                <a:gd name="T3" fmla="*/ 68 h 69"/>
                <a:gd name="T4" fmla="*/ 10 w 21"/>
                <a:gd name="T5" fmla="*/ 67 h 69"/>
                <a:gd name="T6" fmla="*/ 11 w 21"/>
                <a:gd name="T7" fmla="*/ 66 h 69"/>
                <a:gd name="T8" fmla="*/ 12 w 21"/>
                <a:gd name="T9" fmla="*/ 65 h 69"/>
                <a:gd name="T10" fmla="*/ 13 w 21"/>
                <a:gd name="T11" fmla="*/ 64 h 69"/>
                <a:gd name="T12" fmla="*/ 14 w 21"/>
                <a:gd name="T13" fmla="*/ 62 h 69"/>
                <a:gd name="T14" fmla="*/ 14 w 21"/>
                <a:gd name="T15" fmla="*/ 61 h 69"/>
                <a:gd name="T16" fmla="*/ 15 w 21"/>
                <a:gd name="T17" fmla="*/ 59 h 69"/>
                <a:gd name="T18" fmla="*/ 15 w 21"/>
                <a:gd name="T19" fmla="*/ 58 h 69"/>
                <a:gd name="T20" fmla="*/ 16 w 21"/>
                <a:gd name="T21" fmla="*/ 57 h 69"/>
                <a:gd name="T22" fmla="*/ 17 w 21"/>
                <a:gd name="T23" fmla="*/ 55 h 69"/>
                <a:gd name="T24" fmla="*/ 17 w 21"/>
                <a:gd name="T25" fmla="*/ 53 h 69"/>
                <a:gd name="T26" fmla="*/ 18 w 21"/>
                <a:gd name="T27" fmla="*/ 51 h 69"/>
                <a:gd name="T28" fmla="*/ 18 w 21"/>
                <a:gd name="T29" fmla="*/ 49 h 69"/>
                <a:gd name="T30" fmla="*/ 18 w 21"/>
                <a:gd name="T31" fmla="*/ 47 h 69"/>
                <a:gd name="T32" fmla="*/ 19 w 21"/>
                <a:gd name="T33" fmla="*/ 45 h 69"/>
                <a:gd name="T34" fmla="*/ 19 w 21"/>
                <a:gd name="T35" fmla="*/ 43 h 69"/>
                <a:gd name="T36" fmla="*/ 20 w 21"/>
                <a:gd name="T37" fmla="*/ 41 h 69"/>
                <a:gd name="T38" fmla="*/ 20 w 21"/>
                <a:gd name="T39" fmla="*/ 39 h 69"/>
                <a:gd name="T40" fmla="*/ 20 w 21"/>
                <a:gd name="T41" fmla="*/ 37 h 69"/>
                <a:gd name="T42" fmla="*/ 20 w 21"/>
                <a:gd name="T43" fmla="*/ 35 h 69"/>
                <a:gd name="T44" fmla="*/ 20 w 21"/>
                <a:gd name="T45" fmla="*/ 33 h 69"/>
                <a:gd name="T46" fmla="*/ 20 w 21"/>
                <a:gd name="T47" fmla="*/ 29 h 69"/>
                <a:gd name="T48" fmla="*/ 20 w 21"/>
                <a:gd name="T49" fmla="*/ 28 h 69"/>
                <a:gd name="T50" fmla="*/ 19 w 21"/>
                <a:gd name="T51" fmla="*/ 26 h 69"/>
                <a:gd name="T52" fmla="*/ 18 w 21"/>
                <a:gd name="T53" fmla="*/ 25 h 69"/>
                <a:gd name="T54" fmla="*/ 18 w 21"/>
                <a:gd name="T55" fmla="*/ 21 h 69"/>
                <a:gd name="T56" fmla="*/ 18 w 21"/>
                <a:gd name="T57" fmla="*/ 20 h 69"/>
                <a:gd name="T58" fmla="*/ 18 w 21"/>
                <a:gd name="T59" fmla="*/ 17 h 69"/>
                <a:gd name="T60" fmla="*/ 17 w 21"/>
                <a:gd name="T61" fmla="*/ 15 h 69"/>
                <a:gd name="T62" fmla="*/ 17 w 21"/>
                <a:gd name="T63" fmla="*/ 15 h 69"/>
                <a:gd name="T64" fmla="*/ 15 w 21"/>
                <a:gd name="T65" fmla="*/ 13 h 69"/>
                <a:gd name="T66" fmla="*/ 15 w 21"/>
                <a:gd name="T67" fmla="*/ 11 h 69"/>
                <a:gd name="T68" fmla="*/ 14 w 21"/>
                <a:gd name="T69" fmla="*/ 10 h 69"/>
                <a:gd name="T70" fmla="*/ 14 w 21"/>
                <a:gd name="T71" fmla="*/ 8 h 69"/>
                <a:gd name="T72" fmla="*/ 14 w 21"/>
                <a:gd name="T73" fmla="*/ 7 h 69"/>
                <a:gd name="T74" fmla="*/ 13 w 21"/>
                <a:gd name="T75" fmla="*/ 7 h 69"/>
                <a:gd name="T76" fmla="*/ 12 w 21"/>
                <a:gd name="T77" fmla="*/ 5 h 69"/>
                <a:gd name="T78" fmla="*/ 11 w 21"/>
                <a:gd name="T79" fmla="*/ 4 h 69"/>
                <a:gd name="T80" fmla="*/ 10 w 21"/>
                <a:gd name="T81" fmla="*/ 3 h 69"/>
                <a:gd name="T82" fmla="*/ 10 w 21"/>
                <a:gd name="T83" fmla="*/ 2 h 69"/>
                <a:gd name="T84" fmla="*/ 8 w 21"/>
                <a:gd name="T85" fmla="*/ 1 h 69"/>
                <a:gd name="T86" fmla="*/ 8 w 21"/>
                <a:gd name="T87" fmla="*/ 1 h 69"/>
                <a:gd name="T88" fmla="*/ 6 w 21"/>
                <a:gd name="T89" fmla="*/ 1 h 69"/>
                <a:gd name="T90" fmla="*/ 5 w 21"/>
                <a:gd name="T91" fmla="*/ 0 h 69"/>
                <a:gd name="T92" fmla="*/ 4 w 21"/>
                <a:gd name="T93" fmla="*/ 0 h 69"/>
                <a:gd name="T94" fmla="*/ 4 w 21"/>
                <a:gd name="T95" fmla="*/ 0 h 69"/>
                <a:gd name="T96" fmla="*/ 3 w 21"/>
                <a:gd name="T97" fmla="*/ 1 h 69"/>
                <a:gd name="T98" fmla="*/ 3 w 21"/>
                <a:gd name="T99" fmla="*/ 1 h 69"/>
                <a:gd name="T100" fmla="*/ 1 w 21"/>
                <a:gd name="T101" fmla="*/ 2 h 69"/>
                <a:gd name="T102" fmla="*/ 0 w 21"/>
                <a:gd name="T103" fmla="*/ 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 h="69">
                  <a:moveTo>
                    <a:pt x="10" y="68"/>
                  </a:moveTo>
                  <a:lnTo>
                    <a:pt x="10" y="68"/>
                  </a:lnTo>
                  <a:lnTo>
                    <a:pt x="10" y="67"/>
                  </a:lnTo>
                  <a:lnTo>
                    <a:pt x="11" y="66"/>
                  </a:lnTo>
                  <a:lnTo>
                    <a:pt x="12" y="65"/>
                  </a:lnTo>
                  <a:lnTo>
                    <a:pt x="13" y="64"/>
                  </a:lnTo>
                  <a:lnTo>
                    <a:pt x="14" y="62"/>
                  </a:lnTo>
                  <a:lnTo>
                    <a:pt x="14" y="61"/>
                  </a:lnTo>
                  <a:lnTo>
                    <a:pt x="15" y="59"/>
                  </a:lnTo>
                  <a:lnTo>
                    <a:pt x="15" y="58"/>
                  </a:lnTo>
                  <a:lnTo>
                    <a:pt x="16" y="57"/>
                  </a:lnTo>
                  <a:lnTo>
                    <a:pt x="17" y="55"/>
                  </a:lnTo>
                  <a:lnTo>
                    <a:pt x="17" y="53"/>
                  </a:lnTo>
                  <a:lnTo>
                    <a:pt x="18" y="51"/>
                  </a:lnTo>
                  <a:lnTo>
                    <a:pt x="18" y="49"/>
                  </a:lnTo>
                  <a:lnTo>
                    <a:pt x="18" y="47"/>
                  </a:lnTo>
                  <a:lnTo>
                    <a:pt x="19" y="45"/>
                  </a:lnTo>
                  <a:lnTo>
                    <a:pt x="19" y="43"/>
                  </a:lnTo>
                  <a:lnTo>
                    <a:pt x="20" y="41"/>
                  </a:lnTo>
                  <a:lnTo>
                    <a:pt x="20" y="39"/>
                  </a:lnTo>
                  <a:lnTo>
                    <a:pt x="20" y="37"/>
                  </a:lnTo>
                  <a:lnTo>
                    <a:pt x="20" y="35"/>
                  </a:lnTo>
                  <a:lnTo>
                    <a:pt x="20" y="33"/>
                  </a:lnTo>
                  <a:lnTo>
                    <a:pt x="20" y="29"/>
                  </a:lnTo>
                  <a:lnTo>
                    <a:pt x="20" y="28"/>
                  </a:lnTo>
                  <a:lnTo>
                    <a:pt x="19" y="26"/>
                  </a:lnTo>
                  <a:lnTo>
                    <a:pt x="18" y="25"/>
                  </a:lnTo>
                  <a:lnTo>
                    <a:pt x="18" y="21"/>
                  </a:lnTo>
                  <a:lnTo>
                    <a:pt x="18" y="20"/>
                  </a:lnTo>
                  <a:lnTo>
                    <a:pt x="18" y="17"/>
                  </a:lnTo>
                  <a:lnTo>
                    <a:pt x="17" y="15"/>
                  </a:lnTo>
                  <a:lnTo>
                    <a:pt x="17" y="15"/>
                  </a:lnTo>
                  <a:lnTo>
                    <a:pt x="15" y="13"/>
                  </a:lnTo>
                  <a:lnTo>
                    <a:pt x="15" y="11"/>
                  </a:lnTo>
                  <a:lnTo>
                    <a:pt x="14" y="10"/>
                  </a:lnTo>
                  <a:lnTo>
                    <a:pt x="14" y="8"/>
                  </a:lnTo>
                  <a:lnTo>
                    <a:pt x="14" y="7"/>
                  </a:lnTo>
                  <a:lnTo>
                    <a:pt x="13" y="7"/>
                  </a:lnTo>
                  <a:lnTo>
                    <a:pt x="12" y="5"/>
                  </a:lnTo>
                  <a:lnTo>
                    <a:pt x="11" y="4"/>
                  </a:lnTo>
                  <a:lnTo>
                    <a:pt x="10" y="3"/>
                  </a:lnTo>
                  <a:lnTo>
                    <a:pt x="10" y="2"/>
                  </a:lnTo>
                  <a:lnTo>
                    <a:pt x="8" y="1"/>
                  </a:lnTo>
                  <a:lnTo>
                    <a:pt x="8" y="1"/>
                  </a:lnTo>
                  <a:lnTo>
                    <a:pt x="6" y="1"/>
                  </a:lnTo>
                  <a:lnTo>
                    <a:pt x="5" y="0"/>
                  </a:lnTo>
                  <a:lnTo>
                    <a:pt x="4" y="0"/>
                  </a:lnTo>
                  <a:lnTo>
                    <a:pt x="4" y="0"/>
                  </a:lnTo>
                  <a:lnTo>
                    <a:pt x="3" y="1"/>
                  </a:lnTo>
                  <a:lnTo>
                    <a:pt x="3" y="1"/>
                  </a:lnTo>
                  <a:lnTo>
                    <a:pt x="1" y="2"/>
                  </a:lnTo>
                  <a:lnTo>
                    <a:pt x="0" y="3"/>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0" name="Freeform 121"/>
            <p:cNvSpPr>
              <a:spLocks/>
            </p:cNvSpPr>
            <p:nvPr/>
          </p:nvSpPr>
          <p:spPr bwMode="auto">
            <a:xfrm>
              <a:off x="6862764" y="5140325"/>
              <a:ext cx="28575" cy="96838"/>
            </a:xfrm>
            <a:custGeom>
              <a:avLst/>
              <a:gdLst>
                <a:gd name="T0" fmla="*/ 9 w 20"/>
                <a:gd name="T1" fmla="*/ 68 h 69"/>
                <a:gd name="T2" fmla="*/ 9 w 20"/>
                <a:gd name="T3" fmla="*/ 68 h 69"/>
                <a:gd name="T4" fmla="*/ 10 w 20"/>
                <a:gd name="T5" fmla="*/ 67 h 69"/>
                <a:gd name="T6" fmla="*/ 11 w 20"/>
                <a:gd name="T7" fmla="*/ 66 h 69"/>
                <a:gd name="T8" fmla="*/ 12 w 20"/>
                <a:gd name="T9" fmla="*/ 65 h 69"/>
                <a:gd name="T10" fmla="*/ 13 w 20"/>
                <a:gd name="T11" fmla="*/ 64 h 69"/>
                <a:gd name="T12" fmla="*/ 14 w 20"/>
                <a:gd name="T13" fmla="*/ 62 h 69"/>
                <a:gd name="T14" fmla="*/ 15 w 20"/>
                <a:gd name="T15" fmla="*/ 61 h 69"/>
                <a:gd name="T16" fmla="*/ 15 w 20"/>
                <a:gd name="T17" fmla="*/ 59 h 69"/>
                <a:gd name="T18" fmla="*/ 16 w 20"/>
                <a:gd name="T19" fmla="*/ 58 h 69"/>
                <a:gd name="T20" fmla="*/ 16 w 20"/>
                <a:gd name="T21" fmla="*/ 57 h 69"/>
                <a:gd name="T22" fmla="*/ 17 w 20"/>
                <a:gd name="T23" fmla="*/ 55 h 69"/>
                <a:gd name="T24" fmla="*/ 18 w 20"/>
                <a:gd name="T25" fmla="*/ 53 h 69"/>
                <a:gd name="T26" fmla="*/ 18 w 20"/>
                <a:gd name="T27" fmla="*/ 51 h 69"/>
                <a:gd name="T28" fmla="*/ 18 w 20"/>
                <a:gd name="T29" fmla="*/ 49 h 69"/>
                <a:gd name="T30" fmla="*/ 18 w 20"/>
                <a:gd name="T31" fmla="*/ 47 h 69"/>
                <a:gd name="T32" fmla="*/ 19 w 20"/>
                <a:gd name="T33" fmla="*/ 45 h 69"/>
                <a:gd name="T34" fmla="*/ 19 w 20"/>
                <a:gd name="T35" fmla="*/ 43 h 69"/>
                <a:gd name="T36" fmla="*/ 19 w 20"/>
                <a:gd name="T37" fmla="*/ 41 h 69"/>
                <a:gd name="T38" fmla="*/ 19 w 20"/>
                <a:gd name="T39" fmla="*/ 39 h 69"/>
                <a:gd name="T40" fmla="*/ 19 w 20"/>
                <a:gd name="T41" fmla="*/ 37 h 69"/>
                <a:gd name="T42" fmla="*/ 19 w 20"/>
                <a:gd name="T43" fmla="*/ 35 h 69"/>
                <a:gd name="T44" fmla="*/ 19 w 20"/>
                <a:gd name="T45" fmla="*/ 33 h 69"/>
                <a:gd name="T46" fmla="*/ 19 w 20"/>
                <a:gd name="T47" fmla="*/ 29 h 69"/>
                <a:gd name="T48" fmla="*/ 19 w 20"/>
                <a:gd name="T49" fmla="*/ 28 h 69"/>
                <a:gd name="T50" fmla="*/ 19 w 20"/>
                <a:gd name="T51" fmla="*/ 26 h 69"/>
                <a:gd name="T52" fmla="*/ 18 w 20"/>
                <a:gd name="T53" fmla="*/ 25 h 69"/>
                <a:gd name="T54" fmla="*/ 18 w 20"/>
                <a:gd name="T55" fmla="*/ 21 h 69"/>
                <a:gd name="T56" fmla="*/ 18 w 20"/>
                <a:gd name="T57" fmla="*/ 20 h 69"/>
                <a:gd name="T58" fmla="*/ 18 w 20"/>
                <a:gd name="T59" fmla="*/ 17 h 69"/>
                <a:gd name="T60" fmla="*/ 17 w 20"/>
                <a:gd name="T61" fmla="*/ 15 h 69"/>
                <a:gd name="T62" fmla="*/ 17 w 20"/>
                <a:gd name="T63" fmla="*/ 15 h 69"/>
                <a:gd name="T64" fmla="*/ 16 w 20"/>
                <a:gd name="T65" fmla="*/ 13 h 69"/>
                <a:gd name="T66" fmla="*/ 15 w 20"/>
                <a:gd name="T67" fmla="*/ 11 h 69"/>
                <a:gd name="T68" fmla="*/ 15 w 20"/>
                <a:gd name="T69" fmla="*/ 10 h 69"/>
                <a:gd name="T70" fmla="*/ 14 w 20"/>
                <a:gd name="T71" fmla="*/ 8 h 69"/>
                <a:gd name="T72" fmla="*/ 13 w 20"/>
                <a:gd name="T73" fmla="*/ 7 h 69"/>
                <a:gd name="T74" fmla="*/ 12 w 20"/>
                <a:gd name="T75" fmla="*/ 7 h 69"/>
                <a:gd name="T76" fmla="*/ 11 w 20"/>
                <a:gd name="T77" fmla="*/ 5 h 69"/>
                <a:gd name="T78" fmla="*/ 10 w 20"/>
                <a:gd name="T79" fmla="*/ 4 h 69"/>
                <a:gd name="T80" fmla="*/ 9 w 20"/>
                <a:gd name="T81" fmla="*/ 3 h 69"/>
                <a:gd name="T82" fmla="*/ 9 w 20"/>
                <a:gd name="T83" fmla="*/ 2 h 69"/>
                <a:gd name="T84" fmla="*/ 8 w 20"/>
                <a:gd name="T85" fmla="*/ 1 h 69"/>
                <a:gd name="T86" fmla="*/ 7 w 20"/>
                <a:gd name="T87" fmla="*/ 1 h 69"/>
                <a:gd name="T88" fmla="*/ 7 w 20"/>
                <a:gd name="T89" fmla="*/ 1 h 69"/>
                <a:gd name="T90" fmla="*/ 6 w 20"/>
                <a:gd name="T91" fmla="*/ 0 h 69"/>
                <a:gd name="T92" fmla="*/ 5 w 20"/>
                <a:gd name="T93" fmla="*/ 0 h 69"/>
                <a:gd name="T94" fmla="*/ 4 w 20"/>
                <a:gd name="T95" fmla="*/ 0 h 69"/>
                <a:gd name="T96" fmla="*/ 3 w 20"/>
                <a:gd name="T97" fmla="*/ 1 h 69"/>
                <a:gd name="T98" fmla="*/ 2 w 20"/>
                <a:gd name="T99" fmla="*/ 1 h 69"/>
                <a:gd name="T100" fmla="*/ 1 w 20"/>
                <a:gd name="T101" fmla="*/ 2 h 69"/>
                <a:gd name="T102" fmla="*/ 0 w 20"/>
                <a:gd name="T103" fmla="*/ 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69">
                  <a:moveTo>
                    <a:pt x="9" y="68"/>
                  </a:moveTo>
                  <a:lnTo>
                    <a:pt x="9" y="68"/>
                  </a:lnTo>
                  <a:lnTo>
                    <a:pt x="10" y="67"/>
                  </a:lnTo>
                  <a:lnTo>
                    <a:pt x="11" y="66"/>
                  </a:lnTo>
                  <a:lnTo>
                    <a:pt x="12" y="65"/>
                  </a:lnTo>
                  <a:lnTo>
                    <a:pt x="13" y="64"/>
                  </a:lnTo>
                  <a:lnTo>
                    <a:pt x="14" y="62"/>
                  </a:lnTo>
                  <a:lnTo>
                    <a:pt x="15" y="61"/>
                  </a:lnTo>
                  <a:lnTo>
                    <a:pt x="15" y="59"/>
                  </a:lnTo>
                  <a:lnTo>
                    <a:pt x="16" y="58"/>
                  </a:lnTo>
                  <a:lnTo>
                    <a:pt x="16" y="57"/>
                  </a:lnTo>
                  <a:lnTo>
                    <a:pt x="17" y="55"/>
                  </a:lnTo>
                  <a:lnTo>
                    <a:pt x="18" y="53"/>
                  </a:lnTo>
                  <a:lnTo>
                    <a:pt x="18" y="51"/>
                  </a:lnTo>
                  <a:lnTo>
                    <a:pt x="18" y="49"/>
                  </a:lnTo>
                  <a:lnTo>
                    <a:pt x="18" y="47"/>
                  </a:lnTo>
                  <a:lnTo>
                    <a:pt x="19" y="45"/>
                  </a:lnTo>
                  <a:lnTo>
                    <a:pt x="19" y="43"/>
                  </a:lnTo>
                  <a:lnTo>
                    <a:pt x="19" y="41"/>
                  </a:lnTo>
                  <a:lnTo>
                    <a:pt x="19" y="39"/>
                  </a:lnTo>
                  <a:lnTo>
                    <a:pt x="19" y="37"/>
                  </a:lnTo>
                  <a:lnTo>
                    <a:pt x="19" y="35"/>
                  </a:lnTo>
                  <a:lnTo>
                    <a:pt x="19" y="33"/>
                  </a:lnTo>
                  <a:lnTo>
                    <a:pt x="19" y="29"/>
                  </a:lnTo>
                  <a:lnTo>
                    <a:pt x="19" y="28"/>
                  </a:lnTo>
                  <a:lnTo>
                    <a:pt x="19" y="26"/>
                  </a:lnTo>
                  <a:lnTo>
                    <a:pt x="18" y="25"/>
                  </a:lnTo>
                  <a:lnTo>
                    <a:pt x="18" y="21"/>
                  </a:lnTo>
                  <a:lnTo>
                    <a:pt x="18" y="20"/>
                  </a:lnTo>
                  <a:lnTo>
                    <a:pt x="18" y="17"/>
                  </a:lnTo>
                  <a:lnTo>
                    <a:pt x="17" y="15"/>
                  </a:lnTo>
                  <a:lnTo>
                    <a:pt x="17" y="15"/>
                  </a:lnTo>
                  <a:lnTo>
                    <a:pt x="16" y="13"/>
                  </a:lnTo>
                  <a:lnTo>
                    <a:pt x="15" y="11"/>
                  </a:lnTo>
                  <a:lnTo>
                    <a:pt x="15" y="10"/>
                  </a:lnTo>
                  <a:lnTo>
                    <a:pt x="14" y="8"/>
                  </a:lnTo>
                  <a:lnTo>
                    <a:pt x="13" y="7"/>
                  </a:lnTo>
                  <a:lnTo>
                    <a:pt x="12" y="7"/>
                  </a:lnTo>
                  <a:lnTo>
                    <a:pt x="11" y="5"/>
                  </a:lnTo>
                  <a:lnTo>
                    <a:pt x="10" y="4"/>
                  </a:lnTo>
                  <a:lnTo>
                    <a:pt x="9" y="3"/>
                  </a:lnTo>
                  <a:lnTo>
                    <a:pt x="9" y="2"/>
                  </a:lnTo>
                  <a:lnTo>
                    <a:pt x="8" y="1"/>
                  </a:lnTo>
                  <a:lnTo>
                    <a:pt x="7" y="1"/>
                  </a:lnTo>
                  <a:lnTo>
                    <a:pt x="7" y="1"/>
                  </a:lnTo>
                  <a:lnTo>
                    <a:pt x="6" y="0"/>
                  </a:lnTo>
                  <a:lnTo>
                    <a:pt x="5" y="0"/>
                  </a:lnTo>
                  <a:lnTo>
                    <a:pt x="4" y="0"/>
                  </a:lnTo>
                  <a:lnTo>
                    <a:pt x="3" y="1"/>
                  </a:lnTo>
                  <a:lnTo>
                    <a:pt x="2" y="1"/>
                  </a:lnTo>
                  <a:lnTo>
                    <a:pt x="1" y="2"/>
                  </a:lnTo>
                  <a:lnTo>
                    <a:pt x="0" y="3"/>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1" name="Freeform 122"/>
            <p:cNvSpPr>
              <a:spLocks/>
            </p:cNvSpPr>
            <p:nvPr/>
          </p:nvSpPr>
          <p:spPr bwMode="auto">
            <a:xfrm>
              <a:off x="6880226" y="5140325"/>
              <a:ext cx="30163" cy="96838"/>
            </a:xfrm>
            <a:custGeom>
              <a:avLst/>
              <a:gdLst>
                <a:gd name="T0" fmla="*/ 10 w 21"/>
                <a:gd name="T1" fmla="*/ 68 h 69"/>
                <a:gd name="T2" fmla="*/ 10 w 21"/>
                <a:gd name="T3" fmla="*/ 68 h 69"/>
                <a:gd name="T4" fmla="*/ 11 w 21"/>
                <a:gd name="T5" fmla="*/ 67 h 69"/>
                <a:gd name="T6" fmla="*/ 12 w 21"/>
                <a:gd name="T7" fmla="*/ 66 h 69"/>
                <a:gd name="T8" fmla="*/ 12 w 21"/>
                <a:gd name="T9" fmla="*/ 65 h 69"/>
                <a:gd name="T10" fmla="*/ 13 w 21"/>
                <a:gd name="T11" fmla="*/ 64 h 69"/>
                <a:gd name="T12" fmla="*/ 14 w 21"/>
                <a:gd name="T13" fmla="*/ 62 h 69"/>
                <a:gd name="T14" fmla="*/ 14 w 21"/>
                <a:gd name="T15" fmla="*/ 61 h 69"/>
                <a:gd name="T16" fmla="*/ 16 w 21"/>
                <a:gd name="T17" fmla="*/ 59 h 69"/>
                <a:gd name="T18" fmla="*/ 16 w 21"/>
                <a:gd name="T19" fmla="*/ 58 h 69"/>
                <a:gd name="T20" fmla="*/ 16 w 21"/>
                <a:gd name="T21" fmla="*/ 57 h 69"/>
                <a:gd name="T22" fmla="*/ 17 w 21"/>
                <a:gd name="T23" fmla="*/ 55 h 69"/>
                <a:gd name="T24" fmla="*/ 17 w 21"/>
                <a:gd name="T25" fmla="*/ 53 h 69"/>
                <a:gd name="T26" fmla="*/ 18 w 21"/>
                <a:gd name="T27" fmla="*/ 51 h 69"/>
                <a:gd name="T28" fmla="*/ 18 w 21"/>
                <a:gd name="T29" fmla="*/ 49 h 69"/>
                <a:gd name="T30" fmla="*/ 18 w 21"/>
                <a:gd name="T31" fmla="*/ 47 h 69"/>
                <a:gd name="T32" fmla="*/ 19 w 21"/>
                <a:gd name="T33" fmla="*/ 45 h 69"/>
                <a:gd name="T34" fmla="*/ 19 w 21"/>
                <a:gd name="T35" fmla="*/ 43 h 69"/>
                <a:gd name="T36" fmla="*/ 19 w 21"/>
                <a:gd name="T37" fmla="*/ 41 h 69"/>
                <a:gd name="T38" fmla="*/ 19 w 21"/>
                <a:gd name="T39" fmla="*/ 39 h 69"/>
                <a:gd name="T40" fmla="*/ 20 w 21"/>
                <a:gd name="T41" fmla="*/ 37 h 69"/>
                <a:gd name="T42" fmla="*/ 20 w 21"/>
                <a:gd name="T43" fmla="*/ 35 h 69"/>
                <a:gd name="T44" fmla="*/ 19 w 21"/>
                <a:gd name="T45" fmla="*/ 33 h 69"/>
                <a:gd name="T46" fmla="*/ 19 w 21"/>
                <a:gd name="T47" fmla="*/ 29 h 69"/>
                <a:gd name="T48" fmla="*/ 19 w 21"/>
                <a:gd name="T49" fmla="*/ 28 h 69"/>
                <a:gd name="T50" fmla="*/ 19 w 21"/>
                <a:gd name="T51" fmla="*/ 26 h 69"/>
                <a:gd name="T52" fmla="*/ 18 w 21"/>
                <a:gd name="T53" fmla="*/ 25 h 69"/>
                <a:gd name="T54" fmla="*/ 18 w 21"/>
                <a:gd name="T55" fmla="*/ 21 h 69"/>
                <a:gd name="T56" fmla="*/ 18 w 21"/>
                <a:gd name="T57" fmla="*/ 20 h 69"/>
                <a:gd name="T58" fmla="*/ 17 w 21"/>
                <a:gd name="T59" fmla="*/ 17 h 69"/>
                <a:gd name="T60" fmla="*/ 17 w 21"/>
                <a:gd name="T61" fmla="*/ 15 h 69"/>
                <a:gd name="T62" fmla="*/ 16 w 21"/>
                <a:gd name="T63" fmla="*/ 15 h 69"/>
                <a:gd name="T64" fmla="*/ 16 w 21"/>
                <a:gd name="T65" fmla="*/ 13 h 69"/>
                <a:gd name="T66" fmla="*/ 16 w 21"/>
                <a:gd name="T67" fmla="*/ 11 h 69"/>
                <a:gd name="T68" fmla="*/ 15 w 21"/>
                <a:gd name="T69" fmla="*/ 10 h 69"/>
                <a:gd name="T70" fmla="*/ 14 w 21"/>
                <a:gd name="T71" fmla="*/ 8 h 69"/>
                <a:gd name="T72" fmla="*/ 13 w 21"/>
                <a:gd name="T73" fmla="*/ 7 h 69"/>
                <a:gd name="T74" fmla="*/ 13 w 21"/>
                <a:gd name="T75" fmla="*/ 7 h 69"/>
                <a:gd name="T76" fmla="*/ 12 w 21"/>
                <a:gd name="T77" fmla="*/ 5 h 69"/>
                <a:gd name="T78" fmla="*/ 12 w 21"/>
                <a:gd name="T79" fmla="*/ 4 h 69"/>
                <a:gd name="T80" fmla="*/ 11 w 21"/>
                <a:gd name="T81" fmla="*/ 3 h 69"/>
                <a:gd name="T82" fmla="*/ 10 w 21"/>
                <a:gd name="T83" fmla="*/ 2 h 69"/>
                <a:gd name="T84" fmla="*/ 9 w 21"/>
                <a:gd name="T85" fmla="*/ 1 h 69"/>
                <a:gd name="T86" fmla="*/ 7 w 21"/>
                <a:gd name="T87" fmla="*/ 1 h 69"/>
                <a:gd name="T88" fmla="*/ 7 w 21"/>
                <a:gd name="T89" fmla="*/ 1 h 69"/>
                <a:gd name="T90" fmla="*/ 6 w 21"/>
                <a:gd name="T91" fmla="*/ 0 h 69"/>
                <a:gd name="T92" fmla="*/ 5 w 21"/>
                <a:gd name="T93" fmla="*/ 0 h 69"/>
                <a:gd name="T94" fmla="*/ 4 w 21"/>
                <a:gd name="T95" fmla="*/ 0 h 69"/>
                <a:gd name="T96" fmla="*/ 3 w 21"/>
                <a:gd name="T97" fmla="*/ 1 h 69"/>
                <a:gd name="T98" fmla="*/ 2 w 21"/>
                <a:gd name="T99" fmla="*/ 1 h 69"/>
                <a:gd name="T100" fmla="*/ 1 w 21"/>
                <a:gd name="T101" fmla="*/ 2 h 69"/>
                <a:gd name="T102" fmla="*/ 0 w 21"/>
                <a:gd name="T103" fmla="*/ 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 h="69">
                  <a:moveTo>
                    <a:pt x="10" y="68"/>
                  </a:moveTo>
                  <a:lnTo>
                    <a:pt x="10" y="68"/>
                  </a:lnTo>
                  <a:lnTo>
                    <a:pt x="11" y="67"/>
                  </a:lnTo>
                  <a:lnTo>
                    <a:pt x="12" y="66"/>
                  </a:lnTo>
                  <a:lnTo>
                    <a:pt x="12" y="65"/>
                  </a:lnTo>
                  <a:lnTo>
                    <a:pt x="13" y="64"/>
                  </a:lnTo>
                  <a:lnTo>
                    <a:pt x="14" y="62"/>
                  </a:lnTo>
                  <a:lnTo>
                    <a:pt x="14" y="61"/>
                  </a:lnTo>
                  <a:lnTo>
                    <a:pt x="16" y="59"/>
                  </a:lnTo>
                  <a:lnTo>
                    <a:pt x="16" y="58"/>
                  </a:lnTo>
                  <a:lnTo>
                    <a:pt x="16" y="57"/>
                  </a:lnTo>
                  <a:lnTo>
                    <a:pt x="17" y="55"/>
                  </a:lnTo>
                  <a:lnTo>
                    <a:pt x="17" y="53"/>
                  </a:lnTo>
                  <a:lnTo>
                    <a:pt x="18" y="51"/>
                  </a:lnTo>
                  <a:lnTo>
                    <a:pt x="18" y="49"/>
                  </a:lnTo>
                  <a:lnTo>
                    <a:pt x="18" y="47"/>
                  </a:lnTo>
                  <a:lnTo>
                    <a:pt x="19" y="45"/>
                  </a:lnTo>
                  <a:lnTo>
                    <a:pt x="19" y="43"/>
                  </a:lnTo>
                  <a:lnTo>
                    <a:pt x="19" y="41"/>
                  </a:lnTo>
                  <a:lnTo>
                    <a:pt x="19" y="39"/>
                  </a:lnTo>
                  <a:lnTo>
                    <a:pt x="20" y="37"/>
                  </a:lnTo>
                  <a:lnTo>
                    <a:pt x="20" y="35"/>
                  </a:lnTo>
                  <a:lnTo>
                    <a:pt x="19" y="33"/>
                  </a:lnTo>
                  <a:lnTo>
                    <a:pt x="19" y="29"/>
                  </a:lnTo>
                  <a:lnTo>
                    <a:pt x="19" y="28"/>
                  </a:lnTo>
                  <a:lnTo>
                    <a:pt x="19" y="26"/>
                  </a:lnTo>
                  <a:lnTo>
                    <a:pt x="18" y="25"/>
                  </a:lnTo>
                  <a:lnTo>
                    <a:pt x="18" y="21"/>
                  </a:lnTo>
                  <a:lnTo>
                    <a:pt x="18" y="20"/>
                  </a:lnTo>
                  <a:lnTo>
                    <a:pt x="17" y="17"/>
                  </a:lnTo>
                  <a:lnTo>
                    <a:pt x="17" y="15"/>
                  </a:lnTo>
                  <a:lnTo>
                    <a:pt x="16" y="15"/>
                  </a:lnTo>
                  <a:lnTo>
                    <a:pt x="16" y="13"/>
                  </a:lnTo>
                  <a:lnTo>
                    <a:pt x="16" y="11"/>
                  </a:lnTo>
                  <a:lnTo>
                    <a:pt x="15" y="10"/>
                  </a:lnTo>
                  <a:lnTo>
                    <a:pt x="14" y="8"/>
                  </a:lnTo>
                  <a:lnTo>
                    <a:pt x="13" y="7"/>
                  </a:lnTo>
                  <a:lnTo>
                    <a:pt x="13" y="7"/>
                  </a:lnTo>
                  <a:lnTo>
                    <a:pt x="12" y="5"/>
                  </a:lnTo>
                  <a:lnTo>
                    <a:pt x="12" y="4"/>
                  </a:lnTo>
                  <a:lnTo>
                    <a:pt x="11" y="3"/>
                  </a:lnTo>
                  <a:lnTo>
                    <a:pt x="10" y="2"/>
                  </a:lnTo>
                  <a:lnTo>
                    <a:pt x="9" y="1"/>
                  </a:lnTo>
                  <a:lnTo>
                    <a:pt x="7" y="1"/>
                  </a:lnTo>
                  <a:lnTo>
                    <a:pt x="7" y="1"/>
                  </a:lnTo>
                  <a:lnTo>
                    <a:pt x="6" y="0"/>
                  </a:lnTo>
                  <a:lnTo>
                    <a:pt x="5" y="0"/>
                  </a:lnTo>
                  <a:lnTo>
                    <a:pt x="4" y="0"/>
                  </a:lnTo>
                  <a:lnTo>
                    <a:pt x="3" y="1"/>
                  </a:lnTo>
                  <a:lnTo>
                    <a:pt x="2" y="1"/>
                  </a:lnTo>
                  <a:lnTo>
                    <a:pt x="1" y="2"/>
                  </a:lnTo>
                  <a:lnTo>
                    <a:pt x="0" y="3"/>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2" name="Freeform 123"/>
            <p:cNvSpPr>
              <a:spLocks/>
            </p:cNvSpPr>
            <p:nvPr/>
          </p:nvSpPr>
          <p:spPr bwMode="auto">
            <a:xfrm>
              <a:off x="6897689" y="5140325"/>
              <a:ext cx="28575" cy="96838"/>
            </a:xfrm>
            <a:custGeom>
              <a:avLst/>
              <a:gdLst>
                <a:gd name="T0" fmla="*/ 9 w 19"/>
                <a:gd name="T1" fmla="*/ 68 h 69"/>
                <a:gd name="T2" fmla="*/ 9 w 19"/>
                <a:gd name="T3" fmla="*/ 68 h 69"/>
                <a:gd name="T4" fmla="*/ 10 w 19"/>
                <a:gd name="T5" fmla="*/ 67 h 69"/>
                <a:gd name="T6" fmla="*/ 11 w 19"/>
                <a:gd name="T7" fmla="*/ 66 h 69"/>
                <a:gd name="T8" fmla="*/ 11 w 19"/>
                <a:gd name="T9" fmla="*/ 65 h 69"/>
                <a:gd name="T10" fmla="*/ 13 w 19"/>
                <a:gd name="T11" fmla="*/ 64 h 69"/>
                <a:gd name="T12" fmla="*/ 13 w 19"/>
                <a:gd name="T13" fmla="*/ 62 h 69"/>
                <a:gd name="T14" fmla="*/ 14 w 19"/>
                <a:gd name="T15" fmla="*/ 61 h 69"/>
                <a:gd name="T16" fmla="*/ 14 w 19"/>
                <a:gd name="T17" fmla="*/ 59 h 69"/>
                <a:gd name="T18" fmla="*/ 15 w 19"/>
                <a:gd name="T19" fmla="*/ 58 h 69"/>
                <a:gd name="T20" fmla="*/ 15 w 19"/>
                <a:gd name="T21" fmla="*/ 57 h 69"/>
                <a:gd name="T22" fmla="*/ 16 w 19"/>
                <a:gd name="T23" fmla="*/ 55 h 69"/>
                <a:gd name="T24" fmla="*/ 17 w 19"/>
                <a:gd name="T25" fmla="*/ 53 h 69"/>
                <a:gd name="T26" fmla="*/ 17 w 19"/>
                <a:gd name="T27" fmla="*/ 51 h 69"/>
                <a:gd name="T28" fmla="*/ 17 w 19"/>
                <a:gd name="T29" fmla="*/ 49 h 69"/>
                <a:gd name="T30" fmla="*/ 18 w 19"/>
                <a:gd name="T31" fmla="*/ 47 h 69"/>
                <a:gd name="T32" fmla="*/ 18 w 19"/>
                <a:gd name="T33" fmla="*/ 45 h 69"/>
                <a:gd name="T34" fmla="*/ 18 w 19"/>
                <a:gd name="T35" fmla="*/ 43 h 69"/>
                <a:gd name="T36" fmla="*/ 18 w 19"/>
                <a:gd name="T37" fmla="*/ 41 h 69"/>
                <a:gd name="T38" fmla="*/ 18 w 19"/>
                <a:gd name="T39" fmla="*/ 39 h 69"/>
                <a:gd name="T40" fmla="*/ 18 w 19"/>
                <a:gd name="T41" fmla="*/ 37 h 69"/>
                <a:gd name="T42" fmla="*/ 18 w 19"/>
                <a:gd name="T43" fmla="*/ 35 h 69"/>
                <a:gd name="T44" fmla="*/ 18 w 19"/>
                <a:gd name="T45" fmla="*/ 33 h 69"/>
                <a:gd name="T46" fmla="*/ 18 w 19"/>
                <a:gd name="T47" fmla="*/ 29 h 69"/>
                <a:gd name="T48" fmla="*/ 18 w 19"/>
                <a:gd name="T49" fmla="*/ 28 h 69"/>
                <a:gd name="T50" fmla="*/ 18 w 19"/>
                <a:gd name="T51" fmla="*/ 26 h 69"/>
                <a:gd name="T52" fmla="*/ 18 w 19"/>
                <a:gd name="T53" fmla="*/ 25 h 69"/>
                <a:gd name="T54" fmla="*/ 18 w 19"/>
                <a:gd name="T55" fmla="*/ 21 h 69"/>
                <a:gd name="T56" fmla="*/ 17 w 19"/>
                <a:gd name="T57" fmla="*/ 20 h 69"/>
                <a:gd name="T58" fmla="*/ 17 w 19"/>
                <a:gd name="T59" fmla="*/ 17 h 69"/>
                <a:gd name="T60" fmla="*/ 16 w 19"/>
                <a:gd name="T61" fmla="*/ 15 h 69"/>
                <a:gd name="T62" fmla="*/ 15 w 19"/>
                <a:gd name="T63" fmla="*/ 15 h 69"/>
                <a:gd name="T64" fmla="*/ 15 w 19"/>
                <a:gd name="T65" fmla="*/ 13 h 69"/>
                <a:gd name="T66" fmla="*/ 14 w 19"/>
                <a:gd name="T67" fmla="*/ 11 h 69"/>
                <a:gd name="T68" fmla="*/ 14 w 19"/>
                <a:gd name="T69" fmla="*/ 10 h 69"/>
                <a:gd name="T70" fmla="*/ 14 w 19"/>
                <a:gd name="T71" fmla="*/ 8 h 69"/>
                <a:gd name="T72" fmla="*/ 13 w 19"/>
                <a:gd name="T73" fmla="*/ 7 h 69"/>
                <a:gd name="T74" fmla="*/ 12 w 19"/>
                <a:gd name="T75" fmla="*/ 7 h 69"/>
                <a:gd name="T76" fmla="*/ 11 w 19"/>
                <a:gd name="T77" fmla="*/ 5 h 69"/>
                <a:gd name="T78" fmla="*/ 10 w 19"/>
                <a:gd name="T79" fmla="*/ 4 h 69"/>
                <a:gd name="T80" fmla="*/ 10 w 19"/>
                <a:gd name="T81" fmla="*/ 3 h 69"/>
                <a:gd name="T82" fmla="*/ 9 w 19"/>
                <a:gd name="T83" fmla="*/ 2 h 69"/>
                <a:gd name="T84" fmla="*/ 8 w 19"/>
                <a:gd name="T85" fmla="*/ 1 h 69"/>
                <a:gd name="T86" fmla="*/ 7 w 19"/>
                <a:gd name="T87" fmla="*/ 1 h 69"/>
                <a:gd name="T88" fmla="*/ 6 w 19"/>
                <a:gd name="T89" fmla="*/ 1 h 69"/>
                <a:gd name="T90" fmla="*/ 5 w 19"/>
                <a:gd name="T91" fmla="*/ 0 h 69"/>
                <a:gd name="T92" fmla="*/ 4 w 19"/>
                <a:gd name="T93" fmla="*/ 0 h 69"/>
                <a:gd name="T94" fmla="*/ 3 w 19"/>
                <a:gd name="T95" fmla="*/ 0 h 69"/>
                <a:gd name="T96" fmla="*/ 3 w 19"/>
                <a:gd name="T97" fmla="*/ 1 h 69"/>
                <a:gd name="T98" fmla="*/ 1 w 19"/>
                <a:gd name="T99" fmla="*/ 1 h 69"/>
                <a:gd name="T100" fmla="*/ 1 w 19"/>
                <a:gd name="T101" fmla="*/ 2 h 69"/>
                <a:gd name="T102" fmla="*/ 0 w 19"/>
                <a:gd name="T103" fmla="*/ 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 h="69">
                  <a:moveTo>
                    <a:pt x="9" y="68"/>
                  </a:moveTo>
                  <a:lnTo>
                    <a:pt x="9" y="68"/>
                  </a:lnTo>
                  <a:lnTo>
                    <a:pt x="10" y="67"/>
                  </a:lnTo>
                  <a:lnTo>
                    <a:pt x="11" y="66"/>
                  </a:lnTo>
                  <a:lnTo>
                    <a:pt x="11" y="65"/>
                  </a:lnTo>
                  <a:lnTo>
                    <a:pt x="13" y="64"/>
                  </a:lnTo>
                  <a:lnTo>
                    <a:pt x="13" y="62"/>
                  </a:lnTo>
                  <a:lnTo>
                    <a:pt x="14" y="61"/>
                  </a:lnTo>
                  <a:lnTo>
                    <a:pt x="14" y="59"/>
                  </a:lnTo>
                  <a:lnTo>
                    <a:pt x="15" y="58"/>
                  </a:lnTo>
                  <a:lnTo>
                    <a:pt x="15" y="57"/>
                  </a:lnTo>
                  <a:lnTo>
                    <a:pt x="16" y="55"/>
                  </a:lnTo>
                  <a:lnTo>
                    <a:pt x="17" y="53"/>
                  </a:lnTo>
                  <a:lnTo>
                    <a:pt x="17" y="51"/>
                  </a:lnTo>
                  <a:lnTo>
                    <a:pt x="17" y="49"/>
                  </a:lnTo>
                  <a:lnTo>
                    <a:pt x="18" y="47"/>
                  </a:lnTo>
                  <a:lnTo>
                    <a:pt x="18" y="45"/>
                  </a:lnTo>
                  <a:lnTo>
                    <a:pt x="18" y="43"/>
                  </a:lnTo>
                  <a:lnTo>
                    <a:pt x="18" y="41"/>
                  </a:lnTo>
                  <a:lnTo>
                    <a:pt x="18" y="39"/>
                  </a:lnTo>
                  <a:lnTo>
                    <a:pt x="18" y="37"/>
                  </a:lnTo>
                  <a:lnTo>
                    <a:pt x="18" y="35"/>
                  </a:lnTo>
                  <a:lnTo>
                    <a:pt x="18" y="33"/>
                  </a:lnTo>
                  <a:lnTo>
                    <a:pt x="18" y="29"/>
                  </a:lnTo>
                  <a:lnTo>
                    <a:pt x="18" y="28"/>
                  </a:lnTo>
                  <a:lnTo>
                    <a:pt x="18" y="26"/>
                  </a:lnTo>
                  <a:lnTo>
                    <a:pt x="18" y="25"/>
                  </a:lnTo>
                  <a:lnTo>
                    <a:pt x="18" y="21"/>
                  </a:lnTo>
                  <a:lnTo>
                    <a:pt x="17" y="20"/>
                  </a:lnTo>
                  <a:lnTo>
                    <a:pt x="17" y="17"/>
                  </a:lnTo>
                  <a:lnTo>
                    <a:pt x="16" y="15"/>
                  </a:lnTo>
                  <a:lnTo>
                    <a:pt x="15" y="15"/>
                  </a:lnTo>
                  <a:lnTo>
                    <a:pt x="15" y="13"/>
                  </a:lnTo>
                  <a:lnTo>
                    <a:pt x="14" y="11"/>
                  </a:lnTo>
                  <a:lnTo>
                    <a:pt x="14" y="10"/>
                  </a:lnTo>
                  <a:lnTo>
                    <a:pt x="14" y="8"/>
                  </a:lnTo>
                  <a:lnTo>
                    <a:pt x="13" y="7"/>
                  </a:lnTo>
                  <a:lnTo>
                    <a:pt x="12" y="7"/>
                  </a:lnTo>
                  <a:lnTo>
                    <a:pt x="11" y="5"/>
                  </a:lnTo>
                  <a:lnTo>
                    <a:pt x="10" y="4"/>
                  </a:lnTo>
                  <a:lnTo>
                    <a:pt x="10" y="3"/>
                  </a:lnTo>
                  <a:lnTo>
                    <a:pt x="9" y="2"/>
                  </a:lnTo>
                  <a:lnTo>
                    <a:pt x="8" y="1"/>
                  </a:lnTo>
                  <a:lnTo>
                    <a:pt x="7" y="1"/>
                  </a:lnTo>
                  <a:lnTo>
                    <a:pt x="6" y="1"/>
                  </a:lnTo>
                  <a:lnTo>
                    <a:pt x="5" y="0"/>
                  </a:lnTo>
                  <a:lnTo>
                    <a:pt x="4" y="0"/>
                  </a:lnTo>
                  <a:lnTo>
                    <a:pt x="3" y="0"/>
                  </a:lnTo>
                  <a:lnTo>
                    <a:pt x="3" y="1"/>
                  </a:lnTo>
                  <a:lnTo>
                    <a:pt x="1" y="1"/>
                  </a:lnTo>
                  <a:lnTo>
                    <a:pt x="1" y="2"/>
                  </a:lnTo>
                  <a:lnTo>
                    <a:pt x="0" y="3"/>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3" name="Line 124"/>
            <p:cNvSpPr>
              <a:spLocks noChangeShapeType="1"/>
            </p:cNvSpPr>
            <p:nvPr/>
          </p:nvSpPr>
          <p:spPr bwMode="auto">
            <a:xfrm>
              <a:off x="6794501" y="5235575"/>
              <a:ext cx="11906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4" name="Freeform 125"/>
            <p:cNvSpPr>
              <a:spLocks/>
            </p:cNvSpPr>
            <p:nvPr/>
          </p:nvSpPr>
          <p:spPr bwMode="auto">
            <a:xfrm>
              <a:off x="6434138" y="5362576"/>
              <a:ext cx="100012" cy="98425"/>
            </a:xfrm>
            <a:custGeom>
              <a:avLst/>
              <a:gdLst>
                <a:gd name="T0" fmla="*/ 0 w 70"/>
                <a:gd name="T1" fmla="*/ 32 h 70"/>
                <a:gd name="T2" fmla="*/ 0 w 70"/>
                <a:gd name="T3" fmla="*/ 26 h 70"/>
                <a:gd name="T4" fmla="*/ 1 w 70"/>
                <a:gd name="T5" fmla="*/ 22 h 70"/>
                <a:gd name="T6" fmla="*/ 3 w 70"/>
                <a:gd name="T7" fmla="*/ 17 h 70"/>
                <a:gd name="T8" fmla="*/ 6 w 70"/>
                <a:gd name="T9" fmla="*/ 13 h 70"/>
                <a:gd name="T10" fmla="*/ 9 w 70"/>
                <a:gd name="T11" fmla="*/ 10 h 70"/>
                <a:gd name="T12" fmla="*/ 14 w 70"/>
                <a:gd name="T13" fmla="*/ 6 h 70"/>
                <a:gd name="T14" fmla="*/ 19 w 70"/>
                <a:gd name="T15" fmla="*/ 3 h 70"/>
                <a:gd name="T16" fmla="*/ 23 w 70"/>
                <a:gd name="T17" fmla="*/ 2 h 70"/>
                <a:gd name="T18" fmla="*/ 29 w 70"/>
                <a:gd name="T19" fmla="*/ 0 h 70"/>
                <a:gd name="T20" fmla="*/ 34 w 70"/>
                <a:gd name="T21" fmla="*/ 0 h 70"/>
                <a:gd name="T22" fmla="*/ 39 w 70"/>
                <a:gd name="T23" fmla="*/ 0 h 70"/>
                <a:gd name="T24" fmla="*/ 43 w 70"/>
                <a:gd name="T25" fmla="*/ 2 h 70"/>
                <a:gd name="T26" fmla="*/ 50 w 70"/>
                <a:gd name="T27" fmla="*/ 3 h 70"/>
                <a:gd name="T28" fmla="*/ 53 w 70"/>
                <a:gd name="T29" fmla="*/ 6 h 70"/>
                <a:gd name="T30" fmla="*/ 58 w 70"/>
                <a:gd name="T31" fmla="*/ 10 h 70"/>
                <a:gd name="T32" fmla="*/ 60 w 70"/>
                <a:gd name="T33" fmla="*/ 13 h 70"/>
                <a:gd name="T34" fmla="*/ 64 w 70"/>
                <a:gd name="T35" fmla="*/ 17 h 70"/>
                <a:gd name="T36" fmla="*/ 66 w 70"/>
                <a:gd name="T37" fmla="*/ 22 h 70"/>
                <a:gd name="T38" fmla="*/ 68 w 70"/>
                <a:gd name="T39" fmla="*/ 26 h 70"/>
                <a:gd name="T40" fmla="*/ 69 w 70"/>
                <a:gd name="T41" fmla="*/ 32 h 70"/>
                <a:gd name="T42" fmla="*/ 69 w 70"/>
                <a:gd name="T43" fmla="*/ 36 h 70"/>
                <a:gd name="T44" fmla="*/ 68 w 70"/>
                <a:gd name="T45" fmla="*/ 42 h 70"/>
                <a:gd name="T46" fmla="*/ 66 w 70"/>
                <a:gd name="T47" fmla="*/ 47 h 70"/>
                <a:gd name="T48" fmla="*/ 64 w 70"/>
                <a:gd name="T49" fmla="*/ 52 h 70"/>
                <a:gd name="T50" fmla="*/ 60 w 70"/>
                <a:gd name="T51" fmla="*/ 56 h 70"/>
                <a:gd name="T52" fmla="*/ 58 w 70"/>
                <a:gd name="T53" fmla="*/ 60 h 70"/>
                <a:gd name="T54" fmla="*/ 53 w 70"/>
                <a:gd name="T55" fmla="*/ 64 h 70"/>
                <a:gd name="T56" fmla="*/ 50 w 70"/>
                <a:gd name="T57" fmla="*/ 65 h 70"/>
                <a:gd name="T58" fmla="*/ 43 w 70"/>
                <a:gd name="T59" fmla="*/ 67 h 70"/>
                <a:gd name="T60" fmla="*/ 39 w 70"/>
                <a:gd name="T61" fmla="*/ 68 h 70"/>
                <a:gd name="T62" fmla="*/ 34 w 70"/>
                <a:gd name="T63" fmla="*/ 69 h 70"/>
                <a:gd name="T64" fmla="*/ 29 w 70"/>
                <a:gd name="T65" fmla="*/ 68 h 70"/>
                <a:gd name="T66" fmla="*/ 23 w 70"/>
                <a:gd name="T67" fmla="*/ 67 h 70"/>
                <a:gd name="T68" fmla="*/ 19 w 70"/>
                <a:gd name="T69" fmla="*/ 65 h 70"/>
                <a:gd name="T70" fmla="*/ 14 w 70"/>
                <a:gd name="T71" fmla="*/ 64 h 70"/>
                <a:gd name="T72" fmla="*/ 9 w 70"/>
                <a:gd name="T73" fmla="*/ 60 h 70"/>
                <a:gd name="T74" fmla="*/ 6 w 70"/>
                <a:gd name="T75" fmla="*/ 56 h 70"/>
                <a:gd name="T76" fmla="*/ 3 w 70"/>
                <a:gd name="T77" fmla="*/ 52 h 70"/>
                <a:gd name="T78" fmla="*/ 1 w 70"/>
                <a:gd name="T79" fmla="*/ 47 h 70"/>
                <a:gd name="T80" fmla="*/ 0 w 70"/>
                <a:gd name="T81" fmla="*/ 42 h 70"/>
                <a:gd name="T82" fmla="*/ 0 w 70"/>
                <a:gd name="T83" fmla="*/ 3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0" h="70">
                  <a:moveTo>
                    <a:pt x="0" y="35"/>
                  </a:moveTo>
                  <a:lnTo>
                    <a:pt x="0" y="32"/>
                  </a:lnTo>
                  <a:lnTo>
                    <a:pt x="0" y="29"/>
                  </a:lnTo>
                  <a:lnTo>
                    <a:pt x="0" y="26"/>
                  </a:lnTo>
                  <a:lnTo>
                    <a:pt x="0" y="24"/>
                  </a:lnTo>
                  <a:lnTo>
                    <a:pt x="1" y="22"/>
                  </a:lnTo>
                  <a:lnTo>
                    <a:pt x="2" y="20"/>
                  </a:lnTo>
                  <a:lnTo>
                    <a:pt x="3" y="17"/>
                  </a:lnTo>
                  <a:lnTo>
                    <a:pt x="4" y="15"/>
                  </a:lnTo>
                  <a:lnTo>
                    <a:pt x="6" y="13"/>
                  </a:lnTo>
                  <a:lnTo>
                    <a:pt x="8" y="12"/>
                  </a:lnTo>
                  <a:lnTo>
                    <a:pt x="9" y="10"/>
                  </a:lnTo>
                  <a:lnTo>
                    <a:pt x="12" y="8"/>
                  </a:lnTo>
                  <a:lnTo>
                    <a:pt x="14" y="6"/>
                  </a:lnTo>
                  <a:lnTo>
                    <a:pt x="16" y="4"/>
                  </a:lnTo>
                  <a:lnTo>
                    <a:pt x="19" y="3"/>
                  </a:lnTo>
                  <a:lnTo>
                    <a:pt x="20" y="3"/>
                  </a:lnTo>
                  <a:lnTo>
                    <a:pt x="23" y="2"/>
                  </a:lnTo>
                  <a:lnTo>
                    <a:pt x="26" y="1"/>
                  </a:lnTo>
                  <a:lnTo>
                    <a:pt x="29" y="0"/>
                  </a:lnTo>
                  <a:lnTo>
                    <a:pt x="31" y="0"/>
                  </a:lnTo>
                  <a:lnTo>
                    <a:pt x="34" y="0"/>
                  </a:lnTo>
                  <a:lnTo>
                    <a:pt x="36" y="0"/>
                  </a:lnTo>
                  <a:lnTo>
                    <a:pt x="39" y="0"/>
                  </a:lnTo>
                  <a:lnTo>
                    <a:pt x="41" y="1"/>
                  </a:lnTo>
                  <a:lnTo>
                    <a:pt x="43" y="2"/>
                  </a:lnTo>
                  <a:lnTo>
                    <a:pt x="46" y="3"/>
                  </a:lnTo>
                  <a:lnTo>
                    <a:pt x="50" y="3"/>
                  </a:lnTo>
                  <a:lnTo>
                    <a:pt x="51" y="4"/>
                  </a:lnTo>
                  <a:lnTo>
                    <a:pt x="53" y="6"/>
                  </a:lnTo>
                  <a:lnTo>
                    <a:pt x="55" y="8"/>
                  </a:lnTo>
                  <a:lnTo>
                    <a:pt x="58" y="10"/>
                  </a:lnTo>
                  <a:lnTo>
                    <a:pt x="60" y="12"/>
                  </a:lnTo>
                  <a:lnTo>
                    <a:pt x="60" y="13"/>
                  </a:lnTo>
                  <a:lnTo>
                    <a:pt x="62" y="15"/>
                  </a:lnTo>
                  <a:lnTo>
                    <a:pt x="64" y="17"/>
                  </a:lnTo>
                  <a:lnTo>
                    <a:pt x="64" y="20"/>
                  </a:lnTo>
                  <a:lnTo>
                    <a:pt x="66" y="22"/>
                  </a:lnTo>
                  <a:lnTo>
                    <a:pt x="68" y="24"/>
                  </a:lnTo>
                  <a:lnTo>
                    <a:pt x="68" y="26"/>
                  </a:lnTo>
                  <a:lnTo>
                    <a:pt x="68" y="29"/>
                  </a:lnTo>
                  <a:lnTo>
                    <a:pt x="69" y="32"/>
                  </a:lnTo>
                  <a:lnTo>
                    <a:pt x="69" y="35"/>
                  </a:lnTo>
                  <a:lnTo>
                    <a:pt x="69" y="36"/>
                  </a:lnTo>
                  <a:lnTo>
                    <a:pt x="68" y="39"/>
                  </a:lnTo>
                  <a:lnTo>
                    <a:pt x="68" y="42"/>
                  </a:lnTo>
                  <a:lnTo>
                    <a:pt x="68" y="45"/>
                  </a:lnTo>
                  <a:lnTo>
                    <a:pt x="66" y="47"/>
                  </a:lnTo>
                  <a:lnTo>
                    <a:pt x="64" y="49"/>
                  </a:lnTo>
                  <a:lnTo>
                    <a:pt x="64" y="52"/>
                  </a:lnTo>
                  <a:lnTo>
                    <a:pt x="62" y="54"/>
                  </a:lnTo>
                  <a:lnTo>
                    <a:pt x="60" y="56"/>
                  </a:lnTo>
                  <a:lnTo>
                    <a:pt x="60" y="58"/>
                  </a:lnTo>
                  <a:lnTo>
                    <a:pt x="58" y="60"/>
                  </a:lnTo>
                  <a:lnTo>
                    <a:pt x="55" y="62"/>
                  </a:lnTo>
                  <a:lnTo>
                    <a:pt x="53" y="64"/>
                  </a:lnTo>
                  <a:lnTo>
                    <a:pt x="51" y="64"/>
                  </a:lnTo>
                  <a:lnTo>
                    <a:pt x="50" y="65"/>
                  </a:lnTo>
                  <a:lnTo>
                    <a:pt x="46" y="66"/>
                  </a:lnTo>
                  <a:lnTo>
                    <a:pt x="43" y="67"/>
                  </a:lnTo>
                  <a:lnTo>
                    <a:pt x="41" y="68"/>
                  </a:lnTo>
                  <a:lnTo>
                    <a:pt x="39" y="68"/>
                  </a:lnTo>
                  <a:lnTo>
                    <a:pt x="36" y="69"/>
                  </a:lnTo>
                  <a:lnTo>
                    <a:pt x="34" y="69"/>
                  </a:lnTo>
                  <a:lnTo>
                    <a:pt x="31" y="69"/>
                  </a:lnTo>
                  <a:lnTo>
                    <a:pt x="29" y="68"/>
                  </a:lnTo>
                  <a:lnTo>
                    <a:pt x="26" y="68"/>
                  </a:lnTo>
                  <a:lnTo>
                    <a:pt x="23" y="67"/>
                  </a:lnTo>
                  <a:lnTo>
                    <a:pt x="20" y="66"/>
                  </a:lnTo>
                  <a:lnTo>
                    <a:pt x="19" y="65"/>
                  </a:lnTo>
                  <a:lnTo>
                    <a:pt x="16" y="64"/>
                  </a:lnTo>
                  <a:lnTo>
                    <a:pt x="14" y="64"/>
                  </a:lnTo>
                  <a:lnTo>
                    <a:pt x="12" y="62"/>
                  </a:lnTo>
                  <a:lnTo>
                    <a:pt x="9" y="60"/>
                  </a:lnTo>
                  <a:lnTo>
                    <a:pt x="8" y="58"/>
                  </a:lnTo>
                  <a:lnTo>
                    <a:pt x="6" y="56"/>
                  </a:lnTo>
                  <a:lnTo>
                    <a:pt x="4" y="54"/>
                  </a:lnTo>
                  <a:lnTo>
                    <a:pt x="3" y="52"/>
                  </a:lnTo>
                  <a:lnTo>
                    <a:pt x="2" y="49"/>
                  </a:lnTo>
                  <a:lnTo>
                    <a:pt x="1" y="47"/>
                  </a:lnTo>
                  <a:lnTo>
                    <a:pt x="0" y="45"/>
                  </a:lnTo>
                  <a:lnTo>
                    <a:pt x="0" y="42"/>
                  </a:lnTo>
                  <a:lnTo>
                    <a:pt x="0" y="39"/>
                  </a:lnTo>
                  <a:lnTo>
                    <a:pt x="0" y="36"/>
                  </a:lnTo>
                  <a:lnTo>
                    <a:pt x="0" y="35"/>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5" name="Freeform 126"/>
            <p:cNvSpPr>
              <a:spLocks/>
            </p:cNvSpPr>
            <p:nvPr/>
          </p:nvSpPr>
          <p:spPr bwMode="auto">
            <a:xfrm>
              <a:off x="6383338" y="4943475"/>
              <a:ext cx="101600" cy="95250"/>
            </a:xfrm>
            <a:custGeom>
              <a:avLst/>
              <a:gdLst>
                <a:gd name="T0" fmla="*/ 1 w 71"/>
                <a:gd name="T1" fmla="*/ 31 h 69"/>
                <a:gd name="T2" fmla="*/ 1 w 71"/>
                <a:gd name="T3" fmla="*/ 26 h 69"/>
                <a:gd name="T4" fmla="*/ 3 w 71"/>
                <a:gd name="T5" fmla="*/ 20 h 69"/>
                <a:gd name="T6" fmla="*/ 5 w 71"/>
                <a:gd name="T7" fmla="*/ 16 h 69"/>
                <a:gd name="T8" fmla="*/ 8 w 71"/>
                <a:gd name="T9" fmla="*/ 12 h 69"/>
                <a:gd name="T10" fmla="*/ 11 w 71"/>
                <a:gd name="T11" fmla="*/ 9 h 69"/>
                <a:gd name="T12" fmla="*/ 15 w 71"/>
                <a:gd name="T13" fmla="*/ 5 h 69"/>
                <a:gd name="T14" fmla="*/ 21 w 71"/>
                <a:gd name="T15" fmla="*/ 3 h 69"/>
                <a:gd name="T16" fmla="*/ 25 w 71"/>
                <a:gd name="T17" fmla="*/ 0 h 69"/>
                <a:gd name="T18" fmla="*/ 29 w 71"/>
                <a:gd name="T19" fmla="*/ 0 h 69"/>
                <a:gd name="T20" fmla="*/ 35 w 71"/>
                <a:gd name="T21" fmla="*/ 0 h 69"/>
                <a:gd name="T22" fmla="*/ 41 w 71"/>
                <a:gd name="T23" fmla="*/ 0 h 69"/>
                <a:gd name="T24" fmla="*/ 45 w 71"/>
                <a:gd name="T25" fmla="*/ 0 h 69"/>
                <a:gd name="T26" fmla="*/ 50 w 71"/>
                <a:gd name="T27" fmla="*/ 3 h 69"/>
                <a:gd name="T28" fmla="*/ 55 w 71"/>
                <a:gd name="T29" fmla="*/ 5 h 69"/>
                <a:gd name="T30" fmla="*/ 58 w 71"/>
                <a:gd name="T31" fmla="*/ 9 h 69"/>
                <a:gd name="T32" fmla="*/ 62 w 71"/>
                <a:gd name="T33" fmla="*/ 12 h 69"/>
                <a:gd name="T34" fmla="*/ 66 w 71"/>
                <a:gd name="T35" fmla="*/ 16 h 69"/>
                <a:gd name="T36" fmla="*/ 68 w 71"/>
                <a:gd name="T37" fmla="*/ 20 h 69"/>
                <a:gd name="T38" fmla="*/ 70 w 71"/>
                <a:gd name="T39" fmla="*/ 26 h 69"/>
                <a:gd name="T40" fmla="*/ 70 w 71"/>
                <a:gd name="T41" fmla="*/ 31 h 69"/>
                <a:gd name="T42" fmla="*/ 70 w 71"/>
                <a:gd name="T43" fmla="*/ 36 h 69"/>
                <a:gd name="T44" fmla="*/ 70 w 71"/>
                <a:gd name="T45" fmla="*/ 41 h 69"/>
                <a:gd name="T46" fmla="*/ 68 w 71"/>
                <a:gd name="T47" fmla="*/ 46 h 69"/>
                <a:gd name="T48" fmla="*/ 66 w 71"/>
                <a:gd name="T49" fmla="*/ 51 h 69"/>
                <a:gd name="T50" fmla="*/ 62 w 71"/>
                <a:gd name="T51" fmla="*/ 54 h 69"/>
                <a:gd name="T52" fmla="*/ 58 w 71"/>
                <a:gd name="T53" fmla="*/ 59 h 69"/>
                <a:gd name="T54" fmla="*/ 55 w 71"/>
                <a:gd name="T55" fmla="*/ 63 h 69"/>
                <a:gd name="T56" fmla="*/ 50 w 71"/>
                <a:gd name="T57" fmla="*/ 65 h 69"/>
                <a:gd name="T58" fmla="*/ 45 w 71"/>
                <a:gd name="T59" fmla="*/ 67 h 69"/>
                <a:gd name="T60" fmla="*/ 41 w 71"/>
                <a:gd name="T61" fmla="*/ 68 h 69"/>
                <a:gd name="T62" fmla="*/ 35 w 71"/>
                <a:gd name="T63" fmla="*/ 68 h 69"/>
                <a:gd name="T64" fmla="*/ 29 w 71"/>
                <a:gd name="T65" fmla="*/ 68 h 69"/>
                <a:gd name="T66" fmla="*/ 25 w 71"/>
                <a:gd name="T67" fmla="*/ 67 h 69"/>
                <a:gd name="T68" fmla="*/ 21 w 71"/>
                <a:gd name="T69" fmla="*/ 65 h 69"/>
                <a:gd name="T70" fmla="*/ 15 w 71"/>
                <a:gd name="T71" fmla="*/ 63 h 69"/>
                <a:gd name="T72" fmla="*/ 11 w 71"/>
                <a:gd name="T73" fmla="*/ 59 h 69"/>
                <a:gd name="T74" fmla="*/ 8 w 71"/>
                <a:gd name="T75" fmla="*/ 54 h 69"/>
                <a:gd name="T76" fmla="*/ 5 w 71"/>
                <a:gd name="T77" fmla="*/ 51 h 69"/>
                <a:gd name="T78" fmla="*/ 3 w 71"/>
                <a:gd name="T79" fmla="*/ 46 h 69"/>
                <a:gd name="T80" fmla="*/ 1 w 71"/>
                <a:gd name="T81" fmla="*/ 41 h 69"/>
                <a:gd name="T82" fmla="*/ 1 w 71"/>
                <a:gd name="T83" fmla="*/ 3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1" h="69">
                  <a:moveTo>
                    <a:pt x="0" y="34"/>
                  </a:moveTo>
                  <a:lnTo>
                    <a:pt x="1" y="31"/>
                  </a:lnTo>
                  <a:lnTo>
                    <a:pt x="1" y="29"/>
                  </a:lnTo>
                  <a:lnTo>
                    <a:pt x="1" y="26"/>
                  </a:lnTo>
                  <a:lnTo>
                    <a:pt x="2" y="23"/>
                  </a:lnTo>
                  <a:lnTo>
                    <a:pt x="3" y="20"/>
                  </a:lnTo>
                  <a:lnTo>
                    <a:pt x="4" y="20"/>
                  </a:lnTo>
                  <a:lnTo>
                    <a:pt x="5" y="16"/>
                  </a:lnTo>
                  <a:lnTo>
                    <a:pt x="7" y="14"/>
                  </a:lnTo>
                  <a:lnTo>
                    <a:pt x="8" y="12"/>
                  </a:lnTo>
                  <a:lnTo>
                    <a:pt x="9" y="10"/>
                  </a:lnTo>
                  <a:lnTo>
                    <a:pt x="11" y="9"/>
                  </a:lnTo>
                  <a:lnTo>
                    <a:pt x="14" y="6"/>
                  </a:lnTo>
                  <a:lnTo>
                    <a:pt x="15" y="5"/>
                  </a:lnTo>
                  <a:lnTo>
                    <a:pt x="18" y="3"/>
                  </a:lnTo>
                  <a:lnTo>
                    <a:pt x="21" y="3"/>
                  </a:lnTo>
                  <a:lnTo>
                    <a:pt x="22" y="2"/>
                  </a:lnTo>
                  <a:lnTo>
                    <a:pt x="25" y="0"/>
                  </a:lnTo>
                  <a:lnTo>
                    <a:pt x="27" y="0"/>
                  </a:lnTo>
                  <a:lnTo>
                    <a:pt x="29" y="0"/>
                  </a:lnTo>
                  <a:lnTo>
                    <a:pt x="33" y="0"/>
                  </a:lnTo>
                  <a:lnTo>
                    <a:pt x="35" y="0"/>
                  </a:lnTo>
                  <a:lnTo>
                    <a:pt x="38" y="0"/>
                  </a:lnTo>
                  <a:lnTo>
                    <a:pt x="41" y="0"/>
                  </a:lnTo>
                  <a:lnTo>
                    <a:pt x="43" y="0"/>
                  </a:lnTo>
                  <a:lnTo>
                    <a:pt x="45" y="0"/>
                  </a:lnTo>
                  <a:lnTo>
                    <a:pt x="49" y="2"/>
                  </a:lnTo>
                  <a:lnTo>
                    <a:pt x="50" y="3"/>
                  </a:lnTo>
                  <a:lnTo>
                    <a:pt x="53" y="3"/>
                  </a:lnTo>
                  <a:lnTo>
                    <a:pt x="55" y="5"/>
                  </a:lnTo>
                  <a:lnTo>
                    <a:pt x="57" y="6"/>
                  </a:lnTo>
                  <a:lnTo>
                    <a:pt x="58" y="9"/>
                  </a:lnTo>
                  <a:lnTo>
                    <a:pt x="61" y="10"/>
                  </a:lnTo>
                  <a:lnTo>
                    <a:pt x="62" y="12"/>
                  </a:lnTo>
                  <a:lnTo>
                    <a:pt x="64" y="14"/>
                  </a:lnTo>
                  <a:lnTo>
                    <a:pt x="66" y="16"/>
                  </a:lnTo>
                  <a:lnTo>
                    <a:pt x="66" y="20"/>
                  </a:lnTo>
                  <a:lnTo>
                    <a:pt x="68" y="20"/>
                  </a:lnTo>
                  <a:lnTo>
                    <a:pt x="69" y="23"/>
                  </a:lnTo>
                  <a:lnTo>
                    <a:pt x="70" y="26"/>
                  </a:lnTo>
                  <a:lnTo>
                    <a:pt x="70" y="29"/>
                  </a:lnTo>
                  <a:lnTo>
                    <a:pt x="70" y="31"/>
                  </a:lnTo>
                  <a:lnTo>
                    <a:pt x="70" y="34"/>
                  </a:lnTo>
                  <a:lnTo>
                    <a:pt x="70" y="36"/>
                  </a:lnTo>
                  <a:lnTo>
                    <a:pt x="70" y="39"/>
                  </a:lnTo>
                  <a:lnTo>
                    <a:pt x="70" y="41"/>
                  </a:lnTo>
                  <a:lnTo>
                    <a:pt x="69" y="43"/>
                  </a:lnTo>
                  <a:lnTo>
                    <a:pt x="68" y="46"/>
                  </a:lnTo>
                  <a:lnTo>
                    <a:pt x="66" y="49"/>
                  </a:lnTo>
                  <a:lnTo>
                    <a:pt x="66" y="51"/>
                  </a:lnTo>
                  <a:lnTo>
                    <a:pt x="64" y="53"/>
                  </a:lnTo>
                  <a:lnTo>
                    <a:pt x="62" y="54"/>
                  </a:lnTo>
                  <a:lnTo>
                    <a:pt x="61" y="57"/>
                  </a:lnTo>
                  <a:lnTo>
                    <a:pt x="58" y="59"/>
                  </a:lnTo>
                  <a:lnTo>
                    <a:pt x="57" y="61"/>
                  </a:lnTo>
                  <a:lnTo>
                    <a:pt x="55" y="63"/>
                  </a:lnTo>
                  <a:lnTo>
                    <a:pt x="53" y="64"/>
                  </a:lnTo>
                  <a:lnTo>
                    <a:pt x="50" y="65"/>
                  </a:lnTo>
                  <a:lnTo>
                    <a:pt x="49" y="66"/>
                  </a:lnTo>
                  <a:lnTo>
                    <a:pt x="45" y="67"/>
                  </a:lnTo>
                  <a:lnTo>
                    <a:pt x="43" y="68"/>
                  </a:lnTo>
                  <a:lnTo>
                    <a:pt x="41" y="68"/>
                  </a:lnTo>
                  <a:lnTo>
                    <a:pt x="38" y="68"/>
                  </a:lnTo>
                  <a:lnTo>
                    <a:pt x="35" y="68"/>
                  </a:lnTo>
                  <a:lnTo>
                    <a:pt x="33" y="68"/>
                  </a:lnTo>
                  <a:lnTo>
                    <a:pt x="29" y="68"/>
                  </a:lnTo>
                  <a:lnTo>
                    <a:pt x="27" y="68"/>
                  </a:lnTo>
                  <a:lnTo>
                    <a:pt x="25" y="67"/>
                  </a:lnTo>
                  <a:lnTo>
                    <a:pt x="22" y="66"/>
                  </a:lnTo>
                  <a:lnTo>
                    <a:pt x="21" y="65"/>
                  </a:lnTo>
                  <a:lnTo>
                    <a:pt x="18" y="64"/>
                  </a:lnTo>
                  <a:lnTo>
                    <a:pt x="15" y="63"/>
                  </a:lnTo>
                  <a:lnTo>
                    <a:pt x="14" y="61"/>
                  </a:lnTo>
                  <a:lnTo>
                    <a:pt x="11" y="59"/>
                  </a:lnTo>
                  <a:lnTo>
                    <a:pt x="9" y="57"/>
                  </a:lnTo>
                  <a:lnTo>
                    <a:pt x="8" y="54"/>
                  </a:lnTo>
                  <a:lnTo>
                    <a:pt x="7" y="53"/>
                  </a:lnTo>
                  <a:lnTo>
                    <a:pt x="5" y="51"/>
                  </a:lnTo>
                  <a:lnTo>
                    <a:pt x="4" y="49"/>
                  </a:lnTo>
                  <a:lnTo>
                    <a:pt x="3" y="46"/>
                  </a:lnTo>
                  <a:lnTo>
                    <a:pt x="2" y="43"/>
                  </a:lnTo>
                  <a:lnTo>
                    <a:pt x="1" y="41"/>
                  </a:lnTo>
                  <a:lnTo>
                    <a:pt x="1" y="39"/>
                  </a:lnTo>
                  <a:lnTo>
                    <a:pt x="1" y="36"/>
                  </a:lnTo>
                  <a:lnTo>
                    <a:pt x="0" y="34"/>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6" name="Freeform 127"/>
            <p:cNvSpPr>
              <a:spLocks/>
            </p:cNvSpPr>
            <p:nvPr/>
          </p:nvSpPr>
          <p:spPr bwMode="auto">
            <a:xfrm>
              <a:off x="6300789" y="4846639"/>
              <a:ext cx="15875" cy="231775"/>
            </a:xfrm>
            <a:custGeom>
              <a:avLst/>
              <a:gdLst>
                <a:gd name="T0" fmla="*/ 0 w 11"/>
                <a:gd name="T1" fmla="*/ 0 h 166"/>
                <a:gd name="T2" fmla="*/ 10 w 11"/>
                <a:gd name="T3" fmla="*/ 59 h 166"/>
                <a:gd name="T4" fmla="*/ 10 w 11"/>
                <a:gd name="T5" fmla="*/ 165 h 166"/>
              </a:gdLst>
              <a:ahLst/>
              <a:cxnLst>
                <a:cxn ang="0">
                  <a:pos x="T0" y="T1"/>
                </a:cxn>
                <a:cxn ang="0">
                  <a:pos x="T2" y="T3"/>
                </a:cxn>
                <a:cxn ang="0">
                  <a:pos x="T4" y="T5"/>
                </a:cxn>
              </a:cxnLst>
              <a:rect l="0" t="0" r="r" b="b"/>
              <a:pathLst>
                <a:path w="11" h="166">
                  <a:moveTo>
                    <a:pt x="0" y="0"/>
                  </a:moveTo>
                  <a:lnTo>
                    <a:pt x="10" y="59"/>
                  </a:lnTo>
                  <a:lnTo>
                    <a:pt x="10" y="165"/>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7" name="Freeform 128"/>
            <p:cNvSpPr>
              <a:spLocks/>
            </p:cNvSpPr>
            <p:nvPr/>
          </p:nvSpPr>
          <p:spPr bwMode="auto">
            <a:xfrm>
              <a:off x="6326189" y="5256214"/>
              <a:ext cx="14287" cy="268287"/>
            </a:xfrm>
            <a:custGeom>
              <a:avLst/>
              <a:gdLst>
                <a:gd name="T0" fmla="*/ 0 w 9"/>
                <a:gd name="T1" fmla="*/ 0 h 191"/>
                <a:gd name="T2" fmla="*/ 8 w 9"/>
                <a:gd name="T3" fmla="*/ 56 h 191"/>
                <a:gd name="T4" fmla="*/ 8 w 9"/>
                <a:gd name="T5" fmla="*/ 190 h 191"/>
              </a:gdLst>
              <a:ahLst/>
              <a:cxnLst>
                <a:cxn ang="0">
                  <a:pos x="T0" y="T1"/>
                </a:cxn>
                <a:cxn ang="0">
                  <a:pos x="T2" y="T3"/>
                </a:cxn>
                <a:cxn ang="0">
                  <a:pos x="T4" y="T5"/>
                </a:cxn>
              </a:cxnLst>
              <a:rect l="0" t="0" r="r" b="b"/>
              <a:pathLst>
                <a:path w="9" h="191">
                  <a:moveTo>
                    <a:pt x="0" y="0"/>
                  </a:moveTo>
                  <a:lnTo>
                    <a:pt x="8" y="56"/>
                  </a:lnTo>
                  <a:lnTo>
                    <a:pt x="8" y="19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8" name="Freeform 129"/>
            <p:cNvSpPr>
              <a:spLocks/>
            </p:cNvSpPr>
            <p:nvPr/>
          </p:nvSpPr>
          <p:spPr bwMode="auto">
            <a:xfrm>
              <a:off x="6267450" y="5535614"/>
              <a:ext cx="147638" cy="128587"/>
            </a:xfrm>
            <a:custGeom>
              <a:avLst/>
              <a:gdLst>
                <a:gd name="T0" fmla="*/ 101 w 102"/>
                <a:gd name="T1" fmla="*/ 0 h 92"/>
                <a:gd name="T2" fmla="*/ 101 w 102"/>
                <a:gd name="T3" fmla="*/ 91 h 92"/>
                <a:gd name="T4" fmla="*/ 0 w 102"/>
                <a:gd name="T5" fmla="*/ 91 h 92"/>
                <a:gd name="T6" fmla="*/ 0 w 102"/>
                <a:gd name="T7" fmla="*/ 0 h 92"/>
              </a:gdLst>
              <a:ahLst/>
              <a:cxnLst>
                <a:cxn ang="0">
                  <a:pos x="T0" y="T1"/>
                </a:cxn>
                <a:cxn ang="0">
                  <a:pos x="T2" y="T3"/>
                </a:cxn>
                <a:cxn ang="0">
                  <a:pos x="T4" y="T5"/>
                </a:cxn>
                <a:cxn ang="0">
                  <a:pos x="T6" y="T7"/>
                </a:cxn>
              </a:cxnLst>
              <a:rect l="0" t="0" r="r" b="b"/>
              <a:pathLst>
                <a:path w="102" h="92">
                  <a:moveTo>
                    <a:pt x="101" y="0"/>
                  </a:moveTo>
                  <a:lnTo>
                    <a:pt x="101" y="91"/>
                  </a:lnTo>
                  <a:lnTo>
                    <a:pt x="0" y="91"/>
                  </a:lnTo>
                  <a:lnTo>
                    <a:pt x="0"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9" name="Line 130"/>
            <p:cNvSpPr>
              <a:spLocks noChangeShapeType="1"/>
            </p:cNvSpPr>
            <p:nvPr/>
          </p:nvSpPr>
          <p:spPr bwMode="auto">
            <a:xfrm flipH="1">
              <a:off x="6413501" y="5646738"/>
              <a:ext cx="13811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0" name="Freeform 131"/>
            <p:cNvSpPr>
              <a:spLocks/>
            </p:cNvSpPr>
            <p:nvPr/>
          </p:nvSpPr>
          <p:spPr bwMode="auto">
            <a:xfrm>
              <a:off x="6292850" y="5548314"/>
              <a:ext cx="103188" cy="96837"/>
            </a:xfrm>
            <a:custGeom>
              <a:avLst/>
              <a:gdLst>
                <a:gd name="T0" fmla="*/ 0 w 72"/>
                <a:gd name="T1" fmla="*/ 20 h 70"/>
                <a:gd name="T2" fmla="*/ 0 w 72"/>
                <a:gd name="T3" fmla="*/ 49 h 70"/>
                <a:gd name="T4" fmla="*/ 20 w 72"/>
                <a:gd name="T5" fmla="*/ 69 h 70"/>
                <a:gd name="T6" fmla="*/ 51 w 72"/>
                <a:gd name="T7" fmla="*/ 69 h 70"/>
                <a:gd name="T8" fmla="*/ 71 w 72"/>
                <a:gd name="T9" fmla="*/ 49 h 70"/>
                <a:gd name="T10" fmla="*/ 71 w 72"/>
                <a:gd name="T11" fmla="*/ 20 h 70"/>
                <a:gd name="T12" fmla="*/ 51 w 72"/>
                <a:gd name="T13" fmla="*/ 0 h 70"/>
                <a:gd name="T14" fmla="*/ 51 w 72"/>
                <a:gd name="T15" fmla="*/ 0 h 70"/>
                <a:gd name="T16" fmla="*/ 20 w 72"/>
                <a:gd name="T17" fmla="*/ 0 h 70"/>
                <a:gd name="T18" fmla="*/ 0 w 72"/>
                <a:gd name="T19" fmla="*/ 2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0">
                  <a:moveTo>
                    <a:pt x="0" y="20"/>
                  </a:moveTo>
                  <a:lnTo>
                    <a:pt x="0" y="49"/>
                  </a:lnTo>
                  <a:lnTo>
                    <a:pt x="20" y="69"/>
                  </a:lnTo>
                  <a:lnTo>
                    <a:pt x="51" y="69"/>
                  </a:lnTo>
                  <a:lnTo>
                    <a:pt x="71" y="49"/>
                  </a:lnTo>
                  <a:lnTo>
                    <a:pt x="71" y="20"/>
                  </a:lnTo>
                  <a:lnTo>
                    <a:pt x="51" y="0"/>
                  </a:lnTo>
                  <a:lnTo>
                    <a:pt x="51" y="0"/>
                  </a:lnTo>
                  <a:lnTo>
                    <a:pt x="20" y="0"/>
                  </a:lnTo>
                  <a:lnTo>
                    <a:pt x="0" y="2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1" name="Line 132"/>
            <p:cNvSpPr>
              <a:spLocks noChangeShapeType="1"/>
            </p:cNvSpPr>
            <p:nvPr/>
          </p:nvSpPr>
          <p:spPr bwMode="auto">
            <a:xfrm>
              <a:off x="6315076" y="5076825"/>
              <a:ext cx="11113" cy="1793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2" name="Freeform 133"/>
            <p:cNvSpPr>
              <a:spLocks/>
            </p:cNvSpPr>
            <p:nvPr/>
          </p:nvSpPr>
          <p:spPr bwMode="auto">
            <a:xfrm>
              <a:off x="6321425" y="5130800"/>
              <a:ext cx="266700" cy="120650"/>
            </a:xfrm>
            <a:custGeom>
              <a:avLst/>
              <a:gdLst>
                <a:gd name="T0" fmla="*/ 184 w 185"/>
                <a:gd name="T1" fmla="*/ 85 h 86"/>
                <a:gd name="T2" fmla="*/ 167 w 185"/>
                <a:gd name="T3" fmla="*/ 0 h 86"/>
                <a:gd name="T4" fmla="*/ 0 w 185"/>
                <a:gd name="T5" fmla="*/ 0 h 86"/>
                <a:gd name="T6" fmla="*/ 6 w 185"/>
                <a:gd name="T7" fmla="*/ 85 h 86"/>
                <a:gd name="T8" fmla="*/ 184 w 185"/>
                <a:gd name="T9" fmla="*/ 85 h 86"/>
              </a:gdLst>
              <a:ahLst/>
              <a:cxnLst>
                <a:cxn ang="0">
                  <a:pos x="T0" y="T1"/>
                </a:cxn>
                <a:cxn ang="0">
                  <a:pos x="T2" y="T3"/>
                </a:cxn>
                <a:cxn ang="0">
                  <a:pos x="T4" y="T5"/>
                </a:cxn>
                <a:cxn ang="0">
                  <a:pos x="T6" y="T7"/>
                </a:cxn>
                <a:cxn ang="0">
                  <a:pos x="T8" y="T9"/>
                </a:cxn>
              </a:cxnLst>
              <a:rect l="0" t="0" r="r" b="b"/>
              <a:pathLst>
                <a:path w="185" h="86">
                  <a:moveTo>
                    <a:pt x="184" y="85"/>
                  </a:moveTo>
                  <a:lnTo>
                    <a:pt x="167" y="0"/>
                  </a:lnTo>
                  <a:lnTo>
                    <a:pt x="0" y="0"/>
                  </a:lnTo>
                  <a:lnTo>
                    <a:pt x="6" y="85"/>
                  </a:lnTo>
                  <a:lnTo>
                    <a:pt x="184" y="85"/>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3" name="Freeform 134" descr="Outlined diamond"/>
            <p:cNvSpPr>
              <a:spLocks/>
            </p:cNvSpPr>
            <p:nvPr/>
          </p:nvSpPr>
          <p:spPr bwMode="auto">
            <a:xfrm>
              <a:off x="6324600" y="5178425"/>
              <a:ext cx="255588" cy="38100"/>
            </a:xfrm>
            <a:custGeom>
              <a:avLst/>
              <a:gdLst>
                <a:gd name="T0" fmla="*/ 171 w 178"/>
                <a:gd name="T1" fmla="*/ 0 h 27"/>
                <a:gd name="T2" fmla="*/ 0 w 178"/>
                <a:gd name="T3" fmla="*/ 0 h 27"/>
                <a:gd name="T4" fmla="*/ 6 w 178"/>
                <a:gd name="T5" fmla="*/ 26 h 27"/>
                <a:gd name="T6" fmla="*/ 177 w 178"/>
                <a:gd name="T7" fmla="*/ 25 h 27"/>
                <a:gd name="T8" fmla="*/ 171 w 178"/>
                <a:gd name="T9" fmla="*/ 2 h 27"/>
                <a:gd name="T10" fmla="*/ 171 w 178"/>
                <a:gd name="T11" fmla="*/ 0 h 27"/>
                <a:gd name="T12" fmla="*/ 171 w 178"/>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78" h="27">
                  <a:moveTo>
                    <a:pt x="171" y="0"/>
                  </a:moveTo>
                  <a:lnTo>
                    <a:pt x="0" y="0"/>
                  </a:lnTo>
                  <a:lnTo>
                    <a:pt x="6" y="26"/>
                  </a:lnTo>
                  <a:lnTo>
                    <a:pt x="177" y="25"/>
                  </a:lnTo>
                  <a:lnTo>
                    <a:pt x="171" y="2"/>
                  </a:lnTo>
                  <a:lnTo>
                    <a:pt x="171" y="0"/>
                  </a:lnTo>
                  <a:lnTo>
                    <a:pt x="171" y="0"/>
                  </a:lnTo>
                </a:path>
              </a:pathLst>
            </a:custGeom>
            <a:pattFill prst="openDmnd">
              <a:fgClr>
                <a:srgbClr val="000000"/>
              </a:fgClr>
              <a:bgClr>
                <a:srgbClr val="FFFFFF"/>
              </a:bgClr>
            </a:patt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4" name="Freeform 135"/>
            <p:cNvSpPr>
              <a:spLocks/>
            </p:cNvSpPr>
            <p:nvPr/>
          </p:nvSpPr>
          <p:spPr bwMode="auto">
            <a:xfrm>
              <a:off x="6548438" y="5183188"/>
              <a:ext cx="36512" cy="17462"/>
            </a:xfrm>
            <a:custGeom>
              <a:avLst/>
              <a:gdLst>
                <a:gd name="T0" fmla="*/ 23 w 26"/>
                <a:gd name="T1" fmla="*/ 2 h 12"/>
                <a:gd name="T2" fmla="*/ 0 w 26"/>
                <a:gd name="T3" fmla="*/ 4 h 12"/>
                <a:gd name="T4" fmla="*/ 3 w 26"/>
                <a:gd name="T5" fmla="*/ 11 h 12"/>
                <a:gd name="T6" fmla="*/ 25 w 26"/>
                <a:gd name="T7" fmla="*/ 11 h 12"/>
                <a:gd name="T8" fmla="*/ 23 w 26"/>
                <a:gd name="T9" fmla="*/ 0 h 12"/>
                <a:gd name="T10" fmla="*/ 23 w 26"/>
                <a:gd name="T11" fmla="*/ 2 h 12"/>
                <a:gd name="T12" fmla="*/ 23 w 26"/>
                <a:gd name="T13" fmla="*/ 2 h 12"/>
              </a:gdLst>
              <a:ahLst/>
              <a:cxnLst>
                <a:cxn ang="0">
                  <a:pos x="T0" y="T1"/>
                </a:cxn>
                <a:cxn ang="0">
                  <a:pos x="T2" y="T3"/>
                </a:cxn>
                <a:cxn ang="0">
                  <a:pos x="T4" y="T5"/>
                </a:cxn>
                <a:cxn ang="0">
                  <a:pos x="T6" y="T7"/>
                </a:cxn>
                <a:cxn ang="0">
                  <a:pos x="T8" y="T9"/>
                </a:cxn>
                <a:cxn ang="0">
                  <a:pos x="T10" y="T11"/>
                </a:cxn>
                <a:cxn ang="0">
                  <a:pos x="T12" y="T13"/>
                </a:cxn>
              </a:cxnLst>
              <a:rect l="0" t="0" r="r" b="b"/>
              <a:pathLst>
                <a:path w="26" h="12">
                  <a:moveTo>
                    <a:pt x="23" y="2"/>
                  </a:moveTo>
                  <a:lnTo>
                    <a:pt x="0" y="4"/>
                  </a:lnTo>
                  <a:lnTo>
                    <a:pt x="3" y="11"/>
                  </a:lnTo>
                  <a:lnTo>
                    <a:pt x="25" y="11"/>
                  </a:lnTo>
                  <a:lnTo>
                    <a:pt x="23" y="0"/>
                  </a:lnTo>
                  <a:lnTo>
                    <a:pt x="23" y="2"/>
                  </a:lnTo>
                  <a:lnTo>
                    <a:pt x="23" y="2"/>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5" name="Line 136"/>
            <p:cNvSpPr>
              <a:spLocks noChangeShapeType="1"/>
            </p:cNvSpPr>
            <p:nvPr/>
          </p:nvSpPr>
          <p:spPr bwMode="auto">
            <a:xfrm flipV="1">
              <a:off x="6008688" y="4840289"/>
              <a:ext cx="74612" cy="4984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6" name="Line 137"/>
            <p:cNvSpPr>
              <a:spLocks noChangeShapeType="1"/>
            </p:cNvSpPr>
            <p:nvPr/>
          </p:nvSpPr>
          <p:spPr bwMode="auto">
            <a:xfrm>
              <a:off x="6088064" y="4840288"/>
              <a:ext cx="58737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7" name="Freeform 138"/>
            <p:cNvSpPr>
              <a:spLocks/>
            </p:cNvSpPr>
            <p:nvPr/>
          </p:nvSpPr>
          <p:spPr bwMode="auto">
            <a:xfrm>
              <a:off x="6007101" y="5343525"/>
              <a:ext cx="257175" cy="350838"/>
            </a:xfrm>
            <a:custGeom>
              <a:avLst/>
              <a:gdLst>
                <a:gd name="T0" fmla="*/ 178 w 179"/>
                <a:gd name="T1" fmla="*/ 139 h 251"/>
                <a:gd name="T2" fmla="*/ 178 w 179"/>
                <a:gd name="T3" fmla="*/ 250 h 251"/>
                <a:gd name="T4" fmla="*/ 0 w 179"/>
                <a:gd name="T5" fmla="*/ 250 h 251"/>
                <a:gd name="T6" fmla="*/ 0 w 179"/>
                <a:gd name="T7" fmla="*/ 0 h 251"/>
              </a:gdLst>
              <a:ahLst/>
              <a:cxnLst>
                <a:cxn ang="0">
                  <a:pos x="T0" y="T1"/>
                </a:cxn>
                <a:cxn ang="0">
                  <a:pos x="T2" y="T3"/>
                </a:cxn>
                <a:cxn ang="0">
                  <a:pos x="T4" y="T5"/>
                </a:cxn>
                <a:cxn ang="0">
                  <a:pos x="T6" y="T7"/>
                </a:cxn>
              </a:cxnLst>
              <a:rect l="0" t="0" r="r" b="b"/>
              <a:pathLst>
                <a:path w="179" h="251">
                  <a:moveTo>
                    <a:pt x="178" y="139"/>
                  </a:moveTo>
                  <a:lnTo>
                    <a:pt x="178" y="250"/>
                  </a:lnTo>
                  <a:lnTo>
                    <a:pt x="0" y="250"/>
                  </a:lnTo>
                  <a:lnTo>
                    <a:pt x="0"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8" name="Line 139"/>
            <p:cNvSpPr>
              <a:spLocks noChangeShapeType="1"/>
            </p:cNvSpPr>
            <p:nvPr/>
          </p:nvSpPr>
          <p:spPr bwMode="auto">
            <a:xfrm flipH="1">
              <a:off x="6008689" y="5329238"/>
              <a:ext cx="81438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9" name="Line 140"/>
            <p:cNvSpPr>
              <a:spLocks noChangeShapeType="1"/>
            </p:cNvSpPr>
            <p:nvPr/>
          </p:nvSpPr>
          <p:spPr bwMode="auto">
            <a:xfrm flipH="1">
              <a:off x="6269039" y="5529263"/>
              <a:ext cx="28257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0" name="Freeform 141"/>
            <p:cNvSpPr>
              <a:spLocks/>
            </p:cNvSpPr>
            <p:nvPr/>
          </p:nvSpPr>
          <p:spPr bwMode="auto">
            <a:xfrm>
              <a:off x="2897189" y="5522913"/>
              <a:ext cx="681037" cy="138112"/>
            </a:xfrm>
            <a:custGeom>
              <a:avLst/>
              <a:gdLst>
                <a:gd name="T0" fmla="*/ 1 w 472"/>
                <a:gd name="T1" fmla="*/ 0 h 99"/>
                <a:gd name="T2" fmla="*/ 471 w 472"/>
                <a:gd name="T3" fmla="*/ 0 h 99"/>
                <a:gd name="T4" fmla="*/ 471 w 472"/>
                <a:gd name="T5" fmla="*/ 86 h 99"/>
                <a:gd name="T6" fmla="*/ 366 w 472"/>
                <a:gd name="T7" fmla="*/ 86 h 99"/>
                <a:gd name="T8" fmla="*/ 366 w 472"/>
                <a:gd name="T9" fmla="*/ 98 h 99"/>
                <a:gd name="T10" fmla="*/ 275 w 472"/>
                <a:gd name="T11" fmla="*/ 98 h 99"/>
                <a:gd name="T12" fmla="*/ 275 w 472"/>
                <a:gd name="T13" fmla="*/ 82 h 99"/>
                <a:gd name="T14" fmla="*/ 193 w 472"/>
                <a:gd name="T15" fmla="*/ 82 h 99"/>
                <a:gd name="T16" fmla="*/ 193 w 472"/>
                <a:gd name="T17" fmla="*/ 97 h 99"/>
                <a:gd name="T18" fmla="*/ 96 w 472"/>
                <a:gd name="T19" fmla="*/ 97 h 99"/>
                <a:gd name="T20" fmla="*/ 96 w 472"/>
                <a:gd name="T21" fmla="*/ 86 h 99"/>
                <a:gd name="T22" fmla="*/ 0 w 472"/>
                <a:gd name="T23" fmla="*/ 86 h 99"/>
                <a:gd name="T24" fmla="*/ 1 w 472"/>
                <a:gd name="T25" fmla="*/ 0 h 99"/>
                <a:gd name="T26" fmla="*/ 1 w 472"/>
                <a:gd name="T27"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2" h="99">
                  <a:moveTo>
                    <a:pt x="1" y="0"/>
                  </a:moveTo>
                  <a:lnTo>
                    <a:pt x="471" y="0"/>
                  </a:lnTo>
                  <a:lnTo>
                    <a:pt x="471" y="86"/>
                  </a:lnTo>
                  <a:lnTo>
                    <a:pt x="366" y="86"/>
                  </a:lnTo>
                  <a:lnTo>
                    <a:pt x="366" y="98"/>
                  </a:lnTo>
                  <a:lnTo>
                    <a:pt x="275" y="98"/>
                  </a:lnTo>
                  <a:lnTo>
                    <a:pt x="275" y="82"/>
                  </a:lnTo>
                  <a:lnTo>
                    <a:pt x="193" y="82"/>
                  </a:lnTo>
                  <a:lnTo>
                    <a:pt x="193" y="97"/>
                  </a:lnTo>
                  <a:lnTo>
                    <a:pt x="96" y="97"/>
                  </a:lnTo>
                  <a:lnTo>
                    <a:pt x="96" y="86"/>
                  </a:lnTo>
                  <a:lnTo>
                    <a:pt x="0" y="86"/>
                  </a:lnTo>
                  <a:lnTo>
                    <a:pt x="1" y="0"/>
                  </a:lnTo>
                  <a:lnTo>
                    <a:pt x="1" y="0"/>
                  </a:lnTo>
                </a:path>
              </a:pathLst>
            </a:custGeom>
            <a:gradFill rotWithShape="0">
              <a:gsLst>
                <a:gs pos="0">
                  <a:srgbClr val="FFE118"/>
                </a:gs>
                <a:gs pos="50000">
                  <a:srgbClr val="FFFF80"/>
                </a:gs>
                <a:gs pos="100000">
                  <a:srgbClr val="FFE118"/>
                </a:gs>
              </a:gsLst>
              <a:lin ang="0" scaled="1"/>
            </a:gra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1" name="Freeform 142"/>
            <p:cNvSpPr>
              <a:spLocks/>
            </p:cNvSpPr>
            <p:nvPr/>
          </p:nvSpPr>
          <p:spPr bwMode="auto">
            <a:xfrm>
              <a:off x="2628901" y="4832350"/>
              <a:ext cx="1203325" cy="850900"/>
            </a:xfrm>
            <a:custGeom>
              <a:avLst/>
              <a:gdLst>
                <a:gd name="T0" fmla="*/ 358 w 833"/>
                <a:gd name="T1" fmla="*/ 3 h 608"/>
                <a:gd name="T2" fmla="*/ 97 w 833"/>
                <a:gd name="T3" fmla="*/ 3 h 608"/>
                <a:gd name="T4" fmla="*/ 100 w 833"/>
                <a:gd name="T5" fmla="*/ 0 h 608"/>
                <a:gd name="T6" fmla="*/ 0 w 833"/>
                <a:gd name="T7" fmla="*/ 352 h 608"/>
                <a:gd name="T8" fmla="*/ 0 w 833"/>
                <a:gd name="T9" fmla="*/ 607 h 608"/>
                <a:gd name="T10" fmla="*/ 185 w 833"/>
                <a:gd name="T11" fmla="*/ 607 h 608"/>
                <a:gd name="T12" fmla="*/ 185 w 833"/>
                <a:gd name="T13" fmla="*/ 494 h 608"/>
                <a:gd name="T14" fmla="*/ 200 w 833"/>
                <a:gd name="T15" fmla="*/ 494 h 608"/>
                <a:gd name="T16" fmla="*/ 655 w 833"/>
                <a:gd name="T17" fmla="*/ 494 h 608"/>
                <a:gd name="T18" fmla="*/ 655 w 833"/>
                <a:gd name="T19" fmla="*/ 607 h 608"/>
                <a:gd name="T20" fmla="*/ 832 w 833"/>
                <a:gd name="T21" fmla="*/ 607 h 608"/>
                <a:gd name="T22" fmla="*/ 832 w 833"/>
                <a:gd name="T23" fmla="*/ 355 h 608"/>
                <a:gd name="T24" fmla="*/ 747 w 833"/>
                <a:gd name="T25" fmla="*/ 3 h 608"/>
                <a:gd name="T26" fmla="*/ 358 w 833"/>
                <a:gd name="T27" fmla="*/ 3 h 608"/>
                <a:gd name="T28" fmla="*/ 358 w 833"/>
                <a:gd name="T29" fmla="*/ 3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33" h="608">
                  <a:moveTo>
                    <a:pt x="358" y="3"/>
                  </a:moveTo>
                  <a:lnTo>
                    <a:pt x="97" y="3"/>
                  </a:lnTo>
                  <a:lnTo>
                    <a:pt x="100" y="0"/>
                  </a:lnTo>
                  <a:lnTo>
                    <a:pt x="0" y="352"/>
                  </a:lnTo>
                  <a:lnTo>
                    <a:pt x="0" y="607"/>
                  </a:lnTo>
                  <a:lnTo>
                    <a:pt x="185" y="607"/>
                  </a:lnTo>
                  <a:lnTo>
                    <a:pt x="185" y="494"/>
                  </a:lnTo>
                  <a:lnTo>
                    <a:pt x="200" y="494"/>
                  </a:lnTo>
                  <a:lnTo>
                    <a:pt x="655" y="494"/>
                  </a:lnTo>
                  <a:lnTo>
                    <a:pt x="655" y="607"/>
                  </a:lnTo>
                  <a:lnTo>
                    <a:pt x="832" y="607"/>
                  </a:lnTo>
                  <a:lnTo>
                    <a:pt x="832" y="355"/>
                  </a:lnTo>
                  <a:lnTo>
                    <a:pt x="747" y="3"/>
                  </a:lnTo>
                  <a:lnTo>
                    <a:pt x="358" y="3"/>
                  </a:lnTo>
                  <a:lnTo>
                    <a:pt x="358" y="3"/>
                  </a:lnTo>
                </a:path>
              </a:pathLst>
            </a:custGeom>
            <a:gradFill rotWithShape="0">
              <a:gsLst>
                <a:gs pos="0">
                  <a:srgbClr val="FFBF18"/>
                </a:gs>
                <a:gs pos="50000">
                  <a:srgbClr val="FFFF80"/>
                </a:gs>
                <a:gs pos="100000">
                  <a:srgbClr val="FFBF18"/>
                </a:gs>
              </a:gsLst>
              <a:lin ang="5400000" scaled="1"/>
            </a:gra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2" name="Line 143"/>
            <p:cNvSpPr>
              <a:spLocks noChangeShapeType="1"/>
            </p:cNvSpPr>
            <p:nvPr/>
          </p:nvSpPr>
          <p:spPr bwMode="auto">
            <a:xfrm flipH="1">
              <a:off x="2630488" y="4841875"/>
              <a:ext cx="139700" cy="4841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3" name="Freeform 144"/>
            <p:cNvSpPr>
              <a:spLocks/>
            </p:cNvSpPr>
            <p:nvPr/>
          </p:nvSpPr>
          <p:spPr bwMode="auto">
            <a:xfrm>
              <a:off x="2630489" y="5326063"/>
              <a:ext cx="268287" cy="355600"/>
            </a:xfrm>
            <a:custGeom>
              <a:avLst/>
              <a:gdLst>
                <a:gd name="T0" fmla="*/ 0 w 186"/>
                <a:gd name="T1" fmla="*/ 0 h 253"/>
                <a:gd name="T2" fmla="*/ 0 w 186"/>
                <a:gd name="T3" fmla="*/ 252 h 253"/>
                <a:gd name="T4" fmla="*/ 185 w 186"/>
                <a:gd name="T5" fmla="*/ 252 h 253"/>
                <a:gd name="T6" fmla="*/ 185 w 186"/>
                <a:gd name="T7" fmla="*/ 142 h 253"/>
              </a:gdLst>
              <a:ahLst/>
              <a:cxnLst>
                <a:cxn ang="0">
                  <a:pos x="T0" y="T1"/>
                </a:cxn>
                <a:cxn ang="0">
                  <a:pos x="T2" y="T3"/>
                </a:cxn>
                <a:cxn ang="0">
                  <a:pos x="T4" y="T5"/>
                </a:cxn>
                <a:cxn ang="0">
                  <a:pos x="T6" y="T7"/>
                </a:cxn>
              </a:cxnLst>
              <a:rect l="0" t="0" r="r" b="b"/>
              <a:pathLst>
                <a:path w="186" h="253">
                  <a:moveTo>
                    <a:pt x="0" y="0"/>
                  </a:moveTo>
                  <a:lnTo>
                    <a:pt x="0" y="252"/>
                  </a:lnTo>
                  <a:lnTo>
                    <a:pt x="185" y="252"/>
                  </a:lnTo>
                  <a:lnTo>
                    <a:pt x="185" y="142"/>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4" name="Freeform 145"/>
            <p:cNvSpPr>
              <a:spLocks/>
            </p:cNvSpPr>
            <p:nvPr/>
          </p:nvSpPr>
          <p:spPr bwMode="auto">
            <a:xfrm>
              <a:off x="3536950" y="4921251"/>
              <a:ext cx="52388" cy="49213"/>
            </a:xfrm>
            <a:custGeom>
              <a:avLst/>
              <a:gdLst>
                <a:gd name="T0" fmla="*/ 0 w 36"/>
                <a:gd name="T1" fmla="*/ 0 h 35"/>
                <a:gd name="T2" fmla="*/ 0 w 36"/>
                <a:gd name="T3" fmla="*/ 0 h 35"/>
                <a:gd name="T4" fmla="*/ 3 w 36"/>
                <a:gd name="T5" fmla="*/ 0 h 35"/>
                <a:gd name="T6" fmla="*/ 5 w 36"/>
                <a:gd name="T7" fmla="*/ 0 h 35"/>
                <a:gd name="T8" fmla="*/ 7 w 36"/>
                <a:gd name="T9" fmla="*/ 1 h 35"/>
                <a:gd name="T10" fmla="*/ 10 w 36"/>
                <a:gd name="T11" fmla="*/ 1 h 35"/>
                <a:gd name="T12" fmla="*/ 11 w 36"/>
                <a:gd name="T13" fmla="*/ 1 h 35"/>
                <a:gd name="T14" fmla="*/ 14 w 36"/>
                <a:gd name="T15" fmla="*/ 2 h 35"/>
                <a:gd name="T16" fmla="*/ 15 w 36"/>
                <a:gd name="T17" fmla="*/ 3 h 35"/>
                <a:gd name="T18" fmla="*/ 17 w 36"/>
                <a:gd name="T19" fmla="*/ 4 h 35"/>
                <a:gd name="T20" fmla="*/ 19 w 36"/>
                <a:gd name="T21" fmla="*/ 5 h 35"/>
                <a:gd name="T22" fmla="*/ 20 w 36"/>
                <a:gd name="T23" fmla="*/ 7 h 35"/>
                <a:gd name="T24" fmla="*/ 22 w 36"/>
                <a:gd name="T25" fmla="*/ 8 h 35"/>
                <a:gd name="T26" fmla="*/ 24 w 36"/>
                <a:gd name="T27" fmla="*/ 9 h 35"/>
                <a:gd name="T28" fmla="*/ 25 w 36"/>
                <a:gd name="T29" fmla="*/ 11 h 35"/>
                <a:gd name="T30" fmla="*/ 27 w 36"/>
                <a:gd name="T31" fmla="*/ 13 h 35"/>
                <a:gd name="T32" fmla="*/ 29 w 36"/>
                <a:gd name="T33" fmla="*/ 13 h 35"/>
                <a:gd name="T34" fmla="*/ 29 w 36"/>
                <a:gd name="T35" fmla="*/ 16 h 35"/>
                <a:gd name="T36" fmla="*/ 31 w 36"/>
                <a:gd name="T37" fmla="*/ 18 h 35"/>
                <a:gd name="T38" fmla="*/ 31 w 36"/>
                <a:gd name="T39" fmla="*/ 19 h 35"/>
                <a:gd name="T40" fmla="*/ 33 w 36"/>
                <a:gd name="T41" fmla="*/ 21 h 35"/>
                <a:gd name="T42" fmla="*/ 33 w 36"/>
                <a:gd name="T43" fmla="*/ 23 h 35"/>
                <a:gd name="T44" fmla="*/ 33 w 36"/>
                <a:gd name="T45" fmla="*/ 25 h 35"/>
                <a:gd name="T46" fmla="*/ 35 w 36"/>
                <a:gd name="T47" fmla="*/ 28 h 35"/>
                <a:gd name="T48" fmla="*/ 35 w 36"/>
                <a:gd name="T49" fmla="*/ 29 h 35"/>
                <a:gd name="T50" fmla="*/ 35 w 36"/>
                <a:gd name="T51" fmla="*/ 32 h 35"/>
                <a:gd name="T52" fmla="*/ 35 w 36"/>
                <a:gd name="T53" fmla="*/ 34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0" y="0"/>
                  </a:moveTo>
                  <a:lnTo>
                    <a:pt x="0" y="0"/>
                  </a:lnTo>
                  <a:lnTo>
                    <a:pt x="3" y="0"/>
                  </a:lnTo>
                  <a:lnTo>
                    <a:pt x="5" y="0"/>
                  </a:lnTo>
                  <a:lnTo>
                    <a:pt x="7" y="1"/>
                  </a:lnTo>
                  <a:lnTo>
                    <a:pt x="10" y="1"/>
                  </a:lnTo>
                  <a:lnTo>
                    <a:pt x="11" y="1"/>
                  </a:lnTo>
                  <a:lnTo>
                    <a:pt x="14" y="2"/>
                  </a:lnTo>
                  <a:lnTo>
                    <a:pt x="15" y="3"/>
                  </a:lnTo>
                  <a:lnTo>
                    <a:pt x="17" y="4"/>
                  </a:lnTo>
                  <a:lnTo>
                    <a:pt x="19" y="5"/>
                  </a:lnTo>
                  <a:lnTo>
                    <a:pt x="20" y="7"/>
                  </a:lnTo>
                  <a:lnTo>
                    <a:pt x="22" y="8"/>
                  </a:lnTo>
                  <a:lnTo>
                    <a:pt x="24" y="9"/>
                  </a:lnTo>
                  <a:lnTo>
                    <a:pt x="25" y="11"/>
                  </a:lnTo>
                  <a:lnTo>
                    <a:pt x="27" y="13"/>
                  </a:lnTo>
                  <a:lnTo>
                    <a:pt x="29" y="13"/>
                  </a:lnTo>
                  <a:lnTo>
                    <a:pt x="29" y="16"/>
                  </a:lnTo>
                  <a:lnTo>
                    <a:pt x="31" y="18"/>
                  </a:lnTo>
                  <a:lnTo>
                    <a:pt x="31" y="19"/>
                  </a:lnTo>
                  <a:lnTo>
                    <a:pt x="33" y="21"/>
                  </a:lnTo>
                  <a:lnTo>
                    <a:pt x="33" y="23"/>
                  </a:lnTo>
                  <a:lnTo>
                    <a:pt x="33" y="25"/>
                  </a:lnTo>
                  <a:lnTo>
                    <a:pt x="35" y="28"/>
                  </a:lnTo>
                  <a:lnTo>
                    <a:pt x="35" y="29"/>
                  </a:lnTo>
                  <a:lnTo>
                    <a:pt x="35" y="32"/>
                  </a:lnTo>
                  <a:lnTo>
                    <a:pt x="35" y="34"/>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5" name="Freeform 146"/>
            <p:cNvSpPr>
              <a:spLocks/>
            </p:cNvSpPr>
            <p:nvPr/>
          </p:nvSpPr>
          <p:spPr bwMode="auto">
            <a:xfrm>
              <a:off x="2871789" y="4921251"/>
              <a:ext cx="52387" cy="49213"/>
            </a:xfrm>
            <a:custGeom>
              <a:avLst/>
              <a:gdLst>
                <a:gd name="T0" fmla="*/ 0 w 36"/>
                <a:gd name="T1" fmla="*/ 34 h 35"/>
                <a:gd name="T2" fmla="*/ 0 w 36"/>
                <a:gd name="T3" fmla="*/ 34 h 35"/>
                <a:gd name="T4" fmla="*/ 0 w 36"/>
                <a:gd name="T5" fmla="*/ 32 h 35"/>
                <a:gd name="T6" fmla="*/ 0 w 36"/>
                <a:gd name="T7" fmla="*/ 29 h 35"/>
                <a:gd name="T8" fmla="*/ 2 w 36"/>
                <a:gd name="T9" fmla="*/ 28 h 35"/>
                <a:gd name="T10" fmla="*/ 2 w 36"/>
                <a:gd name="T11" fmla="*/ 25 h 35"/>
                <a:gd name="T12" fmla="*/ 2 w 36"/>
                <a:gd name="T13" fmla="*/ 23 h 35"/>
                <a:gd name="T14" fmla="*/ 4 w 36"/>
                <a:gd name="T15" fmla="*/ 21 h 35"/>
                <a:gd name="T16" fmla="*/ 4 w 36"/>
                <a:gd name="T17" fmla="*/ 19 h 35"/>
                <a:gd name="T18" fmla="*/ 5 w 36"/>
                <a:gd name="T19" fmla="*/ 18 h 35"/>
                <a:gd name="T20" fmla="*/ 6 w 36"/>
                <a:gd name="T21" fmla="*/ 15 h 35"/>
                <a:gd name="T22" fmla="*/ 8 w 36"/>
                <a:gd name="T23" fmla="*/ 13 h 35"/>
                <a:gd name="T24" fmla="*/ 9 w 36"/>
                <a:gd name="T25" fmla="*/ 13 h 35"/>
                <a:gd name="T26" fmla="*/ 10 w 36"/>
                <a:gd name="T27" fmla="*/ 11 h 35"/>
                <a:gd name="T28" fmla="*/ 12 w 36"/>
                <a:gd name="T29" fmla="*/ 9 h 35"/>
                <a:gd name="T30" fmla="*/ 13 w 36"/>
                <a:gd name="T31" fmla="*/ 7 h 35"/>
                <a:gd name="T32" fmla="*/ 15 w 36"/>
                <a:gd name="T33" fmla="*/ 7 h 35"/>
                <a:gd name="T34" fmla="*/ 16 w 36"/>
                <a:gd name="T35" fmla="*/ 5 h 35"/>
                <a:gd name="T36" fmla="*/ 19 w 36"/>
                <a:gd name="T37" fmla="*/ 4 h 35"/>
                <a:gd name="T38" fmla="*/ 21 w 36"/>
                <a:gd name="T39" fmla="*/ 3 h 35"/>
                <a:gd name="T40" fmla="*/ 23 w 36"/>
                <a:gd name="T41" fmla="*/ 2 h 35"/>
                <a:gd name="T42" fmla="*/ 24 w 36"/>
                <a:gd name="T43" fmla="*/ 1 h 35"/>
                <a:gd name="T44" fmla="*/ 27 w 36"/>
                <a:gd name="T45" fmla="*/ 1 h 35"/>
                <a:gd name="T46" fmla="*/ 29 w 36"/>
                <a:gd name="T47" fmla="*/ 1 h 35"/>
                <a:gd name="T48" fmla="*/ 31 w 36"/>
                <a:gd name="T49" fmla="*/ 0 h 35"/>
                <a:gd name="T50" fmla="*/ 33 w 36"/>
                <a:gd name="T51" fmla="*/ 0 h 35"/>
                <a:gd name="T52" fmla="*/ 35 w 36"/>
                <a:gd name="T5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0" y="34"/>
                  </a:moveTo>
                  <a:lnTo>
                    <a:pt x="0" y="34"/>
                  </a:lnTo>
                  <a:lnTo>
                    <a:pt x="0" y="32"/>
                  </a:lnTo>
                  <a:lnTo>
                    <a:pt x="0" y="29"/>
                  </a:lnTo>
                  <a:lnTo>
                    <a:pt x="2" y="28"/>
                  </a:lnTo>
                  <a:lnTo>
                    <a:pt x="2" y="25"/>
                  </a:lnTo>
                  <a:lnTo>
                    <a:pt x="2" y="23"/>
                  </a:lnTo>
                  <a:lnTo>
                    <a:pt x="4" y="21"/>
                  </a:lnTo>
                  <a:lnTo>
                    <a:pt x="4" y="19"/>
                  </a:lnTo>
                  <a:lnTo>
                    <a:pt x="5" y="18"/>
                  </a:lnTo>
                  <a:lnTo>
                    <a:pt x="6" y="15"/>
                  </a:lnTo>
                  <a:lnTo>
                    <a:pt x="8" y="13"/>
                  </a:lnTo>
                  <a:lnTo>
                    <a:pt x="9" y="13"/>
                  </a:lnTo>
                  <a:lnTo>
                    <a:pt x="10" y="11"/>
                  </a:lnTo>
                  <a:lnTo>
                    <a:pt x="12" y="9"/>
                  </a:lnTo>
                  <a:lnTo>
                    <a:pt x="13" y="7"/>
                  </a:lnTo>
                  <a:lnTo>
                    <a:pt x="15" y="7"/>
                  </a:lnTo>
                  <a:lnTo>
                    <a:pt x="16" y="5"/>
                  </a:lnTo>
                  <a:lnTo>
                    <a:pt x="19" y="4"/>
                  </a:lnTo>
                  <a:lnTo>
                    <a:pt x="21" y="3"/>
                  </a:lnTo>
                  <a:lnTo>
                    <a:pt x="23" y="2"/>
                  </a:lnTo>
                  <a:lnTo>
                    <a:pt x="24" y="1"/>
                  </a:lnTo>
                  <a:lnTo>
                    <a:pt x="27" y="1"/>
                  </a:lnTo>
                  <a:lnTo>
                    <a:pt x="29" y="1"/>
                  </a:lnTo>
                  <a:lnTo>
                    <a:pt x="31" y="0"/>
                  </a:lnTo>
                  <a:lnTo>
                    <a:pt x="33" y="0"/>
                  </a:lnTo>
                  <a:lnTo>
                    <a:pt x="35"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6" name="Freeform 147"/>
            <p:cNvSpPr>
              <a:spLocks/>
            </p:cNvSpPr>
            <p:nvPr/>
          </p:nvSpPr>
          <p:spPr bwMode="auto">
            <a:xfrm>
              <a:off x="3616325" y="5184776"/>
              <a:ext cx="26988" cy="68263"/>
            </a:xfrm>
            <a:custGeom>
              <a:avLst/>
              <a:gdLst>
                <a:gd name="T0" fmla="*/ 14 w 18"/>
                <a:gd name="T1" fmla="*/ 0 h 48"/>
                <a:gd name="T2" fmla="*/ 14 w 18"/>
                <a:gd name="T3" fmla="*/ 0 h 48"/>
                <a:gd name="T4" fmla="*/ 15 w 18"/>
                <a:gd name="T5" fmla="*/ 3 h 48"/>
                <a:gd name="T6" fmla="*/ 15 w 18"/>
                <a:gd name="T7" fmla="*/ 5 h 48"/>
                <a:gd name="T8" fmla="*/ 15 w 18"/>
                <a:gd name="T9" fmla="*/ 6 h 48"/>
                <a:gd name="T10" fmla="*/ 15 w 18"/>
                <a:gd name="T11" fmla="*/ 9 h 48"/>
                <a:gd name="T12" fmla="*/ 16 w 18"/>
                <a:gd name="T13" fmla="*/ 11 h 48"/>
                <a:gd name="T14" fmla="*/ 17 w 18"/>
                <a:gd name="T15" fmla="*/ 13 h 48"/>
                <a:gd name="T16" fmla="*/ 17 w 18"/>
                <a:gd name="T17" fmla="*/ 15 h 48"/>
                <a:gd name="T18" fmla="*/ 17 w 18"/>
                <a:gd name="T19" fmla="*/ 17 h 48"/>
                <a:gd name="T20" fmla="*/ 17 w 18"/>
                <a:gd name="T21" fmla="*/ 19 h 48"/>
                <a:gd name="T22" fmla="*/ 17 w 18"/>
                <a:gd name="T23" fmla="*/ 22 h 48"/>
                <a:gd name="T24" fmla="*/ 16 w 18"/>
                <a:gd name="T25" fmla="*/ 23 h 48"/>
                <a:gd name="T26" fmla="*/ 15 w 18"/>
                <a:gd name="T27" fmla="*/ 26 h 48"/>
                <a:gd name="T28" fmla="*/ 15 w 18"/>
                <a:gd name="T29" fmla="*/ 27 h 48"/>
                <a:gd name="T30" fmla="*/ 15 w 18"/>
                <a:gd name="T31" fmla="*/ 30 h 48"/>
                <a:gd name="T32" fmla="*/ 15 w 18"/>
                <a:gd name="T33" fmla="*/ 32 h 48"/>
                <a:gd name="T34" fmla="*/ 14 w 18"/>
                <a:gd name="T35" fmla="*/ 33 h 48"/>
                <a:gd name="T36" fmla="*/ 13 w 18"/>
                <a:gd name="T37" fmla="*/ 35 h 48"/>
                <a:gd name="T38" fmla="*/ 12 w 18"/>
                <a:gd name="T39" fmla="*/ 37 h 48"/>
                <a:gd name="T40" fmla="*/ 10 w 18"/>
                <a:gd name="T41" fmla="*/ 39 h 48"/>
                <a:gd name="T42" fmla="*/ 8 w 18"/>
                <a:gd name="T43" fmla="*/ 41 h 48"/>
                <a:gd name="T44" fmla="*/ 6 w 18"/>
                <a:gd name="T45" fmla="*/ 42 h 48"/>
                <a:gd name="T46" fmla="*/ 5 w 18"/>
                <a:gd name="T47" fmla="*/ 44 h 48"/>
                <a:gd name="T48" fmla="*/ 3 w 18"/>
                <a:gd name="T49" fmla="*/ 45 h 48"/>
                <a:gd name="T50" fmla="*/ 1 w 18"/>
                <a:gd name="T51" fmla="*/ 46 h 48"/>
                <a:gd name="T52" fmla="*/ 0 w 18"/>
                <a:gd name="T53" fmla="*/ 4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 h="48">
                  <a:moveTo>
                    <a:pt x="14" y="0"/>
                  </a:moveTo>
                  <a:lnTo>
                    <a:pt x="14" y="0"/>
                  </a:lnTo>
                  <a:lnTo>
                    <a:pt x="15" y="3"/>
                  </a:lnTo>
                  <a:lnTo>
                    <a:pt x="15" y="5"/>
                  </a:lnTo>
                  <a:lnTo>
                    <a:pt x="15" y="6"/>
                  </a:lnTo>
                  <a:lnTo>
                    <a:pt x="15" y="9"/>
                  </a:lnTo>
                  <a:lnTo>
                    <a:pt x="16" y="11"/>
                  </a:lnTo>
                  <a:lnTo>
                    <a:pt x="17" y="13"/>
                  </a:lnTo>
                  <a:lnTo>
                    <a:pt x="17" y="15"/>
                  </a:lnTo>
                  <a:lnTo>
                    <a:pt x="17" y="17"/>
                  </a:lnTo>
                  <a:lnTo>
                    <a:pt x="17" y="19"/>
                  </a:lnTo>
                  <a:lnTo>
                    <a:pt x="17" y="22"/>
                  </a:lnTo>
                  <a:lnTo>
                    <a:pt x="16" y="23"/>
                  </a:lnTo>
                  <a:lnTo>
                    <a:pt x="15" y="26"/>
                  </a:lnTo>
                  <a:lnTo>
                    <a:pt x="15" y="27"/>
                  </a:lnTo>
                  <a:lnTo>
                    <a:pt x="15" y="30"/>
                  </a:lnTo>
                  <a:lnTo>
                    <a:pt x="15" y="32"/>
                  </a:lnTo>
                  <a:lnTo>
                    <a:pt x="14" y="33"/>
                  </a:lnTo>
                  <a:lnTo>
                    <a:pt x="13" y="35"/>
                  </a:lnTo>
                  <a:lnTo>
                    <a:pt x="12" y="37"/>
                  </a:lnTo>
                  <a:lnTo>
                    <a:pt x="10" y="39"/>
                  </a:lnTo>
                  <a:lnTo>
                    <a:pt x="8" y="41"/>
                  </a:lnTo>
                  <a:lnTo>
                    <a:pt x="6" y="42"/>
                  </a:lnTo>
                  <a:lnTo>
                    <a:pt x="5" y="44"/>
                  </a:lnTo>
                  <a:lnTo>
                    <a:pt x="3" y="45"/>
                  </a:lnTo>
                  <a:lnTo>
                    <a:pt x="1" y="46"/>
                  </a:lnTo>
                  <a:lnTo>
                    <a:pt x="0" y="47"/>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7" name="Freeform 148"/>
            <p:cNvSpPr>
              <a:spLocks/>
            </p:cNvSpPr>
            <p:nvPr/>
          </p:nvSpPr>
          <p:spPr bwMode="auto">
            <a:xfrm>
              <a:off x="2817813" y="5184776"/>
              <a:ext cx="30162" cy="66675"/>
            </a:xfrm>
            <a:custGeom>
              <a:avLst/>
              <a:gdLst>
                <a:gd name="T0" fmla="*/ 19 w 20"/>
                <a:gd name="T1" fmla="*/ 46 h 47"/>
                <a:gd name="T2" fmla="*/ 19 w 20"/>
                <a:gd name="T3" fmla="*/ 46 h 47"/>
                <a:gd name="T4" fmla="*/ 18 w 20"/>
                <a:gd name="T5" fmla="*/ 45 h 47"/>
                <a:gd name="T6" fmla="*/ 17 w 20"/>
                <a:gd name="T7" fmla="*/ 44 h 47"/>
                <a:gd name="T8" fmla="*/ 14 w 20"/>
                <a:gd name="T9" fmla="*/ 43 h 47"/>
                <a:gd name="T10" fmla="*/ 12 w 20"/>
                <a:gd name="T11" fmla="*/ 41 h 47"/>
                <a:gd name="T12" fmla="*/ 11 w 20"/>
                <a:gd name="T13" fmla="*/ 41 h 47"/>
                <a:gd name="T14" fmla="*/ 10 w 20"/>
                <a:gd name="T15" fmla="*/ 39 h 47"/>
                <a:gd name="T16" fmla="*/ 8 w 20"/>
                <a:gd name="T17" fmla="*/ 37 h 47"/>
                <a:gd name="T18" fmla="*/ 6 w 20"/>
                <a:gd name="T19" fmla="*/ 35 h 47"/>
                <a:gd name="T20" fmla="*/ 5 w 20"/>
                <a:gd name="T21" fmla="*/ 33 h 47"/>
                <a:gd name="T22" fmla="*/ 4 w 20"/>
                <a:gd name="T23" fmla="*/ 32 h 47"/>
                <a:gd name="T24" fmla="*/ 3 w 20"/>
                <a:gd name="T25" fmla="*/ 29 h 47"/>
                <a:gd name="T26" fmla="*/ 2 w 20"/>
                <a:gd name="T27" fmla="*/ 27 h 47"/>
                <a:gd name="T28" fmla="*/ 2 w 20"/>
                <a:gd name="T29" fmla="*/ 25 h 47"/>
                <a:gd name="T30" fmla="*/ 1 w 20"/>
                <a:gd name="T31" fmla="*/ 23 h 47"/>
                <a:gd name="T32" fmla="*/ 0 w 20"/>
                <a:gd name="T33" fmla="*/ 22 h 47"/>
                <a:gd name="T34" fmla="*/ 0 w 20"/>
                <a:gd name="T35" fmla="*/ 19 h 47"/>
                <a:gd name="T36" fmla="*/ 0 w 20"/>
                <a:gd name="T37" fmla="*/ 17 h 47"/>
                <a:gd name="T38" fmla="*/ 0 w 20"/>
                <a:gd name="T39" fmla="*/ 15 h 47"/>
                <a:gd name="T40" fmla="*/ 0 w 20"/>
                <a:gd name="T41" fmla="*/ 12 h 47"/>
                <a:gd name="T42" fmla="*/ 0 w 20"/>
                <a:gd name="T43" fmla="*/ 11 h 47"/>
                <a:gd name="T44" fmla="*/ 0 w 20"/>
                <a:gd name="T45" fmla="*/ 8 h 47"/>
                <a:gd name="T46" fmla="*/ 2 w 20"/>
                <a:gd name="T47" fmla="*/ 6 h 47"/>
                <a:gd name="T48" fmla="*/ 2 w 20"/>
                <a:gd name="T49" fmla="*/ 4 h 47"/>
                <a:gd name="T50" fmla="*/ 2 w 20"/>
                <a:gd name="T51" fmla="*/ 2 h 47"/>
                <a:gd name="T52" fmla="*/ 3 w 20"/>
                <a:gd name="T53"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 h="47">
                  <a:moveTo>
                    <a:pt x="19" y="46"/>
                  </a:moveTo>
                  <a:lnTo>
                    <a:pt x="19" y="46"/>
                  </a:lnTo>
                  <a:lnTo>
                    <a:pt x="18" y="45"/>
                  </a:lnTo>
                  <a:lnTo>
                    <a:pt x="17" y="44"/>
                  </a:lnTo>
                  <a:lnTo>
                    <a:pt x="14" y="43"/>
                  </a:lnTo>
                  <a:lnTo>
                    <a:pt x="12" y="41"/>
                  </a:lnTo>
                  <a:lnTo>
                    <a:pt x="11" y="41"/>
                  </a:lnTo>
                  <a:lnTo>
                    <a:pt x="10" y="39"/>
                  </a:lnTo>
                  <a:lnTo>
                    <a:pt x="8" y="37"/>
                  </a:lnTo>
                  <a:lnTo>
                    <a:pt x="6" y="35"/>
                  </a:lnTo>
                  <a:lnTo>
                    <a:pt x="5" y="33"/>
                  </a:lnTo>
                  <a:lnTo>
                    <a:pt x="4" y="32"/>
                  </a:lnTo>
                  <a:lnTo>
                    <a:pt x="3" y="29"/>
                  </a:lnTo>
                  <a:lnTo>
                    <a:pt x="2" y="27"/>
                  </a:lnTo>
                  <a:lnTo>
                    <a:pt x="2" y="25"/>
                  </a:lnTo>
                  <a:lnTo>
                    <a:pt x="1" y="23"/>
                  </a:lnTo>
                  <a:lnTo>
                    <a:pt x="0" y="22"/>
                  </a:lnTo>
                  <a:lnTo>
                    <a:pt x="0" y="19"/>
                  </a:lnTo>
                  <a:lnTo>
                    <a:pt x="0" y="17"/>
                  </a:lnTo>
                  <a:lnTo>
                    <a:pt x="0" y="15"/>
                  </a:lnTo>
                  <a:lnTo>
                    <a:pt x="0" y="12"/>
                  </a:lnTo>
                  <a:lnTo>
                    <a:pt x="0" y="11"/>
                  </a:lnTo>
                  <a:lnTo>
                    <a:pt x="0" y="8"/>
                  </a:lnTo>
                  <a:lnTo>
                    <a:pt x="2" y="6"/>
                  </a:lnTo>
                  <a:lnTo>
                    <a:pt x="2" y="4"/>
                  </a:lnTo>
                  <a:lnTo>
                    <a:pt x="2" y="2"/>
                  </a:lnTo>
                  <a:lnTo>
                    <a:pt x="3"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8" name="Line 149"/>
            <p:cNvSpPr>
              <a:spLocks noChangeShapeType="1"/>
            </p:cNvSpPr>
            <p:nvPr/>
          </p:nvSpPr>
          <p:spPr bwMode="auto">
            <a:xfrm>
              <a:off x="2928938" y="4919663"/>
              <a:ext cx="60801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9" name="Line 150"/>
            <p:cNvSpPr>
              <a:spLocks noChangeShapeType="1"/>
            </p:cNvSpPr>
            <p:nvPr/>
          </p:nvSpPr>
          <p:spPr bwMode="auto">
            <a:xfrm flipH="1">
              <a:off x="2824164" y="4975226"/>
              <a:ext cx="47625" cy="2063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0" name="Line 151"/>
            <p:cNvSpPr>
              <a:spLocks noChangeShapeType="1"/>
            </p:cNvSpPr>
            <p:nvPr/>
          </p:nvSpPr>
          <p:spPr bwMode="auto">
            <a:xfrm>
              <a:off x="3589339" y="4972050"/>
              <a:ext cx="47625" cy="2159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1" name="Line 152"/>
            <p:cNvSpPr>
              <a:spLocks noChangeShapeType="1"/>
            </p:cNvSpPr>
            <p:nvPr/>
          </p:nvSpPr>
          <p:spPr bwMode="auto">
            <a:xfrm>
              <a:off x="2857501" y="5248275"/>
              <a:ext cx="68421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2" name="Freeform 153"/>
            <p:cNvSpPr>
              <a:spLocks/>
            </p:cNvSpPr>
            <p:nvPr/>
          </p:nvSpPr>
          <p:spPr bwMode="auto">
            <a:xfrm>
              <a:off x="3522663" y="5064126"/>
              <a:ext cx="50800" cy="49213"/>
            </a:xfrm>
            <a:custGeom>
              <a:avLst/>
              <a:gdLst>
                <a:gd name="T0" fmla="*/ 0 w 35"/>
                <a:gd name="T1" fmla="*/ 0 h 35"/>
                <a:gd name="T2" fmla="*/ 0 w 35"/>
                <a:gd name="T3" fmla="*/ 0 h 35"/>
                <a:gd name="T4" fmla="*/ 2 w 35"/>
                <a:gd name="T5" fmla="*/ 0 h 35"/>
                <a:gd name="T6" fmla="*/ 3 w 35"/>
                <a:gd name="T7" fmla="*/ 0 h 35"/>
                <a:gd name="T8" fmla="*/ 6 w 35"/>
                <a:gd name="T9" fmla="*/ 0 h 35"/>
                <a:gd name="T10" fmla="*/ 9 w 35"/>
                <a:gd name="T11" fmla="*/ 1 h 35"/>
                <a:gd name="T12" fmla="*/ 10 w 35"/>
                <a:gd name="T13" fmla="*/ 2 h 35"/>
                <a:gd name="T14" fmla="*/ 12 w 35"/>
                <a:gd name="T15" fmla="*/ 2 h 35"/>
                <a:gd name="T16" fmla="*/ 14 w 35"/>
                <a:gd name="T17" fmla="*/ 4 h 35"/>
                <a:gd name="T18" fmla="*/ 16 w 35"/>
                <a:gd name="T19" fmla="*/ 5 h 35"/>
                <a:gd name="T20" fmla="*/ 18 w 35"/>
                <a:gd name="T21" fmla="*/ 5 h 35"/>
                <a:gd name="T22" fmla="*/ 20 w 35"/>
                <a:gd name="T23" fmla="*/ 6 h 35"/>
                <a:gd name="T24" fmla="*/ 22 w 35"/>
                <a:gd name="T25" fmla="*/ 8 h 35"/>
                <a:gd name="T26" fmla="*/ 24 w 35"/>
                <a:gd name="T27" fmla="*/ 10 h 35"/>
                <a:gd name="T28" fmla="*/ 25 w 35"/>
                <a:gd name="T29" fmla="*/ 12 h 35"/>
                <a:gd name="T30" fmla="*/ 27 w 35"/>
                <a:gd name="T31" fmla="*/ 14 h 35"/>
                <a:gd name="T32" fmla="*/ 27 w 35"/>
                <a:gd name="T33" fmla="*/ 15 h 35"/>
                <a:gd name="T34" fmla="*/ 29 w 35"/>
                <a:gd name="T35" fmla="*/ 15 h 35"/>
                <a:gd name="T36" fmla="*/ 30 w 35"/>
                <a:gd name="T37" fmla="*/ 18 h 35"/>
                <a:gd name="T38" fmla="*/ 30 w 35"/>
                <a:gd name="T39" fmla="*/ 20 h 35"/>
                <a:gd name="T40" fmla="*/ 31 w 35"/>
                <a:gd name="T41" fmla="*/ 22 h 35"/>
                <a:gd name="T42" fmla="*/ 32 w 35"/>
                <a:gd name="T43" fmla="*/ 24 h 35"/>
                <a:gd name="T44" fmla="*/ 33 w 35"/>
                <a:gd name="T45" fmla="*/ 26 h 35"/>
                <a:gd name="T46" fmla="*/ 34 w 35"/>
                <a:gd name="T47" fmla="*/ 29 h 35"/>
                <a:gd name="T48" fmla="*/ 34 w 35"/>
                <a:gd name="T49" fmla="*/ 31 h 35"/>
                <a:gd name="T50" fmla="*/ 34 w 35"/>
                <a:gd name="T51" fmla="*/ 33 h 35"/>
                <a:gd name="T52" fmla="*/ 34 w 35"/>
                <a:gd name="T53" fmla="*/ 34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 h="35">
                  <a:moveTo>
                    <a:pt x="0" y="0"/>
                  </a:moveTo>
                  <a:lnTo>
                    <a:pt x="0" y="0"/>
                  </a:lnTo>
                  <a:lnTo>
                    <a:pt x="2" y="0"/>
                  </a:lnTo>
                  <a:lnTo>
                    <a:pt x="3" y="0"/>
                  </a:lnTo>
                  <a:lnTo>
                    <a:pt x="6" y="0"/>
                  </a:lnTo>
                  <a:lnTo>
                    <a:pt x="9" y="1"/>
                  </a:lnTo>
                  <a:lnTo>
                    <a:pt x="10" y="2"/>
                  </a:lnTo>
                  <a:lnTo>
                    <a:pt x="12" y="2"/>
                  </a:lnTo>
                  <a:lnTo>
                    <a:pt x="14" y="4"/>
                  </a:lnTo>
                  <a:lnTo>
                    <a:pt x="16" y="5"/>
                  </a:lnTo>
                  <a:lnTo>
                    <a:pt x="18" y="5"/>
                  </a:lnTo>
                  <a:lnTo>
                    <a:pt x="20" y="6"/>
                  </a:lnTo>
                  <a:lnTo>
                    <a:pt x="22" y="8"/>
                  </a:lnTo>
                  <a:lnTo>
                    <a:pt x="24" y="10"/>
                  </a:lnTo>
                  <a:lnTo>
                    <a:pt x="25" y="12"/>
                  </a:lnTo>
                  <a:lnTo>
                    <a:pt x="27" y="14"/>
                  </a:lnTo>
                  <a:lnTo>
                    <a:pt x="27" y="15"/>
                  </a:lnTo>
                  <a:lnTo>
                    <a:pt x="29" y="15"/>
                  </a:lnTo>
                  <a:lnTo>
                    <a:pt x="30" y="18"/>
                  </a:lnTo>
                  <a:lnTo>
                    <a:pt x="30" y="20"/>
                  </a:lnTo>
                  <a:lnTo>
                    <a:pt x="31" y="22"/>
                  </a:lnTo>
                  <a:lnTo>
                    <a:pt x="32" y="24"/>
                  </a:lnTo>
                  <a:lnTo>
                    <a:pt x="33" y="26"/>
                  </a:lnTo>
                  <a:lnTo>
                    <a:pt x="34" y="29"/>
                  </a:lnTo>
                  <a:lnTo>
                    <a:pt x="34" y="31"/>
                  </a:lnTo>
                  <a:lnTo>
                    <a:pt x="34" y="33"/>
                  </a:lnTo>
                  <a:lnTo>
                    <a:pt x="34" y="34"/>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3" name="Freeform 154"/>
            <p:cNvSpPr>
              <a:spLocks/>
            </p:cNvSpPr>
            <p:nvPr/>
          </p:nvSpPr>
          <p:spPr bwMode="auto">
            <a:xfrm>
              <a:off x="2881313" y="5067300"/>
              <a:ext cx="50800" cy="50800"/>
            </a:xfrm>
            <a:custGeom>
              <a:avLst/>
              <a:gdLst>
                <a:gd name="T0" fmla="*/ 0 w 36"/>
                <a:gd name="T1" fmla="*/ 35 h 36"/>
                <a:gd name="T2" fmla="*/ 0 w 36"/>
                <a:gd name="T3" fmla="*/ 35 h 36"/>
                <a:gd name="T4" fmla="*/ 0 w 36"/>
                <a:gd name="T5" fmla="*/ 32 h 36"/>
                <a:gd name="T6" fmla="*/ 0 w 36"/>
                <a:gd name="T7" fmla="*/ 31 h 36"/>
                <a:gd name="T8" fmla="*/ 0 w 36"/>
                <a:gd name="T9" fmla="*/ 29 h 36"/>
                <a:gd name="T10" fmla="*/ 0 w 36"/>
                <a:gd name="T11" fmla="*/ 27 h 36"/>
                <a:gd name="T12" fmla="*/ 2 w 36"/>
                <a:gd name="T13" fmla="*/ 24 h 36"/>
                <a:gd name="T14" fmla="*/ 2 w 36"/>
                <a:gd name="T15" fmla="*/ 22 h 36"/>
                <a:gd name="T16" fmla="*/ 3 w 36"/>
                <a:gd name="T17" fmla="*/ 20 h 36"/>
                <a:gd name="T18" fmla="*/ 4 w 36"/>
                <a:gd name="T19" fmla="*/ 19 h 36"/>
                <a:gd name="T20" fmla="*/ 5 w 36"/>
                <a:gd name="T21" fmla="*/ 16 h 36"/>
                <a:gd name="T22" fmla="*/ 7 w 36"/>
                <a:gd name="T23" fmla="*/ 14 h 36"/>
                <a:gd name="T24" fmla="*/ 8 w 36"/>
                <a:gd name="T25" fmla="*/ 13 h 36"/>
                <a:gd name="T26" fmla="*/ 9 w 36"/>
                <a:gd name="T27" fmla="*/ 12 h 36"/>
                <a:gd name="T28" fmla="*/ 10 w 36"/>
                <a:gd name="T29" fmla="*/ 10 h 36"/>
                <a:gd name="T30" fmla="*/ 12 w 36"/>
                <a:gd name="T31" fmla="*/ 9 h 36"/>
                <a:gd name="T32" fmla="*/ 14 w 36"/>
                <a:gd name="T33" fmla="*/ 7 h 36"/>
                <a:gd name="T34" fmla="*/ 16 w 36"/>
                <a:gd name="T35" fmla="*/ 6 h 36"/>
                <a:gd name="T36" fmla="*/ 17 w 36"/>
                <a:gd name="T37" fmla="*/ 4 h 36"/>
                <a:gd name="T38" fmla="*/ 19 w 36"/>
                <a:gd name="T39" fmla="*/ 4 h 36"/>
                <a:gd name="T40" fmla="*/ 22 w 36"/>
                <a:gd name="T41" fmla="*/ 3 h 36"/>
                <a:gd name="T42" fmla="*/ 24 w 36"/>
                <a:gd name="T43" fmla="*/ 3 h 36"/>
                <a:gd name="T44" fmla="*/ 26 w 36"/>
                <a:gd name="T45" fmla="*/ 2 h 36"/>
                <a:gd name="T46" fmla="*/ 27 w 36"/>
                <a:gd name="T47" fmla="*/ 1 h 36"/>
                <a:gd name="T48" fmla="*/ 30 w 36"/>
                <a:gd name="T49" fmla="*/ 1 h 36"/>
                <a:gd name="T50" fmla="*/ 32 w 36"/>
                <a:gd name="T51" fmla="*/ 0 h 36"/>
                <a:gd name="T52" fmla="*/ 35 w 36"/>
                <a:gd name="T5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6">
                  <a:moveTo>
                    <a:pt x="0" y="35"/>
                  </a:moveTo>
                  <a:lnTo>
                    <a:pt x="0" y="35"/>
                  </a:lnTo>
                  <a:lnTo>
                    <a:pt x="0" y="32"/>
                  </a:lnTo>
                  <a:lnTo>
                    <a:pt x="0" y="31"/>
                  </a:lnTo>
                  <a:lnTo>
                    <a:pt x="0" y="29"/>
                  </a:lnTo>
                  <a:lnTo>
                    <a:pt x="0" y="27"/>
                  </a:lnTo>
                  <a:lnTo>
                    <a:pt x="2" y="24"/>
                  </a:lnTo>
                  <a:lnTo>
                    <a:pt x="2" y="22"/>
                  </a:lnTo>
                  <a:lnTo>
                    <a:pt x="3" y="20"/>
                  </a:lnTo>
                  <a:lnTo>
                    <a:pt x="4" y="19"/>
                  </a:lnTo>
                  <a:lnTo>
                    <a:pt x="5" y="16"/>
                  </a:lnTo>
                  <a:lnTo>
                    <a:pt x="7" y="14"/>
                  </a:lnTo>
                  <a:lnTo>
                    <a:pt x="8" y="13"/>
                  </a:lnTo>
                  <a:lnTo>
                    <a:pt x="9" y="12"/>
                  </a:lnTo>
                  <a:lnTo>
                    <a:pt x="10" y="10"/>
                  </a:lnTo>
                  <a:lnTo>
                    <a:pt x="12" y="9"/>
                  </a:lnTo>
                  <a:lnTo>
                    <a:pt x="14" y="7"/>
                  </a:lnTo>
                  <a:lnTo>
                    <a:pt x="16" y="6"/>
                  </a:lnTo>
                  <a:lnTo>
                    <a:pt x="17" y="4"/>
                  </a:lnTo>
                  <a:lnTo>
                    <a:pt x="19" y="4"/>
                  </a:lnTo>
                  <a:lnTo>
                    <a:pt x="22" y="3"/>
                  </a:lnTo>
                  <a:lnTo>
                    <a:pt x="24" y="3"/>
                  </a:lnTo>
                  <a:lnTo>
                    <a:pt x="26" y="2"/>
                  </a:lnTo>
                  <a:lnTo>
                    <a:pt x="27" y="1"/>
                  </a:lnTo>
                  <a:lnTo>
                    <a:pt x="30" y="1"/>
                  </a:lnTo>
                  <a:lnTo>
                    <a:pt x="32" y="0"/>
                  </a:lnTo>
                  <a:lnTo>
                    <a:pt x="35"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4" name="Line 155"/>
            <p:cNvSpPr>
              <a:spLocks noChangeShapeType="1"/>
            </p:cNvSpPr>
            <p:nvPr/>
          </p:nvSpPr>
          <p:spPr bwMode="auto">
            <a:xfrm>
              <a:off x="2928938" y="5068888"/>
              <a:ext cx="5905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5" name="Line 156"/>
            <p:cNvSpPr>
              <a:spLocks noChangeShapeType="1"/>
            </p:cNvSpPr>
            <p:nvPr/>
          </p:nvSpPr>
          <p:spPr bwMode="auto">
            <a:xfrm>
              <a:off x="3573463" y="5119688"/>
              <a:ext cx="25400" cy="13335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6" name="Freeform 157"/>
            <p:cNvSpPr>
              <a:spLocks/>
            </p:cNvSpPr>
            <p:nvPr/>
          </p:nvSpPr>
          <p:spPr bwMode="auto">
            <a:xfrm>
              <a:off x="2846389" y="5137150"/>
              <a:ext cx="26987" cy="95250"/>
            </a:xfrm>
            <a:custGeom>
              <a:avLst/>
              <a:gdLst>
                <a:gd name="T0" fmla="*/ 10 w 19"/>
                <a:gd name="T1" fmla="*/ 67 h 68"/>
                <a:gd name="T2" fmla="*/ 10 w 19"/>
                <a:gd name="T3" fmla="*/ 67 h 68"/>
                <a:gd name="T4" fmla="*/ 10 w 19"/>
                <a:gd name="T5" fmla="*/ 67 h 68"/>
                <a:gd name="T6" fmla="*/ 8 w 19"/>
                <a:gd name="T7" fmla="*/ 66 h 68"/>
                <a:gd name="T8" fmla="*/ 8 w 19"/>
                <a:gd name="T9" fmla="*/ 65 h 68"/>
                <a:gd name="T10" fmla="*/ 7 w 19"/>
                <a:gd name="T11" fmla="*/ 64 h 68"/>
                <a:gd name="T12" fmla="*/ 6 w 19"/>
                <a:gd name="T13" fmla="*/ 62 h 68"/>
                <a:gd name="T14" fmla="*/ 5 w 19"/>
                <a:gd name="T15" fmla="*/ 61 h 68"/>
                <a:gd name="T16" fmla="*/ 4 w 19"/>
                <a:gd name="T17" fmla="*/ 60 h 68"/>
                <a:gd name="T18" fmla="*/ 3 w 19"/>
                <a:gd name="T19" fmla="*/ 59 h 68"/>
                <a:gd name="T20" fmla="*/ 3 w 19"/>
                <a:gd name="T21" fmla="*/ 57 h 68"/>
                <a:gd name="T22" fmla="*/ 3 w 19"/>
                <a:gd name="T23" fmla="*/ 55 h 68"/>
                <a:gd name="T24" fmla="*/ 2 w 19"/>
                <a:gd name="T25" fmla="*/ 53 h 68"/>
                <a:gd name="T26" fmla="*/ 2 w 19"/>
                <a:gd name="T27" fmla="*/ 51 h 68"/>
                <a:gd name="T28" fmla="*/ 2 w 19"/>
                <a:gd name="T29" fmla="*/ 49 h 68"/>
                <a:gd name="T30" fmla="*/ 2 w 19"/>
                <a:gd name="T31" fmla="*/ 47 h 68"/>
                <a:gd name="T32" fmla="*/ 1 w 19"/>
                <a:gd name="T33" fmla="*/ 45 h 68"/>
                <a:gd name="T34" fmla="*/ 1 w 19"/>
                <a:gd name="T35" fmla="*/ 43 h 68"/>
                <a:gd name="T36" fmla="*/ 0 w 19"/>
                <a:gd name="T37" fmla="*/ 41 h 68"/>
                <a:gd name="T38" fmla="*/ 0 w 19"/>
                <a:gd name="T39" fmla="*/ 39 h 68"/>
                <a:gd name="T40" fmla="*/ 0 w 19"/>
                <a:gd name="T41" fmla="*/ 36 h 68"/>
                <a:gd name="T42" fmla="*/ 0 w 19"/>
                <a:gd name="T43" fmla="*/ 34 h 68"/>
                <a:gd name="T44" fmla="*/ 0 w 19"/>
                <a:gd name="T45" fmla="*/ 32 h 68"/>
                <a:gd name="T46" fmla="*/ 0 w 19"/>
                <a:gd name="T47" fmla="*/ 30 h 68"/>
                <a:gd name="T48" fmla="*/ 0 w 19"/>
                <a:gd name="T49" fmla="*/ 29 h 68"/>
                <a:gd name="T50" fmla="*/ 1 w 19"/>
                <a:gd name="T51" fmla="*/ 26 h 68"/>
                <a:gd name="T52" fmla="*/ 1 w 19"/>
                <a:gd name="T53" fmla="*/ 24 h 68"/>
                <a:gd name="T54" fmla="*/ 2 w 19"/>
                <a:gd name="T55" fmla="*/ 22 h 68"/>
                <a:gd name="T56" fmla="*/ 2 w 19"/>
                <a:gd name="T57" fmla="*/ 20 h 68"/>
                <a:gd name="T58" fmla="*/ 2 w 19"/>
                <a:gd name="T59" fmla="*/ 17 h 68"/>
                <a:gd name="T60" fmla="*/ 2 w 19"/>
                <a:gd name="T61" fmla="*/ 15 h 68"/>
                <a:gd name="T62" fmla="*/ 3 w 19"/>
                <a:gd name="T63" fmla="*/ 15 h 68"/>
                <a:gd name="T64" fmla="*/ 3 w 19"/>
                <a:gd name="T65" fmla="*/ 12 h 68"/>
                <a:gd name="T66" fmla="*/ 4 w 19"/>
                <a:gd name="T67" fmla="*/ 12 h 68"/>
                <a:gd name="T68" fmla="*/ 5 w 19"/>
                <a:gd name="T69" fmla="*/ 10 h 68"/>
                <a:gd name="T70" fmla="*/ 6 w 19"/>
                <a:gd name="T71" fmla="*/ 8 h 68"/>
                <a:gd name="T72" fmla="*/ 6 w 19"/>
                <a:gd name="T73" fmla="*/ 7 h 68"/>
                <a:gd name="T74" fmla="*/ 7 w 19"/>
                <a:gd name="T75" fmla="*/ 5 h 68"/>
                <a:gd name="T76" fmla="*/ 8 w 19"/>
                <a:gd name="T77" fmla="*/ 5 h 68"/>
                <a:gd name="T78" fmla="*/ 8 w 19"/>
                <a:gd name="T79" fmla="*/ 3 h 68"/>
                <a:gd name="T80" fmla="*/ 10 w 19"/>
                <a:gd name="T81" fmla="*/ 3 h 68"/>
                <a:gd name="T82" fmla="*/ 10 w 19"/>
                <a:gd name="T83" fmla="*/ 2 h 68"/>
                <a:gd name="T84" fmla="*/ 12 w 19"/>
                <a:gd name="T85" fmla="*/ 1 h 68"/>
                <a:gd name="T86" fmla="*/ 12 w 19"/>
                <a:gd name="T87" fmla="*/ 1 h 68"/>
                <a:gd name="T88" fmla="*/ 13 w 19"/>
                <a:gd name="T89" fmla="*/ 1 h 68"/>
                <a:gd name="T90" fmla="*/ 14 w 19"/>
                <a:gd name="T91" fmla="*/ 0 h 68"/>
                <a:gd name="T92" fmla="*/ 14 w 19"/>
                <a:gd name="T93" fmla="*/ 0 h 68"/>
                <a:gd name="T94" fmla="*/ 16 w 19"/>
                <a:gd name="T95" fmla="*/ 0 h 68"/>
                <a:gd name="T96" fmla="*/ 16 w 19"/>
                <a:gd name="T97" fmla="*/ 1 h 68"/>
                <a:gd name="T98" fmla="*/ 18 w 19"/>
                <a:gd name="T99" fmla="*/ 1 h 68"/>
                <a:gd name="T100" fmla="*/ 18 w 19"/>
                <a:gd name="T101" fmla="*/ 1 h 68"/>
                <a:gd name="T102" fmla="*/ 18 w 19"/>
                <a:gd name="T103" fmla="*/ 3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 h="68">
                  <a:moveTo>
                    <a:pt x="10" y="67"/>
                  </a:moveTo>
                  <a:lnTo>
                    <a:pt x="10" y="67"/>
                  </a:lnTo>
                  <a:lnTo>
                    <a:pt x="10" y="67"/>
                  </a:lnTo>
                  <a:lnTo>
                    <a:pt x="8" y="66"/>
                  </a:lnTo>
                  <a:lnTo>
                    <a:pt x="8" y="65"/>
                  </a:lnTo>
                  <a:lnTo>
                    <a:pt x="7" y="64"/>
                  </a:lnTo>
                  <a:lnTo>
                    <a:pt x="6" y="62"/>
                  </a:lnTo>
                  <a:lnTo>
                    <a:pt x="5" y="61"/>
                  </a:lnTo>
                  <a:lnTo>
                    <a:pt x="4" y="60"/>
                  </a:lnTo>
                  <a:lnTo>
                    <a:pt x="3" y="59"/>
                  </a:lnTo>
                  <a:lnTo>
                    <a:pt x="3" y="57"/>
                  </a:lnTo>
                  <a:lnTo>
                    <a:pt x="3" y="55"/>
                  </a:lnTo>
                  <a:lnTo>
                    <a:pt x="2" y="53"/>
                  </a:lnTo>
                  <a:lnTo>
                    <a:pt x="2" y="51"/>
                  </a:lnTo>
                  <a:lnTo>
                    <a:pt x="2" y="49"/>
                  </a:lnTo>
                  <a:lnTo>
                    <a:pt x="2" y="47"/>
                  </a:lnTo>
                  <a:lnTo>
                    <a:pt x="1" y="45"/>
                  </a:lnTo>
                  <a:lnTo>
                    <a:pt x="1" y="43"/>
                  </a:lnTo>
                  <a:lnTo>
                    <a:pt x="0" y="41"/>
                  </a:lnTo>
                  <a:lnTo>
                    <a:pt x="0" y="39"/>
                  </a:lnTo>
                  <a:lnTo>
                    <a:pt x="0" y="36"/>
                  </a:lnTo>
                  <a:lnTo>
                    <a:pt x="0" y="34"/>
                  </a:lnTo>
                  <a:lnTo>
                    <a:pt x="0" y="32"/>
                  </a:lnTo>
                  <a:lnTo>
                    <a:pt x="0" y="30"/>
                  </a:lnTo>
                  <a:lnTo>
                    <a:pt x="0" y="29"/>
                  </a:lnTo>
                  <a:lnTo>
                    <a:pt x="1" y="26"/>
                  </a:lnTo>
                  <a:lnTo>
                    <a:pt x="1" y="24"/>
                  </a:lnTo>
                  <a:lnTo>
                    <a:pt x="2" y="22"/>
                  </a:lnTo>
                  <a:lnTo>
                    <a:pt x="2" y="20"/>
                  </a:lnTo>
                  <a:lnTo>
                    <a:pt x="2" y="17"/>
                  </a:lnTo>
                  <a:lnTo>
                    <a:pt x="2" y="15"/>
                  </a:lnTo>
                  <a:lnTo>
                    <a:pt x="3" y="15"/>
                  </a:lnTo>
                  <a:lnTo>
                    <a:pt x="3" y="12"/>
                  </a:lnTo>
                  <a:lnTo>
                    <a:pt x="4" y="12"/>
                  </a:lnTo>
                  <a:lnTo>
                    <a:pt x="5" y="10"/>
                  </a:lnTo>
                  <a:lnTo>
                    <a:pt x="6" y="8"/>
                  </a:lnTo>
                  <a:lnTo>
                    <a:pt x="6" y="7"/>
                  </a:lnTo>
                  <a:lnTo>
                    <a:pt x="7" y="5"/>
                  </a:lnTo>
                  <a:lnTo>
                    <a:pt x="8" y="5"/>
                  </a:lnTo>
                  <a:lnTo>
                    <a:pt x="8" y="3"/>
                  </a:lnTo>
                  <a:lnTo>
                    <a:pt x="10" y="3"/>
                  </a:lnTo>
                  <a:lnTo>
                    <a:pt x="10" y="2"/>
                  </a:lnTo>
                  <a:lnTo>
                    <a:pt x="12" y="1"/>
                  </a:lnTo>
                  <a:lnTo>
                    <a:pt x="12" y="1"/>
                  </a:lnTo>
                  <a:lnTo>
                    <a:pt x="13" y="1"/>
                  </a:lnTo>
                  <a:lnTo>
                    <a:pt x="14" y="0"/>
                  </a:lnTo>
                  <a:lnTo>
                    <a:pt x="14" y="0"/>
                  </a:lnTo>
                  <a:lnTo>
                    <a:pt x="16" y="0"/>
                  </a:lnTo>
                  <a:lnTo>
                    <a:pt x="16" y="1"/>
                  </a:lnTo>
                  <a:lnTo>
                    <a:pt x="18" y="1"/>
                  </a:lnTo>
                  <a:lnTo>
                    <a:pt x="18" y="1"/>
                  </a:lnTo>
                  <a:lnTo>
                    <a:pt x="18" y="3"/>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7" name="Freeform 158"/>
            <p:cNvSpPr>
              <a:spLocks/>
            </p:cNvSpPr>
            <p:nvPr/>
          </p:nvSpPr>
          <p:spPr bwMode="auto">
            <a:xfrm>
              <a:off x="3579813" y="5145088"/>
              <a:ext cx="31750" cy="93662"/>
            </a:xfrm>
            <a:custGeom>
              <a:avLst/>
              <a:gdLst>
                <a:gd name="T0" fmla="*/ 0 w 23"/>
                <a:gd name="T1" fmla="*/ 0 h 67"/>
                <a:gd name="T2" fmla="*/ 0 w 23"/>
                <a:gd name="T3" fmla="*/ 0 h 67"/>
                <a:gd name="T4" fmla="*/ 0 w 23"/>
                <a:gd name="T5" fmla="*/ 0 h 67"/>
                <a:gd name="T6" fmla="*/ 2 w 23"/>
                <a:gd name="T7" fmla="*/ 0 h 67"/>
                <a:gd name="T8" fmla="*/ 2 w 23"/>
                <a:gd name="T9" fmla="*/ 0 h 67"/>
                <a:gd name="T10" fmla="*/ 4 w 23"/>
                <a:gd name="T11" fmla="*/ 0 h 67"/>
                <a:gd name="T12" fmla="*/ 4 w 23"/>
                <a:gd name="T13" fmla="*/ 0 h 67"/>
                <a:gd name="T14" fmla="*/ 6 w 23"/>
                <a:gd name="T15" fmla="*/ 0 h 67"/>
                <a:gd name="T16" fmla="*/ 7 w 23"/>
                <a:gd name="T17" fmla="*/ 0 h 67"/>
                <a:gd name="T18" fmla="*/ 8 w 23"/>
                <a:gd name="T19" fmla="*/ 0 h 67"/>
                <a:gd name="T20" fmla="*/ 8 w 23"/>
                <a:gd name="T21" fmla="*/ 0 h 67"/>
                <a:gd name="T22" fmla="*/ 10 w 23"/>
                <a:gd name="T23" fmla="*/ 0 h 67"/>
                <a:gd name="T24" fmla="*/ 11 w 23"/>
                <a:gd name="T25" fmla="*/ 2 h 67"/>
                <a:gd name="T26" fmla="*/ 12 w 23"/>
                <a:gd name="T27" fmla="*/ 2 h 67"/>
                <a:gd name="T28" fmla="*/ 12 w 23"/>
                <a:gd name="T29" fmla="*/ 4 h 67"/>
                <a:gd name="T30" fmla="*/ 14 w 23"/>
                <a:gd name="T31" fmla="*/ 5 h 67"/>
                <a:gd name="T32" fmla="*/ 14 w 23"/>
                <a:gd name="T33" fmla="*/ 6 h 67"/>
                <a:gd name="T34" fmla="*/ 16 w 23"/>
                <a:gd name="T35" fmla="*/ 7 h 67"/>
                <a:gd name="T36" fmla="*/ 16 w 23"/>
                <a:gd name="T37" fmla="*/ 8 h 67"/>
                <a:gd name="T38" fmla="*/ 17 w 23"/>
                <a:gd name="T39" fmla="*/ 10 h 67"/>
                <a:gd name="T40" fmla="*/ 18 w 23"/>
                <a:gd name="T41" fmla="*/ 12 h 67"/>
                <a:gd name="T42" fmla="*/ 19 w 23"/>
                <a:gd name="T43" fmla="*/ 13 h 67"/>
                <a:gd name="T44" fmla="*/ 19 w 23"/>
                <a:gd name="T45" fmla="*/ 15 h 67"/>
                <a:gd name="T46" fmla="*/ 20 w 23"/>
                <a:gd name="T47" fmla="*/ 17 h 67"/>
                <a:gd name="T48" fmla="*/ 21 w 23"/>
                <a:gd name="T49" fmla="*/ 19 h 67"/>
                <a:gd name="T50" fmla="*/ 21 w 23"/>
                <a:gd name="T51" fmla="*/ 21 h 67"/>
                <a:gd name="T52" fmla="*/ 21 w 23"/>
                <a:gd name="T53" fmla="*/ 23 h 67"/>
                <a:gd name="T54" fmla="*/ 21 w 23"/>
                <a:gd name="T55" fmla="*/ 25 h 67"/>
                <a:gd name="T56" fmla="*/ 21 w 23"/>
                <a:gd name="T57" fmla="*/ 26 h 67"/>
                <a:gd name="T58" fmla="*/ 21 w 23"/>
                <a:gd name="T59" fmla="*/ 29 h 67"/>
                <a:gd name="T60" fmla="*/ 22 w 23"/>
                <a:gd name="T61" fmla="*/ 31 h 67"/>
                <a:gd name="T62" fmla="*/ 22 w 23"/>
                <a:gd name="T63" fmla="*/ 34 h 67"/>
                <a:gd name="T64" fmla="*/ 22 w 23"/>
                <a:gd name="T65" fmla="*/ 35 h 67"/>
                <a:gd name="T66" fmla="*/ 21 w 23"/>
                <a:gd name="T67" fmla="*/ 38 h 67"/>
                <a:gd name="T68" fmla="*/ 21 w 23"/>
                <a:gd name="T69" fmla="*/ 40 h 67"/>
                <a:gd name="T70" fmla="*/ 21 w 23"/>
                <a:gd name="T71" fmla="*/ 42 h 67"/>
                <a:gd name="T72" fmla="*/ 21 w 23"/>
                <a:gd name="T73" fmla="*/ 44 h 67"/>
                <a:gd name="T74" fmla="*/ 21 w 23"/>
                <a:gd name="T75" fmla="*/ 46 h 67"/>
                <a:gd name="T76" fmla="*/ 21 w 23"/>
                <a:gd name="T77" fmla="*/ 48 h 67"/>
                <a:gd name="T78" fmla="*/ 20 w 23"/>
                <a:gd name="T79" fmla="*/ 50 h 67"/>
                <a:gd name="T80" fmla="*/ 19 w 23"/>
                <a:gd name="T81" fmla="*/ 52 h 67"/>
                <a:gd name="T82" fmla="*/ 18 w 23"/>
                <a:gd name="T83" fmla="*/ 54 h 67"/>
                <a:gd name="T84" fmla="*/ 18 w 23"/>
                <a:gd name="T85" fmla="*/ 56 h 67"/>
                <a:gd name="T86" fmla="*/ 17 w 23"/>
                <a:gd name="T87" fmla="*/ 56 h 67"/>
                <a:gd name="T88" fmla="*/ 16 w 23"/>
                <a:gd name="T89" fmla="*/ 58 h 67"/>
                <a:gd name="T90" fmla="*/ 16 w 23"/>
                <a:gd name="T91" fmla="*/ 60 h 67"/>
                <a:gd name="T92" fmla="*/ 14 w 23"/>
                <a:gd name="T93" fmla="*/ 61 h 67"/>
                <a:gd name="T94" fmla="*/ 14 w 23"/>
                <a:gd name="T95" fmla="*/ 62 h 67"/>
                <a:gd name="T96" fmla="*/ 12 w 23"/>
                <a:gd name="T97" fmla="*/ 64 h 67"/>
                <a:gd name="T98" fmla="*/ 12 w 23"/>
                <a:gd name="T99" fmla="*/ 65 h 67"/>
                <a:gd name="T100" fmla="*/ 11 w 23"/>
                <a:gd name="T101" fmla="*/ 65 h 67"/>
                <a:gd name="T102" fmla="*/ 10 w 23"/>
                <a:gd name="T103" fmla="*/ 66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 h="67">
                  <a:moveTo>
                    <a:pt x="0" y="0"/>
                  </a:moveTo>
                  <a:lnTo>
                    <a:pt x="0" y="0"/>
                  </a:lnTo>
                  <a:lnTo>
                    <a:pt x="0" y="0"/>
                  </a:lnTo>
                  <a:lnTo>
                    <a:pt x="2" y="0"/>
                  </a:lnTo>
                  <a:lnTo>
                    <a:pt x="2" y="0"/>
                  </a:lnTo>
                  <a:lnTo>
                    <a:pt x="4" y="0"/>
                  </a:lnTo>
                  <a:lnTo>
                    <a:pt x="4" y="0"/>
                  </a:lnTo>
                  <a:lnTo>
                    <a:pt x="6" y="0"/>
                  </a:lnTo>
                  <a:lnTo>
                    <a:pt x="7" y="0"/>
                  </a:lnTo>
                  <a:lnTo>
                    <a:pt x="8" y="0"/>
                  </a:lnTo>
                  <a:lnTo>
                    <a:pt x="8" y="0"/>
                  </a:lnTo>
                  <a:lnTo>
                    <a:pt x="10" y="0"/>
                  </a:lnTo>
                  <a:lnTo>
                    <a:pt x="11" y="2"/>
                  </a:lnTo>
                  <a:lnTo>
                    <a:pt x="12" y="2"/>
                  </a:lnTo>
                  <a:lnTo>
                    <a:pt x="12" y="4"/>
                  </a:lnTo>
                  <a:lnTo>
                    <a:pt x="14" y="5"/>
                  </a:lnTo>
                  <a:lnTo>
                    <a:pt x="14" y="6"/>
                  </a:lnTo>
                  <a:lnTo>
                    <a:pt x="16" y="7"/>
                  </a:lnTo>
                  <a:lnTo>
                    <a:pt x="16" y="8"/>
                  </a:lnTo>
                  <a:lnTo>
                    <a:pt x="17" y="10"/>
                  </a:lnTo>
                  <a:lnTo>
                    <a:pt x="18" y="12"/>
                  </a:lnTo>
                  <a:lnTo>
                    <a:pt x="19" y="13"/>
                  </a:lnTo>
                  <a:lnTo>
                    <a:pt x="19" y="15"/>
                  </a:lnTo>
                  <a:lnTo>
                    <a:pt x="20" y="17"/>
                  </a:lnTo>
                  <a:lnTo>
                    <a:pt x="21" y="19"/>
                  </a:lnTo>
                  <a:lnTo>
                    <a:pt x="21" y="21"/>
                  </a:lnTo>
                  <a:lnTo>
                    <a:pt x="21" y="23"/>
                  </a:lnTo>
                  <a:lnTo>
                    <a:pt x="21" y="25"/>
                  </a:lnTo>
                  <a:lnTo>
                    <a:pt x="21" y="26"/>
                  </a:lnTo>
                  <a:lnTo>
                    <a:pt x="21" y="29"/>
                  </a:lnTo>
                  <a:lnTo>
                    <a:pt x="22" y="31"/>
                  </a:lnTo>
                  <a:lnTo>
                    <a:pt x="22" y="34"/>
                  </a:lnTo>
                  <a:lnTo>
                    <a:pt x="22" y="35"/>
                  </a:lnTo>
                  <a:lnTo>
                    <a:pt x="21" y="38"/>
                  </a:lnTo>
                  <a:lnTo>
                    <a:pt x="21" y="40"/>
                  </a:lnTo>
                  <a:lnTo>
                    <a:pt x="21" y="42"/>
                  </a:lnTo>
                  <a:lnTo>
                    <a:pt x="21" y="44"/>
                  </a:lnTo>
                  <a:lnTo>
                    <a:pt x="21" y="46"/>
                  </a:lnTo>
                  <a:lnTo>
                    <a:pt x="21" y="48"/>
                  </a:lnTo>
                  <a:lnTo>
                    <a:pt x="20" y="50"/>
                  </a:lnTo>
                  <a:lnTo>
                    <a:pt x="19" y="52"/>
                  </a:lnTo>
                  <a:lnTo>
                    <a:pt x="18" y="54"/>
                  </a:lnTo>
                  <a:lnTo>
                    <a:pt x="18" y="56"/>
                  </a:lnTo>
                  <a:lnTo>
                    <a:pt x="17" y="56"/>
                  </a:lnTo>
                  <a:lnTo>
                    <a:pt x="16" y="58"/>
                  </a:lnTo>
                  <a:lnTo>
                    <a:pt x="16" y="60"/>
                  </a:lnTo>
                  <a:lnTo>
                    <a:pt x="14" y="61"/>
                  </a:lnTo>
                  <a:lnTo>
                    <a:pt x="14" y="62"/>
                  </a:lnTo>
                  <a:lnTo>
                    <a:pt x="12" y="64"/>
                  </a:lnTo>
                  <a:lnTo>
                    <a:pt x="12" y="65"/>
                  </a:lnTo>
                  <a:lnTo>
                    <a:pt x="11" y="65"/>
                  </a:lnTo>
                  <a:lnTo>
                    <a:pt x="10" y="66"/>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8" name="Freeform 159"/>
            <p:cNvSpPr>
              <a:spLocks/>
            </p:cNvSpPr>
            <p:nvPr/>
          </p:nvSpPr>
          <p:spPr bwMode="auto">
            <a:xfrm>
              <a:off x="3784600" y="5133975"/>
              <a:ext cx="33338" cy="95250"/>
            </a:xfrm>
            <a:custGeom>
              <a:avLst/>
              <a:gdLst>
                <a:gd name="T0" fmla="*/ 0 w 23"/>
                <a:gd name="T1" fmla="*/ 2 h 69"/>
                <a:gd name="T2" fmla="*/ 0 w 23"/>
                <a:gd name="T3" fmla="*/ 2 h 69"/>
                <a:gd name="T4" fmla="*/ 0 w 23"/>
                <a:gd name="T5" fmla="*/ 2 h 69"/>
                <a:gd name="T6" fmla="*/ 2 w 23"/>
                <a:gd name="T7" fmla="*/ 0 h 69"/>
                <a:gd name="T8" fmla="*/ 4 w 23"/>
                <a:gd name="T9" fmla="*/ 0 h 69"/>
                <a:gd name="T10" fmla="*/ 4 w 23"/>
                <a:gd name="T11" fmla="*/ 0 h 69"/>
                <a:gd name="T12" fmla="*/ 5 w 23"/>
                <a:gd name="T13" fmla="*/ 0 h 69"/>
                <a:gd name="T14" fmla="*/ 6 w 23"/>
                <a:gd name="T15" fmla="*/ 0 h 69"/>
                <a:gd name="T16" fmla="*/ 8 w 23"/>
                <a:gd name="T17" fmla="*/ 0 h 69"/>
                <a:gd name="T18" fmla="*/ 8 w 23"/>
                <a:gd name="T19" fmla="*/ 0 h 69"/>
                <a:gd name="T20" fmla="*/ 10 w 23"/>
                <a:gd name="T21" fmla="*/ 2 h 69"/>
                <a:gd name="T22" fmla="*/ 10 w 23"/>
                <a:gd name="T23" fmla="*/ 2 h 69"/>
                <a:gd name="T24" fmla="*/ 12 w 23"/>
                <a:gd name="T25" fmla="*/ 3 h 69"/>
                <a:gd name="T26" fmla="*/ 12 w 23"/>
                <a:gd name="T27" fmla="*/ 4 h 69"/>
                <a:gd name="T28" fmla="*/ 14 w 23"/>
                <a:gd name="T29" fmla="*/ 4 h 69"/>
                <a:gd name="T30" fmla="*/ 15 w 23"/>
                <a:gd name="T31" fmla="*/ 6 h 69"/>
                <a:gd name="T32" fmla="*/ 15 w 23"/>
                <a:gd name="T33" fmla="*/ 6 h 69"/>
                <a:gd name="T34" fmla="*/ 16 w 23"/>
                <a:gd name="T35" fmla="*/ 8 h 69"/>
                <a:gd name="T36" fmla="*/ 16 w 23"/>
                <a:gd name="T37" fmla="*/ 10 h 69"/>
                <a:gd name="T38" fmla="*/ 18 w 23"/>
                <a:gd name="T39" fmla="*/ 12 h 69"/>
                <a:gd name="T40" fmla="*/ 18 w 23"/>
                <a:gd name="T41" fmla="*/ 13 h 69"/>
                <a:gd name="T42" fmla="*/ 18 w 23"/>
                <a:gd name="T43" fmla="*/ 15 h 69"/>
                <a:gd name="T44" fmla="*/ 20 w 23"/>
                <a:gd name="T45" fmla="*/ 16 h 69"/>
                <a:gd name="T46" fmla="*/ 20 w 23"/>
                <a:gd name="T47" fmla="*/ 18 h 69"/>
                <a:gd name="T48" fmla="*/ 20 w 23"/>
                <a:gd name="T49" fmla="*/ 20 h 69"/>
                <a:gd name="T50" fmla="*/ 20 w 23"/>
                <a:gd name="T51" fmla="*/ 22 h 69"/>
                <a:gd name="T52" fmla="*/ 21 w 23"/>
                <a:gd name="T53" fmla="*/ 25 h 69"/>
                <a:gd name="T54" fmla="*/ 21 w 23"/>
                <a:gd name="T55" fmla="*/ 26 h 69"/>
                <a:gd name="T56" fmla="*/ 22 w 23"/>
                <a:gd name="T57" fmla="*/ 29 h 69"/>
                <a:gd name="T58" fmla="*/ 22 w 23"/>
                <a:gd name="T59" fmla="*/ 31 h 69"/>
                <a:gd name="T60" fmla="*/ 22 w 23"/>
                <a:gd name="T61" fmla="*/ 33 h 69"/>
                <a:gd name="T62" fmla="*/ 22 w 23"/>
                <a:gd name="T63" fmla="*/ 34 h 69"/>
                <a:gd name="T64" fmla="*/ 22 w 23"/>
                <a:gd name="T65" fmla="*/ 37 h 69"/>
                <a:gd name="T66" fmla="*/ 22 w 23"/>
                <a:gd name="T67" fmla="*/ 39 h 69"/>
                <a:gd name="T68" fmla="*/ 22 w 23"/>
                <a:gd name="T69" fmla="*/ 42 h 69"/>
                <a:gd name="T70" fmla="*/ 21 w 23"/>
                <a:gd name="T71" fmla="*/ 43 h 69"/>
                <a:gd name="T72" fmla="*/ 21 w 23"/>
                <a:gd name="T73" fmla="*/ 46 h 69"/>
                <a:gd name="T74" fmla="*/ 20 w 23"/>
                <a:gd name="T75" fmla="*/ 48 h 69"/>
                <a:gd name="T76" fmla="*/ 20 w 23"/>
                <a:gd name="T77" fmla="*/ 49 h 69"/>
                <a:gd name="T78" fmla="*/ 20 w 23"/>
                <a:gd name="T79" fmla="*/ 52 h 69"/>
                <a:gd name="T80" fmla="*/ 20 w 23"/>
                <a:gd name="T81" fmla="*/ 53 h 69"/>
                <a:gd name="T82" fmla="*/ 18 w 23"/>
                <a:gd name="T83" fmla="*/ 55 h 69"/>
                <a:gd name="T84" fmla="*/ 18 w 23"/>
                <a:gd name="T85" fmla="*/ 57 h 69"/>
                <a:gd name="T86" fmla="*/ 18 w 23"/>
                <a:gd name="T87" fmla="*/ 59 h 69"/>
                <a:gd name="T88" fmla="*/ 16 w 23"/>
                <a:gd name="T89" fmla="*/ 60 h 69"/>
                <a:gd name="T90" fmla="*/ 16 w 23"/>
                <a:gd name="T91" fmla="*/ 62 h 69"/>
                <a:gd name="T92" fmla="*/ 15 w 23"/>
                <a:gd name="T93" fmla="*/ 63 h 69"/>
                <a:gd name="T94" fmla="*/ 15 w 23"/>
                <a:gd name="T95" fmla="*/ 64 h 69"/>
                <a:gd name="T96" fmla="*/ 14 w 23"/>
                <a:gd name="T97" fmla="*/ 64 h 69"/>
                <a:gd name="T98" fmla="*/ 12 w 23"/>
                <a:gd name="T99" fmla="*/ 66 h 69"/>
                <a:gd name="T100" fmla="*/ 12 w 23"/>
                <a:gd name="T101" fmla="*/ 66 h 69"/>
                <a:gd name="T102" fmla="*/ 10 w 23"/>
                <a:gd name="T103" fmla="*/ 6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 h="69">
                  <a:moveTo>
                    <a:pt x="0" y="2"/>
                  </a:moveTo>
                  <a:lnTo>
                    <a:pt x="0" y="2"/>
                  </a:lnTo>
                  <a:lnTo>
                    <a:pt x="0" y="2"/>
                  </a:lnTo>
                  <a:lnTo>
                    <a:pt x="2" y="0"/>
                  </a:lnTo>
                  <a:lnTo>
                    <a:pt x="4" y="0"/>
                  </a:lnTo>
                  <a:lnTo>
                    <a:pt x="4" y="0"/>
                  </a:lnTo>
                  <a:lnTo>
                    <a:pt x="5" y="0"/>
                  </a:lnTo>
                  <a:lnTo>
                    <a:pt x="6" y="0"/>
                  </a:lnTo>
                  <a:lnTo>
                    <a:pt x="8" y="0"/>
                  </a:lnTo>
                  <a:lnTo>
                    <a:pt x="8" y="0"/>
                  </a:lnTo>
                  <a:lnTo>
                    <a:pt x="10" y="2"/>
                  </a:lnTo>
                  <a:lnTo>
                    <a:pt x="10" y="2"/>
                  </a:lnTo>
                  <a:lnTo>
                    <a:pt x="12" y="3"/>
                  </a:lnTo>
                  <a:lnTo>
                    <a:pt x="12" y="4"/>
                  </a:lnTo>
                  <a:lnTo>
                    <a:pt x="14" y="4"/>
                  </a:lnTo>
                  <a:lnTo>
                    <a:pt x="15" y="6"/>
                  </a:lnTo>
                  <a:lnTo>
                    <a:pt x="15" y="6"/>
                  </a:lnTo>
                  <a:lnTo>
                    <a:pt x="16" y="8"/>
                  </a:lnTo>
                  <a:lnTo>
                    <a:pt x="16" y="10"/>
                  </a:lnTo>
                  <a:lnTo>
                    <a:pt x="18" y="12"/>
                  </a:lnTo>
                  <a:lnTo>
                    <a:pt x="18" y="13"/>
                  </a:lnTo>
                  <a:lnTo>
                    <a:pt x="18" y="15"/>
                  </a:lnTo>
                  <a:lnTo>
                    <a:pt x="20" y="16"/>
                  </a:lnTo>
                  <a:lnTo>
                    <a:pt x="20" y="18"/>
                  </a:lnTo>
                  <a:lnTo>
                    <a:pt x="20" y="20"/>
                  </a:lnTo>
                  <a:lnTo>
                    <a:pt x="20" y="22"/>
                  </a:lnTo>
                  <a:lnTo>
                    <a:pt x="21" y="25"/>
                  </a:lnTo>
                  <a:lnTo>
                    <a:pt x="21" y="26"/>
                  </a:lnTo>
                  <a:lnTo>
                    <a:pt x="22" y="29"/>
                  </a:lnTo>
                  <a:lnTo>
                    <a:pt x="22" y="31"/>
                  </a:lnTo>
                  <a:lnTo>
                    <a:pt x="22" y="33"/>
                  </a:lnTo>
                  <a:lnTo>
                    <a:pt x="22" y="34"/>
                  </a:lnTo>
                  <a:lnTo>
                    <a:pt x="22" y="37"/>
                  </a:lnTo>
                  <a:lnTo>
                    <a:pt x="22" y="39"/>
                  </a:lnTo>
                  <a:lnTo>
                    <a:pt x="22" y="42"/>
                  </a:lnTo>
                  <a:lnTo>
                    <a:pt x="21" y="43"/>
                  </a:lnTo>
                  <a:lnTo>
                    <a:pt x="21" y="46"/>
                  </a:lnTo>
                  <a:lnTo>
                    <a:pt x="20" y="48"/>
                  </a:lnTo>
                  <a:lnTo>
                    <a:pt x="20" y="49"/>
                  </a:lnTo>
                  <a:lnTo>
                    <a:pt x="20" y="52"/>
                  </a:lnTo>
                  <a:lnTo>
                    <a:pt x="20" y="53"/>
                  </a:lnTo>
                  <a:lnTo>
                    <a:pt x="18" y="55"/>
                  </a:lnTo>
                  <a:lnTo>
                    <a:pt x="18" y="57"/>
                  </a:lnTo>
                  <a:lnTo>
                    <a:pt x="18" y="59"/>
                  </a:lnTo>
                  <a:lnTo>
                    <a:pt x="16" y="60"/>
                  </a:lnTo>
                  <a:lnTo>
                    <a:pt x="16" y="62"/>
                  </a:lnTo>
                  <a:lnTo>
                    <a:pt x="15" y="63"/>
                  </a:lnTo>
                  <a:lnTo>
                    <a:pt x="15" y="64"/>
                  </a:lnTo>
                  <a:lnTo>
                    <a:pt x="14" y="64"/>
                  </a:lnTo>
                  <a:lnTo>
                    <a:pt x="12" y="66"/>
                  </a:lnTo>
                  <a:lnTo>
                    <a:pt x="12" y="66"/>
                  </a:lnTo>
                  <a:lnTo>
                    <a:pt x="10" y="68"/>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9" name="Freeform 160"/>
            <p:cNvSpPr>
              <a:spLocks/>
            </p:cNvSpPr>
            <p:nvPr/>
          </p:nvSpPr>
          <p:spPr bwMode="auto">
            <a:xfrm>
              <a:off x="3805238" y="5133975"/>
              <a:ext cx="31750" cy="95250"/>
            </a:xfrm>
            <a:custGeom>
              <a:avLst/>
              <a:gdLst>
                <a:gd name="T0" fmla="*/ 0 w 22"/>
                <a:gd name="T1" fmla="*/ 2 h 69"/>
                <a:gd name="T2" fmla="*/ 0 w 22"/>
                <a:gd name="T3" fmla="*/ 2 h 69"/>
                <a:gd name="T4" fmla="*/ 1 w 22"/>
                <a:gd name="T5" fmla="*/ 2 h 69"/>
                <a:gd name="T6" fmla="*/ 1 w 22"/>
                <a:gd name="T7" fmla="*/ 0 h 69"/>
                <a:gd name="T8" fmla="*/ 3 w 22"/>
                <a:gd name="T9" fmla="*/ 0 h 69"/>
                <a:gd name="T10" fmla="*/ 3 w 22"/>
                <a:gd name="T11" fmla="*/ 0 h 69"/>
                <a:gd name="T12" fmla="*/ 5 w 22"/>
                <a:gd name="T13" fmla="*/ 0 h 69"/>
                <a:gd name="T14" fmla="*/ 6 w 22"/>
                <a:gd name="T15" fmla="*/ 0 h 69"/>
                <a:gd name="T16" fmla="*/ 7 w 22"/>
                <a:gd name="T17" fmla="*/ 0 h 69"/>
                <a:gd name="T18" fmla="*/ 8 w 22"/>
                <a:gd name="T19" fmla="*/ 0 h 69"/>
                <a:gd name="T20" fmla="*/ 10 w 22"/>
                <a:gd name="T21" fmla="*/ 2 h 69"/>
                <a:gd name="T22" fmla="*/ 10 w 22"/>
                <a:gd name="T23" fmla="*/ 2 h 69"/>
                <a:gd name="T24" fmla="*/ 11 w 22"/>
                <a:gd name="T25" fmla="*/ 3 h 69"/>
                <a:gd name="T26" fmla="*/ 13 w 22"/>
                <a:gd name="T27" fmla="*/ 4 h 69"/>
                <a:gd name="T28" fmla="*/ 14 w 22"/>
                <a:gd name="T29" fmla="*/ 4 h 69"/>
                <a:gd name="T30" fmla="*/ 14 w 22"/>
                <a:gd name="T31" fmla="*/ 6 h 69"/>
                <a:gd name="T32" fmla="*/ 15 w 22"/>
                <a:gd name="T33" fmla="*/ 6 h 69"/>
                <a:gd name="T34" fmla="*/ 16 w 22"/>
                <a:gd name="T35" fmla="*/ 8 h 69"/>
                <a:gd name="T36" fmla="*/ 18 w 22"/>
                <a:gd name="T37" fmla="*/ 10 h 69"/>
                <a:gd name="T38" fmla="*/ 18 w 22"/>
                <a:gd name="T39" fmla="*/ 12 h 69"/>
                <a:gd name="T40" fmla="*/ 19 w 22"/>
                <a:gd name="T41" fmla="*/ 13 h 69"/>
                <a:gd name="T42" fmla="*/ 19 w 22"/>
                <a:gd name="T43" fmla="*/ 15 h 69"/>
                <a:gd name="T44" fmla="*/ 20 w 22"/>
                <a:gd name="T45" fmla="*/ 16 h 69"/>
                <a:gd name="T46" fmla="*/ 20 w 22"/>
                <a:gd name="T47" fmla="*/ 18 h 69"/>
                <a:gd name="T48" fmla="*/ 20 w 22"/>
                <a:gd name="T49" fmla="*/ 20 h 69"/>
                <a:gd name="T50" fmla="*/ 21 w 22"/>
                <a:gd name="T51" fmla="*/ 22 h 69"/>
                <a:gd name="T52" fmla="*/ 21 w 22"/>
                <a:gd name="T53" fmla="*/ 25 h 69"/>
                <a:gd name="T54" fmla="*/ 21 w 22"/>
                <a:gd name="T55" fmla="*/ 26 h 69"/>
                <a:gd name="T56" fmla="*/ 21 w 22"/>
                <a:gd name="T57" fmla="*/ 29 h 69"/>
                <a:gd name="T58" fmla="*/ 21 w 22"/>
                <a:gd name="T59" fmla="*/ 31 h 69"/>
                <a:gd name="T60" fmla="*/ 21 w 22"/>
                <a:gd name="T61" fmla="*/ 33 h 69"/>
                <a:gd name="T62" fmla="*/ 21 w 22"/>
                <a:gd name="T63" fmla="*/ 34 h 69"/>
                <a:gd name="T64" fmla="*/ 21 w 22"/>
                <a:gd name="T65" fmla="*/ 37 h 69"/>
                <a:gd name="T66" fmla="*/ 21 w 22"/>
                <a:gd name="T67" fmla="*/ 39 h 69"/>
                <a:gd name="T68" fmla="*/ 21 w 22"/>
                <a:gd name="T69" fmla="*/ 42 h 69"/>
                <a:gd name="T70" fmla="*/ 21 w 22"/>
                <a:gd name="T71" fmla="*/ 43 h 69"/>
                <a:gd name="T72" fmla="*/ 21 w 22"/>
                <a:gd name="T73" fmla="*/ 46 h 69"/>
                <a:gd name="T74" fmla="*/ 21 w 22"/>
                <a:gd name="T75" fmla="*/ 48 h 69"/>
                <a:gd name="T76" fmla="*/ 20 w 22"/>
                <a:gd name="T77" fmla="*/ 49 h 69"/>
                <a:gd name="T78" fmla="*/ 20 w 22"/>
                <a:gd name="T79" fmla="*/ 52 h 69"/>
                <a:gd name="T80" fmla="*/ 20 w 22"/>
                <a:gd name="T81" fmla="*/ 53 h 69"/>
                <a:gd name="T82" fmla="*/ 19 w 22"/>
                <a:gd name="T83" fmla="*/ 55 h 69"/>
                <a:gd name="T84" fmla="*/ 19 w 22"/>
                <a:gd name="T85" fmla="*/ 57 h 69"/>
                <a:gd name="T86" fmla="*/ 18 w 22"/>
                <a:gd name="T87" fmla="*/ 59 h 69"/>
                <a:gd name="T88" fmla="*/ 18 w 22"/>
                <a:gd name="T89" fmla="*/ 60 h 69"/>
                <a:gd name="T90" fmla="*/ 16 w 22"/>
                <a:gd name="T91" fmla="*/ 62 h 69"/>
                <a:gd name="T92" fmla="*/ 15 w 22"/>
                <a:gd name="T93" fmla="*/ 63 h 69"/>
                <a:gd name="T94" fmla="*/ 14 w 22"/>
                <a:gd name="T95" fmla="*/ 64 h 69"/>
                <a:gd name="T96" fmla="*/ 14 w 22"/>
                <a:gd name="T97" fmla="*/ 64 h 69"/>
                <a:gd name="T98" fmla="*/ 13 w 22"/>
                <a:gd name="T99" fmla="*/ 66 h 69"/>
                <a:gd name="T100" fmla="*/ 11 w 22"/>
                <a:gd name="T101" fmla="*/ 66 h 69"/>
                <a:gd name="T102" fmla="*/ 10 w 22"/>
                <a:gd name="T103" fmla="*/ 6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 h="69">
                  <a:moveTo>
                    <a:pt x="0" y="2"/>
                  </a:moveTo>
                  <a:lnTo>
                    <a:pt x="0" y="2"/>
                  </a:lnTo>
                  <a:lnTo>
                    <a:pt x="1" y="2"/>
                  </a:lnTo>
                  <a:lnTo>
                    <a:pt x="1" y="0"/>
                  </a:lnTo>
                  <a:lnTo>
                    <a:pt x="3" y="0"/>
                  </a:lnTo>
                  <a:lnTo>
                    <a:pt x="3" y="0"/>
                  </a:lnTo>
                  <a:lnTo>
                    <a:pt x="5" y="0"/>
                  </a:lnTo>
                  <a:lnTo>
                    <a:pt x="6" y="0"/>
                  </a:lnTo>
                  <a:lnTo>
                    <a:pt x="7" y="0"/>
                  </a:lnTo>
                  <a:lnTo>
                    <a:pt x="8" y="0"/>
                  </a:lnTo>
                  <a:lnTo>
                    <a:pt x="10" y="2"/>
                  </a:lnTo>
                  <a:lnTo>
                    <a:pt x="10" y="2"/>
                  </a:lnTo>
                  <a:lnTo>
                    <a:pt x="11" y="3"/>
                  </a:lnTo>
                  <a:lnTo>
                    <a:pt x="13" y="4"/>
                  </a:lnTo>
                  <a:lnTo>
                    <a:pt x="14" y="4"/>
                  </a:lnTo>
                  <a:lnTo>
                    <a:pt x="14" y="6"/>
                  </a:lnTo>
                  <a:lnTo>
                    <a:pt x="15" y="6"/>
                  </a:lnTo>
                  <a:lnTo>
                    <a:pt x="16" y="8"/>
                  </a:lnTo>
                  <a:lnTo>
                    <a:pt x="18" y="10"/>
                  </a:lnTo>
                  <a:lnTo>
                    <a:pt x="18" y="12"/>
                  </a:lnTo>
                  <a:lnTo>
                    <a:pt x="19" y="13"/>
                  </a:lnTo>
                  <a:lnTo>
                    <a:pt x="19" y="15"/>
                  </a:lnTo>
                  <a:lnTo>
                    <a:pt x="20" y="16"/>
                  </a:lnTo>
                  <a:lnTo>
                    <a:pt x="20" y="18"/>
                  </a:lnTo>
                  <a:lnTo>
                    <a:pt x="20" y="20"/>
                  </a:lnTo>
                  <a:lnTo>
                    <a:pt x="21" y="22"/>
                  </a:lnTo>
                  <a:lnTo>
                    <a:pt x="21" y="25"/>
                  </a:lnTo>
                  <a:lnTo>
                    <a:pt x="21" y="26"/>
                  </a:lnTo>
                  <a:lnTo>
                    <a:pt x="21" y="29"/>
                  </a:lnTo>
                  <a:lnTo>
                    <a:pt x="21" y="31"/>
                  </a:lnTo>
                  <a:lnTo>
                    <a:pt x="21" y="33"/>
                  </a:lnTo>
                  <a:lnTo>
                    <a:pt x="21" y="34"/>
                  </a:lnTo>
                  <a:lnTo>
                    <a:pt x="21" y="37"/>
                  </a:lnTo>
                  <a:lnTo>
                    <a:pt x="21" y="39"/>
                  </a:lnTo>
                  <a:lnTo>
                    <a:pt x="21" y="42"/>
                  </a:lnTo>
                  <a:lnTo>
                    <a:pt x="21" y="43"/>
                  </a:lnTo>
                  <a:lnTo>
                    <a:pt x="21" y="46"/>
                  </a:lnTo>
                  <a:lnTo>
                    <a:pt x="21" y="48"/>
                  </a:lnTo>
                  <a:lnTo>
                    <a:pt x="20" y="49"/>
                  </a:lnTo>
                  <a:lnTo>
                    <a:pt x="20" y="52"/>
                  </a:lnTo>
                  <a:lnTo>
                    <a:pt x="20" y="53"/>
                  </a:lnTo>
                  <a:lnTo>
                    <a:pt x="19" y="55"/>
                  </a:lnTo>
                  <a:lnTo>
                    <a:pt x="19" y="57"/>
                  </a:lnTo>
                  <a:lnTo>
                    <a:pt x="18" y="59"/>
                  </a:lnTo>
                  <a:lnTo>
                    <a:pt x="18" y="60"/>
                  </a:lnTo>
                  <a:lnTo>
                    <a:pt x="16" y="62"/>
                  </a:lnTo>
                  <a:lnTo>
                    <a:pt x="15" y="63"/>
                  </a:lnTo>
                  <a:lnTo>
                    <a:pt x="14" y="64"/>
                  </a:lnTo>
                  <a:lnTo>
                    <a:pt x="14" y="64"/>
                  </a:lnTo>
                  <a:lnTo>
                    <a:pt x="13" y="66"/>
                  </a:lnTo>
                  <a:lnTo>
                    <a:pt x="11" y="66"/>
                  </a:lnTo>
                  <a:lnTo>
                    <a:pt x="10" y="68"/>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0" name="Freeform 161"/>
            <p:cNvSpPr>
              <a:spLocks/>
            </p:cNvSpPr>
            <p:nvPr/>
          </p:nvSpPr>
          <p:spPr bwMode="auto">
            <a:xfrm>
              <a:off x="3829051" y="5133975"/>
              <a:ext cx="34925" cy="95250"/>
            </a:xfrm>
            <a:custGeom>
              <a:avLst/>
              <a:gdLst>
                <a:gd name="T0" fmla="*/ 0 w 24"/>
                <a:gd name="T1" fmla="*/ 2 h 69"/>
                <a:gd name="T2" fmla="*/ 0 w 24"/>
                <a:gd name="T3" fmla="*/ 2 h 69"/>
                <a:gd name="T4" fmla="*/ 2 w 24"/>
                <a:gd name="T5" fmla="*/ 2 h 69"/>
                <a:gd name="T6" fmla="*/ 3 w 24"/>
                <a:gd name="T7" fmla="*/ 0 h 69"/>
                <a:gd name="T8" fmla="*/ 3 w 24"/>
                <a:gd name="T9" fmla="*/ 0 h 69"/>
                <a:gd name="T10" fmla="*/ 4 w 24"/>
                <a:gd name="T11" fmla="*/ 0 h 69"/>
                <a:gd name="T12" fmla="*/ 5 w 24"/>
                <a:gd name="T13" fmla="*/ 0 h 69"/>
                <a:gd name="T14" fmla="*/ 6 w 24"/>
                <a:gd name="T15" fmla="*/ 0 h 69"/>
                <a:gd name="T16" fmla="*/ 7 w 24"/>
                <a:gd name="T17" fmla="*/ 0 h 69"/>
                <a:gd name="T18" fmla="*/ 8 w 24"/>
                <a:gd name="T19" fmla="*/ 0 h 69"/>
                <a:gd name="T20" fmla="*/ 10 w 24"/>
                <a:gd name="T21" fmla="*/ 2 h 69"/>
                <a:gd name="T22" fmla="*/ 11 w 24"/>
                <a:gd name="T23" fmla="*/ 2 h 69"/>
                <a:gd name="T24" fmla="*/ 12 w 24"/>
                <a:gd name="T25" fmla="*/ 3 h 69"/>
                <a:gd name="T26" fmla="*/ 13 w 24"/>
                <a:gd name="T27" fmla="*/ 4 h 69"/>
                <a:gd name="T28" fmla="*/ 14 w 24"/>
                <a:gd name="T29" fmla="*/ 4 h 69"/>
                <a:gd name="T30" fmla="*/ 14 w 24"/>
                <a:gd name="T31" fmla="*/ 6 h 69"/>
                <a:gd name="T32" fmla="*/ 15 w 24"/>
                <a:gd name="T33" fmla="*/ 6 h 69"/>
                <a:gd name="T34" fmla="*/ 16 w 24"/>
                <a:gd name="T35" fmla="*/ 8 h 69"/>
                <a:gd name="T36" fmla="*/ 17 w 24"/>
                <a:gd name="T37" fmla="*/ 10 h 69"/>
                <a:gd name="T38" fmla="*/ 18 w 24"/>
                <a:gd name="T39" fmla="*/ 12 h 69"/>
                <a:gd name="T40" fmla="*/ 19 w 24"/>
                <a:gd name="T41" fmla="*/ 13 h 69"/>
                <a:gd name="T42" fmla="*/ 19 w 24"/>
                <a:gd name="T43" fmla="*/ 15 h 69"/>
                <a:gd name="T44" fmla="*/ 20 w 24"/>
                <a:gd name="T45" fmla="*/ 16 h 69"/>
                <a:gd name="T46" fmla="*/ 20 w 24"/>
                <a:gd name="T47" fmla="*/ 18 h 69"/>
                <a:gd name="T48" fmla="*/ 21 w 24"/>
                <a:gd name="T49" fmla="*/ 20 h 69"/>
                <a:gd name="T50" fmla="*/ 21 w 24"/>
                <a:gd name="T51" fmla="*/ 22 h 69"/>
                <a:gd name="T52" fmla="*/ 21 w 24"/>
                <a:gd name="T53" fmla="*/ 25 h 69"/>
                <a:gd name="T54" fmla="*/ 21 w 24"/>
                <a:gd name="T55" fmla="*/ 26 h 69"/>
                <a:gd name="T56" fmla="*/ 22 w 24"/>
                <a:gd name="T57" fmla="*/ 29 h 69"/>
                <a:gd name="T58" fmla="*/ 22 w 24"/>
                <a:gd name="T59" fmla="*/ 31 h 69"/>
                <a:gd name="T60" fmla="*/ 23 w 24"/>
                <a:gd name="T61" fmla="*/ 33 h 69"/>
                <a:gd name="T62" fmla="*/ 23 w 24"/>
                <a:gd name="T63" fmla="*/ 34 h 69"/>
                <a:gd name="T64" fmla="*/ 23 w 24"/>
                <a:gd name="T65" fmla="*/ 37 h 69"/>
                <a:gd name="T66" fmla="*/ 22 w 24"/>
                <a:gd name="T67" fmla="*/ 39 h 69"/>
                <a:gd name="T68" fmla="*/ 22 w 24"/>
                <a:gd name="T69" fmla="*/ 42 h 69"/>
                <a:gd name="T70" fmla="*/ 21 w 24"/>
                <a:gd name="T71" fmla="*/ 43 h 69"/>
                <a:gd name="T72" fmla="*/ 21 w 24"/>
                <a:gd name="T73" fmla="*/ 46 h 69"/>
                <a:gd name="T74" fmla="*/ 21 w 24"/>
                <a:gd name="T75" fmla="*/ 48 h 69"/>
                <a:gd name="T76" fmla="*/ 21 w 24"/>
                <a:gd name="T77" fmla="*/ 49 h 69"/>
                <a:gd name="T78" fmla="*/ 20 w 24"/>
                <a:gd name="T79" fmla="*/ 52 h 69"/>
                <a:gd name="T80" fmla="*/ 20 w 24"/>
                <a:gd name="T81" fmla="*/ 53 h 69"/>
                <a:gd name="T82" fmla="*/ 19 w 24"/>
                <a:gd name="T83" fmla="*/ 55 h 69"/>
                <a:gd name="T84" fmla="*/ 19 w 24"/>
                <a:gd name="T85" fmla="*/ 57 h 69"/>
                <a:gd name="T86" fmla="*/ 18 w 24"/>
                <a:gd name="T87" fmla="*/ 59 h 69"/>
                <a:gd name="T88" fmla="*/ 17 w 24"/>
                <a:gd name="T89" fmla="*/ 60 h 69"/>
                <a:gd name="T90" fmla="*/ 16 w 24"/>
                <a:gd name="T91" fmla="*/ 62 h 69"/>
                <a:gd name="T92" fmla="*/ 15 w 24"/>
                <a:gd name="T93" fmla="*/ 63 h 69"/>
                <a:gd name="T94" fmla="*/ 14 w 24"/>
                <a:gd name="T95" fmla="*/ 64 h 69"/>
                <a:gd name="T96" fmla="*/ 14 w 24"/>
                <a:gd name="T97" fmla="*/ 64 h 69"/>
                <a:gd name="T98" fmla="*/ 13 w 24"/>
                <a:gd name="T99" fmla="*/ 66 h 69"/>
                <a:gd name="T100" fmla="*/ 12 w 24"/>
                <a:gd name="T101" fmla="*/ 66 h 69"/>
                <a:gd name="T102" fmla="*/ 11 w 24"/>
                <a:gd name="T103" fmla="*/ 6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4" h="69">
                  <a:moveTo>
                    <a:pt x="0" y="2"/>
                  </a:moveTo>
                  <a:lnTo>
                    <a:pt x="0" y="2"/>
                  </a:lnTo>
                  <a:lnTo>
                    <a:pt x="2" y="2"/>
                  </a:lnTo>
                  <a:lnTo>
                    <a:pt x="3" y="0"/>
                  </a:lnTo>
                  <a:lnTo>
                    <a:pt x="3" y="0"/>
                  </a:lnTo>
                  <a:lnTo>
                    <a:pt x="4" y="0"/>
                  </a:lnTo>
                  <a:lnTo>
                    <a:pt x="5" y="0"/>
                  </a:lnTo>
                  <a:lnTo>
                    <a:pt x="6" y="0"/>
                  </a:lnTo>
                  <a:lnTo>
                    <a:pt x="7" y="0"/>
                  </a:lnTo>
                  <a:lnTo>
                    <a:pt x="8" y="0"/>
                  </a:lnTo>
                  <a:lnTo>
                    <a:pt x="10" y="2"/>
                  </a:lnTo>
                  <a:lnTo>
                    <a:pt x="11" y="2"/>
                  </a:lnTo>
                  <a:lnTo>
                    <a:pt x="12" y="3"/>
                  </a:lnTo>
                  <a:lnTo>
                    <a:pt x="13" y="4"/>
                  </a:lnTo>
                  <a:lnTo>
                    <a:pt x="14" y="4"/>
                  </a:lnTo>
                  <a:lnTo>
                    <a:pt x="14" y="6"/>
                  </a:lnTo>
                  <a:lnTo>
                    <a:pt x="15" y="6"/>
                  </a:lnTo>
                  <a:lnTo>
                    <a:pt x="16" y="8"/>
                  </a:lnTo>
                  <a:lnTo>
                    <a:pt x="17" y="10"/>
                  </a:lnTo>
                  <a:lnTo>
                    <a:pt x="18" y="12"/>
                  </a:lnTo>
                  <a:lnTo>
                    <a:pt x="19" y="13"/>
                  </a:lnTo>
                  <a:lnTo>
                    <a:pt x="19" y="15"/>
                  </a:lnTo>
                  <a:lnTo>
                    <a:pt x="20" y="16"/>
                  </a:lnTo>
                  <a:lnTo>
                    <a:pt x="20" y="18"/>
                  </a:lnTo>
                  <a:lnTo>
                    <a:pt x="21" y="20"/>
                  </a:lnTo>
                  <a:lnTo>
                    <a:pt x="21" y="22"/>
                  </a:lnTo>
                  <a:lnTo>
                    <a:pt x="21" y="25"/>
                  </a:lnTo>
                  <a:lnTo>
                    <a:pt x="21" y="26"/>
                  </a:lnTo>
                  <a:lnTo>
                    <a:pt x="22" y="29"/>
                  </a:lnTo>
                  <a:lnTo>
                    <a:pt x="22" y="31"/>
                  </a:lnTo>
                  <a:lnTo>
                    <a:pt x="23" y="33"/>
                  </a:lnTo>
                  <a:lnTo>
                    <a:pt x="23" y="34"/>
                  </a:lnTo>
                  <a:lnTo>
                    <a:pt x="23" y="37"/>
                  </a:lnTo>
                  <a:lnTo>
                    <a:pt x="22" y="39"/>
                  </a:lnTo>
                  <a:lnTo>
                    <a:pt x="22" y="42"/>
                  </a:lnTo>
                  <a:lnTo>
                    <a:pt x="21" y="43"/>
                  </a:lnTo>
                  <a:lnTo>
                    <a:pt x="21" y="46"/>
                  </a:lnTo>
                  <a:lnTo>
                    <a:pt x="21" y="48"/>
                  </a:lnTo>
                  <a:lnTo>
                    <a:pt x="21" y="49"/>
                  </a:lnTo>
                  <a:lnTo>
                    <a:pt x="20" y="52"/>
                  </a:lnTo>
                  <a:lnTo>
                    <a:pt x="20" y="53"/>
                  </a:lnTo>
                  <a:lnTo>
                    <a:pt x="19" y="55"/>
                  </a:lnTo>
                  <a:lnTo>
                    <a:pt x="19" y="57"/>
                  </a:lnTo>
                  <a:lnTo>
                    <a:pt x="18" y="59"/>
                  </a:lnTo>
                  <a:lnTo>
                    <a:pt x="17" y="60"/>
                  </a:lnTo>
                  <a:lnTo>
                    <a:pt x="16" y="62"/>
                  </a:lnTo>
                  <a:lnTo>
                    <a:pt x="15" y="63"/>
                  </a:lnTo>
                  <a:lnTo>
                    <a:pt x="14" y="64"/>
                  </a:lnTo>
                  <a:lnTo>
                    <a:pt x="14" y="64"/>
                  </a:lnTo>
                  <a:lnTo>
                    <a:pt x="13" y="66"/>
                  </a:lnTo>
                  <a:lnTo>
                    <a:pt x="12" y="66"/>
                  </a:lnTo>
                  <a:lnTo>
                    <a:pt x="11" y="68"/>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1" name="Freeform 162"/>
            <p:cNvSpPr>
              <a:spLocks/>
            </p:cNvSpPr>
            <p:nvPr/>
          </p:nvSpPr>
          <p:spPr bwMode="auto">
            <a:xfrm>
              <a:off x="3851275" y="5133975"/>
              <a:ext cx="33338" cy="95250"/>
            </a:xfrm>
            <a:custGeom>
              <a:avLst/>
              <a:gdLst>
                <a:gd name="T0" fmla="*/ 0 w 23"/>
                <a:gd name="T1" fmla="*/ 2 h 69"/>
                <a:gd name="T2" fmla="*/ 0 w 23"/>
                <a:gd name="T3" fmla="*/ 2 h 69"/>
                <a:gd name="T4" fmla="*/ 1 w 23"/>
                <a:gd name="T5" fmla="*/ 2 h 69"/>
                <a:gd name="T6" fmla="*/ 3 w 23"/>
                <a:gd name="T7" fmla="*/ 0 h 69"/>
                <a:gd name="T8" fmla="*/ 3 w 23"/>
                <a:gd name="T9" fmla="*/ 0 h 69"/>
                <a:gd name="T10" fmla="*/ 4 w 23"/>
                <a:gd name="T11" fmla="*/ 0 h 69"/>
                <a:gd name="T12" fmla="*/ 5 w 23"/>
                <a:gd name="T13" fmla="*/ 0 h 69"/>
                <a:gd name="T14" fmla="*/ 7 w 23"/>
                <a:gd name="T15" fmla="*/ 0 h 69"/>
                <a:gd name="T16" fmla="*/ 7 w 23"/>
                <a:gd name="T17" fmla="*/ 0 h 69"/>
                <a:gd name="T18" fmla="*/ 8 w 23"/>
                <a:gd name="T19" fmla="*/ 0 h 69"/>
                <a:gd name="T20" fmla="*/ 9 w 23"/>
                <a:gd name="T21" fmla="*/ 2 h 69"/>
                <a:gd name="T22" fmla="*/ 10 w 23"/>
                <a:gd name="T23" fmla="*/ 2 h 69"/>
                <a:gd name="T24" fmla="*/ 12 w 23"/>
                <a:gd name="T25" fmla="*/ 3 h 69"/>
                <a:gd name="T26" fmla="*/ 13 w 23"/>
                <a:gd name="T27" fmla="*/ 4 h 69"/>
                <a:gd name="T28" fmla="*/ 13 w 23"/>
                <a:gd name="T29" fmla="*/ 4 h 69"/>
                <a:gd name="T30" fmla="*/ 15 w 23"/>
                <a:gd name="T31" fmla="*/ 6 h 69"/>
                <a:gd name="T32" fmla="*/ 15 w 23"/>
                <a:gd name="T33" fmla="*/ 6 h 69"/>
                <a:gd name="T34" fmla="*/ 16 w 23"/>
                <a:gd name="T35" fmla="*/ 8 h 69"/>
                <a:gd name="T36" fmla="*/ 17 w 23"/>
                <a:gd name="T37" fmla="*/ 10 h 69"/>
                <a:gd name="T38" fmla="*/ 18 w 23"/>
                <a:gd name="T39" fmla="*/ 12 h 69"/>
                <a:gd name="T40" fmla="*/ 18 w 23"/>
                <a:gd name="T41" fmla="*/ 13 h 69"/>
                <a:gd name="T42" fmla="*/ 19 w 23"/>
                <a:gd name="T43" fmla="*/ 15 h 69"/>
                <a:gd name="T44" fmla="*/ 19 w 23"/>
                <a:gd name="T45" fmla="*/ 16 h 69"/>
                <a:gd name="T46" fmla="*/ 20 w 23"/>
                <a:gd name="T47" fmla="*/ 18 h 69"/>
                <a:gd name="T48" fmla="*/ 21 w 23"/>
                <a:gd name="T49" fmla="*/ 20 h 69"/>
                <a:gd name="T50" fmla="*/ 21 w 23"/>
                <a:gd name="T51" fmla="*/ 22 h 69"/>
                <a:gd name="T52" fmla="*/ 21 w 23"/>
                <a:gd name="T53" fmla="*/ 25 h 69"/>
                <a:gd name="T54" fmla="*/ 21 w 23"/>
                <a:gd name="T55" fmla="*/ 26 h 69"/>
                <a:gd name="T56" fmla="*/ 22 w 23"/>
                <a:gd name="T57" fmla="*/ 29 h 69"/>
                <a:gd name="T58" fmla="*/ 22 w 23"/>
                <a:gd name="T59" fmla="*/ 31 h 69"/>
                <a:gd name="T60" fmla="*/ 22 w 23"/>
                <a:gd name="T61" fmla="*/ 33 h 69"/>
                <a:gd name="T62" fmla="*/ 22 w 23"/>
                <a:gd name="T63" fmla="*/ 34 h 69"/>
                <a:gd name="T64" fmla="*/ 22 w 23"/>
                <a:gd name="T65" fmla="*/ 37 h 69"/>
                <a:gd name="T66" fmla="*/ 22 w 23"/>
                <a:gd name="T67" fmla="*/ 39 h 69"/>
                <a:gd name="T68" fmla="*/ 22 w 23"/>
                <a:gd name="T69" fmla="*/ 42 h 69"/>
                <a:gd name="T70" fmla="*/ 21 w 23"/>
                <a:gd name="T71" fmla="*/ 43 h 69"/>
                <a:gd name="T72" fmla="*/ 21 w 23"/>
                <a:gd name="T73" fmla="*/ 46 h 69"/>
                <a:gd name="T74" fmla="*/ 21 w 23"/>
                <a:gd name="T75" fmla="*/ 48 h 69"/>
                <a:gd name="T76" fmla="*/ 21 w 23"/>
                <a:gd name="T77" fmla="*/ 49 h 69"/>
                <a:gd name="T78" fmla="*/ 20 w 23"/>
                <a:gd name="T79" fmla="*/ 52 h 69"/>
                <a:gd name="T80" fmla="*/ 19 w 23"/>
                <a:gd name="T81" fmla="*/ 53 h 69"/>
                <a:gd name="T82" fmla="*/ 19 w 23"/>
                <a:gd name="T83" fmla="*/ 55 h 69"/>
                <a:gd name="T84" fmla="*/ 18 w 23"/>
                <a:gd name="T85" fmla="*/ 57 h 69"/>
                <a:gd name="T86" fmla="*/ 18 w 23"/>
                <a:gd name="T87" fmla="*/ 59 h 69"/>
                <a:gd name="T88" fmla="*/ 17 w 23"/>
                <a:gd name="T89" fmla="*/ 60 h 69"/>
                <a:gd name="T90" fmla="*/ 16 w 23"/>
                <a:gd name="T91" fmla="*/ 62 h 69"/>
                <a:gd name="T92" fmla="*/ 15 w 23"/>
                <a:gd name="T93" fmla="*/ 63 h 69"/>
                <a:gd name="T94" fmla="*/ 15 w 23"/>
                <a:gd name="T95" fmla="*/ 64 h 69"/>
                <a:gd name="T96" fmla="*/ 13 w 23"/>
                <a:gd name="T97" fmla="*/ 64 h 69"/>
                <a:gd name="T98" fmla="*/ 13 w 23"/>
                <a:gd name="T99" fmla="*/ 66 h 69"/>
                <a:gd name="T100" fmla="*/ 12 w 23"/>
                <a:gd name="T101" fmla="*/ 66 h 69"/>
                <a:gd name="T102" fmla="*/ 10 w 23"/>
                <a:gd name="T103" fmla="*/ 6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 h="69">
                  <a:moveTo>
                    <a:pt x="0" y="2"/>
                  </a:moveTo>
                  <a:lnTo>
                    <a:pt x="0" y="2"/>
                  </a:lnTo>
                  <a:lnTo>
                    <a:pt x="1" y="2"/>
                  </a:lnTo>
                  <a:lnTo>
                    <a:pt x="3" y="0"/>
                  </a:lnTo>
                  <a:lnTo>
                    <a:pt x="3" y="0"/>
                  </a:lnTo>
                  <a:lnTo>
                    <a:pt x="4" y="0"/>
                  </a:lnTo>
                  <a:lnTo>
                    <a:pt x="5" y="0"/>
                  </a:lnTo>
                  <a:lnTo>
                    <a:pt x="7" y="0"/>
                  </a:lnTo>
                  <a:lnTo>
                    <a:pt x="7" y="0"/>
                  </a:lnTo>
                  <a:lnTo>
                    <a:pt x="8" y="0"/>
                  </a:lnTo>
                  <a:lnTo>
                    <a:pt x="9" y="2"/>
                  </a:lnTo>
                  <a:lnTo>
                    <a:pt x="10" y="2"/>
                  </a:lnTo>
                  <a:lnTo>
                    <a:pt x="12" y="3"/>
                  </a:lnTo>
                  <a:lnTo>
                    <a:pt x="13" y="4"/>
                  </a:lnTo>
                  <a:lnTo>
                    <a:pt x="13" y="4"/>
                  </a:lnTo>
                  <a:lnTo>
                    <a:pt x="15" y="6"/>
                  </a:lnTo>
                  <a:lnTo>
                    <a:pt x="15" y="6"/>
                  </a:lnTo>
                  <a:lnTo>
                    <a:pt x="16" y="8"/>
                  </a:lnTo>
                  <a:lnTo>
                    <a:pt x="17" y="10"/>
                  </a:lnTo>
                  <a:lnTo>
                    <a:pt x="18" y="12"/>
                  </a:lnTo>
                  <a:lnTo>
                    <a:pt x="18" y="13"/>
                  </a:lnTo>
                  <a:lnTo>
                    <a:pt x="19" y="15"/>
                  </a:lnTo>
                  <a:lnTo>
                    <a:pt x="19" y="16"/>
                  </a:lnTo>
                  <a:lnTo>
                    <a:pt x="20" y="18"/>
                  </a:lnTo>
                  <a:lnTo>
                    <a:pt x="21" y="20"/>
                  </a:lnTo>
                  <a:lnTo>
                    <a:pt x="21" y="22"/>
                  </a:lnTo>
                  <a:lnTo>
                    <a:pt x="21" y="25"/>
                  </a:lnTo>
                  <a:lnTo>
                    <a:pt x="21" y="26"/>
                  </a:lnTo>
                  <a:lnTo>
                    <a:pt x="22" y="29"/>
                  </a:lnTo>
                  <a:lnTo>
                    <a:pt x="22" y="31"/>
                  </a:lnTo>
                  <a:lnTo>
                    <a:pt x="22" y="33"/>
                  </a:lnTo>
                  <a:lnTo>
                    <a:pt x="22" y="34"/>
                  </a:lnTo>
                  <a:lnTo>
                    <a:pt x="22" y="37"/>
                  </a:lnTo>
                  <a:lnTo>
                    <a:pt x="22" y="39"/>
                  </a:lnTo>
                  <a:lnTo>
                    <a:pt x="22" y="42"/>
                  </a:lnTo>
                  <a:lnTo>
                    <a:pt x="21" y="43"/>
                  </a:lnTo>
                  <a:lnTo>
                    <a:pt x="21" y="46"/>
                  </a:lnTo>
                  <a:lnTo>
                    <a:pt x="21" y="48"/>
                  </a:lnTo>
                  <a:lnTo>
                    <a:pt x="21" y="49"/>
                  </a:lnTo>
                  <a:lnTo>
                    <a:pt x="20" y="52"/>
                  </a:lnTo>
                  <a:lnTo>
                    <a:pt x="19" y="53"/>
                  </a:lnTo>
                  <a:lnTo>
                    <a:pt x="19" y="55"/>
                  </a:lnTo>
                  <a:lnTo>
                    <a:pt x="18" y="57"/>
                  </a:lnTo>
                  <a:lnTo>
                    <a:pt x="18" y="59"/>
                  </a:lnTo>
                  <a:lnTo>
                    <a:pt x="17" y="60"/>
                  </a:lnTo>
                  <a:lnTo>
                    <a:pt x="16" y="62"/>
                  </a:lnTo>
                  <a:lnTo>
                    <a:pt x="15" y="63"/>
                  </a:lnTo>
                  <a:lnTo>
                    <a:pt x="15" y="64"/>
                  </a:lnTo>
                  <a:lnTo>
                    <a:pt x="13" y="64"/>
                  </a:lnTo>
                  <a:lnTo>
                    <a:pt x="13" y="66"/>
                  </a:lnTo>
                  <a:lnTo>
                    <a:pt x="12" y="66"/>
                  </a:lnTo>
                  <a:lnTo>
                    <a:pt x="10" y="68"/>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2" name="Freeform 163"/>
            <p:cNvSpPr>
              <a:spLocks/>
            </p:cNvSpPr>
            <p:nvPr/>
          </p:nvSpPr>
          <p:spPr bwMode="auto">
            <a:xfrm>
              <a:off x="3875089" y="5133975"/>
              <a:ext cx="33337" cy="95250"/>
            </a:xfrm>
            <a:custGeom>
              <a:avLst/>
              <a:gdLst>
                <a:gd name="T0" fmla="*/ 0 w 23"/>
                <a:gd name="T1" fmla="*/ 2 h 69"/>
                <a:gd name="T2" fmla="*/ 0 w 23"/>
                <a:gd name="T3" fmla="*/ 2 h 69"/>
                <a:gd name="T4" fmla="*/ 1 w 23"/>
                <a:gd name="T5" fmla="*/ 2 h 69"/>
                <a:gd name="T6" fmla="*/ 2 w 23"/>
                <a:gd name="T7" fmla="*/ 0 h 69"/>
                <a:gd name="T8" fmla="*/ 3 w 23"/>
                <a:gd name="T9" fmla="*/ 0 h 69"/>
                <a:gd name="T10" fmla="*/ 4 w 23"/>
                <a:gd name="T11" fmla="*/ 0 h 69"/>
                <a:gd name="T12" fmla="*/ 5 w 23"/>
                <a:gd name="T13" fmla="*/ 0 h 69"/>
                <a:gd name="T14" fmla="*/ 7 w 23"/>
                <a:gd name="T15" fmla="*/ 0 h 69"/>
                <a:gd name="T16" fmla="*/ 7 w 23"/>
                <a:gd name="T17" fmla="*/ 0 h 69"/>
                <a:gd name="T18" fmla="*/ 9 w 23"/>
                <a:gd name="T19" fmla="*/ 0 h 69"/>
                <a:gd name="T20" fmla="*/ 9 w 23"/>
                <a:gd name="T21" fmla="*/ 2 h 69"/>
                <a:gd name="T22" fmla="*/ 11 w 23"/>
                <a:gd name="T23" fmla="*/ 2 h 69"/>
                <a:gd name="T24" fmla="*/ 12 w 23"/>
                <a:gd name="T25" fmla="*/ 3 h 69"/>
                <a:gd name="T26" fmla="*/ 12 w 23"/>
                <a:gd name="T27" fmla="*/ 4 h 69"/>
                <a:gd name="T28" fmla="*/ 13 w 23"/>
                <a:gd name="T29" fmla="*/ 4 h 69"/>
                <a:gd name="T30" fmla="*/ 15 w 23"/>
                <a:gd name="T31" fmla="*/ 6 h 69"/>
                <a:gd name="T32" fmla="*/ 15 w 23"/>
                <a:gd name="T33" fmla="*/ 6 h 69"/>
                <a:gd name="T34" fmla="*/ 16 w 23"/>
                <a:gd name="T35" fmla="*/ 8 h 69"/>
                <a:gd name="T36" fmla="*/ 17 w 23"/>
                <a:gd name="T37" fmla="*/ 10 h 69"/>
                <a:gd name="T38" fmla="*/ 18 w 23"/>
                <a:gd name="T39" fmla="*/ 12 h 69"/>
                <a:gd name="T40" fmla="*/ 19 w 23"/>
                <a:gd name="T41" fmla="*/ 13 h 69"/>
                <a:gd name="T42" fmla="*/ 20 w 23"/>
                <a:gd name="T43" fmla="*/ 15 h 69"/>
                <a:gd name="T44" fmla="*/ 20 w 23"/>
                <a:gd name="T45" fmla="*/ 16 h 69"/>
                <a:gd name="T46" fmla="*/ 20 w 23"/>
                <a:gd name="T47" fmla="*/ 18 h 69"/>
                <a:gd name="T48" fmla="*/ 20 w 23"/>
                <a:gd name="T49" fmla="*/ 20 h 69"/>
                <a:gd name="T50" fmla="*/ 21 w 23"/>
                <a:gd name="T51" fmla="*/ 22 h 69"/>
                <a:gd name="T52" fmla="*/ 21 w 23"/>
                <a:gd name="T53" fmla="*/ 25 h 69"/>
                <a:gd name="T54" fmla="*/ 21 w 23"/>
                <a:gd name="T55" fmla="*/ 26 h 69"/>
                <a:gd name="T56" fmla="*/ 22 w 23"/>
                <a:gd name="T57" fmla="*/ 29 h 69"/>
                <a:gd name="T58" fmla="*/ 22 w 23"/>
                <a:gd name="T59" fmla="*/ 31 h 69"/>
                <a:gd name="T60" fmla="*/ 22 w 23"/>
                <a:gd name="T61" fmla="*/ 33 h 69"/>
                <a:gd name="T62" fmla="*/ 22 w 23"/>
                <a:gd name="T63" fmla="*/ 34 h 69"/>
                <a:gd name="T64" fmla="*/ 22 w 23"/>
                <a:gd name="T65" fmla="*/ 37 h 69"/>
                <a:gd name="T66" fmla="*/ 22 w 23"/>
                <a:gd name="T67" fmla="*/ 39 h 69"/>
                <a:gd name="T68" fmla="*/ 22 w 23"/>
                <a:gd name="T69" fmla="*/ 42 h 69"/>
                <a:gd name="T70" fmla="*/ 21 w 23"/>
                <a:gd name="T71" fmla="*/ 43 h 69"/>
                <a:gd name="T72" fmla="*/ 21 w 23"/>
                <a:gd name="T73" fmla="*/ 46 h 69"/>
                <a:gd name="T74" fmla="*/ 21 w 23"/>
                <a:gd name="T75" fmla="*/ 48 h 69"/>
                <a:gd name="T76" fmla="*/ 20 w 23"/>
                <a:gd name="T77" fmla="*/ 49 h 69"/>
                <a:gd name="T78" fmla="*/ 20 w 23"/>
                <a:gd name="T79" fmla="*/ 52 h 69"/>
                <a:gd name="T80" fmla="*/ 20 w 23"/>
                <a:gd name="T81" fmla="*/ 53 h 69"/>
                <a:gd name="T82" fmla="*/ 19 w 23"/>
                <a:gd name="T83" fmla="*/ 55 h 69"/>
                <a:gd name="T84" fmla="*/ 19 w 23"/>
                <a:gd name="T85" fmla="*/ 57 h 69"/>
                <a:gd name="T86" fmla="*/ 18 w 23"/>
                <a:gd name="T87" fmla="*/ 59 h 69"/>
                <a:gd name="T88" fmla="*/ 16 w 23"/>
                <a:gd name="T89" fmla="*/ 60 h 69"/>
                <a:gd name="T90" fmla="*/ 16 w 23"/>
                <a:gd name="T91" fmla="*/ 62 h 69"/>
                <a:gd name="T92" fmla="*/ 15 w 23"/>
                <a:gd name="T93" fmla="*/ 63 h 69"/>
                <a:gd name="T94" fmla="*/ 15 w 23"/>
                <a:gd name="T95" fmla="*/ 64 h 69"/>
                <a:gd name="T96" fmla="*/ 13 w 23"/>
                <a:gd name="T97" fmla="*/ 64 h 69"/>
                <a:gd name="T98" fmla="*/ 12 w 23"/>
                <a:gd name="T99" fmla="*/ 66 h 69"/>
                <a:gd name="T100" fmla="*/ 12 w 23"/>
                <a:gd name="T101" fmla="*/ 66 h 69"/>
                <a:gd name="T102" fmla="*/ 11 w 23"/>
                <a:gd name="T103" fmla="*/ 6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 h="69">
                  <a:moveTo>
                    <a:pt x="0" y="2"/>
                  </a:moveTo>
                  <a:lnTo>
                    <a:pt x="0" y="2"/>
                  </a:lnTo>
                  <a:lnTo>
                    <a:pt x="1" y="2"/>
                  </a:lnTo>
                  <a:lnTo>
                    <a:pt x="2" y="0"/>
                  </a:lnTo>
                  <a:lnTo>
                    <a:pt x="3" y="0"/>
                  </a:lnTo>
                  <a:lnTo>
                    <a:pt x="4" y="0"/>
                  </a:lnTo>
                  <a:lnTo>
                    <a:pt x="5" y="0"/>
                  </a:lnTo>
                  <a:lnTo>
                    <a:pt x="7" y="0"/>
                  </a:lnTo>
                  <a:lnTo>
                    <a:pt x="7" y="0"/>
                  </a:lnTo>
                  <a:lnTo>
                    <a:pt x="9" y="0"/>
                  </a:lnTo>
                  <a:lnTo>
                    <a:pt x="9" y="2"/>
                  </a:lnTo>
                  <a:lnTo>
                    <a:pt x="11" y="2"/>
                  </a:lnTo>
                  <a:lnTo>
                    <a:pt x="12" y="3"/>
                  </a:lnTo>
                  <a:lnTo>
                    <a:pt x="12" y="4"/>
                  </a:lnTo>
                  <a:lnTo>
                    <a:pt x="13" y="4"/>
                  </a:lnTo>
                  <a:lnTo>
                    <a:pt x="15" y="6"/>
                  </a:lnTo>
                  <a:lnTo>
                    <a:pt x="15" y="6"/>
                  </a:lnTo>
                  <a:lnTo>
                    <a:pt x="16" y="8"/>
                  </a:lnTo>
                  <a:lnTo>
                    <a:pt x="17" y="10"/>
                  </a:lnTo>
                  <a:lnTo>
                    <a:pt x="18" y="12"/>
                  </a:lnTo>
                  <a:lnTo>
                    <a:pt x="19" y="13"/>
                  </a:lnTo>
                  <a:lnTo>
                    <a:pt x="20" y="15"/>
                  </a:lnTo>
                  <a:lnTo>
                    <a:pt x="20" y="16"/>
                  </a:lnTo>
                  <a:lnTo>
                    <a:pt x="20" y="18"/>
                  </a:lnTo>
                  <a:lnTo>
                    <a:pt x="20" y="20"/>
                  </a:lnTo>
                  <a:lnTo>
                    <a:pt x="21" y="22"/>
                  </a:lnTo>
                  <a:lnTo>
                    <a:pt x="21" y="25"/>
                  </a:lnTo>
                  <a:lnTo>
                    <a:pt x="21" y="26"/>
                  </a:lnTo>
                  <a:lnTo>
                    <a:pt x="22" y="29"/>
                  </a:lnTo>
                  <a:lnTo>
                    <a:pt x="22" y="31"/>
                  </a:lnTo>
                  <a:lnTo>
                    <a:pt x="22" y="33"/>
                  </a:lnTo>
                  <a:lnTo>
                    <a:pt x="22" y="34"/>
                  </a:lnTo>
                  <a:lnTo>
                    <a:pt x="22" y="37"/>
                  </a:lnTo>
                  <a:lnTo>
                    <a:pt x="22" y="39"/>
                  </a:lnTo>
                  <a:lnTo>
                    <a:pt x="22" y="42"/>
                  </a:lnTo>
                  <a:lnTo>
                    <a:pt x="21" y="43"/>
                  </a:lnTo>
                  <a:lnTo>
                    <a:pt x="21" y="46"/>
                  </a:lnTo>
                  <a:lnTo>
                    <a:pt x="21" y="48"/>
                  </a:lnTo>
                  <a:lnTo>
                    <a:pt x="20" y="49"/>
                  </a:lnTo>
                  <a:lnTo>
                    <a:pt x="20" y="52"/>
                  </a:lnTo>
                  <a:lnTo>
                    <a:pt x="20" y="53"/>
                  </a:lnTo>
                  <a:lnTo>
                    <a:pt x="19" y="55"/>
                  </a:lnTo>
                  <a:lnTo>
                    <a:pt x="19" y="57"/>
                  </a:lnTo>
                  <a:lnTo>
                    <a:pt x="18" y="59"/>
                  </a:lnTo>
                  <a:lnTo>
                    <a:pt x="16" y="60"/>
                  </a:lnTo>
                  <a:lnTo>
                    <a:pt x="16" y="62"/>
                  </a:lnTo>
                  <a:lnTo>
                    <a:pt x="15" y="63"/>
                  </a:lnTo>
                  <a:lnTo>
                    <a:pt x="15" y="64"/>
                  </a:lnTo>
                  <a:lnTo>
                    <a:pt x="13" y="64"/>
                  </a:lnTo>
                  <a:lnTo>
                    <a:pt x="12" y="66"/>
                  </a:lnTo>
                  <a:lnTo>
                    <a:pt x="12" y="66"/>
                  </a:lnTo>
                  <a:lnTo>
                    <a:pt x="11" y="68"/>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3" name="Freeform 164"/>
            <p:cNvSpPr>
              <a:spLocks/>
            </p:cNvSpPr>
            <p:nvPr/>
          </p:nvSpPr>
          <p:spPr bwMode="auto">
            <a:xfrm>
              <a:off x="3897314" y="5133975"/>
              <a:ext cx="33337" cy="95250"/>
            </a:xfrm>
            <a:custGeom>
              <a:avLst/>
              <a:gdLst>
                <a:gd name="T0" fmla="*/ 0 w 23"/>
                <a:gd name="T1" fmla="*/ 2 h 69"/>
                <a:gd name="T2" fmla="*/ 0 w 23"/>
                <a:gd name="T3" fmla="*/ 2 h 69"/>
                <a:gd name="T4" fmla="*/ 1 w 23"/>
                <a:gd name="T5" fmla="*/ 2 h 69"/>
                <a:gd name="T6" fmla="*/ 2 w 23"/>
                <a:gd name="T7" fmla="*/ 0 h 69"/>
                <a:gd name="T8" fmla="*/ 4 w 23"/>
                <a:gd name="T9" fmla="*/ 0 h 69"/>
                <a:gd name="T10" fmla="*/ 4 w 23"/>
                <a:gd name="T11" fmla="*/ 0 h 69"/>
                <a:gd name="T12" fmla="*/ 5 w 23"/>
                <a:gd name="T13" fmla="*/ 0 h 69"/>
                <a:gd name="T14" fmla="*/ 6 w 23"/>
                <a:gd name="T15" fmla="*/ 0 h 69"/>
                <a:gd name="T16" fmla="*/ 7 w 23"/>
                <a:gd name="T17" fmla="*/ 0 h 69"/>
                <a:gd name="T18" fmla="*/ 9 w 23"/>
                <a:gd name="T19" fmla="*/ 0 h 69"/>
                <a:gd name="T20" fmla="*/ 9 w 23"/>
                <a:gd name="T21" fmla="*/ 2 h 69"/>
                <a:gd name="T22" fmla="*/ 10 w 23"/>
                <a:gd name="T23" fmla="*/ 2 h 69"/>
                <a:gd name="T24" fmla="*/ 12 w 23"/>
                <a:gd name="T25" fmla="*/ 3 h 69"/>
                <a:gd name="T26" fmla="*/ 13 w 23"/>
                <a:gd name="T27" fmla="*/ 4 h 69"/>
                <a:gd name="T28" fmla="*/ 14 w 23"/>
                <a:gd name="T29" fmla="*/ 4 h 69"/>
                <a:gd name="T30" fmla="*/ 14 w 23"/>
                <a:gd name="T31" fmla="*/ 6 h 69"/>
                <a:gd name="T32" fmla="*/ 15 w 23"/>
                <a:gd name="T33" fmla="*/ 6 h 69"/>
                <a:gd name="T34" fmla="*/ 16 w 23"/>
                <a:gd name="T35" fmla="*/ 8 h 69"/>
                <a:gd name="T36" fmla="*/ 17 w 23"/>
                <a:gd name="T37" fmla="*/ 10 h 69"/>
                <a:gd name="T38" fmla="*/ 18 w 23"/>
                <a:gd name="T39" fmla="*/ 12 h 69"/>
                <a:gd name="T40" fmla="*/ 19 w 23"/>
                <a:gd name="T41" fmla="*/ 13 h 69"/>
                <a:gd name="T42" fmla="*/ 19 w 23"/>
                <a:gd name="T43" fmla="*/ 15 h 69"/>
                <a:gd name="T44" fmla="*/ 20 w 23"/>
                <a:gd name="T45" fmla="*/ 16 h 69"/>
                <a:gd name="T46" fmla="*/ 21 w 23"/>
                <a:gd name="T47" fmla="*/ 18 h 69"/>
                <a:gd name="T48" fmla="*/ 21 w 23"/>
                <a:gd name="T49" fmla="*/ 20 h 69"/>
                <a:gd name="T50" fmla="*/ 21 w 23"/>
                <a:gd name="T51" fmla="*/ 22 h 69"/>
                <a:gd name="T52" fmla="*/ 21 w 23"/>
                <a:gd name="T53" fmla="*/ 25 h 69"/>
                <a:gd name="T54" fmla="*/ 21 w 23"/>
                <a:gd name="T55" fmla="*/ 26 h 69"/>
                <a:gd name="T56" fmla="*/ 22 w 23"/>
                <a:gd name="T57" fmla="*/ 29 h 69"/>
                <a:gd name="T58" fmla="*/ 22 w 23"/>
                <a:gd name="T59" fmla="*/ 31 h 69"/>
                <a:gd name="T60" fmla="*/ 22 w 23"/>
                <a:gd name="T61" fmla="*/ 33 h 69"/>
                <a:gd name="T62" fmla="*/ 22 w 23"/>
                <a:gd name="T63" fmla="*/ 34 h 69"/>
                <a:gd name="T64" fmla="*/ 22 w 23"/>
                <a:gd name="T65" fmla="*/ 37 h 69"/>
                <a:gd name="T66" fmla="*/ 22 w 23"/>
                <a:gd name="T67" fmla="*/ 39 h 69"/>
                <a:gd name="T68" fmla="*/ 22 w 23"/>
                <a:gd name="T69" fmla="*/ 42 h 69"/>
                <a:gd name="T70" fmla="*/ 21 w 23"/>
                <a:gd name="T71" fmla="*/ 43 h 69"/>
                <a:gd name="T72" fmla="*/ 21 w 23"/>
                <a:gd name="T73" fmla="*/ 46 h 69"/>
                <a:gd name="T74" fmla="*/ 21 w 23"/>
                <a:gd name="T75" fmla="*/ 48 h 69"/>
                <a:gd name="T76" fmla="*/ 21 w 23"/>
                <a:gd name="T77" fmla="*/ 49 h 69"/>
                <a:gd name="T78" fmla="*/ 21 w 23"/>
                <a:gd name="T79" fmla="*/ 52 h 69"/>
                <a:gd name="T80" fmla="*/ 20 w 23"/>
                <a:gd name="T81" fmla="*/ 53 h 69"/>
                <a:gd name="T82" fmla="*/ 19 w 23"/>
                <a:gd name="T83" fmla="*/ 55 h 69"/>
                <a:gd name="T84" fmla="*/ 19 w 23"/>
                <a:gd name="T85" fmla="*/ 57 h 69"/>
                <a:gd name="T86" fmla="*/ 18 w 23"/>
                <a:gd name="T87" fmla="*/ 59 h 69"/>
                <a:gd name="T88" fmla="*/ 17 w 23"/>
                <a:gd name="T89" fmla="*/ 60 h 69"/>
                <a:gd name="T90" fmla="*/ 16 w 23"/>
                <a:gd name="T91" fmla="*/ 62 h 69"/>
                <a:gd name="T92" fmla="*/ 15 w 23"/>
                <a:gd name="T93" fmla="*/ 63 h 69"/>
                <a:gd name="T94" fmla="*/ 14 w 23"/>
                <a:gd name="T95" fmla="*/ 64 h 69"/>
                <a:gd name="T96" fmla="*/ 14 w 23"/>
                <a:gd name="T97" fmla="*/ 64 h 69"/>
                <a:gd name="T98" fmla="*/ 13 w 23"/>
                <a:gd name="T99" fmla="*/ 66 h 69"/>
                <a:gd name="T100" fmla="*/ 12 w 23"/>
                <a:gd name="T101" fmla="*/ 66 h 69"/>
                <a:gd name="T102" fmla="*/ 10 w 23"/>
                <a:gd name="T103" fmla="*/ 6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 h="69">
                  <a:moveTo>
                    <a:pt x="0" y="2"/>
                  </a:moveTo>
                  <a:lnTo>
                    <a:pt x="0" y="2"/>
                  </a:lnTo>
                  <a:lnTo>
                    <a:pt x="1" y="2"/>
                  </a:lnTo>
                  <a:lnTo>
                    <a:pt x="2" y="0"/>
                  </a:lnTo>
                  <a:lnTo>
                    <a:pt x="4" y="0"/>
                  </a:lnTo>
                  <a:lnTo>
                    <a:pt x="4" y="0"/>
                  </a:lnTo>
                  <a:lnTo>
                    <a:pt x="5" y="0"/>
                  </a:lnTo>
                  <a:lnTo>
                    <a:pt x="6" y="0"/>
                  </a:lnTo>
                  <a:lnTo>
                    <a:pt x="7" y="0"/>
                  </a:lnTo>
                  <a:lnTo>
                    <a:pt x="9" y="0"/>
                  </a:lnTo>
                  <a:lnTo>
                    <a:pt x="9" y="2"/>
                  </a:lnTo>
                  <a:lnTo>
                    <a:pt x="10" y="2"/>
                  </a:lnTo>
                  <a:lnTo>
                    <a:pt x="12" y="3"/>
                  </a:lnTo>
                  <a:lnTo>
                    <a:pt x="13" y="4"/>
                  </a:lnTo>
                  <a:lnTo>
                    <a:pt x="14" y="4"/>
                  </a:lnTo>
                  <a:lnTo>
                    <a:pt x="14" y="6"/>
                  </a:lnTo>
                  <a:lnTo>
                    <a:pt x="15" y="6"/>
                  </a:lnTo>
                  <a:lnTo>
                    <a:pt x="16" y="8"/>
                  </a:lnTo>
                  <a:lnTo>
                    <a:pt x="17" y="10"/>
                  </a:lnTo>
                  <a:lnTo>
                    <a:pt x="18" y="12"/>
                  </a:lnTo>
                  <a:lnTo>
                    <a:pt x="19" y="13"/>
                  </a:lnTo>
                  <a:lnTo>
                    <a:pt x="19" y="15"/>
                  </a:lnTo>
                  <a:lnTo>
                    <a:pt x="20" y="16"/>
                  </a:lnTo>
                  <a:lnTo>
                    <a:pt x="21" y="18"/>
                  </a:lnTo>
                  <a:lnTo>
                    <a:pt x="21" y="20"/>
                  </a:lnTo>
                  <a:lnTo>
                    <a:pt x="21" y="22"/>
                  </a:lnTo>
                  <a:lnTo>
                    <a:pt x="21" y="25"/>
                  </a:lnTo>
                  <a:lnTo>
                    <a:pt x="21" y="26"/>
                  </a:lnTo>
                  <a:lnTo>
                    <a:pt x="22" y="29"/>
                  </a:lnTo>
                  <a:lnTo>
                    <a:pt x="22" y="31"/>
                  </a:lnTo>
                  <a:lnTo>
                    <a:pt x="22" y="33"/>
                  </a:lnTo>
                  <a:lnTo>
                    <a:pt x="22" y="34"/>
                  </a:lnTo>
                  <a:lnTo>
                    <a:pt x="22" y="37"/>
                  </a:lnTo>
                  <a:lnTo>
                    <a:pt x="22" y="39"/>
                  </a:lnTo>
                  <a:lnTo>
                    <a:pt x="22" y="42"/>
                  </a:lnTo>
                  <a:lnTo>
                    <a:pt x="21" y="43"/>
                  </a:lnTo>
                  <a:lnTo>
                    <a:pt x="21" y="46"/>
                  </a:lnTo>
                  <a:lnTo>
                    <a:pt x="21" y="48"/>
                  </a:lnTo>
                  <a:lnTo>
                    <a:pt x="21" y="49"/>
                  </a:lnTo>
                  <a:lnTo>
                    <a:pt x="21" y="52"/>
                  </a:lnTo>
                  <a:lnTo>
                    <a:pt x="20" y="53"/>
                  </a:lnTo>
                  <a:lnTo>
                    <a:pt x="19" y="55"/>
                  </a:lnTo>
                  <a:lnTo>
                    <a:pt x="19" y="57"/>
                  </a:lnTo>
                  <a:lnTo>
                    <a:pt x="18" y="59"/>
                  </a:lnTo>
                  <a:lnTo>
                    <a:pt x="17" y="60"/>
                  </a:lnTo>
                  <a:lnTo>
                    <a:pt x="16" y="62"/>
                  </a:lnTo>
                  <a:lnTo>
                    <a:pt x="15" y="63"/>
                  </a:lnTo>
                  <a:lnTo>
                    <a:pt x="14" y="64"/>
                  </a:lnTo>
                  <a:lnTo>
                    <a:pt x="14" y="64"/>
                  </a:lnTo>
                  <a:lnTo>
                    <a:pt x="13" y="66"/>
                  </a:lnTo>
                  <a:lnTo>
                    <a:pt x="12" y="66"/>
                  </a:lnTo>
                  <a:lnTo>
                    <a:pt x="10" y="68"/>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4" name="Freeform 165"/>
            <p:cNvSpPr>
              <a:spLocks/>
            </p:cNvSpPr>
            <p:nvPr/>
          </p:nvSpPr>
          <p:spPr bwMode="auto">
            <a:xfrm>
              <a:off x="3917950" y="5133975"/>
              <a:ext cx="33338" cy="95250"/>
            </a:xfrm>
            <a:custGeom>
              <a:avLst/>
              <a:gdLst>
                <a:gd name="T0" fmla="*/ 0 w 23"/>
                <a:gd name="T1" fmla="*/ 2 h 69"/>
                <a:gd name="T2" fmla="*/ 0 w 23"/>
                <a:gd name="T3" fmla="*/ 2 h 69"/>
                <a:gd name="T4" fmla="*/ 0 w 23"/>
                <a:gd name="T5" fmla="*/ 2 h 69"/>
                <a:gd name="T6" fmla="*/ 1 w 23"/>
                <a:gd name="T7" fmla="*/ 0 h 69"/>
                <a:gd name="T8" fmla="*/ 2 w 23"/>
                <a:gd name="T9" fmla="*/ 0 h 69"/>
                <a:gd name="T10" fmla="*/ 4 w 23"/>
                <a:gd name="T11" fmla="*/ 0 h 69"/>
                <a:gd name="T12" fmla="*/ 5 w 23"/>
                <a:gd name="T13" fmla="*/ 0 h 69"/>
                <a:gd name="T14" fmla="*/ 6 w 23"/>
                <a:gd name="T15" fmla="*/ 0 h 69"/>
                <a:gd name="T16" fmla="*/ 7 w 23"/>
                <a:gd name="T17" fmla="*/ 0 h 69"/>
                <a:gd name="T18" fmla="*/ 8 w 23"/>
                <a:gd name="T19" fmla="*/ 0 h 69"/>
                <a:gd name="T20" fmla="*/ 9 w 23"/>
                <a:gd name="T21" fmla="*/ 2 h 69"/>
                <a:gd name="T22" fmla="*/ 10 w 23"/>
                <a:gd name="T23" fmla="*/ 2 h 69"/>
                <a:gd name="T24" fmla="*/ 10 w 23"/>
                <a:gd name="T25" fmla="*/ 3 h 69"/>
                <a:gd name="T26" fmla="*/ 11 w 23"/>
                <a:gd name="T27" fmla="*/ 4 h 69"/>
                <a:gd name="T28" fmla="*/ 12 w 23"/>
                <a:gd name="T29" fmla="*/ 4 h 69"/>
                <a:gd name="T30" fmla="*/ 13 w 23"/>
                <a:gd name="T31" fmla="*/ 6 h 69"/>
                <a:gd name="T32" fmla="*/ 15 w 23"/>
                <a:gd name="T33" fmla="*/ 6 h 69"/>
                <a:gd name="T34" fmla="*/ 15 w 23"/>
                <a:gd name="T35" fmla="*/ 8 h 69"/>
                <a:gd name="T36" fmla="*/ 17 w 23"/>
                <a:gd name="T37" fmla="*/ 10 h 69"/>
                <a:gd name="T38" fmla="*/ 17 w 23"/>
                <a:gd name="T39" fmla="*/ 12 h 69"/>
                <a:gd name="T40" fmla="*/ 19 w 23"/>
                <a:gd name="T41" fmla="*/ 13 h 69"/>
                <a:gd name="T42" fmla="*/ 19 w 23"/>
                <a:gd name="T43" fmla="*/ 15 h 69"/>
                <a:gd name="T44" fmla="*/ 20 w 23"/>
                <a:gd name="T45" fmla="*/ 16 h 69"/>
                <a:gd name="T46" fmla="*/ 20 w 23"/>
                <a:gd name="T47" fmla="*/ 18 h 69"/>
                <a:gd name="T48" fmla="*/ 20 w 23"/>
                <a:gd name="T49" fmla="*/ 20 h 69"/>
                <a:gd name="T50" fmla="*/ 21 w 23"/>
                <a:gd name="T51" fmla="*/ 22 h 69"/>
                <a:gd name="T52" fmla="*/ 21 w 23"/>
                <a:gd name="T53" fmla="*/ 25 h 69"/>
                <a:gd name="T54" fmla="*/ 21 w 23"/>
                <a:gd name="T55" fmla="*/ 26 h 69"/>
                <a:gd name="T56" fmla="*/ 21 w 23"/>
                <a:gd name="T57" fmla="*/ 29 h 69"/>
                <a:gd name="T58" fmla="*/ 21 w 23"/>
                <a:gd name="T59" fmla="*/ 31 h 69"/>
                <a:gd name="T60" fmla="*/ 22 w 23"/>
                <a:gd name="T61" fmla="*/ 33 h 69"/>
                <a:gd name="T62" fmla="*/ 22 w 23"/>
                <a:gd name="T63" fmla="*/ 34 h 69"/>
                <a:gd name="T64" fmla="*/ 22 w 23"/>
                <a:gd name="T65" fmla="*/ 37 h 69"/>
                <a:gd name="T66" fmla="*/ 21 w 23"/>
                <a:gd name="T67" fmla="*/ 39 h 69"/>
                <a:gd name="T68" fmla="*/ 21 w 23"/>
                <a:gd name="T69" fmla="*/ 42 h 69"/>
                <a:gd name="T70" fmla="*/ 21 w 23"/>
                <a:gd name="T71" fmla="*/ 43 h 69"/>
                <a:gd name="T72" fmla="*/ 21 w 23"/>
                <a:gd name="T73" fmla="*/ 46 h 69"/>
                <a:gd name="T74" fmla="*/ 21 w 23"/>
                <a:gd name="T75" fmla="*/ 48 h 69"/>
                <a:gd name="T76" fmla="*/ 20 w 23"/>
                <a:gd name="T77" fmla="*/ 49 h 69"/>
                <a:gd name="T78" fmla="*/ 20 w 23"/>
                <a:gd name="T79" fmla="*/ 52 h 69"/>
                <a:gd name="T80" fmla="*/ 20 w 23"/>
                <a:gd name="T81" fmla="*/ 53 h 69"/>
                <a:gd name="T82" fmla="*/ 19 w 23"/>
                <a:gd name="T83" fmla="*/ 55 h 69"/>
                <a:gd name="T84" fmla="*/ 19 w 23"/>
                <a:gd name="T85" fmla="*/ 57 h 69"/>
                <a:gd name="T86" fmla="*/ 17 w 23"/>
                <a:gd name="T87" fmla="*/ 59 h 69"/>
                <a:gd name="T88" fmla="*/ 17 w 23"/>
                <a:gd name="T89" fmla="*/ 60 h 69"/>
                <a:gd name="T90" fmla="*/ 15 w 23"/>
                <a:gd name="T91" fmla="*/ 62 h 69"/>
                <a:gd name="T92" fmla="*/ 15 w 23"/>
                <a:gd name="T93" fmla="*/ 63 h 69"/>
                <a:gd name="T94" fmla="*/ 13 w 23"/>
                <a:gd name="T95" fmla="*/ 64 h 69"/>
                <a:gd name="T96" fmla="*/ 12 w 23"/>
                <a:gd name="T97" fmla="*/ 64 h 69"/>
                <a:gd name="T98" fmla="*/ 11 w 23"/>
                <a:gd name="T99" fmla="*/ 66 h 69"/>
                <a:gd name="T100" fmla="*/ 10 w 23"/>
                <a:gd name="T101" fmla="*/ 66 h 69"/>
                <a:gd name="T102" fmla="*/ 10 w 23"/>
                <a:gd name="T103" fmla="*/ 6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 h="69">
                  <a:moveTo>
                    <a:pt x="0" y="2"/>
                  </a:moveTo>
                  <a:lnTo>
                    <a:pt x="0" y="2"/>
                  </a:lnTo>
                  <a:lnTo>
                    <a:pt x="0" y="2"/>
                  </a:lnTo>
                  <a:lnTo>
                    <a:pt x="1" y="0"/>
                  </a:lnTo>
                  <a:lnTo>
                    <a:pt x="2" y="0"/>
                  </a:lnTo>
                  <a:lnTo>
                    <a:pt x="4" y="0"/>
                  </a:lnTo>
                  <a:lnTo>
                    <a:pt x="5" y="0"/>
                  </a:lnTo>
                  <a:lnTo>
                    <a:pt x="6" y="0"/>
                  </a:lnTo>
                  <a:lnTo>
                    <a:pt x="7" y="0"/>
                  </a:lnTo>
                  <a:lnTo>
                    <a:pt x="8" y="0"/>
                  </a:lnTo>
                  <a:lnTo>
                    <a:pt x="9" y="2"/>
                  </a:lnTo>
                  <a:lnTo>
                    <a:pt x="10" y="2"/>
                  </a:lnTo>
                  <a:lnTo>
                    <a:pt x="10" y="3"/>
                  </a:lnTo>
                  <a:lnTo>
                    <a:pt x="11" y="4"/>
                  </a:lnTo>
                  <a:lnTo>
                    <a:pt x="12" y="4"/>
                  </a:lnTo>
                  <a:lnTo>
                    <a:pt x="13" y="6"/>
                  </a:lnTo>
                  <a:lnTo>
                    <a:pt x="15" y="6"/>
                  </a:lnTo>
                  <a:lnTo>
                    <a:pt x="15" y="8"/>
                  </a:lnTo>
                  <a:lnTo>
                    <a:pt x="17" y="10"/>
                  </a:lnTo>
                  <a:lnTo>
                    <a:pt x="17" y="12"/>
                  </a:lnTo>
                  <a:lnTo>
                    <a:pt x="19" y="13"/>
                  </a:lnTo>
                  <a:lnTo>
                    <a:pt x="19" y="15"/>
                  </a:lnTo>
                  <a:lnTo>
                    <a:pt x="20" y="16"/>
                  </a:lnTo>
                  <a:lnTo>
                    <a:pt x="20" y="18"/>
                  </a:lnTo>
                  <a:lnTo>
                    <a:pt x="20" y="20"/>
                  </a:lnTo>
                  <a:lnTo>
                    <a:pt x="21" y="22"/>
                  </a:lnTo>
                  <a:lnTo>
                    <a:pt x="21" y="25"/>
                  </a:lnTo>
                  <a:lnTo>
                    <a:pt x="21" y="26"/>
                  </a:lnTo>
                  <a:lnTo>
                    <a:pt x="21" y="29"/>
                  </a:lnTo>
                  <a:lnTo>
                    <a:pt x="21" y="31"/>
                  </a:lnTo>
                  <a:lnTo>
                    <a:pt x="22" y="33"/>
                  </a:lnTo>
                  <a:lnTo>
                    <a:pt x="22" y="34"/>
                  </a:lnTo>
                  <a:lnTo>
                    <a:pt x="22" y="37"/>
                  </a:lnTo>
                  <a:lnTo>
                    <a:pt x="21" y="39"/>
                  </a:lnTo>
                  <a:lnTo>
                    <a:pt x="21" y="42"/>
                  </a:lnTo>
                  <a:lnTo>
                    <a:pt x="21" y="43"/>
                  </a:lnTo>
                  <a:lnTo>
                    <a:pt x="21" y="46"/>
                  </a:lnTo>
                  <a:lnTo>
                    <a:pt x="21" y="48"/>
                  </a:lnTo>
                  <a:lnTo>
                    <a:pt x="20" y="49"/>
                  </a:lnTo>
                  <a:lnTo>
                    <a:pt x="20" y="52"/>
                  </a:lnTo>
                  <a:lnTo>
                    <a:pt x="20" y="53"/>
                  </a:lnTo>
                  <a:lnTo>
                    <a:pt x="19" y="55"/>
                  </a:lnTo>
                  <a:lnTo>
                    <a:pt x="19" y="57"/>
                  </a:lnTo>
                  <a:lnTo>
                    <a:pt x="17" y="59"/>
                  </a:lnTo>
                  <a:lnTo>
                    <a:pt x="17" y="60"/>
                  </a:lnTo>
                  <a:lnTo>
                    <a:pt x="15" y="62"/>
                  </a:lnTo>
                  <a:lnTo>
                    <a:pt x="15" y="63"/>
                  </a:lnTo>
                  <a:lnTo>
                    <a:pt x="13" y="64"/>
                  </a:lnTo>
                  <a:lnTo>
                    <a:pt x="12" y="64"/>
                  </a:lnTo>
                  <a:lnTo>
                    <a:pt x="11" y="66"/>
                  </a:lnTo>
                  <a:lnTo>
                    <a:pt x="10" y="66"/>
                  </a:lnTo>
                  <a:lnTo>
                    <a:pt x="10" y="68"/>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5" name="Line 166"/>
            <p:cNvSpPr>
              <a:spLocks noChangeShapeType="1"/>
            </p:cNvSpPr>
            <p:nvPr/>
          </p:nvSpPr>
          <p:spPr bwMode="auto">
            <a:xfrm>
              <a:off x="3800476" y="5229225"/>
              <a:ext cx="13176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6" name="Line 167"/>
            <p:cNvSpPr>
              <a:spLocks noChangeShapeType="1"/>
            </p:cNvSpPr>
            <p:nvPr/>
          </p:nvSpPr>
          <p:spPr bwMode="auto">
            <a:xfrm flipH="1">
              <a:off x="2860676" y="5118100"/>
              <a:ext cx="22225" cy="1285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7" name="Freeform 168"/>
            <p:cNvSpPr>
              <a:spLocks/>
            </p:cNvSpPr>
            <p:nvPr/>
          </p:nvSpPr>
          <p:spPr bwMode="auto">
            <a:xfrm>
              <a:off x="2643188" y="5133975"/>
              <a:ext cx="31750" cy="95250"/>
            </a:xfrm>
            <a:custGeom>
              <a:avLst/>
              <a:gdLst>
                <a:gd name="T0" fmla="*/ 10 w 21"/>
                <a:gd name="T1" fmla="*/ 68 h 69"/>
                <a:gd name="T2" fmla="*/ 10 w 21"/>
                <a:gd name="T3" fmla="*/ 68 h 69"/>
                <a:gd name="T4" fmla="*/ 9 w 21"/>
                <a:gd name="T5" fmla="*/ 67 h 69"/>
                <a:gd name="T6" fmla="*/ 8 w 21"/>
                <a:gd name="T7" fmla="*/ 66 h 69"/>
                <a:gd name="T8" fmla="*/ 7 w 21"/>
                <a:gd name="T9" fmla="*/ 64 h 69"/>
                <a:gd name="T10" fmla="*/ 6 w 21"/>
                <a:gd name="T11" fmla="*/ 64 h 69"/>
                <a:gd name="T12" fmla="*/ 5 w 21"/>
                <a:gd name="T13" fmla="*/ 63 h 69"/>
                <a:gd name="T14" fmla="*/ 5 w 21"/>
                <a:gd name="T15" fmla="*/ 62 h 69"/>
                <a:gd name="T16" fmla="*/ 5 w 21"/>
                <a:gd name="T17" fmla="*/ 60 h 69"/>
                <a:gd name="T18" fmla="*/ 4 w 21"/>
                <a:gd name="T19" fmla="*/ 59 h 69"/>
                <a:gd name="T20" fmla="*/ 4 w 21"/>
                <a:gd name="T21" fmla="*/ 57 h 69"/>
                <a:gd name="T22" fmla="*/ 2 w 21"/>
                <a:gd name="T23" fmla="*/ 55 h 69"/>
                <a:gd name="T24" fmla="*/ 2 w 21"/>
                <a:gd name="T25" fmla="*/ 53 h 69"/>
                <a:gd name="T26" fmla="*/ 2 w 21"/>
                <a:gd name="T27" fmla="*/ 52 h 69"/>
                <a:gd name="T28" fmla="*/ 2 w 21"/>
                <a:gd name="T29" fmla="*/ 49 h 69"/>
                <a:gd name="T30" fmla="*/ 2 w 21"/>
                <a:gd name="T31" fmla="*/ 48 h 69"/>
                <a:gd name="T32" fmla="*/ 1 w 21"/>
                <a:gd name="T33" fmla="*/ 45 h 69"/>
                <a:gd name="T34" fmla="*/ 1 w 21"/>
                <a:gd name="T35" fmla="*/ 43 h 69"/>
                <a:gd name="T36" fmla="*/ 1 w 21"/>
                <a:gd name="T37" fmla="*/ 42 h 69"/>
                <a:gd name="T38" fmla="*/ 1 w 21"/>
                <a:gd name="T39" fmla="*/ 39 h 69"/>
                <a:gd name="T40" fmla="*/ 0 w 21"/>
                <a:gd name="T41" fmla="*/ 37 h 69"/>
                <a:gd name="T42" fmla="*/ 0 w 21"/>
                <a:gd name="T43" fmla="*/ 34 h 69"/>
                <a:gd name="T44" fmla="*/ 1 w 21"/>
                <a:gd name="T45" fmla="*/ 32 h 69"/>
                <a:gd name="T46" fmla="*/ 1 w 21"/>
                <a:gd name="T47" fmla="*/ 31 h 69"/>
                <a:gd name="T48" fmla="*/ 1 w 21"/>
                <a:gd name="T49" fmla="*/ 28 h 69"/>
                <a:gd name="T50" fmla="*/ 1 w 21"/>
                <a:gd name="T51" fmla="*/ 26 h 69"/>
                <a:gd name="T52" fmla="*/ 2 w 21"/>
                <a:gd name="T53" fmla="*/ 25 h 69"/>
                <a:gd name="T54" fmla="*/ 2 w 21"/>
                <a:gd name="T55" fmla="*/ 22 h 69"/>
                <a:gd name="T56" fmla="*/ 2 w 21"/>
                <a:gd name="T57" fmla="*/ 20 h 69"/>
                <a:gd name="T58" fmla="*/ 2 w 21"/>
                <a:gd name="T59" fmla="*/ 18 h 69"/>
                <a:gd name="T60" fmla="*/ 2 w 21"/>
                <a:gd name="T61" fmla="*/ 16 h 69"/>
                <a:gd name="T62" fmla="*/ 4 w 21"/>
                <a:gd name="T63" fmla="*/ 15 h 69"/>
                <a:gd name="T64" fmla="*/ 4 w 21"/>
                <a:gd name="T65" fmla="*/ 13 h 69"/>
                <a:gd name="T66" fmla="*/ 4 w 21"/>
                <a:gd name="T67" fmla="*/ 11 h 69"/>
                <a:gd name="T68" fmla="*/ 5 w 21"/>
                <a:gd name="T69" fmla="*/ 10 h 69"/>
                <a:gd name="T70" fmla="*/ 5 w 21"/>
                <a:gd name="T71" fmla="*/ 8 h 69"/>
                <a:gd name="T72" fmla="*/ 5 w 21"/>
                <a:gd name="T73" fmla="*/ 8 h 69"/>
                <a:gd name="T74" fmla="*/ 6 w 21"/>
                <a:gd name="T75" fmla="*/ 6 h 69"/>
                <a:gd name="T76" fmla="*/ 8 w 21"/>
                <a:gd name="T77" fmla="*/ 4 h 69"/>
                <a:gd name="T78" fmla="*/ 8 w 21"/>
                <a:gd name="T79" fmla="*/ 4 h 69"/>
                <a:gd name="T80" fmla="*/ 10 w 21"/>
                <a:gd name="T81" fmla="*/ 3 h 69"/>
                <a:gd name="T82" fmla="*/ 10 w 21"/>
                <a:gd name="T83" fmla="*/ 2 h 69"/>
                <a:gd name="T84" fmla="*/ 10 w 21"/>
                <a:gd name="T85" fmla="*/ 2 h 69"/>
                <a:gd name="T86" fmla="*/ 12 w 21"/>
                <a:gd name="T87" fmla="*/ 2 h 69"/>
                <a:gd name="T88" fmla="*/ 12 w 21"/>
                <a:gd name="T89" fmla="*/ 2 h 69"/>
                <a:gd name="T90" fmla="*/ 14 w 21"/>
                <a:gd name="T91" fmla="*/ 0 h 69"/>
                <a:gd name="T92" fmla="*/ 15 w 21"/>
                <a:gd name="T93" fmla="*/ 0 h 69"/>
                <a:gd name="T94" fmla="*/ 15 w 21"/>
                <a:gd name="T95" fmla="*/ 0 h 69"/>
                <a:gd name="T96" fmla="*/ 17 w 21"/>
                <a:gd name="T97" fmla="*/ 2 h 69"/>
                <a:gd name="T98" fmla="*/ 17 w 21"/>
                <a:gd name="T99" fmla="*/ 2 h 69"/>
                <a:gd name="T100" fmla="*/ 18 w 21"/>
                <a:gd name="T101" fmla="*/ 2 h 69"/>
                <a:gd name="T102" fmla="*/ 20 w 21"/>
                <a:gd name="T103" fmla="*/ 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 h="69">
                  <a:moveTo>
                    <a:pt x="10" y="68"/>
                  </a:moveTo>
                  <a:lnTo>
                    <a:pt x="10" y="68"/>
                  </a:lnTo>
                  <a:lnTo>
                    <a:pt x="9" y="67"/>
                  </a:lnTo>
                  <a:lnTo>
                    <a:pt x="8" y="66"/>
                  </a:lnTo>
                  <a:lnTo>
                    <a:pt x="7" y="64"/>
                  </a:lnTo>
                  <a:lnTo>
                    <a:pt x="6" y="64"/>
                  </a:lnTo>
                  <a:lnTo>
                    <a:pt x="5" y="63"/>
                  </a:lnTo>
                  <a:lnTo>
                    <a:pt x="5" y="62"/>
                  </a:lnTo>
                  <a:lnTo>
                    <a:pt x="5" y="60"/>
                  </a:lnTo>
                  <a:lnTo>
                    <a:pt x="4" y="59"/>
                  </a:lnTo>
                  <a:lnTo>
                    <a:pt x="4" y="57"/>
                  </a:lnTo>
                  <a:lnTo>
                    <a:pt x="2" y="55"/>
                  </a:lnTo>
                  <a:lnTo>
                    <a:pt x="2" y="53"/>
                  </a:lnTo>
                  <a:lnTo>
                    <a:pt x="2" y="52"/>
                  </a:lnTo>
                  <a:lnTo>
                    <a:pt x="2" y="49"/>
                  </a:lnTo>
                  <a:lnTo>
                    <a:pt x="2" y="48"/>
                  </a:lnTo>
                  <a:lnTo>
                    <a:pt x="1" y="45"/>
                  </a:lnTo>
                  <a:lnTo>
                    <a:pt x="1" y="43"/>
                  </a:lnTo>
                  <a:lnTo>
                    <a:pt x="1" y="42"/>
                  </a:lnTo>
                  <a:lnTo>
                    <a:pt x="1" y="39"/>
                  </a:lnTo>
                  <a:lnTo>
                    <a:pt x="0" y="37"/>
                  </a:lnTo>
                  <a:lnTo>
                    <a:pt x="0" y="34"/>
                  </a:lnTo>
                  <a:lnTo>
                    <a:pt x="1" y="32"/>
                  </a:lnTo>
                  <a:lnTo>
                    <a:pt x="1" y="31"/>
                  </a:lnTo>
                  <a:lnTo>
                    <a:pt x="1" y="28"/>
                  </a:lnTo>
                  <a:lnTo>
                    <a:pt x="1" y="26"/>
                  </a:lnTo>
                  <a:lnTo>
                    <a:pt x="2" y="25"/>
                  </a:lnTo>
                  <a:lnTo>
                    <a:pt x="2" y="22"/>
                  </a:lnTo>
                  <a:lnTo>
                    <a:pt x="2" y="20"/>
                  </a:lnTo>
                  <a:lnTo>
                    <a:pt x="2" y="18"/>
                  </a:lnTo>
                  <a:lnTo>
                    <a:pt x="2" y="16"/>
                  </a:lnTo>
                  <a:lnTo>
                    <a:pt x="4" y="15"/>
                  </a:lnTo>
                  <a:lnTo>
                    <a:pt x="4" y="13"/>
                  </a:lnTo>
                  <a:lnTo>
                    <a:pt x="4" y="11"/>
                  </a:lnTo>
                  <a:lnTo>
                    <a:pt x="5" y="10"/>
                  </a:lnTo>
                  <a:lnTo>
                    <a:pt x="5" y="8"/>
                  </a:lnTo>
                  <a:lnTo>
                    <a:pt x="5" y="8"/>
                  </a:lnTo>
                  <a:lnTo>
                    <a:pt x="6" y="6"/>
                  </a:lnTo>
                  <a:lnTo>
                    <a:pt x="8" y="4"/>
                  </a:lnTo>
                  <a:lnTo>
                    <a:pt x="8" y="4"/>
                  </a:lnTo>
                  <a:lnTo>
                    <a:pt x="10" y="3"/>
                  </a:lnTo>
                  <a:lnTo>
                    <a:pt x="10" y="2"/>
                  </a:lnTo>
                  <a:lnTo>
                    <a:pt x="10" y="2"/>
                  </a:lnTo>
                  <a:lnTo>
                    <a:pt x="12" y="2"/>
                  </a:lnTo>
                  <a:lnTo>
                    <a:pt x="12" y="2"/>
                  </a:lnTo>
                  <a:lnTo>
                    <a:pt x="14" y="0"/>
                  </a:lnTo>
                  <a:lnTo>
                    <a:pt x="15" y="0"/>
                  </a:lnTo>
                  <a:lnTo>
                    <a:pt x="15" y="0"/>
                  </a:lnTo>
                  <a:lnTo>
                    <a:pt x="17" y="2"/>
                  </a:lnTo>
                  <a:lnTo>
                    <a:pt x="17" y="2"/>
                  </a:lnTo>
                  <a:lnTo>
                    <a:pt x="18" y="2"/>
                  </a:lnTo>
                  <a:lnTo>
                    <a:pt x="20" y="3"/>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8" name="Freeform 169"/>
            <p:cNvSpPr>
              <a:spLocks/>
            </p:cNvSpPr>
            <p:nvPr/>
          </p:nvSpPr>
          <p:spPr bwMode="auto">
            <a:xfrm>
              <a:off x="2625725" y="5135563"/>
              <a:ext cx="26988" cy="95250"/>
            </a:xfrm>
            <a:custGeom>
              <a:avLst/>
              <a:gdLst>
                <a:gd name="T0" fmla="*/ 9 w 19"/>
                <a:gd name="T1" fmla="*/ 67 h 68"/>
                <a:gd name="T2" fmla="*/ 9 w 19"/>
                <a:gd name="T3" fmla="*/ 67 h 68"/>
                <a:gd name="T4" fmla="*/ 8 w 19"/>
                <a:gd name="T5" fmla="*/ 66 h 68"/>
                <a:gd name="T6" fmla="*/ 8 w 19"/>
                <a:gd name="T7" fmla="*/ 65 h 68"/>
                <a:gd name="T8" fmla="*/ 7 w 19"/>
                <a:gd name="T9" fmla="*/ 64 h 68"/>
                <a:gd name="T10" fmla="*/ 6 w 19"/>
                <a:gd name="T11" fmla="*/ 62 h 68"/>
                <a:gd name="T12" fmla="*/ 5 w 19"/>
                <a:gd name="T13" fmla="*/ 62 h 68"/>
                <a:gd name="T14" fmla="*/ 5 w 19"/>
                <a:gd name="T15" fmla="*/ 60 h 68"/>
                <a:gd name="T16" fmla="*/ 4 w 19"/>
                <a:gd name="T17" fmla="*/ 58 h 68"/>
                <a:gd name="T18" fmla="*/ 3 w 19"/>
                <a:gd name="T19" fmla="*/ 58 h 68"/>
                <a:gd name="T20" fmla="*/ 3 w 19"/>
                <a:gd name="T21" fmla="*/ 56 h 68"/>
                <a:gd name="T22" fmla="*/ 2 w 19"/>
                <a:gd name="T23" fmla="*/ 54 h 68"/>
                <a:gd name="T24" fmla="*/ 1 w 19"/>
                <a:gd name="T25" fmla="*/ 52 h 68"/>
                <a:gd name="T26" fmla="*/ 1 w 19"/>
                <a:gd name="T27" fmla="*/ 50 h 68"/>
                <a:gd name="T28" fmla="*/ 0 w 19"/>
                <a:gd name="T29" fmla="*/ 48 h 68"/>
                <a:gd name="T30" fmla="*/ 0 w 19"/>
                <a:gd name="T31" fmla="*/ 46 h 68"/>
                <a:gd name="T32" fmla="*/ 0 w 19"/>
                <a:gd name="T33" fmla="*/ 44 h 68"/>
                <a:gd name="T34" fmla="*/ 0 w 19"/>
                <a:gd name="T35" fmla="*/ 42 h 68"/>
                <a:gd name="T36" fmla="*/ 0 w 19"/>
                <a:gd name="T37" fmla="*/ 40 h 68"/>
                <a:gd name="T38" fmla="*/ 0 w 19"/>
                <a:gd name="T39" fmla="*/ 38 h 68"/>
                <a:gd name="T40" fmla="*/ 0 w 19"/>
                <a:gd name="T41" fmla="*/ 35 h 68"/>
                <a:gd name="T42" fmla="*/ 0 w 19"/>
                <a:gd name="T43" fmla="*/ 33 h 68"/>
                <a:gd name="T44" fmla="*/ 0 w 19"/>
                <a:gd name="T45" fmla="*/ 31 h 68"/>
                <a:gd name="T46" fmla="*/ 0 w 19"/>
                <a:gd name="T47" fmla="*/ 30 h 68"/>
                <a:gd name="T48" fmla="*/ 0 w 19"/>
                <a:gd name="T49" fmla="*/ 27 h 68"/>
                <a:gd name="T50" fmla="*/ 0 w 19"/>
                <a:gd name="T51" fmla="*/ 25 h 68"/>
                <a:gd name="T52" fmla="*/ 0 w 19"/>
                <a:gd name="T53" fmla="*/ 23 h 68"/>
                <a:gd name="T54" fmla="*/ 0 w 19"/>
                <a:gd name="T55" fmla="*/ 21 h 68"/>
                <a:gd name="T56" fmla="*/ 0 w 19"/>
                <a:gd name="T57" fmla="*/ 18 h 68"/>
                <a:gd name="T58" fmla="*/ 1 w 19"/>
                <a:gd name="T59" fmla="*/ 16 h 68"/>
                <a:gd name="T60" fmla="*/ 2 w 19"/>
                <a:gd name="T61" fmla="*/ 16 h 68"/>
                <a:gd name="T62" fmla="*/ 2 w 19"/>
                <a:gd name="T63" fmla="*/ 13 h 68"/>
                <a:gd name="T64" fmla="*/ 3 w 19"/>
                <a:gd name="T65" fmla="*/ 12 h 68"/>
                <a:gd name="T66" fmla="*/ 4 w 19"/>
                <a:gd name="T67" fmla="*/ 10 h 68"/>
                <a:gd name="T68" fmla="*/ 4 w 19"/>
                <a:gd name="T69" fmla="*/ 8 h 68"/>
                <a:gd name="T70" fmla="*/ 5 w 19"/>
                <a:gd name="T71" fmla="*/ 8 h 68"/>
                <a:gd name="T72" fmla="*/ 6 w 19"/>
                <a:gd name="T73" fmla="*/ 6 h 68"/>
                <a:gd name="T74" fmla="*/ 7 w 19"/>
                <a:gd name="T75" fmla="*/ 4 h 68"/>
                <a:gd name="T76" fmla="*/ 8 w 19"/>
                <a:gd name="T77" fmla="*/ 4 h 68"/>
                <a:gd name="T78" fmla="*/ 8 w 19"/>
                <a:gd name="T79" fmla="*/ 2 h 68"/>
                <a:gd name="T80" fmla="*/ 9 w 19"/>
                <a:gd name="T81" fmla="*/ 2 h 68"/>
                <a:gd name="T82" fmla="*/ 10 w 19"/>
                <a:gd name="T83" fmla="*/ 1 h 68"/>
                <a:gd name="T84" fmla="*/ 11 w 19"/>
                <a:gd name="T85" fmla="*/ 0 h 68"/>
                <a:gd name="T86" fmla="*/ 12 w 19"/>
                <a:gd name="T87" fmla="*/ 0 h 68"/>
                <a:gd name="T88" fmla="*/ 13 w 19"/>
                <a:gd name="T89" fmla="*/ 0 h 68"/>
                <a:gd name="T90" fmla="*/ 14 w 19"/>
                <a:gd name="T91" fmla="*/ 0 h 68"/>
                <a:gd name="T92" fmla="*/ 15 w 19"/>
                <a:gd name="T93" fmla="*/ 0 h 68"/>
                <a:gd name="T94" fmla="*/ 15 w 19"/>
                <a:gd name="T95" fmla="*/ 0 h 68"/>
                <a:gd name="T96" fmla="*/ 17 w 19"/>
                <a:gd name="T97" fmla="*/ 0 h 68"/>
                <a:gd name="T98" fmla="*/ 17 w 19"/>
                <a:gd name="T99" fmla="*/ 0 h 68"/>
                <a:gd name="T100" fmla="*/ 18 w 19"/>
                <a:gd name="T101" fmla="*/ 1 h 68"/>
                <a:gd name="T102" fmla="*/ 18 w 19"/>
                <a:gd name="T103" fmla="*/ 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 h="68">
                  <a:moveTo>
                    <a:pt x="9" y="67"/>
                  </a:moveTo>
                  <a:lnTo>
                    <a:pt x="9" y="67"/>
                  </a:lnTo>
                  <a:lnTo>
                    <a:pt x="8" y="66"/>
                  </a:lnTo>
                  <a:lnTo>
                    <a:pt x="8" y="65"/>
                  </a:lnTo>
                  <a:lnTo>
                    <a:pt x="7" y="64"/>
                  </a:lnTo>
                  <a:lnTo>
                    <a:pt x="6" y="62"/>
                  </a:lnTo>
                  <a:lnTo>
                    <a:pt x="5" y="62"/>
                  </a:lnTo>
                  <a:lnTo>
                    <a:pt x="5" y="60"/>
                  </a:lnTo>
                  <a:lnTo>
                    <a:pt x="4" y="58"/>
                  </a:lnTo>
                  <a:lnTo>
                    <a:pt x="3" y="58"/>
                  </a:lnTo>
                  <a:lnTo>
                    <a:pt x="3" y="56"/>
                  </a:lnTo>
                  <a:lnTo>
                    <a:pt x="2" y="54"/>
                  </a:lnTo>
                  <a:lnTo>
                    <a:pt x="1" y="52"/>
                  </a:lnTo>
                  <a:lnTo>
                    <a:pt x="1" y="50"/>
                  </a:lnTo>
                  <a:lnTo>
                    <a:pt x="0" y="48"/>
                  </a:lnTo>
                  <a:lnTo>
                    <a:pt x="0" y="46"/>
                  </a:lnTo>
                  <a:lnTo>
                    <a:pt x="0" y="44"/>
                  </a:lnTo>
                  <a:lnTo>
                    <a:pt x="0" y="42"/>
                  </a:lnTo>
                  <a:lnTo>
                    <a:pt x="0" y="40"/>
                  </a:lnTo>
                  <a:lnTo>
                    <a:pt x="0" y="38"/>
                  </a:lnTo>
                  <a:lnTo>
                    <a:pt x="0" y="35"/>
                  </a:lnTo>
                  <a:lnTo>
                    <a:pt x="0" y="33"/>
                  </a:lnTo>
                  <a:lnTo>
                    <a:pt x="0" y="31"/>
                  </a:lnTo>
                  <a:lnTo>
                    <a:pt x="0" y="30"/>
                  </a:lnTo>
                  <a:lnTo>
                    <a:pt x="0" y="27"/>
                  </a:lnTo>
                  <a:lnTo>
                    <a:pt x="0" y="25"/>
                  </a:lnTo>
                  <a:lnTo>
                    <a:pt x="0" y="23"/>
                  </a:lnTo>
                  <a:lnTo>
                    <a:pt x="0" y="21"/>
                  </a:lnTo>
                  <a:lnTo>
                    <a:pt x="0" y="18"/>
                  </a:lnTo>
                  <a:lnTo>
                    <a:pt x="1" y="16"/>
                  </a:lnTo>
                  <a:lnTo>
                    <a:pt x="2" y="16"/>
                  </a:lnTo>
                  <a:lnTo>
                    <a:pt x="2" y="13"/>
                  </a:lnTo>
                  <a:lnTo>
                    <a:pt x="3" y="12"/>
                  </a:lnTo>
                  <a:lnTo>
                    <a:pt x="4" y="10"/>
                  </a:lnTo>
                  <a:lnTo>
                    <a:pt x="4" y="8"/>
                  </a:lnTo>
                  <a:lnTo>
                    <a:pt x="5" y="8"/>
                  </a:lnTo>
                  <a:lnTo>
                    <a:pt x="6" y="6"/>
                  </a:lnTo>
                  <a:lnTo>
                    <a:pt x="7" y="4"/>
                  </a:lnTo>
                  <a:lnTo>
                    <a:pt x="8" y="4"/>
                  </a:lnTo>
                  <a:lnTo>
                    <a:pt x="8" y="2"/>
                  </a:lnTo>
                  <a:lnTo>
                    <a:pt x="9" y="2"/>
                  </a:lnTo>
                  <a:lnTo>
                    <a:pt x="10" y="1"/>
                  </a:lnTo>
                  <a:lnTo>
                    <a:pt x="11" y="0"/>
                  </a:lnTo>
                  <a:lnTo>
                    <a:pt x="12" y="0"/>
                  </a:lnTo>
                  <a:lnTo>
                    <a:pt x="13" y="0"/>
                  </a:lnTo>
                  <a:lnTo>
                    <a:pt x="14" y="0"/>
                  </a:lnTo>
                  <a:lnTo>
                    <a:pt x="15" y="0"/>
                  </a:lnTo>
                  <a:lnTo>
                    <a:pt x="15" y="0"/>
                  </a:lnTo>
                  <a:lnTo>
                    <a:pt x="17" y="0"/>
                  </a:lnTo>
                  <a:lnTo>
                    <a:pt x="17" y="0"/>
                  </a:lnTo>
                  <a:lnTo>
                    <a:pt x="18" y="1"/>
                  </a:lnTo>
                  <a:lnTo>
                    <a:pt x="18" y="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9" name="Freeform 170"/>
            <p:cNvSpPr>
              <a:spLocks/>
            </p:cNvSpPr>
            <p:nvPr/>
          </p:nvSpPr>
          <p:spPr bwMode="auto">
            <a:xfrm>
              <a:off x="2605089" y="5135563"/>
              <a:ext cx="28575" cy="95250"/>
            </a:xfrm>
            <a:custGeom>
              <a:avLst/>
              <a:gdLst>
                <a:gd name="T0" fmla="*/ 10 w 20"/>
                <a:gd name="T1" fmla="*/ 67 h 68"/>
                <a:gd name="T2" fmla="*/ 10 w 20"/>
                <a:gd name="T3" fmla="*/ 67 h 68"/>
                <a:gd name="T4" fmla="*/ 10 w 20"/>
                <a:gd name="T5" fmla="*/ 66 h 68"/>
                <a:gd name="T6" fmla="*/ 8 w 20"/>
                <a:gd name="T7" fmla="*/ 65 h 68"/>
                <a:gd name="T8" fmla="*/ 8 w 20"/>
                <a:gd name="T9" fmla="*/ 64 h 68"/>
                <a:gd name="T10" fmla="*/ 6 w 20"/>
                <a:gd name="T11" fmla="*/ 62 h 68"/>
                <a:gd name="T12" fmla="*/ 6 w 20"/>
                <a:gd name="T13" fmla="*/ 62 h 68"/>
                <a:gd name="T14" fmla="*/ 5 w 20"/>
                <a:gd name="T15" fmla="*/ 60 h 68"/>
                <a:gd name="T16" fmla="*/ 4 w 20"/>
                <a:gd name="T17" fmla="*/ 58 h 68"/>
                <a:gd name="T18" fmla="*/ 4 w 20"/>
                <a:gd name="T19" fmla="*/ 58 h 68"/>
                <a:gd name="T20" fmla="*/ 4 w 20"/>
                <a:gd name="T21" fmla="*/ 56 h 68"/>
                <a:gd name="T22" fmla="*/ 3 w 20"/>
                <a:gd name="T23" fmla="*/ 54 h 68"/>
                <a:gd name="T24" fmla="*/ 3 w 20"/>
                <a:gd name="T25" fmla="*/ 52 h 68"/>
                <a:gd name="T26" fmla="*/ 2 w 20"/>
                <a:gd name="T27" fmla="*/ 50 h 68"/>
                <a:gd name="T28" fmla="*/ 2 w 20"/>
                <a:gd name="T29" fmla="*/ 48 h 68"/>
                <a:gd name="T30" fmla="*/ 1 w 20"/>
                <a:gd name="T31" fmla="*/ 46 h 68"/>
                <a:gd name="T32" fmla="*/ 1 w 20"/>
                <a:gd name="T33" fmla="*/ 44 h 68"/>
                <a:gd name="T34" fmla="*/ 0 w 20"/>
                <a:gd name="T35" fmla="*/ 42 h 68"/>
                <a:gd name="T36" fmla="*/ 0 w 20"/>
                <a:gd name="T37" fmla="*/ 40 h 68"/>
                <a:gd name="T38" fmla="*/ 0 w 20"/>
                <a:gd name="T39" fmla="*/ 38 h 68"/>
                <a:gd name="T40" fmla="*/ 0 w 20"/>
                <a:gd name="T41" fmla="*/ 35 h 68"/>
                <a:gd name="T42" fmla="*/ 0 w 20"/>
                <a:gd name="T43" fmla="*/ 33 h 68"/>
                <a:gd name="T44" fmla="*/ 0 w 20"/>
                <a:gd name="T45" fmla="*/ 31 h 68"/>
                <a:gd name="T46" fmla="*/ 0 w 20"/>
                <a:gd name="T47" fmla="*/ 30 h 68"/>
                <a:gd name="T48" fmla="*/ 0 w 20"/>
                <a:gd name="T49" fmla="*/ 27 h 68"/>
                <a:gd name="T50" fmla="*/ 1 w 20"/>
                <a:gd name="T51" fmla="*/ 25 h 68"/>
                <a:gd name="T52" fmla="*/ 1 w 20"/>
                <a:gd name="T53" fmla="*/ 23 h 68"/>
                <a:gd name="T54" fmla="*/ 2 w 20"/>
                <a:gd name="T55" fmla="*/ 21 h 68"/>
                <a:gd name="T56" fmla="*/ 2 w 20"/>
                <a:gd name="T57" fmla="*/ 18 h 68"/>
                <a:gd name="T58" fmla="*/ 2 w 20"/>
                <a:gd name="T59" fmla="*/ 16 h 68"/>
                <a:gd name="T60" fmla="*/ 3 w 20"/>
                <a:gd name="T61" fmla="*/ 16 h 68"/>
                <a:gd name="T62" fmla="*/ 4 w 20"/>
                <a:gd name="T63" fmla="*/ 13 h 68"/>
                <a:gd name="T64" fmla="*/ 4 w 20"/>
                <a:gd name="T65" fmla="*/ 12 h 68"/>
                <a:gd name="T66" fmla="*/ 4 w 20"/>
                <a:gd name="T67" fmla="*/ 10 h 68"/>
                <a:gd name="T68" fmla="*/ 5 w 20"/>
                <a:gd name="T69" fmla="*/ 8 h 68"/>
                <a:gd name="T70" fmla="*/ 6 w 20"/>
                <a:gd name="T71" fmla="*/ 8 h 68"/>
                <a:gd name="T72" fmla="*/ 6 w 20"/>
                <a:gd name="T73" fmla="*/ 6 h 68"/>
                <a:gd name="T74" fmla="*/ 7 w 20"/>
                <a:gd name="T75" fmla="*/ 4 h 68"/>
                <a:gd name="T76" fmla="*/ 8 w 20"/>
                <a:gd name="T77" fmla="*/ 4 h 68"/>
                <a:gd name="T78" fmla="*/ 9 w 20"/>
                <a:gd name="T79" fmla="*/ 2 h 68"/>
                <a:gd name="T80" fmla="*/ 10 w 20"/>
                <a:gd name="T81" fmla="*/ 2 h 68"/>
                <a:gd name="T82" fmla="*/ 11 w 20"/>
                <a:gd name="T83" fmla="*/ 1 h 68"/>
                <a:gd name="T84" fmla="*/ 12 w 20"/>
                <a:gd name="T85" fmla="*/ 0 h 68"/>
                <a:gd name="T86" fmla="*/ 13 w 20"/>
                <a:gd name="T87" fmla="*/ 0 h 68"/>
                <a:gd name="T88" fmla="*/ 13 w 20"/>
                <a:gd name="T89" fmla="*/ 0 h 68"/>
                <a:gd name="T90" fmla="*/ 14 w 20"/>
                <a:gd name="T91" fmla="*/ 0 h 68"/>
                <a:gd name="T92" fmla="*/ 14 w 20"/>
                <a:gd name="T93" fmla="*/ 0 h 68"/>
                <a:gd name="T94" fmla="*/ 15 w 20"/>
                <a:gd name="T95" fmla="*/ 0 h 68"/>
                <a:gd name="T96" fmla="*/ 16 w 20"/>
                <a:gd name="T97" fmla="*/ 0 h 68"/>
                <a:gd name="T98" fmla="*/ 17 w 20"/>
                <a:gd name="T99" fmla="*/ 0 h 68"/>
                <a:gd name="T100" fmla="*/ 18 w 20"/>
                <a:gd name="T101" fmla="*/ 1 h 68"/>
                <a:gd name="T102" fmla="*/ 19 w 20"/>
                <a:gd name="T103" fmla="*/ 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68">
                  <a:moveTo>
                    <a:pt x="10" y="67"/>
                  </a:moveTo>
                  <a:lnTo>
                    <a:pt x="10" y="67"/>
                  </a:lnTo>
                  <a:lnTo>
                    <a:pt x="10" y="66"/>
                  </a:lnTo>
                  <a:lnTo>
                    <a:pt x="8" y="65"/>
                  </a:lnTo>
                  <a:lnTo>
                    <a:pt x="8" y="64"/>
                  </a:lnTo>
                  <a:lnTo>
                    <a:pt x="6" y="62"/>
                  </a:lnTo>
                  <a:lnTo>
                    <a:pt x="6" y="62"/>
                  </a:lnTo>
                  <a:lnTo>
                    <a:pt x="5" y="60"/>
                  </a:lnTo>
                  <a:lnTo>
                    <a:pt x="4" y="58"/>
                  </a:lnTo>
                  <a:lnTo>
                    <a:pt x="4" y="58"/>
                  </a:lnTo>
                  <a:lnTo>
                    <a:pt x="4" y="56"/>
                  </a:lnTo>
                  <a:lnTo>
                    <a:pt x="3" y="54"/>
                  </a:lnTo>
                  <a:lnTo>
                    <a:pt x="3" y="52"/>
                  </a:lnTo>
                  <a:lnTo>
                    <a:pt x="2" y="50"/>
                  </a:lnTo>
                  <a:lnTo>
                    <a:pt x="2" y="48"/>
                  </a:lnTo>
                  <a:lnTo>
                    <a:pt x="1" y="46"/>
                  </a:lnTo>
                  <a:lnTo>
                    <a:pt x="1" y="44"/>
                  </a:lnTo>
                  <a:lnTo>
                    <a:pt x="0" y="42"/>
                  </a:lnTo>
                  <a:lnTo>
                    <a:pt x="0" y="40"/>
                  </a:lnTo>
                  <a:lnTo>
                    <a:pt x="0" y="38"/>
                  </a:lnTo>
                  <a:lnTo>
                    <a:pt x="0" y="35"/>
                  </a:lnTo>
                  <a:lnTo>
                    <a:pt x="0" y="33"/>
                  </a:lnTo>
                  <a:lnTo>
                    <a:pt x="0" y="31"/>
                  </a:lnTo>
                  <a:lnTo>
                    <a:pt x="0" y="30"/>
                  </a:lnTo>
                  <a:lnTo>
                    <a:pt x="0" y="27"/>
                  </a:lnTo>
                  <a:lnTo>
                    <a:pt x="1" y="25"/>
                  </a:lnTo>
                  <a:lnTo>
                    <a:pt x="1" y="23"/>
                  </a:lnTo>
                  <a:lnTo>
                    <a:pt x="2" y="21"/>
                  </a:lnTo>
                  <a:lnTo>
                    <a:pt x="2" y="18"/>
                  </a:lnTo>
                  <a:lnTo>
                    <a:pt x="2" y="16"/>
                  </a:lnTo>
                  <a:lnTo>
                    <a:pt x="3" y="16"/>
                  </a:lnTo>
                  <a:lnTo>
                    <a:pt x="4" y="13"/>
                  </a:lnTo>
                  <a:lnTo>
                    <a:pt x="4" y="12"/>
                  </a:lnTo>
                  <a:lnTo>
                    <a:pt x="4" y="10"/>
                  </a:lnTo>
                  <a:lnTo>
                    <a:pt x="5" y="8"/>
                  </a:lnTo>
                  <a:lnTo>
                    <a:pt x="6" y="8"/>
                  </a:lnTo>
                  <a:lnTo>
                    <a:pt x="6" y="6"/>
                  </a:lnTo>
                  <a:lnTo>
                    <a:pt x="7" y="4"/>
                  </a:lnTo>
                  <a:lnTo>
                    <a:pt x="8" y="4"/>
                  </a:lnTo>
                  <a:lnTo>
                    <a:pt x="9" y="2"/>
                  </a:lnTo>
                  <a:lnTo>
                    <a:pt x="10" y="2"/>
                  </a:lnTo>
                  <a:lnTo>
                    <a:pt x="11" y="1"/>
                  </a:lnTo>
                  <a:lnTo>
                    <a:pt x="12" y="0"/>
                  </a:lnTo>
                  <a:lnTo>
                    <a:pt x="13" y="0"/>
                  </a:lnTo>
                  <a:lnTo>
                    <a:pt x="13" y="0"/>
                  </a:lnTo>
                  <a:lnTo>
                    <a:pt x="14" y="0"/>
                  </a:lnTo>
                  <a:lnTo>
                    <a:pt x="14" y="0"/>
                  </a:lnTo>
                  <a:lnTo>
                    <a:pt x="15" y="0"/>
                  </a:lnTo>
                  <a:lnTo>
                    <a:pt x="16" y="0"/>
                  </a:lnTo>
                  <a:lnTo>
                    <a:pt x="17" y="0"/>
                  </a:lnTo>
                  <a:lnTo>
                    <a:pt x="18" y="1"/>
                  </a:lnTo>
                  <a:lnTo>
                    <a:pt x="19" y="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0" name="Freeform 171"/>
            <p:cNvSpPr>
              <a:spLocks/>
            </p:cNvSpPr>
            <p:nvPr/>
          </p:nvSpPr>
          <p:spPr bwMode="auto">
            <a:xfrm>
              <a:off x="2586039" y="5137150"/>
              <a:ext cx="28575" cy="95250"/>
            </a:xfrm>
            <a:custGeom>
              <a:avLst/>
              <a:gdLst>
                <a:gd name="T0" fmla="*/ 9 w 20"/>
                <a:gd name="T1" fmla="*/ 67 h 68"/>
                <a:gd name="T2" fmla="*/ 9 w 20"/>
                <a:gd name="T3" fmla="*/ 67 h 68"/>
                <a:gd name="T4" fmla="*/ 9 w 20"/>
                <a:gd name="T5" fmla="*/ 66 h 68"/>
                <a:gd name="T6" fmla="*/ 8 w 20"/>
                <a:gd name="T7" fmla="*/ 66 h 68"/>
                <a:gd name="T8" fmla="*/ 7 w 20"/>
                <a:gd name="T9" fmla="*/ 65 h 68"/>
                <a:gd name="T10" fmla="*/ 7 w 20"/>
                <a:gd name="T11" fmla="*/ 63 h 68"/>
                <a:gd name="T12" fmla="*/ 6 w 20"/>
                <a:gd name="T13" fmla="*/ 61 h 68"/>
                <a:gd name="T14" fmla="*/ 5 w 20"/>
                <a:gd name="T15" fmla="*/ 61 h 68"/>
                <a:gd name="T16" fmla="*/ 5 w 20"/>
                <a:gd name="T17" fmla="*/ 59 h 68"/>
                <a:gd name="T18" fmla="*/ 4 w 20"/>
                <a:gd name="T19" fmla="*/ 57 h 68"/>
                <a:gd name="T20" fmla="*/ 4 w 20"/>
                <a:gd name="T21" fmla="*/ 57 h 68"/>
                <a:gd name="T22" fmla="*/ 2 w 20"/>
                <a:gd name="T23" fmla="*/ 55 h 68"/>
                <a:gd name="T24" fmla="*/ 2 w 20"/>
                <a:gd name="T25" fmla="*/ 52 h 68"/>
                <a:gd name="T26" fmla="*/ 2 w 20"/>
                <a:gd name="T27" fmla="*/ 50 h 68"/>
                <a:gd name="T28" fmla="*/ 2 w 20"/>
                <a:gd name="T29" fmla="*/ 49 h 68"/>
                <a:gd name="T30" fmla="*/ 0 w 20"/>
                <a:gd name="T31" fmla="*/ 46 h 68"/>
                <a:gd name="T32" fmla="*/ 0 w 20"/>
                <a:gd name="T33" fmla="*/ 45 h 68"/>
                <a:gd name="T34" fmla="*/ 0 w 20"/>
                <a:gd name="T35" fmla="*/ 42 h 68"/>
                <a:gd name="T36" fmla="*/ 0 w 20"/>
                <a:gd name="T37" fmla="*/ 40 h 68"/>
                <a:gd name="T38" fmla="*/ 0 w 20"/>
                <a:gd name="T39" fmla="*/ 38 h 68"/>
                <a:gd name="T40" fmla="*/ 0 w 20"/>
                <a:gd name="T41" fmla="*/ 36 h 68"/>
                <a:gd name="T42" fmla="*/ 0 w 20"/>
                <a:gd name="T43" fmla="*/ 33 h 68"/>
                <a:gd name="T44" fmla="*/ 0 w 20"/>
                <a:gd name="T45" fmla="*/ 31 h 68"/>
                <a:gd name="T46" fmla="*/ 0 w 20"/>
                <a:gd name="T47" fmla="*/ 29 h 68"/>
                <a:gd name="T48" fmla="*/ 0 w 20"/>
                <a:gd name="T49" fmla="*/ 28 h 68"/>
                <a:gd name="T50" fmla="*/ 0 w 20"/>
                <a:gd name="T51" fmla="*/ 25 h 68"/>
                <a:gd name="T52" fmla="*/ 0 w 20"/>
                <a:gd name="T53" fmla="*/ 23 h 68"/>
                <a:gd name="T54" fmla="*/ 0 w 20"/>
                <a:gd name="T55" fmla="*/ 22 h 68"/>
                <a:gd name="T56" fmla="*/ 2 w 20"/>
                <a:gd name="T57" fmla="*/ 19 h 68"/>
                <a:gd name="T58" fmla="*/ 2 w 20"/>
                <a:gd name="T59" fmla="*/ 17 h 68"/>
                <a:gd name="T60" fmla="*/ 2 w 20"/>
                <a:gd name="T61" fmla="*/ 15 h 68"/>
                <a:gd name="T62" fmla="*/ 3 w 20"/>
                <a:gd name="T63" fmla="*/ 13 h 68"/>
                <a:gd name="T64" fmla="*/ 4 w 20"/>
                <a:gd name="T65" fmla="*/ 12 h 68"/>
                <a:gd name="T66" fmla="*/ 4 w 20"/>
                <a:gd name="T67" fmla="*/ 11 h 68"/>
                <a:gd name="T68" fmla="*/ 5 w 20"/>
                <a:gd name="T69" fmla="*/ 9 h 68"/>
                <a:gd name="T70" fmla="*/ 5 w 20"/>
                <a:gd name="T71" fmla="*/ 7 h 68"/>
                <a:gd name="T72" fmla="*/ 7 w 20"/>
                <a:gd name="T73" fmla="*/ 7 h 68"/>
                <a:gd name="T74" fmla="*/ 7 w 20"/>
                <a:gd name="T75" fmla="*/ 5 h 68"/>
                <a:gd name="T76" fmla="*/ 7 w 20"/>
                <a:gd name="T77" fmla="*/ 3 h 68"/>
                <a:gd name="T78" fmla="*/ 8 w 20"/>
                <a:gd name="T79" fmla="*/ 3 h 68"/>
                <a:gd name="T80" fmla="*/ 9 w 20"/>
                <a:gd name="T81" fmla="*/ 2 h 68"/>
                <a:gd name="T82" fmla="*/ 10 w 20"/>
                <a:gd name="T83" fmla="*/ 1 h 68"/>
                <a:gd name="T84" fmla="*/ 10 w 20"/>
                <a:gd name="T85" fmla="*/ 1 h 68"/>
                <a:gd name="T86" fmla="*/ 11 w 20"/>
                <a:gd name="T87" fmla="*/ 0 h 68"/>
                <a:gd name="T88" fmla="*/ 12 w 20"/>
                <a:gd name="T89" fmla="*/ 0 h 68"/>
                <a:gd name="T90" fmla="*/ 13 w 20"/>
                <a:gd name="T91" fmla="*/ 0 h 68"/>
                <a:gd name="T92" fmla="*/ 15 w 20"/>
                <a:gd name="T93" fmla="*/ 0 h 68"/>
                <a:gd name="T94" fmla="*/ 15 w 20"/>
                <a:gd name="T95" fmla="*/ 0 h 68"/>
                <a:gd name="T96" fmla="*/ 17 w 20"/>
                <a:gd name="T97" fmla="*/ 0 h 68"/>
                <a:gd name="T98" fmla="*/ 17 w 20"/>
                <a:gd name="T99" fmla="*/ 0 h 68"/>
                <a:gd name="T100" fmla="*/ 18 w 20"/>
                <a:gd name="T101" fmla="*/ 1 h 68"/>
                <a:gd name="T102" fmla="*/ 19 w 20"/>
                <a:gd name="T103" fmla="*/ 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68">
                  <a:moveTo>
                    <a:pt x="9" y="67"/>
                  </a:moveTo>
                  <a:lnTo>
                    <a:pt x="9" y="67"/>
                  </a:lnTo>
                  <a:lnTo>
                    <a:pt x="9" y="66"/>
                  </a:lnTo>
                  <a:lnTo>
                    <a:pt x="8" y="66"/>
                  </a:lnTo>
                  <a:lnTo>
                    <a:pt x="7" y="65"/>
                  </a:lnTo>
                  <a:lnTo>
                    <a:pt x="7" y="63"/>
                  </a:lnTo>
                  <a:lnTo>
                    <a:pt x="6" y="61"/>
                  </a:lnTo>
                  <a:lnTo>
                    <a:pt x="5" y="61"/>
                  </a:lnTo>
                  <a:lnTo>
                    <a:pt x="5" y="59"/>
                  </a:lnTo>
                  <a:lnTo>
                    <a:pt x="4" y="57"/>
                  </a:lnTo>
                  <a:lnTo>
                    <a:pt x="4" y="57"/>
                  </a:lnTo>
                  <a:lnTo>
                    <a:pt x="2" y="55"/>
                  </a:lnTo>
                  <a:lnTo>
                    <a:pt x="2" y="52"/>
                  </a:lnTo>
                  <a:lnTo>
                    <a:pt x="2" y="50"/>
                  </a:lnTo>
                  <a:lnTo>
                    <a:pt x="2" y="49"/>
                  </a:lnTo>
                  <a:lnTo>
                    <a:pt x="0" y="46"/>
                  </a:lnTo>
                  <a:lnTo>
                    <a:pt x="0" y="45"/>
                  </a:lnTo>
                  <a:lnTo>
                    <a:pt x="0" y="42"/>
                  </a:lnTo>
                  <a:lnTo>
                    <a:pt x="0" y="40"/>
                  </a:lnTo>
                  <a:lnTo>
                    <a:pt x="0" y="38"/>
                  </a:lnTo>
                  <a:lnTo>
                    <a:pt x="0" y="36"/>
                  </a:lnTo>
                  <a:lnTo>
                    <a:pt x="0" y="33"/>
                  </a:lnTo>
                  <a:lnTo>
                    <a:pt x="0" y="31"/>
                  </a:lnTo>
                  <a:lnTo>
                    <a:pt x="0" y="29"/>
                  </a:lnTo>
                  <a:lnTo>
                    <a:pt x="0" y="28"/>
                  </a:lnTo>
                  <a:lnTo>
                    <a:pt x="0" y="25"/>
                  </a:lnTo>
                  <a:lnTo>
                    <a:pt x="0" y="23"/>
                  </a:lnTo>
                  <a:lnTo>
                    <a:pt x="0" y="22"/>
                  </a:lnTo>
                  <a:lnTo>
                    <a:pt x="2" y="19"/>
                  </a:lnTo>
                  <a:lnTo>
                    <a:pt x="2" y="17"/>
                  </a:lnTo>
                  <a:lnTo>
                    <a:pt x="2" y="15"/>
                  </a:lnTo>
                  <a:lnTo>
                    <a:pt x="3" y="13"/>
                  </a:lnTo>
                  <a:lnTo>
                    <a:pt x="4" y="12"/>
                  </a:lnTo>
                  <a:lnTo>
                    <a:pt x="4" y="11"/>
                  </a:lnTo>
                  <a:lnTo>
                    <a:pt x="5" y="9"/>
                  </a:lnTo>
                  <a:lnTo>
                    <a:pt x="5" y="7"/>
                  </a:lnTo>
                  <a:lnTo>
                    <a:pt x="7" y="7"/>
                  </a:lnTo>
                  <a:lnTo>
                    <a:pt x="7" y="5"/>
                  </a:lnTo>
                  <a:lnTo>
                    <a:pt x="7" y="3"/>
                  </a:lnTo>
                  <a:lnTo>
                    <a:pt x="8" y="3"/>
                  </a:lnTo>
                  <a:lnTo>
                    <a:pt x="9" y="2"/>
                  </a:lnTo>
                  <a:lnTo>
                    <a:pt x="10" y="1"/>
                  </a:lnTo>
                  <a:lnTo>
                    <a:pt x="10" y="1"/>
                  </a:lnTo>
                  <a:lnTo>
                    <a:pt x="11" y="0"/>
                  </a:lnTo>
                  <a:lnTo>
                    <a:pt x="12" y="0"/>
                  </a:lnTo>
                  <a:lnTo>
                    <a:pt x="13" y="0"/>
                  </a:lnTo>
                  <a:lnTo>
                    <a:pt x="15" y="0"/>
                  </a:lnTo>
                  <a:lnTo>
                    <a:pt x="15" y="0"/>
                  </a:lnTo>
                  <a:lnTo>
                    <a:pt x="17" y="0"/>
                  </a:lnTo>
                  <a:lnTo>
                    <a:pt x="17" y="0"/>
                  </a:lnTo>
                  <a:lnTo>
                    <a:pt x="18" y="1"/>
                  </a:lnTo>
                  <a:lnTo>
                    <a:pt x="19" y="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1" name="Freeform 172"/>
            <p:cNvSpPr>
              <a:spLocks/>
            </p:cNvSpPr>
            <p:nvPr/>
          </p:nvSpPr>
          <p:spPr bwMode="auto">
            <a:xfrm>
              <a:off x="2565401" y="5137150"/>
              <a:ext cx="28575" cy="95250"/>
            </a:xfrm>
            <a:custGeom>
              <a:avLst/>
              <a:gdLst>
                <a:gd name="T0" fmla="*/ 10 w 19"/>
                <a:gd name="T1" fmla="*/ 67 h 68"/>
                <a:gd name="T2" fmla="*/ 10 w 19"/>
                <a:gd name="T3" fmla="*/ 67 h 68"/>
                <a:gd name="T4" fmla="*/ 8 w 19"/>
                <a:gd name="T5" fmla="*/ 66 h 68"/>
                <a:gd name="T6" fmla="*/ 8 w 19"/>
                <a:gd name="T7" fmla="*/ 66 h 68"/>
                <a:gd name="T8" fmla="*/ 6 w 19"/>
                <a:gd name="T9" fmla="*/ 65 h 68"/>
                <a:gd name="T10" fmla="*/ 6 w 19"/>
                <a:gd name="T11" fmla="*/ 63 h 68"/>
                <a:gd name="T12" fmla="*/ 4 w 19"/>
                <a:gd name="T13" fmla="*/ 61 h 68"/>
                <a:gd name="T14" fmla="*/ 4 w 19"/>
                <a:gd name="T15" fmla="*/ 61 h 68"/>
                <a:gd name="T16" fmla="*/ 4 w 19"/>
                <a:gd name="T17" fmla="*/ 59 h 68"/>
                <a:gd name="T18" fmla="*/ 4 w 19"/>
                <a:gd name="T19" fmla="*/ 57 h 68"/>
                <a:gd name="T20" fmla="*/ 2 w 19"/>
                <a:gd name="T21" fmla="*/ 57 h 68"/>
                <a:gd name="T22" fmla="*/ 2 w 19"/>
                <a:gd name="T23" fmla="*/ 55 h 68"/>
                <a:gd name="T24" fmla="*/ 2 w 19"/>
                <a:gd name="T25" fmla="*/ 52 h 68"/>
                <a:gd name="T26" fmla="*/ 1 w 19"/>
                <a:gd name="T27" fmla="*/ 50 h 68"/>
                <a:gd name="T28" fmla="*/ 0 w 19"/>
                <a:gd name="T29" fmla="*/ 49 h 68"/>
                <a:gd name="T30" fmla="*/ 0 w 19"/>
                <a:gd name="T31" fmla="*/ 46 h 68"/>
                <a:gd name="T32" fmla="*/ 0 w 19"/>
                <a:gd name="T33" fmla="*/ 45 h 68"/>
                <a:gd name="T34" fmla="*/ 0 w 19"/>
                <a:gd name="T35" fmla="*/ 42 h 68"/>
                <a:gd name="T36" fmla="*/ 0 w 19"/>
                <a:gd name="T37" fmla="*/ 40 h 68"/>
                <a:gd name="T38" fmla="*/ 0 w 19"/>
                <a:gd name="T39" fmla="*/ 38 h 68"/>
                <a:gd name="T40" fmla="*/ 0 w 19"/>
                <a:gd name="T41" fmla="*/ 36 h 68"/>
                <a:gd name="T42" fmla="*/ 0 w 19"/>
                <a:gd name="T43" fmla="*/ 33 h 68"/>
                <a:gd name="T44" fmla="*/ 0 w 19"/>
                <a:gd name="T45" fmla="*/ 31 h 68"/>
                <a:gd name="T46" fmla="*/ 0 w 19"/>
                <a:gd name="T47" fmla="*/ 29 h 68"/>
                <a:gd name="T48" fmla="*/ 0 w 19"/>
                <a:gd name="T49" fmla="*/ 28 h 68"/>
                <a:gd name="T50" fmla="*/ 0 w 19"/>
                <a:gd name="T51" fmla="*/ 25 h 68"/>
                <a:gd name="T52" fmla="*/ 0 w 19"/>
                <a:gd name="T53" fmla="*/ 23 h 68"/>
                <a:gd name="T54" fmla="*/ 0 w 19"/>
                <a:gd name="T55" fmla="*/ 22 h 68"/>
                <a:gd name="T56" fmla="*/ 1 w 19"/>
                <a:gd name="T57" fmla="*/ 19 h 68"/>
                <a:gd name="T58" fmla="*/ 2 w 19"/>
                <a:gd name="T59" fmla="*/ 17 h 68"/>
                <a:gd name="T60" fmla="*/ 2 w 19"/>
                <a:gd name="T61" fmla="*/ 15 h 68"/>
                <a:gd name="T62" fmla="*/ 2 w 19"/>
                <a:gd name="T63" fmla="*/ 13 h 68"/>
                <a:gd name="T64" fmla="*/ 2 w 19"/>
                <a:gd name="T65" fmla="*/ 12 h 68"/>
                <a:gd name="T66" fmla="*/ 4 w 19"/>
                <a:gd name="T67" fmla="*/ 11 h 68"/>
                <a:gd name="T68" fmla="*/ 4 w 19"/>
                <a:gd name="T69" fmla="*/ 9 h 68"/>
                <a:gd name="T70" fmla="*/ 4 w 19"/>
                <a:gd name="T71" fmla="*/ 7 h 68"/>
                <a:gd name="T72" fmla="*/ 6 w 19"/>
                <a:gd name="T73" fmla="*/ 7 h 68"/>
                <a:gd name="T74" fmla="*/ 6 w 19"/>
                <a:gd name="T75" fmla="*/ 5 h 68"/>
                <a:gd name="T76" fmla="*/ 7 w 19"/>
                <a:gd name="T77" fmla="*/ 3 h 68"/>
                <a:gd name="T78" fmla="*/ 8 w 19"/>
                <a:gd name="T79" fmla="*/ 3 h 68"/>
                <a:gd name="T80" fmla="*/ 8 w 19"/>
                <a:gd name="T81" fmla="*/ 2 h 68"/>
                <a:gd name="T82" fmla="*/ 10 w 19"/>
                <a:gd name="T83" fmla="*/ 1 h 68"/>
                <a:gd name="T84" fmla="*/ 10 w 19"/>
                <a:gd name="T85" fmla="*/ 1 h 68"/>
                <a:gd name="T86" fmla="*/ 11 w 19"/>
                <a:gd name="T87" fmla="*/ 0 h 68"/>
                <a:gd name="T88" fmla="*/ 12 w 19"/>
                <a:gd name="T89" fmla="*/ 0 h 68"/>
                <a:gd name="T90" fmla="*/ 14 w 19"/>
                <a:gd name="T91" fmla="*/ 0 h 68"/>
                <a:gd name="T92" fmla="*/ 14 w 19"/>
                <a:gd name="T93" fmla="*/ 0 h 68"/>
                <a:gd name="T94" fmla="*/ 14 w 19"/>
                <a:gd name="T95" fmla="*/ 0 h 68"/>
                <a:gd name="T96" fmla="*/ 16 w 19"/>
                <a:gd name="T97" fmla="*/ 0 h 68"/>
                <a:gd name="T98" fmla="*/ 16 w 19"/>
                <a:gd name="T99" fmla="*/ 0 h 68"/>
                <a:gd name="T100" fmla="*/ 18 w 19"/>
                <a:gd name="T101" fmla="*/ 1 h 68"/>
                <a:gd name="T102" fmla="*/ 18 w 19"/>
                <a:gd name="T103" fmla="*/ 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 h="68">
                  <a:moveTo>
                    <a:pt x="10" y="67"/>
                  </a:moveTo>
                  <a:lnTo>
                    <a:pt x="10" y="67"/>
                  </a:lnTo>
                  <a:lnTo>
                    <a:pt x="8" y="66"/>
                  </a:lnTo>
                  <a:lnTo>
                    <a:pt x="8" y="66"/>
                  </a:lnTo>
                  <a:lnTo>
                    <a:pt x="6" y="65"/>
                  </a:lnTo>
                  <a:lnTo>
                    <a:pt x="6" y="63"/>
                  </a:lnTo>
                  <a:lnTo>
                    <a:pt x="4" y="61"/>
                  </a:lnTo>
                  <a:lnTo>
                    <a:pt x="4" y="61"/>
                  </a:lnTo>
                  <a:lnTo>
                    <a:pt x="4" y="59"/>
                  </a:lnTo>
                  <a:lnTo>
                    <a:pt x="4" y="57"/>
                  </a:lnTo>
                  <a:lnTo>
                    <a:pt x="2" y="57"/>
                  </a:lnTo>
                  <a:lnTo>
                    <a:pt x="2" y="55"/>
                  </a:lnTo>
                  <a:lnTo>
                    <a:pt x="2" y="52"/>
                  </a:lnTo>
                  <a:lnTo>
                    <a:pt x="1" y="50"/>
                  </a:lnTo>
                  <a:lnTo>
                    <a:pt x="0" y="49"/>
                  </a:lnTo>
                  <a:lnTo>
                    <a:pt x="0" y="46"/>
                  </a:lnTo>
                  <a:lnTo>
                    <a:pt x="0" y="45"/>
                  </a:lnTo>
                  <a:lnTo>
                    <a:pt x="0" y="42"/>
                  </a:lnTo>
                  <a:lnTo>
                    <a:pt x="0" y="40"/>
                  </a:lnTo>
                  <a:lnTo>
                    <a:pt x="0" y="38"/>
                  </a:lnTo>
                  <a:lnTo>
                    <a:pt x="0" y="36"/>
                  </a:lnTo>
                  <a:lnTo>
                    <a:pt x="0" y="33"/>
                  </a:lnTo>
                  <a:lnTo>
                    <a:pt x="0" y="31"/>
                  </a:lnTo>
                  <a:lnTo>
                    <a:pt x="0" y="29"/>
                  </a:lnTo>
                  <a:lnTo>
                    <a:pt x="0" y="28"/>
                  </a:lnTo>
                  <a:lnTo>
                    <a:pt x="0" y="25"/>
                  </a:lnTo>
                  <a:lnTo>
                    <a:pt x="0" y="23"/>
                  </a:lnTo>
                  <a:lnTo>
                    <a:pt x="0" y="22"/>
                  </a:lnTo>
                  <a:lnTo>
                    <a:pt x="1" y="19"/>
                  </a:lnTo>
                  <a:lnTo>
                    <a:pt x="2" y="17"/>
                  </a:lnTo>
                  <a:lnTo>
                    <a:pt x="2" y="15"/>
                  </a:lnTo>
                  <a:lnTo>
                    <a:pt x="2" y="13"/>
                  </a:lnTo>
                  <a:lnTo>
                    <a:pt x="2" y="12"/>
                  </a:lnTo>
                  <a:lnTo>
                    <a:pt x="4" y="11"/>
                  </a:lnTo>
                  <a:lnTo>
                    <a:pt x="4" y="9"/>
                  </a:lnTo>
                  <a:lnTo>
                    <a:pt x="4" y="7"/>
                  </a:lnTo>
                  <a:lnTo>
                    <a:pt x="6" y="7"/>
                  </a:lnTo>
                  <a:lnTo>
                    <a:pt x="6" y="5"/>
                  </a:lnTo>
                  <a:lnTo>
                    <a:pt x="7" y="3"/>
                  </a:lnTo>
                  <a:lnTo>
                    <a:pt x="8" y="3"/>
                  </a:lnTo>
                  <a:lnTo>
                    <a:pt x="8" y="2"/>
                  </a:lnTo>
                  <a:lnTo>
                    <a:pt x="10" y="1"/>
                  </a:lnTo>
                  <a:lnTo>
                    <a:pt x="10" y="1"/>
                  </a:lnTo>
                  <a:lnTo>
                    <a:pt x="11" y="0"/>
                  </a:lnTo>
                  <a:lnTo>
                    <a:pt x="12" y="0"/>
                  </a:lnTo>
                  <a:lnTo>
                    <a:pt x="14" y="0"/>
                  </a:lnTo>
                  <a:lnTo>
                    <a:pt x="14" y="0"/>
                  </a:lnTo>
                  <a:lnTo>
                    <a:pt x="14" y="0"/>
                  </a:lnTo>
                  <a:lnTo>
                    <a:pt x="16" y="0"/>
                  </a:lnTo>
                  <a:lnTo>
                    <a:pt x="16" y="0"/>
                  </a:lnTo>
                  <a:lnTo>
                    <a:pt x="18" y="1"/>
                  </a:lnTo>
                  <a:lnTo>
                    <a:pt x="18" y="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2" name="Freeform 173"/>
            <p:cNvSpPr>
              <a:spLocks/>
            </p:cNvSpPr>
            <p:nvPr/>
          </p:nvSpPr>
          <p:spPr bwMode="auto">
            <a:xfrm>
              <a:off x="2547939" y="5137150"/>
              <a:ext cx="28575" cy="95250"/>
            </a:xfrm>
            <a:custGeom>
              <a:avLst/>
              <a:gdLst>
                <a:gd name="T0" fmla="*/ 8 w 19"/>
                <a:gd name="T1" fmla="*/ 67 h 68"/>
                <a:gd name="T2" fmla="*/ 8 w 19"/>
                <a:gd name="T3" fmla="*/ 67 h 68"/>
                <a:gd name="T4" fmla="*/ 8 w 19"/>
                <a:gd name="T5" fmla="*/ 66 h 68"/>
                <a:gd name="T6" fmla="*/ 7 w 19"/>
                <a:gd name="T7" fmla="*/ 66 h 68"/>
                <a:gd name="T8" fmla="*/ 7 w 19"/>
                <a:gd name="T9" fmla="*/ 65 h 68"/>
                <a:gd name="T10" fmla="*/ 6 w 19"/>
                <a:gd name="T11" fmla="*/ 63 h 68"/>
                <a:gd name="T12" fmla="*/ 5 w 19"/>
                <a:gd name="T13" fmla="*/ 61 h 68"/>
                <a:gd name="T14" fmla="*/ 4 w 19"/>
                <a:gd name="T15" fmla="*/ 61 h 68"/>
                <a:gd name="T16" fmla="*/ 3 w 19"/>
                <a:gd name="T17" fmla="*/ 59 h 68"/>
                <a:gd name="T18" fmla="*/ 3 w 19"/>
                <a:gd name="T19" fmla="*/ 57 h 68"/>
                <a:gd name="T20" fmla="*/ 3 w 19"/>
                <a:gd name="T21" fmla="*/ 57 h 68"/>
                <a:gd name="T22" fmla="*/ 2 w 19"/>
                <a:gd name="T23" fmla="*/ 55 h 68"/>
                <a:gd name="T24" fmla="*/ 2 w 19"/>
                <a:gd name="T25" fmla="*/ 52 h 68"/>
                <a:gd name="T26" fmla="*/ 2 w 19"/>
                <a:gd name="T27" fmla="*/ 50 h 68"/>
                <a:gd name="T28" fmla="*/ 2 w 19"/>
                <a:gd name="T29" fmla="*/ 49 h 68"/>
                <a:gd name="T30" fmla="*/ 0 w 19"/>
                <a:gd name="T31" fmla="*/ 46 h 68"/>
                <a:gd name="T32" fmla="*/ 0 w 19"/>
                <a:gd name="T33" fmla="*/ 45 h 68"/>
                <a:gd name="T34" fmla="*/ 0 w 19"/>
                <a:gd name="T35" fmla="*/ 42 h 68"/>
                <a:gd name="T36" fmla="*/ 0 w 19"/>
                <a:gd name="T37" fmla="*/ 40 h 68"/>
                <a:gd name="T38" fmla="*/ 0 w 19"/>
                <a:gd name="T39" fmla="*/ 38 h 68"/>
                <a:gd name="T40" fmla="*/ 0 w 19"/>
                <a:gd name="T41" fmla="*/ 36 h 68"/>
                <a:gd name="T42" fmla="*/ 0 w 19"/>
                <a:gd name="T43" fmla="*/ 33 h 68"/>
                <a:gd name="T44" fmla="*/ 0 w 19"/>
                <a:gd name="T45" fmla="*/ 31 h 68"/>
                <a:gd name="T46" fmla="*/ 0 w 19"/>
                <a:gd name="T47" fmla="*/ 29 h 68"/>
                <a:gd name="T48" fmla="*/ 0 w 19"/>
                <a:gd name="T49" fmla="*/ 28 h 68"/>
                <a:gd name="T50" fmla="*/ 0 w 19"/>
                <a:gd name="T51" fmla="*/ 25 h 68"/>
                <a:gd name="T52" fmla="*/ 0 w 19"/>
                <a:gd name="T53" fmla="*/ 23 h 68"/>
                <a:gd name="T54" fmla="*/ 0 w 19"/>
                <a:gd name="T55" fmla="*/ 22 h 68"/>
                <a:gd name="T56" fmla="*/ 2 w 19"/>
                <a:gd name="T57" fmla="*/ 19 h 68"/>
                <a:gd name="T58" fmla="*/ 2 w 19"/>
                <a:gd name="T59" fmla="*/ 17 h 68"/>
                <a:gd name="T60" fmla="*/ 2 w 19"/>
                <a:gd name="T61" fmla="*/ 15 h 68"/>
                <a:gd name="T62" fmla="*/ 3 w 19"/>
                <a:gd name="T63" fmla="*/ 13 h 68"/>
                <a:gd name="T64" fmla="*/ 3 w 19"/>
                <a:gd name="T65" fmla="*/ 12 h 68"/>
                <a:gd name="T66" fmla="*/ 3 w 19"/>
                <a:gd name="T67" fmla="*/ 11 h 68"/>
                <a:gd name="T68" fmla="*/ 3 w 19"/>
                <a:gd name="T69" fmla="*/ 9 h 68"/>
                <a:gd name="T70" fmla="*/ 4 w 19"/>
                <a:gd name="T71" fmla="*/ 7 h 68"/>
                <a:gd name="T72" fmla="*/ 5 w 19"/>
                <a:gd name="T73" fmla="*/ 7 h 68"/>
                <a:gd name="T74" fmla="*/ 6 w 19"/>
                <a:gd name="T75" fmla="*/ 5 h 68"/>
                <a:gd name="T76" fmla="*/ 7 w 19"/>
                <a:gd name="T77" fmla="*/ 3 h 68"/>
                <a:gd name="T78" fmla="*/ 8 w 19"/>
                <a:gd name="T79" fmla="*/ 3 h 68"/>
                <a:gd name="T80" fmla="*/ 8 w 19"/>
                <a:gd name="T81" fmla="*/ 2 h 68"/>
                <a:gd name="T82" fmla="*/ 10 w 19"/>
                <a:gd name="T83" fmla="*/ 1 h 68"/>
                <a:gd name="T84" fmla="*/ 10 w 19"/>
                <a:gd name="T85" fmla="*/ 1 h 68"/>
                <a:gd name="T86" fmla="*/ 12 w 19"/>
                <a:gd name="T87" fmla="*/ 0 h 68"/>
                <a:gd name="T88" fmla="*/ 12 w 19"/>
                <a:gd name="T89" fmla="*/ 0 h 68"/>
                <a:gd name="T90" fmla="*/ 13 w 19"/>
                <a:gd name="T91" fmla="*/ 0 h 68"/>
                <a:gd name="T92" fmla="*/ 14 w 19"/>
                <a:gd name="T93" fmla="*/ 0 h 68"/>
                <a:gd name="T94" fmla="*/ 14 w 19"/>
                <a:gd name="T95" fmla="*/ 0 h 68"/>
                <a:gd name="T96" fmla="*/ 16 w 19"/>
                <a:gd name="T97" fmla="*/ 0 h 68"/>
                <a:gd name="T98" fmla="*/ 16 w 19"/>
                <a:gd name="T99" fmla="*/ 0 h 68"/>
                <a:gd name="T100" fmla="*/ 18 w 19"/>
                <a:gd name="T101" fmla="*/ 1 h 68"/>
                <a:gd name="T102" fmla="*/ 18 w 19"/>
                <a:gd name="T103" fmla="*/ 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 h="68">
                  <a:moveTo>
                    <a:pt x="8" y="67"/>
                  </a:moveTo>
                  <a:lnTo>
                    <a:pt x="8" y="67"/>
                  </a:lnTo>
                  <a:lnTo>
                    <a:pt x="8" y="66"/>
                  </a:lnTo>
                  <a:lnTo>
                    <a:pt x="7" y="66"/>
                  </a:lnTo>
                  <a:lnTo>
                    <a:pt x="7" y="65"/>
                  </a:lnTo>
                  <a:lnTo>
                    <a:pt x="6" y="63"/>
                  </a:lnTo>
                  <a:lnTo>
                    <a:pt x="5" y="61"/>
                  </a:lnTo>
                  <a:lnTo>
                    <a:pt x="4" y="61"/>
                  </a:lnTo>
                  <a:lnTo>
                    <a:pt x="3" y="59"/>
                  </a:lnTo>
                  <a:lnTo>
                    <a:pt x="3" y="57"/>
                  </a:lnTo>
                  <a:lnTo>
                    <a:pt x="3" y="57"/>
                  </a:lnTo>
                  <a:lnTo>
                    <a:pt x="2" y="55"/>
                  </a:lnTo>
                  <a:lnTo>
                    <a:pt x="2" y="52"/>
                  </a:lnTo>
                  <a:lnTo>
                    <a:pt x="2" y="50"/>
                  </a:lnTo>
                  <a:lnTo>
                    <a:pt x="2" y="49"/>
                  </a:lnTo>
                  <a:lnTo>
                    <a:pt x="0" y="46"/>
                  </a:lnTo>
                  <a:lnTo>
                    <a:pt x="0" y="45"/>
                  </a:lnTo>
                  <a:lnTo>
                    <a:pt x="0" y="42"/>
                  </a:lnTo>
                  <a:lnTo>
                    <a:pt x="0" y="40"/>
                  </a:lnTo>
                  <a:lnTo>
                    <a:pt x="0" y="38"/>
                  </a:lnTo>
                  <a:lnTo>
                    <a:pt x="0" y="36"/>
                  </a:lnTo>
                  <a:lnTo>
                    <a:pt x="0" y="33"/>
                  </a:lnTo>
                  <a:lnTo>
                    <a:pt x="0" y="31"/>
                  </a:lnTo>
                  <a:lnTo>
                    <a:pt x="0" y="29"/>
                  </a:lnTo>
                  <a:lnTo>
                    <a:pt x="0" y="28"/>
                  </a:lnTo>
                  <a:lnTo>
                    <a:pt x="0" y="25"/>
                  </a:lnTo>
                  <a:lnTo>
                    <a:pt x="0" y="23"/>
                  </a:lnTo>
                  <a:lnTo>
                    <a:pt x="0" y="22"/>
                  </a:lnTo>
                  <a:lnTo>
                    <a:pt x="2" y="19"/>
                  </a:lnTo>
                  <a:lnTo>
                    <a:pt x="2" y="17"/>
                  </a:lnTo>
                  <a:lnTo>
                    <a:pt x="2" y="15"/>
                  </a:lnTo>
                  <a:lnTo>
                    <a:pt x="3" y="13"/>
                  </a:lnTo>
                  <a:lnTo>
                    <a:pt x="3" y="12"/>
                  </a:lnTo>
                  <a:lnTo>
                    <a:pt x="3" y="11"/>
                  </a:lnTo>
                  <a:lnTo>
                    <a:pt x="3" y="9"/>
                  </a:lnTo>
                  <a:lnTo>
                    <a:pt x="4" y="7"/>
                  </a:lnTo>
                  <a:lnTo>
                    <a:pt x="5" y="7"/>
                  </a:lnTo>
                  <a:lnTo>
                    <a:pt x="6" y="5"/>
                  </a:lnTo>
                  <a:lnTo>
                    <a:pt x="7" y="3"/>
                  </a:lnTo>
                  <a:lnTo>
                    <a:pt x="8" y="3"/>
                  </a:lnTo>
                  <a:lnTo>
                    <a:pt x="8" y="2"/>
                  </a:lnTo>
                  <a:lnTo>
                    <a:pt x="10" y="1"/>
                  </a:lnTo>
                  <a:lnTo>
                    <a:pt x="10" y="1"/>
                  </a:lnTo>
                  <a:lnTo>
                    <a:pt x="12" y="0"/>
                  </a:lnTo>
                  <a:lnTo>
                    <a:pt x="12" y="0"/>
                  </a:lnTo>
                  <a:lnTo>
                    <a:pt x="13" y="0"/>
                  </a:lnTo>
                  <a:lnTo>
                    <a:pt x="14" y="0"/>
                  </a:lnTo>
                  <a:lnTo>
                    <a:pt x="14" y="0"/>
                  </a:lnTo>
                  <a:lnTo>
                    <a:pt x="16" y="0"/>
                  </a:lnTo>
                  <a:lnTo>
                    <a:pt x="16" y="0"/>
                  </a:lnTo>
                  <a:lnTo>
                    <a:pt x="18" y="1"/>
                  </a:lnTo>
                  <a:lnTo>
                    <a:pt x="18" y="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3" name="Freeform 174"/>
            <p:cNvSpPr>
              <a:spLocks/>
            </p:cNvSpPr>
            <p:nvPr/>
          </p:nvSpPr>
          <p:spPr bwMode="auto">
            <a:xfrm>
              <a:off x="2530476" y="5137150"/>
              <a:ext cx="28575" cy="95250"/>
            </a:xfrm>
            <a:custGeom>
              <a:avLst/>
              <a:gdLst>
                <a:gd name="T0" fmla="*/ 10 w 20"/>
                <a:gd name="T1" fmla="*/ 67 h 68"/>
                <a:gd name="T2" fmla="*/ 10 w 20"/>
                <a:gd name="T3" fmla="*/ 67 h 68"/>
                <a:gd name="T4" fmla="*/ 9 w 20"/>
                <a:gd name="T5" fmla="*/ 66 h 68"/>
                <a:gd name="T6" fmla="*/ 8 w 20"/>
                <a:gd name="T7" fmla="*/ 66 h 68"/>
                <a:gd name="T8" fmla="*/ 7 w 20"/>
                <a:gd name="T9" fmla="*/ 65 h 68"/>
                <a:gd name="T10" fmla="*/ 6 w 20"/>
                <a:gd name="T11" fmla="*/ 63 h 68"/>
                <a:gd name="T12" fmla="*/ 6 w 20"/>
                <a:gd name="T13" fmla="*/ 61 h 68"/>
                <a:gd name="T14" fmla="*/ 6 w 20"/>
                <a:gd name="T15" fmla="*/ 61 h 68"/>
                <a:gd name="T16" fmla="*/ 5 w 20"/>
                <a:gd name="T17" fmla="*/ 59 h 68"/>
                <a:gd name="T18" fmla="*/ 4 w 20"/>
                <a:gd name="T19" fmla="*/ 57 h 68"/>
                <a:gd name="T20" fmla="*/ 4 w 20"/>
                <a:gd name="T21" fmla="*/ 57 h 68"/>
                <a:gd name="T22" fmla="*/ 3 w 20"/>
                <a:gd name="T23" fmla="*/ 55 h 68"/>
                <a:gd name="T24" fmla="*/ 2 w 20"/>
                <a:gd name="T25" fmla="*/ 52 h 68"/>
                <a:gd name="T26" fmla="*/ 2 w 20"/>
                <a:gd name="T27" fmla="*/ 50 h 68"/>
                <a:gd name="T28" fmla="*/ 1 w 20"/>
                <a:gd name="T29" fmla="*/ 49 h 68"/>
                <a:gd name="T30" fmla="*/ 1 w 20"/>
                <a:gd name="T31" fmla="*/ 46 h 68"/>
                <a:gd name="T32" fmla="*/ 1 w 20"/>
                <a:gd name="T33" fmla="*/ 45 h 68"/>
                <a:gd name="T34" fmla="*/ 1 w 20"/>
                <a:gd name="T35" fmla="*/ 42 h 68"/>
                <a:gd name="T36" fmla="*/ 1 w 20"/>
                <a:gd name="T37" fmla="*/ 40 h 68"/>
                <a:gd name="T38" fmla="*/ 1 w 20"/>
                <a:gd name="T39" fmla="*/ 38 h 68"/>
                <a:gd name="T40" fmla="*/ 0 w 20"/>
                <a:gd name="T41" fmla="*/ 36 h 68"/>
                <a:gd name="T42" fmla="*/ 0 w 20"/>
                <a:gd name="T43" fmla="*/ 33 h 68"/>
                <a:gd name="T44" fmla="*/ 0 w 20"/>
                <a:gd name="T45" fmla="*/ 31 h 68"/>
                <a:gd name="T46" fmla="*/ 1 w 20"/>
                <a:gd name="T47" fmla="*/ 29 h 68"/>
                <a:gd name="T48" fmla="*/ 1 w 20"/>
                <a:gd name="T49" fmla="*/ 28 h 68"/>
                <a:gd name="T50" fmla="*/ 1 w 20"/>
                <a:gd name="T51" fmla="*/ 25 h 68"/>
                <a:gd name="T52" fmla="*/ 1 w 20"/>
                <a:gd name="T53" fmla="*/ 23 h 68"/>
                <a:gd name="T54" fmla="*/ 1 w 20"/>
                <a:gd name="T55" fmla="*/ 22 h 68"/>
                <a:gd name="T56" fmla="*/ 1 w 20"/>
                <a:gd name="T57" fmla="*/ 19 h 68"/>
                <a:gd name="T58" fmla="*/ 2 w 20"/>
                <a:gd name="T59" fmla="*/ 17 h 68"/>
                <a:gd name="T60" fmla="*/ 3 w 20"/>
                <a:gd name="T61" fmla="*/ 15 h 68"/>
                <a:gd name="T62" fmla="*/ 3 w 20"/>
                <a:gd name="T63" fmla="*/ 13 h 68"/>
                <a:gd name="T64" fmla="*/ 4 w 20"/>
                <a:gd name="T65" fmla="*/ 12 h 68"/>
                <a:gd name="T66" fmla="*/ 4 w 20"/>
                <a:gd name="T67" fmla="*/ 11 h 68"/>
                <a:gd name="T68" fmla="*/ 6 w 20"/>
                <a:gd name="T69" fmla="*/ 9 h 68"/>
                <a:gd name="T70" fmla="*/ 6 w 20"/>
                <a:gd name="T71" fmla="*/ 7 h 68"/>
                <a:gd name="T72" fmla="*/ 6 w 20"/>
                <a:gd name="T73" fmla="*/ 7 h 68"/>
                <a:gd name="T74" fmla="*/ 7 w 20"/>
                <a:gd name="T75" fmla="*/ 5 h 68"/>
                <a:gd name="T76" fmla="*/ 8 w 20"/>
                <a:gd name="T77" fmla="*/ 3 h 68"/>
                <a:gd name="T78" fmla="*/ 9 w 20"/>
                <a:gd name="T79" fmla="*/ 3 h 68"/>
                <a:gd name="T80" fmla="*/ 10 w 20"/>
                <a:gd name="T81" fmla="*/ 2 h 68"/>
                <a:gd name="T82" fmla="*/ 11 w 20"/>
                <a:gd name="T83" fmla="*/ 1 h 68"/>
                <a:gd name="T84" fmla="*/ 11 w 20"/>
                <a:gd name="T85" fmla="*/ 1 h 68"/>
                <a:gd name="T86" fmla="*/ 13 w 20"/>
                <a:gd name="T87" fmla="*/ 0 h 68"/>
                <a:gd name="T88" fmla="*/ 13 w 20"/>
                <a:gd name="T89" fmla="*/ 0 h 68"/>
                <a:gd name="T90" fmla="*/ 15 w 20"/>
                <a:gd name="T91" fmla="*/ 0 h 68"/>
                <a:gd name="T92" fmla="*/ 15 w 20"/>
                <a:gd name="T93" fmla="*/ 0 h 68"/>
                <a:gd name="T94" fmla="*/ 16 w 20"/>
                <a:gd name="T95" fmla="*/ 0 h 68"/>
                <a:gd name="T96" fmla="*/ 16 w 20"/>
                <a:gd name="T97" fmla="*/ 0 h 68"/>
                <a:gd name="T98" fmla="*/ 17 w 20"/>
                <a:gd name="T99" fmla="*/ 0 h 68"/>
                <a:gd name="T100" fmla="*/ 18 w 20"/>
                <a:gd name="T101" fmla="*/ 1 h 68"/>
                <a:gd name="T102" fmla="*/ 19 w 20"/>
                <a:gd name="T103" fmla="*/ 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68">
                  <a:moveTo>
                    <a:pt x="10" y="67"/>
                  </a:moveTo>
                  <a:lnTo>
                    <a:pt x="10" y="67"/>
                  </a:lnTo>
                  <a:lnTo>
                    <a:pt x="9" y="66"/>
                  </a:lnTo>
                  <a:lnTo>
                    <a:pt x="8" y="66"/>
                  </a:lnTo>
                  <a:lnTo>
                    <a:pt x="7" y="65"/>
                  </a:lnTo>
                  <a:lnTo>
                    <a:pt x="6" y="63"/>
                  </a:lnTo>
                  <a:lnTo>
                    <a:pt x="6" y="61"/>
                  </a:lnTo>
                  <a:lnTo>
                    <a:pt x="6" y="61"/>
                  </a:lnTo>
                  <a:lnTo>
                    <a:pt x="5" y="59"/>
                  </a:lnTo>
                  <a:lnTo>
                    <a:pt x="4" y="57"/>
                  </a:lnTo>
                  <a:lnTo>
                    <a:pt x="4" y="57"/>
                  </a:lnTo>
                  <a:lnTo>
                    <a:pt x="3" y="55"/>
                  </a:lnTo>
                  <a:lnTo>
                    <a:pt x="2" y="52"/>
                  </a:lnTo>
                  <a:lnTo>
                    <a:pt x="2" y="50"/>
                  </a:lnTo>
                  <a:lnTo>
                    <a:pt x="1" y="49"/>
                  </a:lnTo>
                  <a:lnTo>
                    <a:pt x="1" y="46"/>
                  </a:lnTo>
                  <a:lnTo>
                    <a:pt x="1" y="45"/>
                  </a:lnTo>
                  <a:lnTo>
                    <a:pt x="1" y="42"/>
                  </a:lnTo>
                  <a:lnTo>
                    <a:pt x="1" y="40"/>
                  </a:lnTo>
                  <a:lnTo>
                    <a:pt x="1" y="38"/>
                  </a:lnTo>
                  <a:lnTo>
                    <a:pt x="0" y="36"/>
                  </a:lnTo>
                  <a:lnTo>
                    <a:pt x="0" y="33"/>
                  </a:lnTo>
                  <a:lnTo>
                    <a:pt x="0" y="31"/>
                  </a:lnTo>
                  <a:lnTo>
                    <a:pt x="1" y="29"/>
                  </a:lnTo>
                  <a:lnTo>
                    <a:pt x="1" y="28"/>
                  </a:lnTo>
                  <a:lnTo>
                    <a:pt x="1" y="25"/>
                  </a:lnTo>
                  <a:lnTo>
                    <a:pt x="1" y="23"/>
                  </a:lnTo>
                  <a:lnTo>
                    <a:pt x="1" y="22"/>
                  </a:lnTo>
                  <a:lnTo>
                    <a:pt x="1" y="19"/>
                  </a:lnTo>
                  <a:lnTo>
                    <a:pt x="2" y="17"/>
                  </a:lnTo>
                  <a:lnTo>
                    <a:pt x="3" y="15"/>
                  </a:lnTo>
                  <a:lnTo>
                    <a:pt x="3" y="13"/>
                  </a:lnTo>
                  <a:lnTo>
                    <a:pt x="4" y="12"/>
                  </a:lnTo>
                  <a:lnTo>
                    <a:pt x="4" y="11"/>
                  </a:lnTo>
                  <a:lnTo>
                    <a:pt x="6" y="9"/>
                  </a:lnTo>
                  <a:lnTo>
                    <a:pt x="6" y="7"/>
                  </a:lnTo>
                  <a:lnTo>
                    <a:pt x="6" y="7"/>
                  </a:lnTo>
                  <a:lnTo>
                    <a:pt x="7" y="5"/>
                  </a:lnTo>
                  <a:lnTo>
                    <a:pt x="8" y="3"/>
                  </a:lnTo>
                  <a:lnTo>
                    <a:pt x="9" y="3"/>
                  </a:lnTo>
                  <a:lnTo>
                    <a:pt x="10" y="2"/>
                  </a:lnTo>
                  <a:lnTo>
                    <a:pt x="11" y="1"/>
                  </a:lnTo>
                  <a:lnTo>
                    <a:pt x="11" y="1"/>
                  </a:lnTo>
                  <a:lnTo>
                    <a:pt x="13" y="0"/>
                  </a:lnTo>
                  <a:lnTo>
                    <a:pt x="13" y="0"/>
                  </a:lnTo>
                  <a:lnTo>
                    <a:pt x="15" y="0"/>
                  </a:lnTo>
                  <a:lnTo>
                    <a:pt x="15" y="0"/>
                  </a:lnTo>
                  <a:lnTo>
                    <a:pt x="16" y="0"/>
                  </a:lnTo>
                  <a:lnTo>
                    <a:pt x="16" y="0"/>
                  </a:lnTo>
                  <a:lnTo>
                    <a:pt x="17" y="0"/>
                  </a:lnTo>
                  <a:lnTo>
                    <a:pt x="18" y="1"/>
                  </a:lnTo>
                  <a:lnTo>
                    <a:pt x="19" y="1"/>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4" name="Line 175"/>
            <p:cNvSpPr>
              <a:spLocks noChangeShapeType="1"/>
            </p:cNvSpPr>
            <p:nvPr/>
          </p:nvSpPr>
          <p:spPr bwMode="auto">
            <a:xfrm flipH="1">
              <a:off x="2541589" y="5230813"/>
              <a:ext cx="11747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5" name="Freeform 176"/>
            <p:cNvSpPr>
              <a:spLocks/>
            </p:cNvSpPr>
            <p:nvPr/>
          </p:nvSpPr>
          <p:spPr bwMode="auto">
            <a:xfrm>
              <a:off x="2916238" y="5359400"/>
              <a:ext cx="101600" cy="96838"/>
            </a:xfrm>
            <a:custGeom>
              <a:avLst/>
              <a:gdLst>
                <a:gd name="T0" fmla="*/ 69 w 70"/>
                <a:gd name="T1" fmla="*/ 32 h 69"/>
                <a:gd name="T2" fmla="*/ 67 w 70"/>
                <a:gd name="T3" fmla="*/ 26 h 69"/>
                <a:gd name="T4" fmla="*/ 66 w 70"/>
                <a:gd name="T5" fmla="*/ 21 h 69"/>
                <a:gd name="T6" fmla="*/ 64 w 70"/>
                <a:gd name="T7" fmla="*/ 17 h 69"/>
                <a:gd name="T8" fmla="*/ 62 w 70"/>
                <a:gd name="T9" fmla="*/ 12 h 69"/>
                <a:gd name="T10" fmla="*/ 58 w 70"/>
                <a:gd name="T11" fmla="*/ 9 h 69"/>
                <a:gd name="T12" fmla="*/ 53 w 70"/>
                <a:gd name="T13" fmla="*/ 5 h 69"/>
                <a:gd name="T14" fmla="*/ 49 w 70"/>
                <a:gd name="T15" fmla="*/ 2 h 69"/>
                <a:gd name="T16" fmla="*/ 45 w 70"/>
                <a:gd name="T17" fmla="*/ 1 h 69"/>
                <a:gd name="T18" fmla="*/ 39 w 70"/>
                <a:gd name="T19" fmla="*/ 0 h 69"/>
                <a:gd name="T20" fmla="*/ 34 w 70"/>
                <a:gd name="T21" fmla="*/ 0 h 69"/>
                <a:gd name="T22" fmla="*/ 29 w 70"/>
                <a:gd name="T23" fmla="*/ 0 h 69"/>
                <a:gd name="T24" fmla="*/ 25 w 70"/>
                <a:gd name="T25" fmla="*/ 1 h 69"/>
                <a:gd name="T26" fmla="*/ 20 w 70"/>
                <a:gd name="T27" fmla="*/ 2 h 69"/>
                <a:gd name="T28" fmla="*/ 15 w 70"/>
                <a:gd name="T29" fmla="*/ 5 h 69"/>
                <a:gd name="T30" fmla="*/ 12 w 70"/>
                <a:gd name="T31" fmla="*/ 9 h 69"/>
                <a:gd name="T32" fmla="*/ 7 w 70"/>
                <a:gd name="T33" fmla="*/ 12 h 69"/>
                <a:gd name="T34" fmla="*/ 4 w 70"/>
                <a:gd name="T35" fmla="*/ 17 h 69"/>
                <a:gd name="T36" fmla="*/ 2 w 70"/>
                <a:gd name="T37" fmla="*/ 21 h 69"/>
                <a:gd name="T38" fmla="*/ 1 w 70"/>
                <a:gd name="T39" fmla="*/ 26 h 69"/>
                <a:gd name="T40" fmla="*/ 0 w 70"/>
                <a:gd name="T41" fmla="*/ 32 h 69"/>
                <a:gd name="T42" fmla="*/ 0 w 70"/>
                <a:gd name="T43" fmla="*/ 36 h 69"/>
                <a:gd name="T44" fmla="*/ 1 w 70"/>
                <a:gd name="T45" fmla="*/ 42 h 69"/>
                <a:gd name="T46" fmla="*/ 2 w 70"/>
                <a:gd name="T47" fmla="*/ 46 h 69"/>
                <a:gd name="T48" fmla="*/ 4 w 70"/>
                <a:gd name="T49" fmla="*/ 51 h 69"/>
                <a:gd name="T50" fmla="*/ 7 w 70"/>
                <a:gd name="T51" fmla="*/ 56 h 69"/>
                <a:gd name="T52" fmla="*/ 12 w 70"/>
                <a:gd name="T53" fmla="*/ 58 h 69"/>
                <a:gd name="T54" fmla="*/ 15 w 70"/>
                <a:gd name="T55" fmla="*/ 62 h 69"/>
                <a:gd name="T56" fmla="*/ 20 w 70"/>
                <a:gd name="T57" fmla="*/ 65 h 69"/>
                <a:gd name="T58" fmla="*/ 25 w 70"/>
                <a:gd name="T59" fmla="*/ 67 h 69"/>
                <a:gd name="T60" fmla="*/ 29 w 70"/>
                <a:gd name="T61" fmla="*/ 67 h 69"/>
                <a:gd name="T62" fmla="*/ 34 w 70"/>
                <a:gd name="T63" fmla="*/ 68 h 69"/>
                <a:gd name="T64" fmla="*/ 39 w 70"/>
                <a:gd name="T65" fmla="*/ 67 h 69"/>
                <a:gd name="T66" fmla="*/ 45 w 70"/>
                <a:gd name="T67" fmla="*/ 67 h 69"/>
                <a:gd name="T68" fmla="*/ 49 w 70"/>
                <a:gd name="T69" fmla="*/ 65 h 69"/>
                <a:gd name="T70" fmla="*/ 53 w 70"/>
                <a:gd name="T71" fmla="*/ 62 h 69"/>
                <a:gd name="T72" fmla="*/ 58 w 70"/>
                <a:gd name="T73" fmla="*/ 58 h 69"/>
                <a:gd name="T74" fmla="*/ 62 w 70"/>
                <a:gd name="T75" fmla="*/ 56 h 69"/>
                <a:gd name="T76" fmla="*/ 64 w 70"/>
                <a:gd name="T77" fmla="*/ 51 h 69"/>
                <a:gd name="T78" fmla="*/ 66 w 70"/>
                <a:gd name="T79" fmla="*/ 46 h 69"/>
                <a:gd name="T80" fmla="*/ 67 w 70"/>
                <a:gd name="T81" fmla="*/ 42 h 69"/>
                <a:gd name="T82" fmla="*/ 69 w 70"/>
                <a:gd name="T83" fmla="*/ 3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0" h="69">
                  <a:moveTo>
                    <a:pt x="69" y="34"/>
                  </a:moveTo>
                  <a:lnTo>
                    <a:pt x="69" y="32"/>
                  </a:lnTo>
                  <a:lnTo>
                    <a:pt x="68" y="29"/>
                  </a:lnTo>
                  <a:lnTo>
                    <a:pt x="67" y="26"/>
                  </a:lnTo>
                  <a:lnTo>
                    <a:pt x="67" y="23"/>
                  </a:lnTo>
                  <a:lnTo>
                    <a:pt x="66" y="21"/>
                  </a:lnTo>
                  <a:lnTo>
                    <a:pt x="65" y="19"/>
                  </a:lnTo>
                  <a:lnTo>
                    <a:pt x="64" y="17"/>
                  </a:lnTo>
                  <a:lnTo>
                    <a:pt x="63" y="15"/>
                  </a:lnTo>
                  <a:lnTo>
                    <a:pt x="62" y="12"/>
                  </a:lnTo>
                  <a:lnTo>
                    <a:pt x="60" y="10"/>
                  </a:lnTo>
                  <a:lnTo>
                    <a:pt x="58" y="9"/>
                  </a:lnTo>
                  <a:lnTo>
                    <a:pt x="56" y="7"/>
                  </a:lnTo>
                  <a:lnTo>
                    <a:pt x="53" y="5"/>
                  </a:lnTo>
                  <a:lnTo>
                    <a:pt x="52" y="4"/>
                  </a:lnTo>
                  <a:lnTo>
                    <a:pt x="49" y="2"/>
                  </a:lnTo>
                  <a:lnTo>
                    <a:pt x="47" y="2"/>
                  </a:lnTo>
                  <a:lnTo>
                    <a:pt x="45" y="1"/>
                  </a:lnTo>
                  <a:lnTo>
                    <a:pt x="42" y="0"/>
                  </a:lnTo>
                  <a:lnTo>
                    <a:pt x="39" y="0"/>
                  </a:lnTo>
                  <a:lnTo>
                    <a:pt x="37" y="0"/>
                  </a:lnTo>
                  <a:lnTo>
                    <a:pt x="34" y="0"/>
                  </a:lnTo>
                  <a:lnTo>
                    <a:pt x="32" y="0"/>
                  </a:lnTo>
                  <a:lnTo>
                    <a:pt x="29" y="0"/>
                  </a:lnTo>
                  <a:lnTo>
                    <a:pt x="27" y="0"/>
                  </a:lnTo>
                  <a:lnTo>
                    <a:pt x="25" y="1"/>
                  </a:lnTo>
                  <a:lnTo>
                    <a:pt x="21" y="2"/>
                  </a:lnTo>
                  <a:lnTo>
                    <a:pt x="20" y="2"/>
                  </a:lnTo>
                  <a:lnTo>
                    <a:pt x="17" y="4"/>
                  </a:lnTo>
                  <a:lnTo>
                    <a:pt x="15" y="5"/>
                  </a:lnTo>
                  <a:lnTo>
                    <a:pt x="13" y="7"/>
                  </a:lnTo>
                  <a:lnTo>
                    <a:pt x="12" y="9"/>
                  </a:lnTo>
                  <a:lnTo>
                    <a:pt x="10" y="10"/>
                  </a:lnTo>
                  <a:lnTo>
                    <a:pt x="7" y="12"/>
                  </a:lnTo>
                  <a:lnTo>
                    <a:pt x="6" y="15"/>
                  </a:lnTo>
                  <a:lnTo>
                    <a:pt x="4" y="17"/>
                  </a:lnTo>
                  <a:lnTo>
                    <a:pt x="3" y="19"/>
                  </a:lnTo>
                  <a:lnTo>
                    <a:pt x="2" y="21"/>
                  </a:lnTo>
                  <a:lnTo>
                    <a:pt x="2" y="23"/>
                  </a:lnTo>
                  <a:lnTo>
                    <a:pt x="1" y="26"/>
                  </a:lnTo>
                  <a:lnTo>
                    <a:pt x="0" y="29"/>
                  </a:lnTo>
                  <a:lnTo>
                    <a:pt x="0" y="32"/>
                  </a:lnTo>
                  <a:lnTo>
                    <a:pt x="0" y="34"/>
                  </a:lnTo>
                  <a:lnTo>
                    <a:pt x="0" y="36"/>
                  </a:lnTo>
                  <a:lnTo>
                    <a:pt x="0" y="39"/>
                  </a:lnTo>
                  <a:lnTo>
                    <a:pt x="1" y="42"/>
                  </a:lnTo>
                  <a:lnTo>
                    <a:pt x="2" y="44"/>
                  </a:lnTo>
                  <a:lnTo>
                    <a:pt x="2" y="46"/>
                  </a:lnTo>
                  <a:lnTo>
                    <a:pt x="3" y="49"/>
                  </a:lnTo>
                  <a:lnTo>
                    <a:pt x="4" y="51"/>
                  </a:lnTo>
                  <a:lnTo>
                    <a:pt x="6" y="53"/>
                  </a:lnTo>
                  <a:lnTo>
                    <a:pt x="7" y="56"/>
                  </a:lnTo>
                  <a:lnTo>
                    <a:pt x="10" y="57"/>
                  </a:lnTo>
                  <a:lnTo>
                    <a:pt x="12" y="58"/>
                  </a:lnTo>
                  <a:lnTo>
                    <a:pt x="13" y="60"/>
                  </a:lnTo>
                  <a:lnTo>
                    <a:pt x="15" y="62"/>
                  </a:lnTo>
                  <a:lnTo>
                    <a:pt x="17" y="64"/>
                  </a:lnTo>
                  <a:lnTo>
                    <a:pt x="20" y="65"/>
                  </a:lnTo>
                  <a:lnTo>
                    <a:pt x="21" y="67"/>
                  </a:lnTo>
                  <a:lnTo>
                    <a:pt x="25" y="67"/>
                  </a:lnTo>
                  <a:lnTo>
                    <a:pt x="27" y="67"/>
                  </a:lnTo>
                  <a:lnTo>
                    <a:pt x="29" y="67"/>
                  </a:lnTo>
                  <a:lnTo>
                    <a:pt x="32" y="68"/>
                  </a:lnTo>
                  <a:lnTo>
                    <a:pt x="34" y="68"/>
                  </a:lnTo>
                  <a:lnTo>
                    <a:pt x="37" y="68"/>
                  </a:lnTo>
                  <a:lnTo>
                    <a:pt x="39" y="67"/>
                  </a:lnTo>
                  <a:lnTo>
                    <a:pt x="42" y="67"/>
                  </a:lnTo>
                  <a:lnTo>
                    <a:pt x="45" y="67"/>
                  </a:lnTo>
                  <a:lnTo>
                    <a:pt x="47" y="67"/>
                  </a:lnTo>
                  <a:lnTo>
                    <a:pt x="49" y="65"/>
                  </a:lnTo>
                  <a:lnTo>
                    <a:pt x="52" y="64"/>
                  </a:lnTo>
                  <a:lnTo>
                    <a:pt x="53" y="62"/>
                  </a:lnTo>
                  <a:lnTo>
                    <a:pt x="56" y="60"/>
                  </a:lnTo>
                  <a:lnTo>
                    <a:pt x="58" y="58"/>
                  </a:lnTo>
                  <a:lnTo>
                    <a:pt x="60" y="57"/>
                  </a:lnTo>
                  <a:lnTo>
                    <a:pt x="62" y="56"/>
                  </a:lnTo>
                  <a:lnTo>
                    <a:pt x="63" y="53"/>
                  </a:lnTo>
                  <a:lnTo>
                    <a:pt x="64" y="51"/>
                  </a:lnTo>
                  <a:lnTo>
                    <a:pt x="65" y="49"/>
                  </a:lnTo>
                  <a:lnTo>
                    <a:pt x="66" y="46"/>
                  </a:lnTo>
                  <a:lnTo>
                    <a:pt x="67" y="44"/>
                  </a:lnTo>
                  <a:lnTo>
                    <a:pt x="67" y="42"/>
                  </a:lnTo>
                  <a:lnTo>
                    <a:pt x="68" y="39"/>
                  </a:lnTo>
                  <a:lnTo>
                    <a:pt x="69" y="36"/>
                  </a:lnTo>
                  <a:lnTo>
                    <a:pt x="69" y="34"/>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6" name="Freeform 177"/>
            <p:cNvSpPr>
              <a:spLocks/>
            </p:cNvSpPr>
            <p:nvPr/>
          </p:nvSpPr>
          <p:spPr bwMode="auto">
            <a:xfrm>
              <a:off x="3468688" y="5351464"/>
              <a:ext cx="101600" cy="96837"/>
            </a:xfrm>
            <a:custGeom>
              <a:avLst/>
              <a:gdLst>
                <a:gd name="T0" fmla="*/ 69 w 70"/>
                <a:gd name="T1" fmla="*/ 32 h 69"/>
                <a:gd name="T2" fmla="*/ 68 w 70"/>
                <a:gd name="T3" fmla="*/ 26 h 69"/>
                <a:gd name="T4" fmla="*/ 67 w 70"/>
                <a:gd name="T5" fmla="*/ 22 h 69"/>
                <a:gd name="T6" fmla="*/ 66 w 70"/>
                <a:gd name="T7" fmla="*/ 16 h 69"/>
                <a:gd name="T8" fmla="*/ 62 w 70"/>
                <a:gd name="T9" fmla="*/ 12 h 69"/>
                <a:gd name="T10" fmla="*/ 57 w 70"/>
                <a:gd name="T11" fmla="*/ 8 h 69"/>
                <a:gd name="T12" fmla="*/ 54 w 70"/>
                <a:gd name="T13" fmla="*/ 6 h 69"/>
                <a:gd name="T14" fmla="*/ 50 w 70"/>
                <a:gd name="T15" fmla="*/ 3 h 69"/>
                <a:gd name="T16" fmla="*/ 45 w 70"/>
                <a:gd name="T17" fmla="*/ 1 h 69"/>
                <a:gd name="T18" fmla="*/ 40 w 70"/>
                <a:gd name="T19" fmla="*/ 0 h 69"/>
                <a:gd name="T20" fmla="*/ 34 w 70"/>
                <a:gd name="T21" fmla="*/ 0 h 69"/>
                <a:gd name="T22" fmla="*/ 29 w 70"/>
                <a:gd name="T23" fmla="*/ 0 h 69"/>
                <a:gd name="T24" fmla="*/ 24 w 70"/>
                <a:gd name="T25" fmla="*/ 1 h 69"/>
                <a:gd name="T26" fmla="*/ 20 w 70"/>
                <a:gd name="T27" fmla="*/ 3 h 69"/>
                <a:gd name="T28" fmla="*/ 16 w 70"/>
                <a:gd name="T29" fmla="*/ 6 h 69"/>
                <a:gd name="T30" fmla="*/ 12 w 70"/>
                <a:gd name="T31" fmla="*/ 8 h 69"/>
                <a:gd name="T32" fmla="*/ 8 w 70"/>
                <a:gd name="T33" fmla="*/ 12 h 69"/>
                <a:gd name="T34" fmla="*/ 4 w 70"/>
                <a:gd name="T35" fmla="*/ 16 h 69"/>
                <a:gd name="T36" fmla="*/ 3 w 70"/>
                <a:gd name="T37" fmla="*/ 22 h 69"/>
                <a:gd name="T38" fmla="*/ 1 w 70"/>
                <a:gd name="T39" fmla="*/ 26 h 69"/>
                <a:gd name="T40" fmla="*/ 0 w 70"/>
                <a:gd name="T41" fmla="*/ 32 h 69"/>
                <a:gd name="T42" fmla="*/ 0 w 70"/>
                <a:gd name="T43" fmla="*/ 36 h 69"/>
                <a:gd name="T44" fmla="*/ 1 w 70"/>
                <a:gd name="T45" fmla="*/ 42 h 69"/>
                <a:gd name="T46" fmla="*/ 3 w 70"/>
                <a:gd name="T47" fmla="*/ 46 h 69"/>
                <a:gd name="T48" fmla="*/ 4 w 70"/>
                <a:gd name="T49" fmla="*/ 52 h 69"/>
                <a:gd name="T50" fmla="*/ 8 w 70"/>
                <a:gd name="T51" fmla="*/ 56 h 69"/>
                <a:gd name="T52" fmla="*/ 12 w 70"/>
                <a:gd name="T53" fmla="*/ 59 h 69"/>
                <a:gd name="T54" fmla="*/ 16 w 70"/>
                <a:gd name="T55" fmla="*/ 62 h 69"/>
                <a:gd name="T56" fmla="*/ 20 w 70"/>
                <a:gd name="T57" fmla="*/ 64 h 69"/>
                <a:gd name="T58" fmla="*/ 24 w 70"/>
                <a:gd name="T59" fmla="*/ 66 h 69"/>
                <a:gd name="T60" fmla="*/ 29 w 70"/>
                <a:gd name="T61" fmla="*/ 68 h 69"/>
                <a:gd name="T62" fmla="*/ 34 w 70"/>
                <a:gd name="T63" fmla="*/ 68 h 69"/>
                <a:gd name="T64" fmla="*/ 40 w 70"/>
                <a:gd name="T65" fmla="*/ 68 h 69"/>
                <a:gd name="T66" fmla="*/ 45 w 70"/>
                <a:gd name="T67" fmla="*/ 66 h 69"/>
                <a:gd name="T68" fmla="*/ 50 w 70"/>
                <a:gd name="T69" fmla="*/ 64 h 69"/>
                <a:gd name="T70" fmla="*/ 54 w 70"/>
                <a:gd name="T71" fmla="*/ 62 h 69"/>
                <a:gd name="T72" fmla="*/ 57 w 70"/>
                <a:gd name="T73" fmla="*/ 59 h 69"/>
                <a:gd name="T74" fmla="*/ 62 w 70"/>
                <a:gd name="T75" fmla="*/ 56 h 69"/>
                <a:gd name="T76" fmla="*/ 66 w 70"/>
                <a:gd name="T77" fmla="*/ 52 h 69"/>
                <a:gd name="T78" fmla="*/ 67 w 70"/>
                <a:gd name="T79" fmla="*/ 46 h 69"/>
                <a:gd name="T80" fmla="*/ 68 w 70"/>
                <a:gd name="T81" fmla="*/ 42 h 69"/>
                <a:gd name="T82" fmla="*/ 69 w 70"/>
                <a:gd name="T83" fmla="*/ 3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0" h="69">
                  <a:moveTo>
                    <a:pt x="69" y="33"/>
                  </a:moveTo>
                  <a:lnTo>
                    <a:pt x="69" y="32"/>
                  </a:lnTo>
                  <a:lnTo>
                    <a:pt x="69" y="29"/>
                  </a:lnTo>
                  <a:lnTo>
                    <a:pt x="68" y="26"/>
                  </a:lnTo>
                  <a:lnTo>
                    <a:pt x="67" y="23"/>
                  </a:lnTo>
                  <a:lnTo>
                    <a:pt x="67" y="22"/>
                  </a:lnTo>
                  <a:lnTo>
                    <a:pt x="66" y="19"/>
                  </a:lnTo>
                  <a:lnTo>
                    <a:pt x="66" y="16"/>
                  </a:lnTo>
                  <a:lnTo>
                    <a:pt x="64" y="15"/>
                  </a:lnTo>
                  <a:lnTo>
                    <a:pt x="62" y="12"/>
                  </a:lnTo>
                  <a:lnTo>
                    <a:pt x="60" y="10"/>
                  </a:lnTo>
                  <a:lnTo>
                    <a:pt x="57" y="8"/>
                  </a:lnTo>
                  <a:lnTo>
                    <a:pt x="57" y="7"/>
                  </a:lnTo>
                  <a:lnTo>
                    <a:pt x="54" y="6"/>
                  </a:lnTo>
                  <a:lnTo>
                    <a:pt x="52" y="5"/>
                  </a:lnTo>
                  <a:lnTo>
                    <a:pt x="50" y="3"/>
                  </a:lnTo>
                  <a:lnTo>
                    <a:pt x="47" y="2"/>
                  </a:lnTo>
                  <a:lnTo>
                    <a:pt x="45" y="1"/>
                  </a:lnTo>
                  <a:lnTo>
                    <a:pt x="42" y="0"/>
                  </a:lnTo>
                  <a:lnTo>
                    <a:pt x="40" y="0"/>
                  </a:lnTo>
                  <a:lnTo>
                    <a:pt x="38" y="0"/>
                  </a:lnTo>
                  <a:lnTo>
                    <a:pt x="34" y="0"/>
                  </a:lnTo>
                  <a:lnTo>
                    <a:pt x="32" y="0"/>
                  </a:lnTo>
                  <a:lnTo>
                    <a:pt x="29" y="0"/>
                  </a:lnTo>
                  <a:lnTo>
                    <a:pt x="27" y="0"/>
                  </a:lnTo>
                  <a:lnTo>
                    <a:pt x="24" y="1"/>
                  </a:lnTo>
                  <a:lnTo>
                    <a:pt x="22" y="2"/>
                  </a:lnTo>
                  <a:lnTo>
                    <a:pt x="20" y="3"/>
                  </a:lnTo>
                  <a:lnTo>
                    <a:pt x="18" y="5"/>
                  </a:lnTo>
                  <a:lnTo>
                    <a:pt x="16" y="6"/>
                  </a:lnTo>
                  <a:lnTo>
                    <a:pt x="14" y="7"/>
                  </a:lnTo>
                  <a:lnTo>
                    <a:pt x="12" y="8"/>
                  </a:lnTo>
                  <a:lnTo>
                    <a:pt x="10" y="10"/>
                  </a:lnTo>
                  <a:lnTo>
                    <a:pt x="8" y="12"/>
                  </a:lnTo>
                  <a:lnTo>
                    <a:pt x="6" y="15"/>
                  </a:lnTo>
                  <a:lnTo>
                    <a:pt x="4" y="16"/>
                  </a:lnTo>
                  <a:lnTo>
                    <a:pt x="4" y="19"/>
                  </a:lnTo>
                  <a:lnTo>
                    <a:pt x="3" y="22"/>
                  </a:lnTo>
                  <a:lnTo>
                    <a:pt x="1" y="23"/>
                  </a:lnTo>
                  <a:lnTo>
                    <a:pt x="1" y="26"/>
                  </a:lnTo>
                  <a:lnTo>
                    <a:pt x="0" y="29"/>
                  </a:lnTo>
                  <a:lnTo>
                    <a:pt x="0" y="32"/>
                  </a:lnTo>
                  <a:lnTo>
                    <a:pt x="0" y="33"/>
                  </a:lnTo>
                  <a:lnTo>
                    <a:pt x="0" y="36"/>
                  </a:lnTo>
                  <a:lnTo>
                    <a:pt x="0" y="40"/>
                  </a:lnTo>
                  <a:lnTo>
                    <a:pt x="1" y="42"/>
                  </a:lnTo>
                  <a:lnTo>
                    <a:pt x="1" y="44"/>
                  </a:lnTo>
                  <a:lnTo>
                    <a:pt x="3" y="46"/>
                  </a:lnTo>
                  <a:lnTo>
                    <a:pt x="4" y="50"/>
                  </a:lnTo>
                  <a:lnTo>
                    <a:pt x="4" y="52"/>
                  </a:lnTo>
                  <a:lnTo>
                    <a:pt x="6" y="54"/>
                  </a:lnTo>
                  <a:lnTo>
                    <a:pt x="8" y="56"/>
                  </a:lnTo>
                  <a:lnTo>
                    <a:pt x="10" y="57"/>
                  </a:lnTo>
                  <a:lnTo>
                    <a:pt x="12" y="59"/>
                  </a:lnTo>
                  <a:lnTo>
                    <a:pt x="14" y="60"/>
                  </a:lnTo>
                  <a:lnTo>
                    <a:pt x="16" y="62"/>
                  </a:lnTo>
                  <a:lnTo>
                    <a:pt x="18" y="64"/>
                  </a:lnTo>
                  <a:lnTo>
                    <a:pt x="20" y="64"/>
                  </a:lnTo>
                  <a:lnTo>
                    <a:pt x="22" y="66"/>
                  </a:lnTo>
                  <a:lnTo>
                    <a:pt x="24" y="66"/>
                  </a:lnTo>
                  <a:lnTo>
                    <a:pt x="27" y="68"/>
                  </a:lnTo>
                  <a:lnTo>
                    <a:pt x="29" y="68"/>
                  </a:lnTo>
                  <a:lnTo>
                    <a:pt x="32" y="68"/>
                  </a:lnTo>
                  <a:lnTo>
                    <a:pt x="34" y="68"/>
                  </a:lnTo>
                  <a:lnTo>
                    <a:pt x="38" y="68"/>
                  </a:lnTo>
                  <a:lnTo>
                    <a:pt x="40" y="68"/>
                  </a:lnTo>
                  <a:lnTo>
                    <a:pt x="42" y="68"/>
                  </a:lnTo>
                  <a:lnTo>
                    <a:pt x="45" y="66"/>
                  </a:lnTo>
                  <a:lnTo>
                    <a:pt x="47" y="66"/>
                  </a:lnTo>
                  <a:lnTo>
                    <a:pt x="50" y="64"/>
                  </a:lnTo>
                  <a:lnTo>
                    <a:pt x="52" y="64"/>
                  </a:lnTo>
                  <a:lnTo>
                    <a:pt x="54" y="62"/>
                  </a:lnTo>
                  <a:lnTo>
                    <a:pt x="57" y="60"/>
                  </a:lnTo>
                  <a:lnTo>
                    <a:pt x="57" y="59"/>
                  </a:lnTo>
                  <a:lnTo>
                    <a:pt x="60" y="57"/>
                  </a:lnTo>
                  <a:lnTo>
                    <a:pt x="62" y="56"/>
                  </a:lnTo>
                  <a:lnTo>
                    <a:pt x="64" y="54"/>
                  </a:lnTo>
                  <a:lnTo>
                    <a:pt x="66" y="52"/>
                  </a:lnTo>
                  <a:lnTo>
                    <a:pt x="66" y="50"/>
                  </a:lnTo>
                  <a:lnTo>
                    <a:pt x="67" y="46"/>
                  </a:lnTo>
                  <a:lnTo>
                    <a:pt x="67" y="44"/>
                  </a:lnTo>
                  <a:lnTo>
                    <a:pt x="68" y="42"/>
                  </a:lnTo>
                  <a:lnTo>
                    <a:pt x="69" y="40"/>
                  </a:lnTo>
                  <a:lnTo>
                    <a:pt x="69" y="36"/>
                  </a:lnTo>
                  <a:lnTo>
                    <a:pt x="69" y="33"/>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7" name="Freeform 178"/>
            <p:cNvSpPr>
              <a:spLocks/>
            </p:cNvSpPr>
            <p:nvPr/>
          </p:nvSpPr>
          <p:spPr bwMode="auto">
            <a:xfrm>
              <a:off x="2962275" y="4937126"/>
              <a:ext cx="101600" cy="100013"/>
            </a:xfrm>
            <a:custGeom>
              <a:avLst/>
              <a:gdLst>
                <a:gd name="T0" fmla="*/ 69 w 70"/>
                <a:gd name="T1" fmla="*/ 33 h 71"/>
                <a:gd name="T2" fmla="*/ 68 w 70"/>
                <a:gd name="T3" fmla="*/ 27 h 71"/>
                <a:gd name="T4" fmla="*/ 67 w 70"/>
                <a:gd name="T5" fmla="*/ 23 h 71"/>
                <a:gd name="T6" fmla="*/ 65 w 70"/>
                <a:gd name="T7" fmla="*/ 18 h 71"/>
                <a:gd name="T8" fmla="*/ 62 w 70"/>
                <a:gd name="T9" fmla="*/ 13 h 71"/>
                <a:gd name="T10" fmla="*/ 58 w 70"/>
                <a:gd name="T11" fmla="*/ 10 h 71"/>
                <a:gd name="T12" fmla="*/ 54 w 70"/>
                <a:gd name="T13" fmla="*/ 7 h 71"/>
                <a:gd name="T14" fmla="*/ 50 w 70"/>
                <a:gd name="T15" fmla="*/ 4 h 71"/>
                <a:gd name="T16" fmla="*/ 46 w 70"/>
                <a:gd name="T17" fmla="*/ 2 h 71"/>
                <a:gd name="T18" fmla="*/ 39 w 70"/>
                <a:gd name="T19" fmla="*/ 2 h 71"/>
                <a:gd name="T20" fmla="*/ 35 w 70"/>
                <a:gd name="T21" fmla="*/ 0 h 71"/>
                <a:gd name="T22" fmla="*/ 30 w 70"/>
                <a:gd name="T23" fmla="*/ 2 h 71"/>
                <a:gd name="T24" fmla="*/ 25 w 70"/>
                <a:gd name="T25" fmla="*/ 2 h 71"/>
                <a:gd name="T26" fmla="*/ 20 w 70"/>
                <a:gd name="T27" fmla="*/ 4 h 71"/>
                <a:gd name="T28" fmla="*/ 16 w 70"/>
                <a:gd name="T29" fmla="*/ 7 h 71"/>
                <a:gd name="T30" fmla="*/ 11 w 70"/>
                <a:gd name="T31" fmla="*/ 10 h 71"/>
                <a:gd name="T32" fmla="*/ 8 w 70"/>
                <a:gd name="T33" fmla="*/ 13 h 71"/>
                <a:gd name="T34" fmla="*/ 5 w 70"/>
                <a:gd name="T35" fmla="*/ 18 h 71"/>
                <a:gd name="T36" fmla="*/ 3 w 70"/>
                <a:gd name="T37" fmla="*/ 23 h 71"/>
                <a:gd name="T38" fmla="*/ 1 w 70"/>
                <a:gd name="T39" fmla="*/ 27 h 71"/>
                <a:gd name="T40" fmla="*/ 0 w 70"/>
                <a:gd name="T41" fmla="*/ 33 h 71"/>
                <a:gd name="T42" fmla="*/ 0 w 70"/>
                <a:gd name="T43" fmla="*/ 38 h 71"/>
                <a:gd name="T44" fmla="*/ 1 w 70"/>
                <a:gd name="T45" fmla="*/ 43 h 71"/>
                <a:gd name="T46" fmla="*/ 3 w 70"/>
                <a:gd name="T47" fmla="*/ 47 h 71"/>
                <a:gd name="T48" fmla="*/ 5 w 70"/>
                <a:gd name="T49" fmla="*/ 52 h 71"/>
                <a:gd name="T50" fmla="*/ 8 w 70"/>
                <a:gd name="T51" fmla="*/ 57 h 71"/>
                <a:gd name="T52" fmla="*/ 11 w 70"/>
                <a:gd name="T53" fmla="*/ 60 h 71"/>
                <a:gd name="T54" fmla="*/ 16 w 70"/>
                <a:gd name="T55" fmla="*/ 64 h 71"/>
                <a:gd name="T56" fmla="*/ 20 w 70"/>
                <a:gd name="T57" fmla="*/ 66 h 71"/>
                <a:gd name="T58" fmla="*/ 25 w 70"/>
                <a:gd name="T59" fmla="*/ 68 h 71"/>
                <a:gd name="T60" fmla="*/ 30 w 70"/>
                <a:gd name="T61" fmla="*/ 70 h 71"/>
                <a:gd name="T62" fmla="*/ 35 w 70"/>
                <a:gd name="T63" fmla="*/ 70 h 71"/>
                <a:gd name="T64" fmla="*/ 39 w 70"/>
                <a:gd name="T65" fmla="*/ 70 h 71"/>
                <a:gd name="T66" fmla="*/ 46 w 70"/>
                <a:gd name="T67" fmla="*/ 68 h 71"/>
                <a:gd name="T68" fmla="*/ 50 w 70"/>
                <a:gd name="T69" fmla="*/ 66 h 71"/>
                <a:gd name="T70" fmla="*/ 54 w 70"/>
                <a:gd name="T71" fmla="*/ 64 h 71"/>
                <a:gd name="T72" fmla="*/ 58 w 70"/>
                <a:gd name="T73" fmla="*/ 60 h 71"/>
                <a:gd name="T74" fmla="*/ 62 w 70"/>
                <a:gd name="T75" fmla="*/ 57 h 71"/>
                <a:gd name="T76" fmla="*/ 65 w 70"/>
                <a:gd name="T77" fmla="*/ 52 h 71"/>
                <a:gd name="T78" fmla="*/ 67 w 70"/>
                <a:gd name="T79" fmla="*/ 47 h 71"/>
                <a:gd name="T80" fmla="*/ 68 w 70"/>
                <a:gd name="T81" fmla="*/ 43 h 71"/>
                <a:gd name="T82" fmla="*/ 69 w 70"/>
                <a:gd name="T83" fmla="*/ 38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0" h="71">
                  <a:moveTo>
                    <a:pt x="69" y="36"/>
                  </a:moveTo>
                  <a:lnTo>
                    <a:pt x="69" y="33"/>
                  </a:lnTo>
                  <a:lnTo>
                    <a:pt x="68" y="29"/>
                  </a:lnTo>
                  <a:lnTo>
                    <a:pt x="68" y="27"/>
                  </a:lnTo>
                  <a:lnTo>
                    <a:pt x="68" y="25"/>
                  </a:lnTo>
                  <a:lnTo>
                    <a:pt x="67" y="23"/>
                  </a:lnTo>
                  <a:lnTo>
                    <a:pt x="67" y="20"/>
                  </a:lnTo>
                  <a:lnTo>
                    <a:pt x="65" y="18"/>
                  </a:lnTo>
                  <a:lnTo>
                    <a:pt x="63" y="16"/>
                  </a:lnTo>
                  <a:lnTo>
                    <a:pt x="62" y="13"/>
                  </a:lnTo>
                  <a:lnTo>
                    <a:pt x="60" y="12"/>
                  </a:lnTo>
                  <a:lnTo>
                    <a:pt x="58" y="10"/>
                  </a:lnTo>
                  <a:lnTo>
                    <a:pt x="57" y="8"/>
                  </a:lnTo>
                  <a:lnTo>
                    <a:pt x="54" y="7"/>
                  </a:lnTo>
                  <a:lnTo>
                    <a:pt x="52" y="6"/>
                  </a:lnTo>
                  <a:lnTo>
                    <a:pt x="50" y="4"/>
                  </a:lnTo>
                  <a:lnTo>
                    <a:pt x="48" y="4"/>
                  </a:lnTo>
                  <a:lnTo>
                    <a:pt x="46" y="2"/>
                  </a:lnTo>
                  <a:lnTo>
                    <a:pt x="43" y="2"/>
                  </a:lnTo>
                  <a:lnTo>
                    <a:pt x="39" y="2"/>
                  </a:lnTo>
                  <a:lnTo>
                    <a:pt x="38" y="2"/>
                  </a:lnTo>
                  <a:lnTo>
                    <a:pt x="35" y="0"/>
                  </a:lnTo>
                  <a:lnTo>
                    <a:pt x="33" y="2"/>
                  </a:lnTo>
                  <a:lnTo>
                    <a:pt x="30" y="2"/>
                  </a:lnTo>
                  <a:lnTo>
                    <a:pt x="28" y="2"/>
                  </a:lnTo>
                  <a:lnTo>
                    <a:pt x="25" y="2"/>
                  </a:lnTo>
                  <a:lnTo>
                    <a:pt x="23" y="4"/>
                  </a:lnTo>
                  <a:lnTo>
                    <a:pt x="20" y="4"/>
                  </a:lnTo>
                  <a:lnTo>
                    <a:pt x="18" y="6"/>
                  </a:lnTo>
                  <a:lnTo>
                    <a:pt x="16" y="7"/>
                  </a:lnTo>
                  <a:lnTo>
                    <a:pt x="14" y="8"/>
                  </a:lnTo>
                  <a:lnTo>
                    <a:pt x="11" y="10"/>
                  </a:lnTo>
                  <a:lnTo>
                    <a:pt x="10" y="12"/>
                  </a:lnTo>
                  <a:lnTo>
                    <a:pt x="8" y="13"/>
                  </a:lnTo>
                  <a:lnTo>
                    <a:pt x="7" y="16"/>
                  </a:lnTo>
                  <a:lnTo>
                    <a:pt x="5" y="18"/>
                  </a:lnTo>
                  <a:lnTo>
                    <a:pt x="4" y="20"/>
                  </a:lnTo>
                  <a:lnTo>
                    <a:pt x="3" y="23"/>
                  </a:lnTo>
                  <a:lnTo>
                    <a:pt x="2" y="25"/>
                  </a:lnTo>
                  <a:lnTo>
                    <a:pt x="1" y="27"/>
                  </a:lnTo>
                  <a:lnTo>
                    <a:pt x="1" y="29"/>
                  </a:lnTo>
                  <a:lnTo>
                    <a:pt x="0" y="33"/>
                  </a:lnTo>
                  <a:lnTo>
                    <a:pt x="0" y="36"/>
                  </a:lnTo>
                  <a:lnTo>
                    <a:pt x="0" y="38"/>
                  </a:lnTo>
                  <a:lnTo>
                    <a:pt x="1" y="40"/>
                  </a:lnTo>
                  <a:lnTo>
                    <a:pt x="1" y="43"/>
                  </a:lnTo>
                  <a:lnTo>
                    <a:pt x="2" y="46"/>
                  </a:lnTo>
                  <a:lnTo>
                    <a:pt x="3" y="47"/>
                  </a:lnTo>
                  <a:lnTo>
                    <a:pt x="4" y="50"/>
                  </a:lnTo>
                  <a:lnTo>
                    <a:pt x="5" y="52"/>
                  </a:lnTo>
                  <a:lnTo>
                    <a:pt x="7" y="54"/>
                  </a:lnTo>
                  <a:lnTo>
                    <a:pt x="8" y="57"/>
                  </a:lnTo>
                  <a:lnTo>
                    <a:pt x="10" y="58"/>
                  </a:lnTo>
                  <a:lnTo>
                    <a:pt x="11" y="60"/>
                  </a:lnTo>
                  <a:lnTo>
                    <a:pt x="14" y="62"/>
                  </a:lnTo>
                  <a:lnTo>
                    <a:pt x="16" y="64"/>
                  </a:lnTo>
                  <a:lnTo>
                    <a:pt x="18" y="65"/>
                  </a:lnTo>
                  <a:lnTo>
                    <a:pt x="20" y="66"/>
                  </a:lnTo>
                  <a:lnTo>
                    <a:pt x="23" y="67"/>
                  </a:lnTo>
                  <a:lnTo>
                    <a:pt x="25" y="68"/>
                  </a:lnTo>
                  <a:lnTo>
                    <a:pt x="28" y="68"/>
                  </a:lnTo>
                  <a:lnTo>
                    <a:pt x="30" y="70"/>
                  </a:lnTo>
                  <a:lnTo>
                    <a:pt x="33" y="70"/>
                  </a:lnTo>
                  <a:lnTo>
                    <a:pt x="35" y="70"/>
                  </a:lnTo>
                  <a:lnTo>
                    <a:pt x="38" y="70"/>
                  </a:lnTo>
                  <a:lnTo>
                    <a:pt x="39" y="70"/>
                  </a:lnTo>
                  <a:lnTo>
                    <a:pt x="43" y="68"/>
                  </a:lnTo>
                  <a:lnTo>
                    <a:pt x="46" y="68"/>
                  </a:lnTo>
                  <a:lnTo>
                    <a:pt x="48" y="67"/>
                  </a:lnTo>
                  <a:lnTo>
                    <a:pt x="50" y="66"/>
                  </a:lnTo>
                  <a:lnTo>
                    <a:pt x="52" y="65"/>
                  </a:lnTo>
                  <a:lnTo>
                    <a:pt x="54" y="64"/>
                  </a:lnTo>
                  <a:lnTo>
                    <a:pt x="57" y="62"/>
                  </a:lnTo>
                  <a:lnTo>
                    <a:pt x="58" y="60"/>
                  </a:lnTo>
                  <a:lnTo>
                    <a:pt x="60" y="58"/>
                  </a:lnTo>
                  <a:lnTo>
                    <a:pt x="62" y="57"/>
                  </a:lnTo>
                  <a:lnTo>
                    <a:pt x="63" y="54"/>
                  </a:lnTo>
                  <a:lnTo>
                    <a:pt x="65" y="52"/>
                  </a:lnTo>
                  <a:lnTo>
                    <a:pt x="67" y="50"/>
                  </a:lnTo>
                  <a:lnTo>
                    <a:pt x="67" y="47"/>
                  </a:lnTo>
                  <a:lnTo>
                    <a:pt x="68" y="46"/>
                  </a:lnTo>
                  <a:lnTo>
                    <a:pt x="68" y="43"/>
                  </a:lnTo>
                  <a:lnTo>
                    <a:pt x="68" y="40"/>
                  </a:lnTo>
                  <a:lnTo>
                    <a:pt x="69" y="38"/>
                  </a:lnTo>
                  <a:lnTo>
                    <a:pt x="69" y="36"/>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8" name="Freeform 179"/>
            <p:cNvSpPr>
              <a:spLocks/>
            </p:cNvSpPr>
            <p:nvPr/>
          </p:nvSpPr>
          <p:spPr bwMode="auto">
            <a:xfrm>
              <a:off x="3425825" y="4940300"/>
              <a:ext cx="101600" cy="96838"/>
            </a:xfrm>
            <a:custGeom>
              <a:avLst/>
              <a:gdLst>
                <a:gd name="T0" fmla="*/ 69 w 70"/>
                <a:gd name="T1" fmla="*/ 31 h 69"/>
                <a:gd name="T2" fmla="*/ 69 w 70"/>
                <a:gd name="T3" fmla="*/ 25 h 69"/>
                <a:gd name="T4" fmla="*/ 67 w 70"/>
                <a:gd name="T5" fmla="*/ 21 h 69"/>
                <a:gd name="T6" fmla="*/ 64 w 70"/>
                <a:gd name="T7" fmla="*/ 16 h 69"/>
                <a:gd name="T8" fmla="*/ 62 w 70"/>
                <a:gd name="T9" fmla="*/ 12 h 69"/>
                <a:gd name="T10" fmla="*/ 59 w 70"/>
                <a:gd name="T11" fmla="*/ 8 h 69"/>
                <a:gd name="T12" fmla="*/ 54 w 70"/>
                <a:gd name="T13" fmla="*/ 5 h 69"/>
                <a:gd name="T14" fmla="*/ 50 w 70"/>
                <a:gd name="T15" fmla="*/ 2 h 69"/>
                <a:gd name="T16" fmla="*/ 45 w 70"/>
                <a:gd name="T17" fmla="*/ 0 h 69"/>
                <a:gd name="T18" fmla="*/ 40 w 70"/>
                <a:gd name="T19" fmla="*/ 0 h 69"/>
                <a:gd name="T20" fmla="*/ 34 w 70"/>
                <a:gd name="T21" fmla="*/ 0 h 69"/>
                <a:gd name="T22" fmla="*/ 30 w 70"/>
                <a:gd name="T23" fmla="*/ 0 h 69"/>
                <a:gd name="T24" fmla="*/ 24 w 70"/>
                <a:gd name="T25" fmla="*/ 0 h 69"/>
                <a:gd name="T26" fmla="*/ 20 w 70"/>
                <a:gd name="T27" fmla="*/ 2 h 69"/>
                <a:gd name="T28" fmla="*/ 15 w 70"/>
                <a:gd name="T29" fmla="*/ 5 h 69"/>
                <a:gd name="T30" fmla="*/ 12 w 70"/>
                <a:gd name="T31" fmla="*/ 8 h 69"/>
                <a:gd name="T32" fmla="*/ 9 w 70"/>
                <a:gd name="T33" fmla="*/ 12 h 69"/>
                <a:gd name="T34" fmla="*/ 5 w 70"/>
                <a:gd name="T35" fmla="*/ 16 h 69"/>
                <a:gd name="T36" fmla="*/ 3 w 70"/>
                <a:gd name="T37" fmla="*/ 21 h 69"/>
                <a:gd name="T38" fmla="*/ 1 w 70"/>
                <a:gd name="T39" fmla="*/ 25 h 69"/>
                <a:gd name="T40" fmla="*/ 1 w 70"/>
                <a:gd name="T41" fmla="*/ 31 h 69"/>
                <a:gd name="T42" fmla="*/ 1 w 70"/>
                <a:gd name="T43" fmla="*/ 36 h 69"/>
                <a:gd name="T44" fmla="*/ 1 w 70"/>
                <a:gd name="T45" fmla="*/ 41 h 69"/>
                <a:gd name="T46" fmla="*/ 3 w 70"/>
                <a:gd name="T47" fmla="*/ 46 h 69"/>
                <a:gd name="T48" fmla="*/ 5 w 70"/>
                <a:gd name="T49" fmla="*/ 50 h 69"/>
                <a:gd name="T50" fmla="*/ 9 w 70"/>
                <a:gd name="T51" fmla="*/ 55 h 69"/>
                <a:gd name="T52" fmla="*/ 12 w 70"/>
                <a:gd name="T53" fmla="*/ 58 h 69"/>
                <a:gd name="T54" fmla="*/ 15 w 70"/>
                <a:gd name="T55" fmla="*/ 62 h 69"/>
                <a:gd name="T56" fmla="*/ 20 w 70"/>
                <a:gd name="T57" fmla="*/ 64 h 69"/>
                <a:gd name="T58" fmla="*/ 24 w 70"/>
                <a:gd name="T59" fmla="*/ 66 h 69"/>
                <a:gd name="T60" fmla="*/ 30 w 70"/>
                <a:gd name="T61" fmla="*/ 68 h 69"/>
                <a:gd name="T62" fmla="*/ 34 w 70"/>
                <a:gd name="T63" fmla="*/ 68 h 69"/>
                <a:gd name="T64" fmla="*/ 40 w 70"/>
                <a:gd name="T65" fmla="*/ 68 h 69"/>
                <a:gd name="T66" fmla="*/ 45 w 70"/>
                <a:gd name="T67" fmla="*/ 66 h 69"/>
                <a:gd name="T68" fmla="*/ 50 w 70"/>
                <a:gd name="T69" fmla="*/ 64 h 69"/>
                <a:gd name="T70" fmla="*/ 54 w 70"/>
                <a:gd name="T71" fmla="*/ 62 h 69"/>
                <a:gd name="T72" fmla="*/ 59 w 70"/>
                <a:gd name="T73" fmla="*/ 58 h 69"/>
                <a:gd name="T74" fmla="*/ 62 w 70"/>
                <a:gd name="T75" fmla="*/ 55 h 69"/>
                <a:gd name="T76" fmla="*/ 64 w 70"/>
                <a:gd name="T77" fmla="*/ 50 h 69"/>
                <a:gd name="T78" fmla="*/ 67 w 70"/>
                <a:gd name="T79" fmla="*/ 46 h 69"/>
                <a:gd name="T80" fmla="*/ 69 w 70"/>
                <a:gd name="T81" fmla="*/ 41 h 69"/>
                <a:gd name="T82" fmla="*/ 69 w 70"/>
                <a:gd name="T83" fmla="*/ 3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0" h="69">
                  <a:moveTo>
                    <a:pt x="69" y="34"/>
                  </a:moveTo>
                  <a:lnTo>
                    <a:pt x="69" y="31"/>
                  </a:lnTo>
                  <a:lnTo>
                    <a:pt x="69" y="28"/>
                  </a:lnTo>
                  <a:lnTo>
                    <a:pt x="69" y="25"/>
                  </a:lnTo>
                  <a:lnTo>
                    <a:pt x="68" y="23"/>
                  </a:lnTo>
                  <a:lnTo>
                    <a:pt x="67" y="21"/>
                  </a:lnTo>
                  <a:lnTo>
                    <a:pt x="66" y="18"/>
                  </a:lnTo>
                  <a:lnTo>
                    <a:pt x="64" y="16"/>
                  </a:lnTo>
                  <a:lnTo>
                    <a:pt x="64" y="14"/>
                  </a:lnTo>
                  <a:lnTo>
                    <a:pt x="62" y="12"/>
                  </a:lnTo>
                  <a:lnTo>
                    <a:pt x="60" y="10"/>
                  </a:lnTo>
                  <a:lnTo>
                    <a:pt x="59" y="8"/>
                  </a:lnTo>
                  <a:lnTo>
                    <a:pt x="56" y="6"/>
                  </a:lnTo>
                  <a:lnTo>
                    <a:pt x="54" y="5"/>
                  </a:lnTo>
                  <a:lnTo>
                    <a:pt x="52" y="4"/>
                  </a:lnTo>
                  <a:lnTo>
                    <a:pt x="50" y="2"/>
                  </a:lnTo>
                  <a:lnTo>
                    <a:pt x="48" y="2"/>
                  </a:lnTo>
                  <a:lnTo>
                    <a:pt x="45" y="0"/>
                  </a:lnTo>
                  <a:lnTo>
                    <a:pt x="42" y="0"/>
                  </a:lnTo>
                  <a:lnTo>
                    <a:pt x="40" y="0"/>
                  </a:lnTo>
                  <a:lnTo>
                    <a:pt x="38" y="0"/>
                  </a:lnTo>
                  <a:lnTo>
                    <a:pt x="34" y="0"/>
                  </a:lnTo>
                  <a:lnTo>
                    <a:pt x="32" y="0"/>
                  </a:lnTo>
                  <a:lnTo>
                    <a:pt x="30" y="0"/>
                  </a:lnTo>
                  <a:lnTo>
                    <a:pt x="28" y="0"/>
                  </a:lnTo>
                  <a:lnTo>
                    <a:pt x="24" y="0"/>
                  </a:lnTo>
                  <a:lnTo>
                    <a:pt x="22" y="2"/>
                  </a:lnTo>
                  <a:lnTo>
                    <a:pt x="20" y="2"/>
                  </a:lnTo>
                  <a:lnTo>
                    <a:pt x="18" y="4"/>
                  </a:lnTo>
                  <a:lnTo>
                    <a:pt x="15" y="5"/>
                  </a:lnTo>
                  <a:lnTo>
                    <a:pt x="14" y="6"/>
                  </a:lnTo>
                  <a:lnTo>
                    <a:pt x="12" y="8"/>
                  </a:lnTo>
                  <a:lnTo>
                    <a:pt x="10" y="10"/>
                  </a:lnTo>
                  <a:lnTo>
                    <a:pt x="9" y="12"/>
                  </a:lnTo>
                  <a:lnTo>
                    <a:pt x="7" y="14"/>
                  </a:lnTo>
                  <a:lnTo>
                    <a:pt x="5" y="16"/>
                  </a:lnTo>
                  <a:lnTo>
                    <a:pt x="4" y="18"/>
                  </a:lnTo>
                  <a:lnTo>
                    <a:pt x="3" y="21"/>
                  </a:lnTo>
                  <a:lnTo>
                    <a:pt x="1" y="23"/>
                  </a:lnTo>
                  <a:lnTo>
                    <a:pt x="1" y="25"/>
                  </a:lnTo>
                  <a:lnTo>
                    <a:pt x="1" y="28"/>
                  </a:lnTo>
                  <a:lnTo>
                    <a:pt x="1" y="31"/>
                  </a:lnTo>
                  <a:lnTo>
                    <a:pt x="0" y="34"/>
                  </a:lnTo>
                  <a:lnTo>
                    <a:pt x="1" y="36"/>
                  </a:lnTo>
                  <a:lnTo>
                    <a:pt x="1" y="38"/>
                  </a:lnTo>
                  <a:lnTo>
                    <a:pt x="1" y="41"/>
                  </a:lnTo>
                  <a:lnTo>
                    <a:pt x="1" y="44"/>
                  </a:lnTo>
                  <a:lnTo>
                    <a:pt x="3" y="46"/>
                  </a:lnTo>
                  <a:lnTo>
                    <a:pt x="4" y="48"/>
                  </a:lnTo>
                  <a:lnTo>
                    <a:pt x="5" y="50"/>
                  </a:lnTo>
                  <a:lnTo>
                    <a:pt x="7" y="52"/>
                  </a:lnTo>
                  <a:lnTo>
                    <a:pt x="9" y="55"/>
                  </a:lnTo>
                  <a:lnTo>
                    <a:pt x="10" y="56"/>
                  </a:lnTo>
                  <a:lnTo>
                    <a:pt x="12" y="58"/>
                  </a:lnTo>
                  <a:lnTo>
                    <a:pt x="14" y="60"/>
                  </a:lnTo>
                  <a:lnTo>
                    <a:pt x="15" y="62"/>
                  </a:lnTo>
                  <a:lnTo>
                    <a:pt x="18" y="63"/>
                  </a:lnTo>
                  <a:lnTo>
                    <a:pt x="20" y="64"/>
                  </a:lnTo>
                  <a:lnTo>
                    <a:pt x="22" y="65"/>
                  </a:lnTo>
                  <a:lnTo>
                    <a:pt x="24" y="66"/>
                  </a:lnTo>
                  <a:lnTo>
                    <a:pt x="28" y="66"/>
                  </a:lnTo>
                  <a:lnTo>
                    <a:pt x="30" y="68"/>
                  </a:lnTo>
                  <a:lnTo>
                    <a:pt x="32" y="68"/>
                  </a:lnTo>
                  <a:lnTo>
                    <a:pt x="34" y="68"/>
                  </a:lnTo>
                  <a:lnTo>
                    <a:pt x="38" y="68"/>
                  </a:lnTo>
                  <a:lnTo>
                    <a:pt x="40" y="68"/>
                  </a:lnTo>
                  <a:lnTo>
                    <a:pt x="42" y="66"/>
                  </a:lnTo>
                  <a:lnTo>
                    <a:pt x="45" y="66"/>
                  </a:lnTo>
                  <a:lnTo>
                    <a:pt x="48" y="65"/>
                  </a:lnTo>
                  <a:lnTo>
                    <a:pt x="50" y="64"/>
                  </a:lnTo>
                  <a:lnTo>
                    <a:pt x="52" y="63"/>
                  </a:lnTo>
                  <a:lnTo>
                    <a:pt x="54" y="62"/>
                  </a:lnTo>
                  <a:lnTo>
                    <a:pt x="56" y="60"/>
                  </a:lnTo>
                  <a:lnTo>
                    <a:pt x="59" y="58"/>
                  </a:lnTo>
                  <a:lnTo>
                    <a:pt x="60" y="56"/>
                  </a:lnTo>
                  <a:lnTo>
                    <a:pt x="62" y="55"/>
                  </a:lnTo>
                  <a:lnTo>
                    <a:pt x="64" y="52"/>
                  </a:lnTo>
                  <a:lnTo>
                    <a:pt x="64" y="50"/>
                  </a:lnTo>
                  <a:lnTo>
                    <a:pt x="66" y="48"/>
                  </a:lnTo>
                  <a:lnTo>
                    <a:pt x="67" y="46"/>
                  </a:lnTo>
                  <a:lnTo>
                    <a:pt x="68" y="44"/>
                  </a:lnTo>
                  <a:lnTo>
                    <a:pt x="69" y="41"/>
                  </a:lnTo>
                  <a:lnTo>
                    <a:pt x="69" y="38"/>
                  </a:lnTo>
                  <a:lnTo>
                    <a:pt x="69" y="36"/>
                  </a:lnTo>
                  <a:lnTo>
                    <a:pt x="69" y="34"/>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9" name="Freeform 180"/>
            <p:cNvSpPr>
              <a:spLocks/>
            </p:cNvSpPr>
            <p:nvPr/>
          </p:nvSpPr>
          <p:spPr bwMode="auto">
            <a:xfrm>
              <a:off x="3035300" y="5522913"/>
              <a:ext cx="141288" cy="138112"/>
            </a:xfrm>
            <a:custGeom>
              <a:avLst/>
              <a:gdLst>
                <a:gd name="T0" fmla="*/ 0 w 98"/>
                <a:gd name="T1" fmla="*/ 0 h 99"/>
                <a:gd name="T2" fmla="*/ 0 w 98"/>
                <a:gd name="T3" fmla="*/ 98 h 99"/>
                <a:gd name="T4" fmla="*/ 97 w 98"/>
                <a:gd name="T5" fmla="*/ 98 h 99"/>
                <a:gd name="T6" fmla="*/ 97 w 98"/>
                <a:gd name="T7" fmla="*/ 0 h 99"/>
              </a:gdLst>
              <a:ahLst/>
              <a:cxnLst>
                <a:cxn ang="0">
                  <a:pos x="T0" y="T1"/>
                </a:cxn>
                <a:cxn ang="0">
                  <a:pos x="T2" y="T3"/>
                </a:cxn>
                <a:cxn ang="0">
                  <a:pos x="T4" y="T5"/>
                </a:cxn>
                <a:cxn ang="0">
                  <a:pos x="T6" y="T7"/>
                </a:cxn>
              </a:cxnLst>
              <a:rect l="0" t="0" r="r" b="b"/>
              <a:pathLst>
                <a:path w="98" h="99">
                  <a:moveTo>
                    <a:pt x="0" y="0"/>
                  </a:moveTo>
                  <a:lnTo>
                    <a:pt x="0" y="98"/>
                  </a:lnTo>
                  <a:lnTo>
                    <a:pt x="97" y="98"/>
                  </a:lnTo>
                  <a:lnTo>
                    <a:pt x="97"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0" name="Freeform 181"/>
            <p:cNvSpPr>
              <a:spLocks/>
            </p:cNvSpPr>
            <p:nvPr/>
          </p:nvSpPr>
          <p:spPr bwMode="auto">
            <a:xfrm>
              <a:off x="3294063" y="5526089"/>
              <a:ext cx="131762" cy="134937"/>
            </a:xfrm>
            <a:custGeom>
              <a:avLst/>
              <a:gdLst>
                <a:gd name="T0" fmla="*/ 0 w 92"/>
                <a:gd name="T1" fmla="*/ 0 h 97"/>
                <a:gd name="T2" fmla="*/ 0 w 92"/>
                <a:gd name="T3" fmla="*/ 96 h 97"/>
                <a:gd name="T4" fmla="*/ 91 w 92"/>
                <a:gd name="T5" fmla="*/ 96 h 97"/>
                <a:gd name="T6" fmla="*/ 91 w 92"/>
                <a:gd name="T7" fmla="*/ 0 h 97"/>
              </a:gdLst>
              <a:ahLst/>
              <a:cxnLst>
                <a:cxn ang="0">
                  <a:pos x="T0" y="T1"/>
                </a:cxn>
                <a:cxn ang="0">
                  <a:pos x="T2" y="T3"/>
                </a:cxn>
                <a:cxn ang="0">
                  <a:pos x="T4" y="T5"/>
                </a:cxn>
                <a:cxn ang="0">
                  <a:pos x="T6" y="T7"/>
                </a:cxn>
              </a:cxnLst>
              <a:rect l="0" t="0" r="r" b="b"/>
              <a:pathLst>
                <a:path w="92" h="97">
                  <a:moveTo>
                    <a:pt x="0" y="0"/>
                  </a:moveTo>
                  <a:lnTo>
                    <a:pt x="0" y="96"/>
                  </a:lnTo>
                  <a:lnTo>
                    <a:pt x="91" y="96"/>
                  </a:lnTo>
                  <a:lnTo>
                    <a:pt x="91"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1" name="Line 182"/>
            <p:cNvSpPr>
              <a:spLocks noChangeShapeType="1"/>
            </p:cNvSpPr>
            <p:nvPr/>
          </p:nvSpPr>
          <p:spPr bwMode="auto">
            <a:xfrm>
              <a:off x="2897188" y="5643563"/>
              <a:ext cx="13811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2" name="Line 183"/>
            <p:cNvSpPr>
              <a:spLocks noChangeShapeType="1"/>
            </p:cNvSpPr>
            <p:nvPr/>
          </p:nvSpPr>
          <p:spPr bwMode="auto">
            <a:xfrm>
              <a:off x="3175001" y="5637213"/>
              <a:ext cx="11906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3" name="Line 184"/>
            <p:cNvSpPr>
              <a:spLocks noChangeShapeType="1"/>
            </p:cNvSpPr>
            <p:nvPr/>
          </p:nvSpPr>
          <p:spPr bwMode="auto">
            <a:xfrm>
              <a:off x="3427414" y="5643563"/>
              <a:ext cx="14922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4" name="Freeform 185"/>
            <p:cNvSpPr>
              <a:spLocks/>
            </p:cNvSpPr>
            <p:nvPr/>
          </p:nvSpPr>
          <p:spPr bwMode="auto">
            <a:xfrm>
              <a:off x="3054351" y="5545139"/>
              <a:ext cx="98425" cy="96837"/>
            </a:xfrm>
            <a:custGeom>
              <a:avLst/>
              <a:gdLst>
                <a:gd name="T0" fmla="*/ 68 w 69"/>
                <a:gd name="T1" fmla="*/ 18 h 69"/>
                <a:gd name="T2" fmla="*/ 68 w 69"/>
                <a:gd name="T3" fmla="*/ 49 h 69"/>
                <a:gd name="T4" fmla="*/ 49 w 69"/>
                <a:gd name="T5" fmla="*/ 68 h 69"/>
                <a:gd name="T6" fmla="*/ 19 w 69"/>
                <a:gd name="T7" fmla="*/ 68 h 69"/>
                <a:gd name="T8" fmla="*/ 0 w 69"/>
                <a:gd name="T9" fmla="*/ 49 h 69"/>
                <a:gd name="T10" fmla="*/ 0 w 69"/>
                <a:gd name="T11" fmla="*/ 18 h 69"/>
                <a:gd name="T12" fmla="*/ 19 w 69"/>
                <a:gd name="T13" fmla="*/ 0 h 69"/>
                <a:gd name="T14" fmla="*/ 19 w 69"/>
                <a:gd name="T15" fmla="*/ 0 h 69"/>
                <a:gd name="T16" fmla="*/ 49 w 69"/>
                <a:gd name="T17" fmla="*/ 0 h 69"/>
                <a:gd name="T18" fmla="*/ 68 w 69"/>
                <a:gd name="T19" fmla="*/ 1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69">
                  <a:moveTo>
                    <a:pt x="68" y="18"/>
                  </a:moveTo>
                  <a:lnTo>
                    <a:pt x="68" y="49"/>
                  </a:lnTo>
                  <a:lnTo>
                    <a:pt x="49" y="68"/>
                  </a:lnTo>
                  <a:lnTo>
                    <a:pt x="19" y="68"/>
                  </a:lnTo>
                  <a:lnTo>
                    <a:pt x="0" y="49"/>
                  </a:lnTo>
                  <a:lnTo>
                    <a:pt x="0" y="18"/>
                  </a:lnTo>
                  <a:lnTo>
                    <a:pt x="19" y="0"/>
                  </a:lnTo>
                  <a:lnTo>
                    <a:pt x="19" y="0"/>
                  </a:lnTo>
                  <a:lnTo>
                    <a:pt x="49" y="0"/>
                  </a:lnTo>
                  <a:lnTo>
                    <a:pt x="68" y="18"/>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5" name="Freeform 186"/>
            <p:cNvSpPr>
              <a:spLocks/>
            </p:cNvSpPr>
            <p:nvPr/>
          </p:nvSpPr>
          <p:spPr bwMode="auto">
            <a:xfrm>
              <a:off x="3311525" y="5545139"/>
              <a:ext cx="101600" cy="96837"/>
            </a:xfrm>
            <a:custGeom>
              <a:avLst/>
              <a:gdLst>
                <a:gd name="T0" fmla="*/ 69 w 70"/>
                <a:gd name="T1" fmla="*/ 19 h 69"/>
                <a:gd name="T2" fmla="*/ 69 w 70"/>
                <a:gd name="T3" fmla="*/ 49 h 69"/>
                <a:gd name="T4" fmla="*/ 49 w 70"/>
                <a:gd name="T5" fmla="*/ 68 h 69"/>
                <a:gd name="T6" fmla="*/ 19 w 70"/>
                <a:gd name="T7" fmla="*/ 68 h 69"/>
                <a:gd name="T8" fmla="*/ 0 w 70"/>
                <a:gd name="T9" fmla="*/ 49 h 69"/>
                <a:gd name="T10" fmla="*/ 0 w 70"/>
                <a:gd name="T11" fmla="*/ 19 h 69"/>
                <a:gd name="T12" fmla="*/ 19 w 70"/>
                <a:gd name="T13" fmla="*/ 0 h 69"/>
                <a:gd name="T14" fmla="*/ 19 w 70"/>
                <a:gd name="T15" fmla="*/ 0 h 69"/>
                <a:gd name="T16" fmla="*/ 49 w 70"/>
                <a:gd name="T17" fmla="*/ 0 h 69"/>
                <a:gd name="T18" fmla="*/ 69 w 70"/>
                <a:gd name="T19" fmla="*/ 1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69" y="19"/>
                  </a:moveTo>
                  <a:lnTo>
                    <a:pt x="69" y="49"/>
                  </a:lnTo>
                  <a:lnTo>
                    <a:pt x="49" y="68"/>
                  </a:lnTo>
                  <a:lnTo>
                    <a:pt x="19" y="68"/>
                  </a:lnTo>
                  <a:lnTo>
                    <a:pt x="0" y="49"/>
                  </a:lnTo>
                  <a:lnTo>
                    <a:pt x="0" y="19"/>
                  </a:lnTo>
                  <a:lnTo>
                    <a:pt x="19" y="0"/>
                  </a:lnTo>
                  <a:lnTo>
                    <a:pt x="19" y="0"/>
                  </a:lnTo>
                  <a:lnTo>
                    <a:pt x="49" y="0"/>
                  </a:lnTo>
                  <a:lnTo>
                    <a:pt x="69" y="19"/>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6" name="Freeform 187"/>
            <p:cNvSpPr>
              <a:spLocks/>
            </p:cNvSpPr>
            <p:nvPr/>
          </p:nvSpPr>
          <p:spPr bwMode="auto">
            <a:xfrm>
              <a:off x="2863851" y="5126038"/>
              <a:ext cx="733425" cy="125412"/>
            </a:xfrm>
            <a:custGeom>
              <a:avLst/>
              <a:gdLst>
                <a:gd name="T0" fmla="*/ 0 w 509"/>
                <a:gd name="T1" fmla="*/ 86 h 89"/>
                <a:gd name="T2" fmla="*/ 16 w 509"/>
                <a:gd name="T3" fmla="*/ 0 h 89"/>
                <a:gd name="T4" fmla="*/ 490 w 509"/>
                <a:gd name="T5" fmla="*/ 0 h 89"/>
                <a:gd name="T6" fmla="*/ 508 w 509"/>
                <a:gd name="T7" fmla="*/ 88 h 89"/>
                <a:gd name="T8" fmla="*/ 0 w 509"/>
                <a:gd name="T9" fmla="*/ 86 h 89"/>
              </a:gdLst>
              <a:ahLst/>
              <a:cxnLst>
                <a:cxn ang="0">
                  <a:pos x="T0" y="T1"/>
                </a:cxn>
                <a:cxn ang="0">
                  <a:pos x="T2" y="T3"/>
                </a:cxn>
                <a:cxn ang="0">
                  <a:pos x="T4" y="T5"/>
                </a:cxn>
                <a:cxn ang="0">
                  <a:pos x="T6" y="T7"/>
                </a:cxn>
                <a:cxn ang="0">
                  <a:pos x="T8" y="T9"/>
                </a:cxn>
              </a:cxnLst>
              <a:rect l="0" t="0" r="r" b="b"/>
              <a:pathLst>
                <a:path w="509" h="89">
                  <a:moveTo>
                    <a:pt x="0" y="86"/>
                  </a:moveTo>
                  <a:lnTo>
                    <a:pt x="16" y="0"/>
                  </a:lnTo>
                  <a:lnTo>
                    <a:pt x="490" y="0"/>
                  </a:lnTo>
                  <a:lnTo>
                    <a:pt x="508" y="88"/>
                  </a:lnTo>
                  <a:lnTo>
                    <a:pt x="0" y="86"/>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7" name="Freeform 188"/>
            <p:cNvSpPr>
              <a:spLocks/>
            </p:cNvSpPr>
            <p:nvPr/>
          </p:nvSpPr>
          <p:spPr bwMode="auto">
            <a:xfrm>
              <a:off x="2865438" y="5181601"/>
              <a:ext cx="38100" cy="15875"/>
            </a:xfrm>
            <a:custGeom>
              <a:avLst/>
              <a:gdLst>
                <a:gd name="T0" fmla="*/ 2 w 26"/>
                <a:gd name="T1" fmla="*/ 0 h 12"/>
                <a:gd name="T2" fmla="*/ 25 w 26"/>
                <a:gd name="T3" fmla="*/ 2 h 12"/>
                <a:gd name="T4" fmla="*/ 22 w 26"/>
                <a:gd name="T5" fmla="*/ 11 h 12"/>
                <a:gd name="T6" fmla="*/ 0 w 26"/>
                <a:gd name="T7" fmla="*/ 11 h 12"/>
                <a:gd name="T8" fmla="*/ 2 w 26"/>
                <a:gd name="T9" fmla="*/ 0 h 12"/>
                <a:gd name="T10" fmla="*/ 2 w 26"/>
                <a:gd name="T11" fmla="*/ 0 h 12"/>
                <a:gd name="T12" fmla="*/ 2 w 2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26" h="12">
                  <a:moveTo>
                    <a:pt x="2" y="0"/>
                  </a:moveTo>
                  <a:lnTo>
                    <a:pt x="25" y="2"/>
                  </a:lnTo>
                  <a:lnTo>
                    <a:pt x="22" y="11"/>
                  </a:lnTo>
                  <a:lnTo>
                    <a:pt x="0" y="11"/>
                  </a:lnTo>
                  <a:lnTo>
                    <a:pt x="2" y="0"/>
                  </a:lnTo>
                  <a:lnTo>
                    <a:pt x="2" y="0"/>
                  </a:lnTo>
                  <a:lnTo>
                    <a:pt x="2" y="0"/>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8" name="Freeform 189" descr="Outlined diamond"/>
            <p:cNvSpPr>
              <a:spLocks/>
            </p:cNvSpPr>
            <p:nvPr/>
          </p:nvSpPr>
          <p:spPr bwMode="auto">
            <a:xfrm>
              <a:off x="2868613" y="5176839"/>
              <a:ext cx="723900" cy="39687"/>
            </a:xfrm>
            <a:custGeom>
              <a:avLst/>
              <a:gdLst>
                <a:gd name="T0" fmla="*/ 492 w 501"/>
                <a:gd name="T1" fmla="*/ 0 h 29"/>
                <a:gd name="T2" fmla="*/ 8 w 501"/>
                <a:gd name="T3" fmla="*/ 0 h 29"/>
                <a:gd name="T4" fmla="*/ 0 w 501"/>
                <a:gd name="T5" fmla="*/ 28 h 29"/>
                <a:gd name="T6" fmla="*/ 500 w 501"/>
                <a:gd name="T7" fmla="*/ 28 h 29"/>
                <a:gd name="T8" fmla="*/ 492 w 501"/>
                <a:gd name="T9" fmla="*/ 1 h 29"/>
                <a:gd name="T10" fmla="*/ 492 w 501"/>
                <a:gd name="T11" fmla="*/ 0 h 29"/>
                <a:gd name="T12" fmla="*/ 492 w 501"/>
                <a:gd name="T13" fmla="*/ 0 h 29"/>
              </a:gdLst>
              <a:ahLst/>
              <a:cxnLst>
                <a:cxn ang="0">
                  <a:pos x="T0" y="T1"/>
                </a:cxn>
                <a:cxn ang="0">
                  <a:pos x="T2" y="T3"/>
                </a:cxn>
                <a:cxn ang="0">
                  <a:pos x="T4" y="T5"/>
                </a:cxn>
                <a:cxn ang="0">
                  <a:pos x="T6" y="T7"/>
                </a:cxn>
                <a:cxn ang="0">
                  <a:pos x="T8" y="T9"/>
                </a:cxn>
                <a:cxn ang="0">
                  <a:pos x="T10" y="T11"/>
                </a:cxn>
                <a:cxn ang="0">
                  <a:pos x="T12" y="T13"/>
                </a:cxn>
              </a:cxnLst>
              <a:rect l="0" t="0" r="r" b="b"/>
              <a:pathLst>
                <a:path w="501" h="29">
                  <a:moveTo>
                    <a:pt x="492" y="0"/>
                  </a:moveTo>
                  <a:lnTo>
                    <a:pt x="8" y="0"/>
                  </a:lnTo>
                  <a:lnTo>
                    <a:pt x="0" y="28"/>
                  </a:lnTo>
                  <a:lnTo>
                    <a:pt x="500" y="28"/>
                  </a:lnTo>
                  <a:lnTo>
                    <a:pt x="492" y="1"/>
                  </a:lnTo>
                  <a:lnTo>
                    <a:pt x="492" y="0"/>
                  </a:lnTo>
                  <a:lnTo>
                    <a:pt x="492" y="0"/>
                  </a:lnTo>
                </a:path>
              </a:pathLst>
            </a:custGeom>
            <a:pattFill prst="openDmnd">
              <a:fgClr>
                <a:srgbClr val="000000"/>
              </a:fgClr>
              <a:bgClr>
                <a:srgbClr val="FFFFFF"/>
              </a:bgClr>
            </a:patt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9" name="Freeform 190"/>
            <p:cNvSpPr>
              <a:spLocks/>
            </p:cNvSpPr>
            <p:nvPr/>
          </p:nvSpPr>
          <p:spPr bwMode="auto">
            <a:xfrm>
              <a:off x="3548063" y="5183189"/>
              <a:ext cx="38100" cy="15875"/>
            </a:xfrm>
            <a:custGeom>
              <a:avLst/>
              <a:gdLst>
                <a:gd name="T0" fmla="*/ 26 w 27"/>
                <a:gd name="T1" fmla="*/ 0 h 11"/>
                <a:gd name="T2" fmla="*/ 0 w 27"/>
                <a:gd name="T3" fmla="*/ 2 h 11"/>
                <a:gd name="T4" fmla="*/ 0 w 27"/>
                <a:gd name="T5" fmla="*/ 10 h 11"/>
                <a:gd name="T6" fmla="*/ 26 w 27"/>
                <a:gd name="T7" fmla="*/ 10 h 11"/>
                <a:gd name="T8" fmla="*/ 24 w 27"/>
                <a:gd name="T9" fmla="*/ 2 h 11"/>
                <a:gd name="T10" fmla="*/ 26 w 27"/>
                <a:gd name="T11" fmla="*/ 0 h 11"/>
                <a:gd name="T12" fmla="*/ 26 w 27"/>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27" h="11">
                  <a:moveTo>
                    <a:pt x="26" y="0"/>
                  </a:moveTo>
                  <a:lnTo>
                    <a:pt x="0" y="2"/>
                  </a:lnTo>
                  <a:lnTo>
                    <a:pt x="0" y="10"/>
                  </a:lnTo>
                  <a:lnTo>
                    <a:pt x="26" y="10"/>
                  </a:lnTo>
                  <a:lnTo>
                    <a:pt x="24" y="2"/>
                  </a:lnTo>
                  <a:lnTo>
                    <a:pt x="26" y="0"/>
                  </a:lnTo>
                  <a:lnTo>
                    <a:pt x="26" y="0"/>
                  </a:lnTo>
                </a:path>
              </a:pathLst>
            </a:custGeom>
            <a:solidFill>
              <a:srgbClr val="000000"/>
            </a:solid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0" name="Freeform 191"/>
            <p:cNvSpPr>
              <a:spLocks/>
            </p:cNvSpPr>
            <p:nvPr/>
          </p:nvSpPr>
          <p:spPr bwMode="auto">
            <a:xfrm>
              <a:off x="3576638" y="5330825"/>
              <a:ext cx="254000" cy="350838"/>
            </a:xfrm>
            <a:custGeom>
              <a:avLst/>
              <a:gdLst>
                <a:gd name="T0" fmla="*/ 0 w 176"/>
                <a:gd name="T1" fmla="*/ 139 h 250"/>
                <a:gd name="T2" fmla="*/ 0 w 176"/>
                <a:gd name="T3" fmla="*/ 249 h 250"/>
                <a:gd name="T4" fmla="*/ 175 w 176"/>
                <a:gd name="T5" fmla="*/ 249 h 250"/>
                <a:gd name="T6" fmla="*/ 175 w 176"/>
                <a:gd name="T7" fmla="*/ 0 h 250"/>
              </a:gdLst>
              <a:ahLst/>
              <a:cxnLst>
                <a:cxn ang="0">
                  <a:pos x="T0" y="T1"/>
                </a:cxn>
                <a:cxn ang="0">
                  <a:pos x="T2" y="T3"/>
                </a:cxn>
                <a:cxn ang="0">
                  <a:pos x="T4" y="T5"/>
                </a:cxn>
                <a:cxn ang="0">
                  <a:pos x="T6" y="T7"/>
                </a:cxn>
              </a:cxnLst>
              <a:rect l="0" t="0" r="r" b="b"/>
              <a:pathLst>
                <a:path w="176" h="250">
                  <a:moveTo>
                    <a:pt x="0" y="139"/>
                  </a:moveTo>
                  <a:lnTo>
                    <a:pt x="0" y="249"/>
                  </a:lnTo>
                  <a:lnTo>
                    <a:pt x="175" y="249"/>
                  </a:lnTo>
                  <a:lnTo>
                    <a:pt x="175"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1" name="Line 192"/>
            <p:cNvSpPr>
              <a:spLocks noChangeShapeType="1"/>
            </p:cNvSpPr>
            <p:nvPr/>
          </p:nvSpPr>
          <p:spPr bwMode="auto">
            <a:xfrm>
              <a:off x="2897188" y="5526088"/>
              <a:ext cx="6794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2" name="Line 193"/>
            <p:cNvSpPr>
              <a:spLocks noChangeShapeType="1"/>
            </p:cNvSpPr>
            <p:nvPr/>
          </p:nvSpPr>
          <p:spPr bwMode="auto">
            <a:xfrm flipH="1" flipV="1">
              <a:off x="3702050" y="4837113"/>
              <a:ext cx="127000" cy="48895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3" name="Line 194"/>
            <p:cNvSpPr>
              <a:spLocks noChangeShapeType="1"/>
            </p:cNvSpPr>
            <p:nvPr/>
          </p:nvSpPr>
          <p:spPr bwMode="auto">
            <a:xfrm flipH="1">
              <a:off x="2778125" y="4837113"/>
              <a:ext cx="9334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4" name="Line 195"/>
            <p:cNvSpPr>
              <a:spLocks noChangeShapeType="1"/>
            </p:cNvSpPr>
            <p:nvPr/>
          </p:nvSpPr>
          <p:spPr bwMode="auto">
            <a:xfrm>
              <a:off x="2630489" y="5326063"/>
              <a:ext cx="120332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5" name="Line 196"/>
            <p:cNvSpPr>
              <a:spLocks noChangeShapeType="1"/>
            </p:cNvSpPr>
            <p:nvPr/>
          </p:nvSpPr>
          <p:spPr bwMode="auto">
            <a:xfrm flipH="1">
              <a:off x="3235326" y="4840289"/>
              <a:ext cx="11113" cy="8032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6" name="Line 197"/>
            <p:cNvSpPr>
              <a:spLocks noChangeShapeType="1"/>
            </p:cNvSpPr>
            <p:nvPr/>
          </p:nvSpPr>
          <p:spPr bwMode="auto">
            <a:xfrm>
              <a:off x="2546351" y="5137150"/>
              <a:ext cx="13811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892485775"/>
      </p:ext>
    </p:extLst>
  </p:cSld>
  <p:clrMapOvr>
    <a:masterClrMapping/>
  </p:clrMapOvr>
  <p:transition spd="slow">
    <p:push di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sv-SE" altLang="zh-CN" dirty="0"/>
              <a:t>ENA </a:t>
            </a:r>
            <a:r>
              <a:rPr lang="zh-CN" altLang="sv-SE" dirty="0"/>
              <a:t>支持的校准件方式</a:t>
            </a:r>
            <a:endParaRPr lang="zh-CN" altLang="en-US" dirty="0"/>
          </a:p>
        </p:txBody>
      </p:sp>
      <p:sp>
        <p:nvSpPr>
          <p:cNvPr id="3" name="内容占位符 2"/>
          <p:cNvSpPr>
            <a:spLocks noGrp="1"/>
          </p:cNvSpPr>
          <p:nvPr>
            <p:ph idx="1"/>
          </p:nvPr>
        </p:nvSpPr>
        <p:spPr/>
        <p:txBody>
          <a:bodyPr/>
          <a:lstStyle/>
          <a:p>
            <a:endParaRPr lang="zh-CN" altLang="en-US"/>
          </a:p>
        </p:txBody>
      </p:sp>
      <p:sp>
        <p:nvSpPr>
          <p:cNvPr id="14" name="日期占位符 13"/>
          <p:cNvSpPr>
            <a:spLocks noGrp="1"/>
          </p:cNvSpPr>
          <p:nvPr>
            <p:ph type="dt" sz="half" idx="10"/>
          </p:nvPr>
        </p:nvSpPr>
        <p:spPr/>
        <p:txBody>
          <a:bodyPr/>
          <a:lstStyle/>
          <a:p>
            <a:fld id="{8BBAE4CD-CC54-4783-9BCD-7180A7252689}" type="datetime3">
              <a:rPr lang="zh-CN" altLang="en-US" smtClean="0"/>
              <a:t>2019年5月6日星期一</a:t>
            </a:fld>
            <a:endParaRPr lang="zh-CN" altLang="en-US"/>
          </a:p>
        </p:txBody>
      </p:sp>
      <p:sp>
        <p:nvSpPr>
          <p:cNvPr id="15" name="页脚占位符 14"/>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16" name="灯片编号占位符 15"/>
          <p:cNvSpPr>
            <a:spLocks noGrp="1"/>
          </p:cNvSpPr>
          <p:nvPr>
            <p:ph type="sldNum" sz="quarter" idx="12"/>
          </p:nvPr>
        </p:nvSpPr>
        <p:spPr/>
        <p:txBody>
          <a:bodyPr/>
          <a:lstStyle/>
          <a:p>
            <a:fld id="{D5BA5A3D-E723-4639-877B-B187790AC552}" type="slidenum">
              <a:rPr lang="zh-CN" altLang="en-US" smtClean="0"/>
              <a:pPr/>
              <a:t>21</a:t>
            </a:fld>
            <a:endParaRPr lang="zh-CN" altLang="en-US"/>
          </a:p>
        </p:txBody>
      </p:sp>
      <p:graphicFrame>
        <p:nvGraphicFramePr>
          <p:cNvPr id="11" name="表格 10"/>
          <p:cNvGraphicFramePr>
            <a:graphicFrameLocks noGrp="1"/>
          </p:cNvGraphicFramePr>
          <p:nvPr>
            <p:extLst>
              <p:ext uri="{D42A27DB-BD31-4B8C-83A1-F6EECF244321}">
                <p14:modId xmlns:p14="http://schemas.microsoft.com/office/powerpoint/2010/main" val="2717107912"/>
              </p:ext>
            </p:extLst>
          </p:nvPr>
        </p:nvGraphicFramePr>
        <p:xfrm>
          <a:off x="819269" y="1667326"/>
          <a:ext cx="10434886" cy="4569351"/>
        </p:xfrm>
        <a:graphic>
          <a:graphicData uri="http://schemas.openxmlformats.org/drawingml/2006/table">
            <a:tbl>
              <a:tblPr firstRow="1" bandRow="1">
                <a:tableStyleId>{5C22544A-7EE6-4342-B048-85BDC9FD1C3A}</a:tableStyleId>
              </a:tblPr>
              <a:tblGrid>
                <a:gridCol w="5217443"/>
                <a:gridCol w="5217443"/>
              </a:tblGrid>
              <a:tr h="602646">
                <a:tc>
                  <a:txBody>
                    <a:bodyPr/>
                    <a:lstStyle/>
                    <a:p>
                      <a:pPr algn="ctr"/>
                      <a:r>
                        <a:rPr lang="zh-CN" altLang="en-US" dirty="0" smtClean="0">
                          <a:solidFill>
                            <a:schemeClr val="tx1"/>
                          </a:solidFill>
                        </a:rPr>
                        <a:t>机械校准件</a:t>
                      </a:r>
                    </a:p>
                  </a:txBody>
                  <a:tcPr anchor="ctr">
                    <a:lnL w="28575"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rgbClr val="004098"/>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smtClean="0">
                          <a:solidFill>
                            <a:schemeClr val="tx1"/>
                          </a:solidFill>
                        </a:rPr>
                        <a:t>电子校准件</a:t>
                      </a:r>
                      <a:r>
                        <a:rPr lang="en-US" altLang="zh-CN" dirty="0" smtClean="0">
                          <a:solidFill>
                            <a:schemeClr val="tx1"/>
                          </a:solidFill>
                        </a:rPr>
                        <a:t>(</a:t>
                      </a:r>
                      <a:r>
                        <a:rPr lang="en-US" altLang="zh-CN" dirty="0" err="1" smtClean="0">
                          <a:solidFill>
                            <a:schemeClr val="tx1"/>
                          </a:solidFill>
                        </a:rPr>
                        <a:t>Ecal</a:t>
                      </a:r>
                      <a:r>
                        <a:rPr lang="en-US" altLang="zh-CN" dirty="0" smtClean="0">
                          <a:solidFill>
                            <a:schemeClr val="tx1"/>
                          </a:solidFill>
                        </a:rPr>
                        <a:t>)</a:t>
                      </a:r>
                    </a:p>
                  </a:txBody>
                  <a:tcPr anchor="ctr">
                    <a:lnL w="12700" cap="flat" cmpd="sng" algn="ctr">
                      <a:solidFill>
                        <a:schemeClr val="bg1">
                          <a:lumMod val="85000"/>
                        </a:schemeClr>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004098"/>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1944985">
                <a:tc>
                  <a:txBody>
                    <a:bodyPr/>
                    <a:lstStyle/>
                    <a:p>
                      <a:endParaRPr lang="zh-CN" altLang="en-US" dirty="0">
                        <a:solidFill>
                          <a:schemeClr val="tx1"/>
                        </a:solidFill>
                      </a:endParaRPr>
                    </a:p>
                  </a:txBody>
                  <a:tcPr>
                    <a:lnL w="28575"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2021720">
                <a:tc>
                  <a:txBody>
                    <a:bodyPr/>
                    <a:lstStyle/>
                    <a:p>
                      <a:pPr marL="285750" indent="-285750">
                        <a:buFont typeface="Arial" panose="020B0604020202020204" pitchFamily="34" charset="0"/>
                        <a:buChar char="•"/>
                      </a:pPr>
                      <a:r>
                        <a:rPr lang="zh-CN" altLang="en-US" sz="1800" dirty="0" smtClean="0">
                          <a:solidFill>
                            <a:schemeClr val="tx1"/>
                          </a:solidFill>
                        </a:rPr>
                        <a:t>校准件多次连接</a:t>
                      </a:r>
                    </a:p>
                    <a:p>
                      <a:pPr marL="285750" indent="-285750">
                        <a:buFont typeface="Arial" panose="020B0604020202020204" pitchFamily="34" charset="0"/>
                        <a:buChar char="•"/>
                      </a:pPr>
                      <a:r>
                        <a:rPr lang="en-US" altLang="zh-CN" sz="1800" dirty="0" smtClean="0">
                          <a:solidFill>
                            <a:schemeClr val="tx1"/>
                          </a:solidFill>
                        </a:rPr>
                        <a:t>Shorts, Open, Loads, Thru</a:t>
                      </a:r>
                    </a:p>
                  </a:txBody>
                  <a:tcPr>
                    <a:lnL w="28575"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rgbClr val="004098"/>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zh-CN" altLang="en-US" sz="1800" dirty="0" smtClean="0">
                          <a:solidFill>
                            <a:schemeClr val="tx1"/>
                          </a:solidFill>
                        </a:rPr>
                        <a:t>复杂</a:t>
                      </a:r>
                      <a:r>
                        <a:rPr lang="en-US" altLang="zh-CN" sz="1800" dirty="0" smtClean="0">
                          <a:solidFill>
                            <a:schemeClr val="tx1"/>
                          </a:solidFill>
                        </a:rPr>
                        <a:t>,</a:t>
                      </a:r>
                      <a:r>
                        <a:rPr lang="zh-CN" altLang="en-US" sz="1800" dirty="0" smtClean="0">
                          <a:solidFill>
                            <a:schemeClr val="tx1"/>
                          </a:solidFill>
                        </a:rPr>
                        <a:t>校准件多次连接</a:t>
                      </a:r>
                    </a:p>
                    <a:p>
                      <a:pPr marL="285750" indent="-285750">
                        <a:buFont typeface="Arial" panose="020B0604020202020204" pitchFamily="34" charset="0"/>
                        <a:buChar char="•"/>
                      </a:pPr>
                      <a:r>
                        <a:rPr lang="zh-CN" altLang="en-US" sz="1800" dirty="0" smtClean="0">
                          <a:solidFill>
                            <a:schemeClr val="tx1"/>
                          </a:solidFill>
                        </a:rPr>
                        <a:t>高精度</a:t>
                      </a:r>
                    </a:p>
                    <a:p>
                      <a:pPr marL="285750" indent="-285750">
                        <a:buFont typeface="Arial" panose="020B0604020202020204" pitchFamily="34" charset="0"/>
                        <a:buChar char="•"/>
                      </a:pPr>
                      <a:r>
                        <a:rPr lang="zh-CN" altLang="en-US" sz="1800" dirty="0" smtClean="0">
                          <a:solidFill>
                            <a:schemeClr val="tx1"/>
                          </a:solidFill>
                        </a:rPr>
                        <a:t>消除测试中所有误差</a:t>
                      </a:r>
                      <a:r>
                        <a:rPr lang="en-US" altLang="zh-CN" sz="1800" dirty="0" smtClean="0">
                          <a:solidFill>
                            <a:schemeClr val="tx1"/>
                          </a:solidFill>
                        </a:rPr>
                        <a:t>:</a:t>
                      </a:r>
                      <a:br>
                        <a:rPr lang="en-US" altLang="zh-CN" sz="1800" dirty="0" smtClean="0">
                          <a:solidFill>
                            <a:schemeClr val="tx1"/>
                          </a:solidFill>
                        </a:rPr>
                      </a:br>
                      <a:r>
                        <a:rPr lang="en-US" altLang="zh-CN" sz="1800" dirty="0" smtClean="0">
                          <a:solidFill>
                            <a:schemeClr val="tx1"/>
                          </a:solidFill>
                        </a:rPr>
                        <a:t>Directivity</a:t>
                      </a:r>
                      <a:r>
                        <a:rPr lang="zh-CN" altLang="en-US" sz="1800" dirty="0" smtClean="0">
                          <a:solidFill>
                            <a:schemeClr val="tx1"/>
                          </a:solidFill>
                        </a:rPr>
                        <a:t>，   </a:t>
                      </a:r>
                      <a:r>
                        <a:rPr lang="en-US" altLang="zh-CN" sz="1800" dirty="0" smtClean="0">
                          <a:solidFill>
                            <a:schemeClr val="tx1"/>
                          </a:solidFill>
                        </a:rPr>
                        <a:t>Source, load match</a:t>
                      </a:r>
                      <a:r>
                        <a:rPr lang="zh-CN" altLang="en-US" sz="1800" dirty="0" smtClean="0">
                          <a:solidFill>
                            <a:schemeClr val="tx1"/>
                          </a:solidFill>
                        </a:rPr>
                        <a:t>， </a:t>
                      </a:r>
                      <a:r>
                        <a:rPr lang="en-US" altLang="zh-CN" sz="1800" dirty="0" smtClean="0">
                          <a:solidFill>
                            <a:schemeClr val="tx1"/>
                          </a:solidFill>
                        </a:rPr>
                        <a:t>Reflection tracking</a:t>
                      </a:r>
                      <a:r>
                        <a:rPr lang="zh-CN" altLang="en-US" sz="1800" dirty="0" smtClean="0">
                          <a:solidFill>
                            <a:schemeClr val="tx1"/>
                          </a:solidFill>
                        </a:rPr>
                        <a:t>，   </a:t>
                      </a:r>
                      <a:r>
                        <a:rPr lang="en-US" altLang="zh-CN" sz="1800" dirty="0" smtClean="0">
                          <a:solidFill>
                            <a:schemeClr val="tx1"/>
                          </a:solidFill>
                        </a:rPr>
                        <a:t>Transmission tracking</a:t>
                      </a:r>
                      <a:br>
                        <a:rPr lang="en-US" altLang="zh-CN" sz="1800" dirty="0" smtClean="0">
                          <a:solidFill>
                            <a:schemeClr val="tx1"/>
                          </a:solidFill>
                        </a:rPr>
                      </a:br>
                      <a:r>
                        <a:rPr lang="en-US" altLang="zh-CN" sz="1800" dirty="0" smtClean="0">
                          <a:solidFill>
                            <a:schemeClr val="tx1"/>
                          </a:solidFill>
                        </a:rPr>
                        <a:t>Crosstalk </a:t>
                      </a:r>
                    </a:p>
                    <a:p>
                      <a:pPr marL="285750" indent="-285750">
                        <a:buFont typeface="Arial" panose="020B0604020202020204" pitchFamily="34" charset="0"/>
                        <a:buChar char="•"/>
                      </a:pPr>
                      <a:endParaRPr lang="zh-CN" alt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rgbClr val="004098"/>
                      </a:solidFill>
                      <a:prstDash val="solid"/>
                      <a:round/>
                      <a:headEnd type="none" w="med" len="med"/>
                      <a:tailEnd type="none" w="med" len="med"/>
                    </a:lnB>
                    <a:noFill/>
                  </a:tcPr>
                </a:tc>
              </a:tr>
            </a:tbl>
          </a:graphicData>
        </a:graphic>
      </p:graphicFrame>
      <p:pic>
        <p:nvPicPr>
          <p:cNvPr id="12" name="Picture 4" descr="Cal_K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7378" y="2316356"/>
            <a:ext cx="1394314" cy="179028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26866" y="2496712"/>
            <a:ext cx="1768828" cy="142957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0261343"/>
      </p:ext>
    </p:extLst>
  </p:cSld>
  <p:clrMapOvr>
    <a:masterClrMapping/>
  </p:clrMapOvr>
  <p:transition spd="slow">
    <p:push di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不同的校准方法总结</a:t>
            </a:r>
          </a:p>
        </p:txBody>
      </p:sp>
      <p:sp>
        <p:nvSpPr>
          <p:cNvPr id="238" name="内容占位符 237"/>
          <p:cNvSpPr>
            <a:spLocks noGrp="1"/>
          </p:cNvSpPr>
          <p:nvPr>
            <p:ph idx="1"/>
          </p:nvPr>
        </p:nvSpPr>
        <p:spPr/>
        <p:txBody>
          <a:bodyPr/>
          <a:lstStyle/>
          <a:p>
            <a:endParaRPr lang="zh-CN" altLang="en-US"/>
          </a:p>
        </p:txBody>
      </p:sp>
      <p:sp>
        <p:nvSpPr>
          <p:cNvPr id="235" name="日期占位符 234"/>
          <p:cNvSpPr>
            <a:spLocks noGrp="1"/>
          </p:cNvSpPr>
          <p:nvPr>
            <p:ph type="dt" sz="half" idx="10"/>
          </p:nvPr>
        </p:nvSpPr>
        <p:spPr/>
        <p:txBody>
          <a:bodyPr/>
          <a:lstStyle/>
          <a:p>
            <a:fld id="{D7FB4760-AD60-4027-AF87-9BAE6DEC1066}" type="datetime3">
              <a:rPr lang="zh-CN" altLang="en-US" smtClean="0"/>
              <a:t>2019年5月6日星期一</a:t>
            </a:fld>
            <a:endParaRPr lang="zh-CN" altLang="en-US"/>
          </a:p>
        </p:txBody>
      </p:sp>
      <p:sp>
        <p:nvSpPr>
          <p:cNvPr id="236" name="页脚占位符 235"/>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237" name="灯片编号占位符 236"/>
          <p:cNvSpPr>
            <a:spLocks noGrp="1"/>
          </p:cNvSpPr>
          <p:nvPr>
            <p:ph type="sldNum" sz="quarter" idx="12"/>
          </p:nvPr>
        </p:nvSpPr>
        <p:spPr/>
        <p:txBody>
          <a:bodyPr/>
          <a:lstStyle/>
          <a:p>
            <a:fld id="{D5BA5A3D-E723-4639-877B-B187790AC552}" type="slidenum">
              <a:rPr lang="zh-CN" altLang="en-US" smtClean="0"/>
              <a:pPr/>
              <a:t>22</a:t>
            </a:fld>
            <a:endParaRPr lang="zh-CN" altLang="en-US"/>
          </a:p>
        </p:txBody>
      </p:sp>
      <p:graphicFrame>
        <p:nvGraphicFramePr>
          <p:cNvPr id="3" name="表格 2"/>
          <p:cNvGraphicFramePr>
            <a:graphicFrameLocks noGrp="1"/>
          </p:cNvGraphicFramePr>
          <p:nvPr>
            <p:extLst>
              <p:ext uri="{D42A27DB-BD31-4B8C-83A1-F6EECF244321}">
                <p14:modId xmlns:p14="http://schemas.microsoft.com/office/powerpoint/2010/main" val="1507836552"/>
              </p:ext>
            </p:extLst>
          </p:nvPr>
        </p:nvGraphicFramePr>
        <p:xfrm>
          <a:off x="819269" y="1667326"/>
          <a:ext cx="10434885" cy="4589791"/>
        </p:xfrm>
        <a:graphic>
          <a:graphicData uri="http://schemas.openxmlformats.org/drawingml/2006/table">
            <a:tbl>
              <a:tblPr firstRow="1" bandRow="1">
                <a:tableStyleId>{5C22544A-7EE6-4342-B048-85BDC9FD1C3A}</a:tableStyleId>
              </a:tblPr>
              <a:tblGrid>
                <a:gridCol w="1455008"/>
                <a:gridCol w="2168769"/>
                <a:gridCol w="2836985"/>
                <a:gridCol w="3974123"/>
              </a:tblGrid>
              <a:tr h="6026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smtClean="0">
                          <a:solidFill>
                            <a:schemeClr val="tx1"/>
                          </a:solidFill>
                        </a:rPr>
                        <a:t>　不校准 </a:t>
                      </a:r>
                    </a:p>
                  </a:txBody>
                  <a:tcPr anchor="ctr">
                    <a:lnL w="28575"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rgbClr val="004098"/>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zh-CN" altLang="en-US" dirty="0" smtClean="0">
                          <a:solidFill>
                            <a:schemeClr val="tx1"/>
                          </a:solidFill>
                        </a:rPr>
                        <a:t>频响校准 </a:t>
                      </a:r>
                      <a:endParaRPr lang="zh-CN" altLang="en-US"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rgbClr val="004098"/>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smtClean="0">
                          <a:solidFill>
                            <a:schemeClr val="tx1"/>
                          </a:solidFill>
                        </a:rPr>
                        <a:t>1-PORT</a:t>
                      </a:r>
                      <a:r>
                        <a:rPr lang="zh-CN" altLang="en-US" dirty="0" smtClean="0">
                          <a:solidFill>
                            <a:schemeClr val="tx1"/>
                          </a:solidFill>
                        </a:rPr>
                        <a:t>单端校准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rgbClr val="004098"/>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smtClean="0">
                          <a:solidFill>
                            <a:schemeClr val="tx1"/>
                          </a:solidFill>
                        </a:rPr>
                        <a:t>FULL 2-PORT</a:t>
                      </a:r>
                      <a:r>
                        <a:rPr lang="zh-CN" altLang="en-US" dirty="0" smtClean="0">
                          <a:solidFill>
                            <a:schemeClr val="tx1"/>
                          </a:solidFill>
                        </a:rPr>
                        <a:t>双端</a:t>
                      </a:r>
                    </a:p>
                  </a:txBody>
                  <a:tcPr anchor="ctr">
                    <a:lnL w="12700" cap="flat" cmpd="sng" algn="ctr">
                      <a:solidFill>
                        <a:schemeClr val="bg1">
                          <a:lumMod val="85000"/>
                        </a:schemeClr>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004098"/>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1944985">
                <a:tc>
                  <a:txBody>
                    <a:bodyPr/>
                    <a:lstStyle/>
                    <a:p>
                      <a:endParaRPr lang="zh-CN" altLang="en-US" dirty="0">
                        <a:solidFill>
                          <a:schemeClr val="tx1"/>
                        </a:solidFill>
                      </a:endParaRPr>
                    </a:p>
                  </a:txBody>
                  <a:tcPr>
                    <a:lnL w="28575"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2021720">
                <a:tc>
                  <a:txBody>
                    <a:bodyPr/>
                    <a:lstStyle/>
                    <a:p>
                      <a:endParaRPr lang="zh-CN" altLang="en-US" dirty="0">
                        <a:solidFill>
                          <a:schemeClr val="tx1"/>
                        </a:solidFill>
                      </a:endParaRPr>
                    </a:p>
                  </a:txBody>
                  <a:tcPr>
                    <a:lnL w="28575"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rgbClr val="004098"/>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zh-CN" altLang="en-US" sz="1600" dirty="0" smtClean="0">
                          <a:solidFill>
                            <a:schemeClr val="tx1"/>
                          </a:solidFill>
                        </a:rPr>
                        <a:t>方便</a:t>
                      </a:r>
                    </a:p>
                    <a:p>
                      <a:pPr marL="285750" indent="-285750">
                        <a:buFont typeface="Arial" panose="020B0604020202020204" pitchFamily="34" charset="0"/>
                        <a:buChar char="•"/>
                      </a:pPr>
                      <a:r>
                        <a:rPr lang="zh-CN" altLang="en-US" sz="1600" dirty="0" smtClean="0">
                          <a:solidFill>
                            <a:schemeClr val="tx1"/>
                          </a:solidFill>
                        </a:rPr>
                        <a:t>消除频率相应误差</a:t>
                      </a:r>
                    </a:p>
                    <a:p>
                      <a:pPr marL="285750" indent="-285750">
                        <a:buFont typeface="Arial" panose="020B0604020202020204" pitchFamily="34" charset="0"/>
                        <a:buChar char="•"/>
                      </a:pPr>
                      <a:r>
                        <a:rPr lang="zh-CN" altLang="en-US" sz="1600" dirty="0" smtClean="0">
                          <a:solidFill>
                            <a:schemeClr val="tx1"/>
                          </a:solidFill>
                        </a:rPr>
                        <a:t>不要求高精度</a:t>
                      </a:r>
                    </a:p>
                    <a:p>
                      <a:pPr marL="285750" indent="-285750">
                        <a:buFont typeface="Arial" panose="020B0604020202020204" pitchFamily="34" charset="0"/>
                        <a:buChar char="•"/>
                      </a:pPr>
                      <a:r>
                        <a:rPr lang="zh-CN" altLang="en-US" sz="1600" dirty="0" smtClean="0">
                          <a:solidFill>
                            <a:schemeClr val="tx1"/>
                          </a:solidFill>
                        </a:rPr>
                        <a:t>传输测试</a:t>
                      </a:r>
                      <a:r>
                        <a:rPr lang="en-US" altLang="zh-CN" sz="1600" dirty="0" smtClean="0">
                          <a:solidFill>
                            <a:schemeClr val="tx1"/>
                          </a:solidFill>
                        </a:rPr>
                        <a:t>=</a:t>
                      </a:r>
                      <a:r>
                        <a:rPr lang="zh-CN" altLang="en-US" sz="1600" dirty="0" smtClean="0">
                          <a:solidFill>
                            <a:schemeClr val="tx1"/>
                          </a:solidFill>
                        </a:rPr>
                        <a:t>直通</a:t>
                      </a:r>
                    </a:p>
                    <a:p>
                      <a:pPr marL="285750" indent="-285750">
                        <a:buFont typeface="Arial" panose="020B0604020202020204" pitchFamily="34" charset="0"/>
                        <a:buChar char="•"/>
                      </a:pPr>
                      <a:r>
                        <a:rPr lang="zh-CN" altLang="en-US" sz="1600" dirty="0" smtClean="0">
                          <a:solidFill>
                            <a:schemeClr val="tx1"/>
                          </a:solidFill>
                        </a:rPr>
                        <a:t>反射测试</a:t>
                      </a:r>
                      <a:r>
                        <a:rPr lang="en-US" altLang="zh-CN" sz="1600" dirty="0" smtClean="0">
                          <a:solidFill>
                            <a:schemeClr val="tx1"/>
                          </a:solidFill>
                        </a:rPr>
                        <a:t>=</a:t>
                      </a:r>
                      <a:r>
                        <a:rPr lang="zh-CN" altLang="en-US" sz="1600" dirty="0" smtClean="0">
                          <a:solidFill>
                            <a:schemeClr val="tx1"/>
                          </a:solidFill>
                        </a:rPr>
                        <a:t>短路</a:t>
                      </a:r>
                    </a:p>
                    <a:p>
                      <a:endParaRPr lang="zh-CN" altLang="en-US" sz="1600" dirty="0">
                        <a:solidFill>
                          <a:schemeClr val="tx1"/>
                        </a:solidFill>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rgbClr val="004098"/>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zh-CN" altLang="en-US" sz="1600" dirty="0" smtClean="0">
                          <a:solidFill>
                            <a:schemeClr val="tx1"/>
                          </a:solidFill>
                        </a:rPr>
                        <a:t>反射测试</a:t>
                      </a:r>
                    </a:p>
                    <a:p>
                      <a:pPr marL="285750" indent="-285750">
                        <a:buFont typeface="Arial" panose="020B0604020202020204" pitchFamily="34" charset="0"/>
                        <a:buChar char="•"/>
                      </a:pPr>
                      <a:r>
                        <a:rPr lang="zh-CN" altLang="en-US" sz="1600" dirty="0" smtClean="0">
                          <a:solidFill>
                            <a:schemeClr val="tx1"/>
                          </a:solidFill>
                        </a:rPr>
                        <a:t>消除测试端口所有误差</a:t>
                      </a:r>
                    </a:p>
                    <a:p>
                      <a:pPr marL="742950" lvl="1" indent="-285750">
                        <a:buFont typeface="Arial" panose="020B0604020202020204" pitchFamily="34" charset="0"/>
                        <a:buChar char="•"/>
                      </a:pPr>
                      <a:r>
                        <a:rPr lang="zh-CN" altLang="en-US" sz="1600" dirty="0" smtClean="0">
                          <a:solidFill>
                            <a:schemeClr val="tx1"/>
                          </a:solidFill>
                        </a:rPr>
                        <a:t> </a:t>
                      </a:r>
                      <a:r>
                        <a:rPr lang="en-US" altLang="zh-CN" sz="1600" dirty="0" smtClean="0">
                          <a:solidFill>
                            <a:schemeClr val="tx1"/>
                          </a:solidFill>
                        </a:rPr>
                        <a:t>Directivity</a:t>
                      </a:r>
                    </a:p>
                    <a:p>
                      <a:pPr marL="742950" lvl="1" indent="-285750">
                        <a:buFont typeface="Arial" panose="020B0604020202020204" pitchFamily="34" charset="0"/>
                        <a:buChar char="•"/>
                      </a:pPr>
                      <a:r>
                        <a:rPr lang="en-US" altLang="zh-CN" sz="1600" dirty="0" smtClean="0">
                          <a:solidFill>
                            <a:schemeClr val="tx1"/>
                          </a:solidFill>
                        </a:rPr>
                        <a:t> Source match</a:t>
                      </a:r>
                    </a:p>
                    <a:p>
                      <a:pPr marL="742950" lvl="1" indent="-285750">
                        <a:buFont typeface="Arial" panose="020B0604020202020204" pitchFamily="34" charset="0"/>
                        <a:buChar char="•"/>
                      </a:pPr>
                      <a:r>
                        <a:rPr lang="en-US" altLang="zh-CN" sz="1600" dirty="0" smtClean="0">
                          <a:solidFill>
                            <a:schemeClr val="tx1"/>
                          </a:solidFill>
                        </a:rPr>
                        <a:t> Reflection tracking</a:t>
                      </a:r>
                    </a:p>
                    <a:p>
                      <a:pPr marL="285750" indent="-285750">
                        <a:buFont typeface="Arial" panose="020B0604020202020204" pitchFamily="34" charset="0"/>
                        <a:buChar char="•"/>
                      </a:pPr>
                      <a:r>
                        <a:rPr lang="zh-CN" altLang="en-US" sz="1600" dirty="0" smtClean="0">
                          <a:solidFill>
                            <a:schemeClr val="tx1"/>
                          </a:solidFill>
                        </a:rPr>
                        <a:t>校准件</a:t>
                      </a:r>
                      <a:r>
                        <a:rPr lang="en-US" altLang="zh-CN" sz="1600" dirty="0" smtClean="0">
                          <a:solidFill>
                            <a:schemeClr val="tx1"/>
                          </a:solidFill>
                        </a:rPr>
                        <a:t>:</a:t>
                      </a:r>
                    </a:p>
                    <a:p>
                      <a:pPr marL="742950" lvl="1" indent="-285750">
                        <a:buFont typeface="Arial" panose="020B0604020202020204" pitchFamily="34" charset="0"/>
                        <a:buChar char="•"/>
                      </a:pPr>
                      <a:r>
                        <a:rPr lang="en-US" altLang="zh-CN" sz="1600" dirty="0" smtClean="0">
                          <a:solidFill>
                            <a:schemeClr val="tx1"/>
                          </a:solidFill>
                        </a:rPr>
                        <a:t>Open</a:t>
                      </a:r>
                      <a:r>
                        <a:rPr lang="zh-CN" altLang="en-US" sz="1600" dirty="0" smtClean="0">
                          <a:solidFill>
                            <a:schemeClr val="tx1"/>
                          </a:solidFill>
                        </a:rPr>
                        <a:t>，</a:t>
                      </a:r>
                      <a:r>
                        <a:rPr lang="en-US" altLang="zh-CN" sz="1600" dirty="0" smtClean="0">
                          <a:solidFill>
                            <a:schemeClr val="tx1"/>
                          </a:solidFill>
                        </a:rPr>
                        <a:t>Short</a:t>
                      </a:r>
                      <a:r>
                        <a:rPr lang="zh-CN" altLang="en-US" sz="1600" dirty="0" smtClean="0">
                          <a:solidFill>
                            <a:schemeClr val="tx1"/>
                          </a:solidFill>
                        </a:rPr>
                        <a:t>，</a:t>
                      </a:r>
                      <a:r>
                        <a:rPr lang="en-US" altLang="zh-CN" sz="1600" dirty="0" smtClean="0">
                          <a:solidFill>
                            <a:schemeClr val="tx1"/>
                          </a:solidFill>
                        </a:rPr>
                        <a:t>load</a:t>
                      </a:r>
                    </a:p>
                    <a:p>
                      <a:endParaRPr lang="zh-CN" altLang="en-US" sz="1600" dirty="0">
                        <a:solidFill>
                          <a:schemeClr val="tx1"/>
                        </a:solidFill>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rgbClr val="004098"/>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zh-CN" altLang="en-US" sz="1600" dirty="0" smtClean="0">
                          <a:solidFill>
                            <a:schemeClr val="tx1"/>
                          </a:solidFill>
                        </a:rPr>
                        <a:t>复杂</a:t>
                      </a:r>
                      <a:r>
                        <a:rPr lang="en-US" altLang="zh-CN" sz="1600" dirty="0" smtClean="0">
                          <a:solidFill>
                            <a:schemeClr val="tx1"/>
                          </a:solidFill>
                        </a:rPr>
                        <a:t>,</a:t>
                      </a:r>
                      <a:r>
                        <a:rPr lang="zh-CN" altLang="en-US" sz="1600" dirty="0" smtClean="0">
                          <a:solidFill>
                            <a:schemeClr val="tx1"/>
                          </a:solidFill>
                        </a:rPr>
                        <a:t>校准件多次连接</a:t>
                      </a:r>
                    </a:p>
                    <a:p>
                      <a:pPr marL="285750" indent="-285750">
                        <a:buFont typeface="Arial" panose="020B0604020202020204" pitchFamily="34" charset="0"/>
                        <a:buChar char="•"/>
                      </a:pPr>
                      <a:r>
                        <a:rPr lang="zh-CN" altLang="en-US" sz="1600" dirty="0" smtClean="0">
                          <a:solidFill>
                            <a:schemeClr val="tx1"/>
                          </a:solidFill>
                        </a:rPr>
                        <a:t>高精度</a:t>
                      </a:r>
                    </a:p>
                    <a:p>
                      <a:pPr marL="285750" indent="-285750">
                        <a:buFont typeface="Arial" panose="020B0604020202020204" pitchFamily="34" charset="0"/>
                        <a:buChar char="•"/>
                      </a:pPr>
                      <a:r>
                        <a:rPr lang="zh-CN" altLang="en-US" sz="1600" dirty="0" smtClean="0">
                          <a:solidFill>
                            <a:schemeClr val="tx1"/>
                          </a:solidFill>
                        </a:rPr>
                        <a:t>消除测试中所有误差</a:t>
                      </a:r>
                      <a:r>
                        <a:rPr lang="en-US" altLang="zh-CN" sz="1600" dirty="0" smtClean="0">
                          <a:solidFill>
                            <a:schemeClr val="tx1"/>
                          </a:solidFill>
                        </a:rPr>
                        <a:t>:</a:t>
                      </a:r>
                      <a:br>
                        <a:rPr lang="en-US" altLang="zh-CN" sz="1600" dirty="0" smtClean="0">
                          <a:solidFill>
                            <a:schemeClr val="tx1"/>
                          </a:solidFill>
                        </a:rPr>
                      </a:br>
                      <a:r>
                        <a:rPr lang="en-US" altLang="zh-CN" sz="1600" dirty="0" smtClean="0">
                          <a:solidFill>
                            <a:schemeClr val="tx1"/>
                          </a:solidFill>
                        </a:rPr>
                        <a:t>Directivity</a:t>
                      </a:r>
                      <a:r>
                        <a:rPr lang="zh-CN" altLang="en-US" sz="1600" dirty="0" smtClean="0">
                          <a:solidFill>
                            <a:schemeClr val="tx1"/>
                          </a:solidFill>
                        </a:rPr>
                        <a:t>，   </a:t>
                      </a:r>
                      <a:r>
                        <a:rPr lang="en-US" altLang="zh-CN" sz="1600" dirty="0" smtClean="0">
                          <a:solidFill>
                            <a:schemeClr val="tx1"/>
                          </a:solidFill>
                        </a:rPr>
                        <a:t>Source, load match</a:t>
                      </a:r>
                      <a:r>
                        <a:rPr lang="zh-CN" altLang="en-US" sz="1600" dirty="0" smtClean="0">
                          <a:solidFill>
                            <a:schemeClr val="tx1"/>
                          </a:solidFill>
                        </a:rPr>
                        <a:t>， </a:t>
                      </a:r>
                      <a:r>
                        <a:rPr lang="en-US" altLang="zh-CN" sz="1600" dirty="0" smtClean="0">
                          <a:solidFill>
                            <a:schemeClr val="tx1"/>
                          </a:solidFill>
                        </a:rPr>
                        <a:t>Reflection tracking</a:t>
                      </a:r>
                      <a:r>
                        <a:rPr lang="zh-CN" altLang="en-US" sz="1600" dirty="0" smtClean="0">
                          <a:solidFill>
                            <a:schemeClr val="tx1"/>
                          </a:solidFill>
                        </a:rPr>
                        <a:t>，   </a:t>
                      </a:r>
                      <a:r>
                        <a:rPr lang="en-US" altLang="zh-CN" sz="1600" dirty="0" smtClean="0">
                          <a:solidFill>
                            <a:schemeClr val="tx1"/>
                          </a:solidFill>
                        </a:rPr>
                        <a:t>Transmission tracking</a:t>
                      </a:r>
                      <a:br>
                        <a:rPr lang="en-US" altLang="zh-CN" sz="1600" dirty="0" smtClean="0">
                          <a:solidFill>
                            <a:schemeClr val="tx1"/>
                          </a:solidFill>
                        </a:rPr>
                      </a:br>
                      <a:r>
                        <a:rPr lang="en-US" altLang="zh-CN" sz="1600" dirty="0" smtClean="0">
                          <a:solidFill>
                            <a:schemeClr val="tx1"/>
                          </a:solidFill>
                        </a:rPr>
                        <a:t>Crosstalk </a:t>
                      </a:r>
                      <a:endParaRPr lang="zh-CN" altLang="en-US" sz="1600" dirty="0">
                        <a:solidFill>
                          <a:schemeClr val="tx1"/>
                        </a:solidFill>
                      </a:endParaRPr>
                    </a:p>
                  </a:txBody>
                  <a:tcPr>
                    <a:lnL w="12700" cap="flat" cmpd="sng" algn="ctr">
                      <a:solidFill>
                        <a:schemeClr val="bg1">
                          <a:lumMod val="85000"/>
                        </a:schemeClr>
                      </a:solid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rgbClr val="004098"/>
                      </a:solidFill>
                      <a:prstDash val="solid"/>
                      <a:round/>
                      <a:headEnd type="none" w="med" len="med"/>
                      <a:tailEnd type="none" w="med" len="med"/>
                    </a:lnB>
                    <a:noFill/>
                  </a:tcPr>
                </a:tc>
              </a:tr>
            </a:tbl>
          </a:graphicData>
        </a:graphic>
      </p:graphicFrame>
      <p:grpSp>
        <p:nvGrpSpPr>
          <p:cNvPr id="4" name="组合 3"/>
          <p:cNvGrpSpPr/>
          <p:nvPr/>
        </p:nvGrpSpPr>
        <p:grpSpPr>
          <a:xfrm>
            <a:off x="869389" y="3075182"/>
            <a:ext cx="1128711" cy="333374"/>
            <a:chOff x="1830389" y="1746251"/>
            <a:chExt cx="1128711" cy="333374"/>
          </a:xfrm>
        </p:grpSpPr>
        <p:grpSp>
          <p:nvGrpSpPr>
            <p:cNvPr id="5" name="Group 12"/>
            <p:cNvGrpSpPr>
              <a:grpSpLocks/>
            </p:cNvGrpSpPr>
            <p:nvPr/>
          </p:nvGrpSpPr>
          <p:grpSpPr bwMode="auto">
            <a:xfrm>
              <a:off x="1849438" y="1770063"/>
              <a:ext cx="1109662" cy="309562"/>
              <a:chOff x="176" y="1515"/>
              <a:chExt cx="769" cy="221"/>
            </a:xfrm>
          </p:grpSpPr>
          <p:sp>
            <p:nvSpPr>
              <p:cNvPr id="10" name="Freeform 13"/>
              <p:cNvSpPr>
                <a:spLocks/>
              </p:cNvSpPr>
              <p:nvPr/>
            </p:nvSpPr>
            <p:spPr bwMode="auto">
              <a:xfrm>
                <a:off x="283" y="1515"/>
                <a:ext cx="556" cy="221"/>
              </a:xfrm>
              <a:custGeom>
                <a:avLst/>
                <a:gdLst>
                  <a:gd name="T0" fmla="*/ 555 w 556"/>
                  <a:gd name="T1" fmla="*/ 0 h 221"/>
                  <a:gd name="T2" fmla="*/ 555 w 556"/>
                  <a:gd name="T3" fmla="*/ 220 h 221"/>
                  <a:gd name="T4" fmla="*/ 0 w 556"/>
                  <a:gd name="T5" fmla="*/ 220 h 221"/>
                  <a:gd name="T6" fmla="*/ 0 w 556"/>
                  <a:gd name="T7" fmla="*/ 0 h 221"/>
                  <a:gd name="T8" fmla="*/ 555 w 556"/>
                  <a:gd name="T9" fmla="*/ 0 h 221"/>
                  <a:gd name="T10" fmla="*/ 555 w 556"/>
                  <a:gd name="T11" fmla="*/ 0 h 221"/>
                </a:gdLst>
                <a:ahLst/>
                <a:cxnLst>
                  <a:cxn ang="0">
                    <a:pos x="T0" y="T1"/>
                  </a:cxn>
                  <a:cxn ang="0">
                    <a:pos x="T2" y="T3"/>
                  </a:cxn>
                  <a:cxn ang="0">
                    <a:pos x="T4" y="T5"/>
                  </a:cxn>
                  <a:cxn ang="0">
                    <a:pos x="T6" y="T7"/>
                  </a:cxn>
                  <a:cxn ang="0">
                    <a:pos x="T8" y="T9"/>
                  </a:cxn>
                  <a:cxn ang="0">
                    <a:pos x="T10" y="T11"/>
                  </a:cxn>
                </a:cxnLst>
                <a:rect l="0" t="0" r="r" b="b"/>
                <a:pathLst>
                  <a:path w="556" h="221">
                    <a:moveTo>
                      <a:pt x="555" y="0"/>
                    </a:moveTo>
                    <a:lnTo>
                      <a:pt x="555" y="220"/>
                    </a:lnTo>
                    <a:lnTo>
                      <a:pt x="0" y="220"/>
                    </a:lnTo>
                    <a:lnTo>
                      <a:pt x="0" y="0"/>
                    </a:lnTo>
                    <a:lnTo>
                      <a:pt x="555" y="0"/>
                    </a:lnTo>
                    <a:lnTo>
                      <a:pt x="555" y="0"/>
                    </a:lnTo>
                  </a:path>
                </a:pathLst>
              </a:custGeom>
              <a:solidFill>
                <a:srgbClr val="000000"/>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 name="Freeform 14"/>
              <p:cNvSpPr>
                <a:spLocks/>
              </p:cNvSpPr>
              <p:nvPr/>
            </p:nvSpPr>
            <p:spPr bwMode="auto">
              <a:xfrm>
                <a:off x="176" y="1579"/>
                <a:ext cx="107" cy="107"/>
              </a:xfrm>
              <a:custGeom>
                <a:avLst/>
                <a:gdLst>
                  <a:gd name="T0" fmla="*/ 106 w 107"/>
                  <a:gd name="T1" fmla="*/ 0 h 107"/>
                  <a:gd name="T2" fmla="*/ 106 w 107"/>
                  <a:gd name="T3" fmla="*/ 106 h 107"/>
                  <a:gd name="T4" fmla="*/ 0 w 107"/>
                  <a:gd name="T5" fmla="*/ 106 h 107"/>
                  <a:gd name="T6" fmla="*/ 0 w 107"/>
                  <a:gd name="T7" fmla="*/ 0 h 107"/>
                  <a:gd name="T8" fmla="*/ 106 w 107"/>
                  <a:gd name="T9" fmla="*/ 0 h 107"/>
                  <a:gd name="T10" fmla="*/ 106 w 107"/>
                  <a:gd name="T11" fmla="*/ 0 h 107"/>
                </a:gdLst>
                <a:ahLst/>
                <a:cxnLst>
                  <a:cxn ang="0">
                    <a:pos x="T0" y="T1"/>
                  </a:cxn>
                  <a:cxn ang="0">
                    <a:pos x="T2" y="T3"/>
                  </a:cxn>
                  <a:cxn ang="0">
                    <a:pos x="T4" y="T5"/>
                  </a:cxn>
                  <a:cxn ang="0">
                    <a:pos x="T6" y="T7"/>
                  </a:cxn>
                  <a:cxn ang="0">
                    <a:pos x="T8" y="T9"/>
                  </a:cxn>
                  <a:cxn ang="0">
                    <a:pos x="T10" y="T11"/>
                  </a:cxn>
                </a:cxnLst>
                <a:rect l="0" t="0" r="r" b="b"/>
                <a:pathLst>
                  <a:path w="107" h="107">
                    <a:moveTo>
                      <a:pt x="106" y="0"/>
                    </a:moveTo>
                    <a:lnTo>
                      <a:pt x="106" y="106"/>
                    </a:lnTo>
                    <a:lnTo>
                      <a:pt x="0" y="106"/>
                    </a:lnTo>
                    <a:lnTo>
                      <a:pt x="0" y="0"/>
                    </a:lnTo>
                    <a:lnTo>
                      <a:pt x="106" y="0"/>
                    </a:lnTo>
                    <a:lnTo>
                      <a:pt x="106" y="0"/>
                    </a:lnTo>
                  </a:path>
                </a:pathLst>
              </a:custGeom>
              <a:solidFill>
                <a:srgbClr val="000000"/>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 name="Freeform 15"/>
              <p:cNvSpPr>
                <a:spLocks/>
              </p:cNvSpPr>
              <p:nvPr/>
            </p:nvSpPr>
            <p:spPr bwMode="auto">
              <a:xfrm>
                <a:off x="838" y="1580"/>
                <a:ext cx="107" cy="106"/>
              </a:xfrm>
              <a:custGeom>
                <a:avLst/>
                <a:gdLst>
                  <a:gd name="T0" fmla="*/ 106 w 107"/>
                  <a:gd name="T1" fmla="*/ 0 h 106"/>
                  <a:gd name="T2" fmla="*/ 106 w 107"/>
                  <a:gd name="T3" fmla="*/ 105 h 106"/>
                  <a:gd name="T4" fmla="*/ 0 w 107"/>
                  <a:gd name="T5" fmla="*/ 105 h 106"/>
                  <a:gd name="T6" fmla="*/ 0 w 107"/>
                  <a:gd name="T7" fmla="*/ 0 h 106"/>
                  <a:gd name="T8" fmla="*/ 106 w 107"/>
                  <a:gd name="T9" fmla="*/ 0 h 106"/>
                  <a:gd name="T10" fmla="*/ 106 w 107"/>
                  <a:gd name="T11" fmla="*/ 0 h 106"/>
                </a:gdLst>
                <a:ahLst/>
                <a:cxnLst>
                  <a:cxn ang="0">
                    <a:pos x="T0" y="T1"/>
                  </a:cxn>
                  <a:cxn ang="0">
                    <a:pos x="T2" y="T3"/>
                  </a:cxn>
                  <a:cxn ang="0">
                    <a:pos x="T4" y="T5"/>
                  </a:cxn>
                  <a:cxn ang="0">
                    <a:pos x="T6" y="T7"/>
                  </a:cxn>
                  <a:cxn ang="0">
                    <a:pos x="T8" y="T9"/>
                  </a:cxn>
                  <a:cxn ang="0">
                    <a:pos x="T10" y="T11"/>
                  </a:cxn>
                </a:cxnLst>
                <a:rect l="0" t="0" r="r" b="b"/>
                <a:pathLst>
                  <a:path w="107" h="106">
                    <a:moveTo>
                      <a:pt x="106" y="0"/>
                    </a:moveTo>
                    <a:lnTo>
                      <a:pt x="106" y="105"/>
                    </a:lnTo>
                    <a:lnTo>
                      <a:pt x="0" y="105"/>
                    </a:lnTo>
                    <a:lnTo>
                      <a:pt x="0" y="0"/>
                    </a:lnTo>
                    <a:lnTo>
                      <a:pt x="106" y="0"/>
                    </a:lnTo>
                    <a:lnTo>
                      <a:pt x="106" y="0"/>
                    </a:lnTo>
                  </a:path>
                </a:pathLst>
              </a:custGeom>
              <a:solidFill>
                <a:srgbClr val="000000"/>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6" name="Freeform 16"/>
            <p:cNvSpPr>
              <a:spLocks/>
            </p:cNvSpPr>
            <p:nvPr/>
          </p:nvSpPr>
          <p:spPr bwMode="auto">
            <a:xfrm>
              <a:off x="1984376" y="1746251"/>
              <a:ext cx="803275" cy="307975"/>
            </a:xfrm>
            <a:custGeom>
              <a:avLst/>
              <a:gdLst>
                <a:gd name="T0" fmla="*/ 556 w 557"/>
                <a:gd name="T1" fmla="*/ 0 h 220"/>
                <a:gd name="T2" fmla="*/ 556 w 557"/>
                <a:gd name="T3" fmla="*/ 219 h 220"/>
                <a:gd name="T4" fmla="*/ 0 w 557"/>
                <a:gd name="T5" fmla="*/ 219 h 220"/>
                <a:gd name="T6" fmla="*/ 0 w 557"/>
                <a:gd name="T7" fmla="*/ 0 h 220"/>
                <a:gd name="T8" fmla="*/ 556 w 557"/>
                <a:gd name="T9" fmla="*/ 0 h 220"/>
                <a:gd name="T10" fmla="*/ 556 w 557"/>
                <a:gd name="T11" fmla="*/ 0 h 220"/>
              </a:gdLst>
              <a:ahLst/>
              <a:cxnLst>
                <a:cxn ang="0">
                  <a:pos x="T0" y="T1"/>
                </a:cxn>
                <a:cxn ang="0">
                  <a:pos x="T2" y="T3"/>
                </a:cxn>
                <a:cxn ang="0">
                  <a:pos x="T4" y="T5"/>
                </a:cxn>
                <a:cxn ang="0">
                  <a:pos x="T6" y="T7"/>
                </a:cxn>
                <a:cxn ang="0">
                  <a:pos x="T8" y="T9"/>
                </a:cxn>
                <a:cxn ang="0">
                  <a:pos x="T10" y="T11"/>
                </a:cxn>
              </a:cxnLst>
              <a:rect l="0" t="0" r="r" b="b"/>
              <a:pathLst>
                <a:path w="557" h="220">
                  <a:moveTo>
                    <a:pt x="556" y="0"/>
                  </a:moveTo>
                  <a:lnTo>
                    <a:pt x="556" y="219"/>
                  </a:lnTo>
                  <a:lnTo>
                    <a:pt x="0" y="219"/>
                  </a:lnTo>
                  <a:lnTo>
                    <a:pt x="0" y="0"/>
                  </a:lnTo>
                  <a:lnTo>
                    <a:pt x="556" y="0"/>
                  </a:lnTo>
                  <a:lnTo>
                    <a:pt x="556" y="0"/>
                  </a:lnTo>
                </a:path>
              </a:pathLst>
            </a:custGeom>
            <a:gradFill rotWithShape="0">
              <a:gsLst>
                <a:gs pos="0">
                  <a:srgbClr val="80FF80"/>
                </a:gs>
                <a:gs pos="50000">
                  <a:srgbClr val="FFFFFF"/>
                </a:gs>
                <a:gs pos="100000">
                  <a:srgbClr val="80FF80"/>
                </a:gs>
              </a:gsLst>
              <a:lin ang="5400000" scaled="1"/>
            </a:gra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 name="Freeform 17"/>
            <p:cNvSpPr>
              <a:spLocks/>
            </p:cNvSpPr>
            <p:nvPr/>
          </p:nvSpPr>
          <p:spPr bwMode="auto">
            <a:xfrm>
              <a:off x="1830389" y="1833563"/>
              <a:ext cx="155575" cy="150812"/>
            </a:xfrm>
            <a:custGeom>
              <a:avLst/>
              <a:gdLst>
                <a:gd name="T0" fmla="*/ 106 w 107"/>
                <a:gd name="T1" fmla="*/ 0 h 108"/>
                <a:gd name="T2" fmla="*/ 106 w 107"/>
                <a:gd name="T3" fmla="*/ 107 h 108"/>
                <a:gd name="T4" fmla="*/ 0 w 107"/>
                <a:gd name="T5" fmla="*/ 107 h 108"/>
                <a:gd name="T6" fmla="*/ 0 w 107"/>
                <a:gd name="T7" fmla="*/ 0 h 108"/>
                <a:gd name="T8" fmla="*/ 106 w 107"/>
                <a:gd name="T9" fmla="*/ 0 h 108"/>
                <a:gd name="T10" fmla="*/ 106 w 107"/>
                <a:gd name="T11" fmla="*/ 0 h 108"/>
              </a:gdLst>
              <a:ahLst/>
              <a:cxnLst>
                <a:cxn ang="0">
                  <a:pos x="T0" y="T1"/>
                </a:cxn>
                <a:cxn ang="0">
                  <a:pos x="T2" y="T3"/>
                </a:cxn>
                <a:cxn ang="0">
                  <a:pos x="T4" y="T5"/>
                </a:cxn>
                <a:cxn ang="0">
                  <a:pos x="T6" y="T7"/>
                </a:cxn>
                <a:cxn ang="0">
                  <a:pos x="T8" y="T9"/>
                </a:cxn>
                <a:cxn ang="0">
                  <a:pos x="T10" y="T11"/>
                </a:cxn>
              </a:cxnLst>
              <a:rect l="0" t="0" r="r" b="b"/>
              <a:pathLst>
                <a:path w="107" h="108">
                  <a:moveTo>
                    <a:pt x="106" y="0"/>
                  </a:moveTo>
                  <a:lnTo>
                    <a:pt x="106" y="107"/>
                  </a:lnTo>
                  <a:lnTo>
                    <a:pt x="0" y="107"/>
                  </a:lnTo>
                  <a:lnTo>
                    <a:pt x="0" y="0"/>
                  </a:lnTo>
                  <a:lnTo>
                    <a:pt x="106" y="0"/>
                  </a:lnTo>
                  <a:lnTo>
                    <a:pt x="106" y="0"/>
                  </a:lnTo>
                </a:path>
              </a:pathLst>
            </a:custGeom>
            <a:solidFill>
              <a:srgbClr val="FFFFFF"/>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 name="Freeform 18"/>
            <p:cNvSpPr>
              <a:spLocks/>
            </p:cNvSpPr>
            <p:nvPr/>
          </p:nvSpPr>
          <p:spPr bwMode="auto">
            <a:xfrm>
              <a:off x="2786064" y="1835151"/>
              <a:ext cx="155575" cy="149225"/>
            </a:xfrm>
            <a:custGeom>
              <a:avLst/>
              <a:gdLst>
                <a:gd name="T0" fmla="*/ 106 w 107"/>
                <a:gd name="T1" fmla="*/ 0 h 106"/>
                <a:gd name="T2" fmla="*/ 106 w 107"/>
                <a:gd name="T3" fmla="*/ 105 h 106"/>
                <a:gd name="T4" fmla="*/ 0 w 107"/>
                <a:gd name="T5" fmla="*/ 105 h 106"/>
                <a:gd name="T6" fmla="*/ 0 w 107"/>
                <a:gd name="T7" fmla="*/ 0 h 106"/>
                <a:gd name="T8" fmla="*/ 106 w 107"/>
                <a:gd name="T9" fmla="*/ 0 h 106"/>
                <a:gd name="T10" fmla="*/ 106 w 107"/>
                <a:gd name="T11" fmla="*/ 0 h 106"/>
              </a:gdLst>
              <a:ahLst/>
              <a:cxnLst>
                <a:cxn ang="0">
                  <a:pos x="T0" y="T1"/>
                </a:cxn>
                <a:cxn ang="0">
                  <a:pos x="T2" y="T3"/>
                </a:cxn>
                <a:cxn ang="0">
                  <a:pos x="T4" y="T5"/>
                </a:cxn>
                <a:cxn ang="0">
                  <a:pos x="T6" y="T7"/>
                </a:cxn>
                <a:cxn ang="0">
                  <a:pos x="T8" y="T9"/>
                </a:cxn>
                <a:cxn ang="0">
                  <a:pos x="T10" y="T11"/>
                </a:cxn>
              </a:cxnLst>
              <a:rect l="0" t="0" r="r" b="b"/>
              <a:pathLst>
                <a:path w="107" h="106">
                  <a:moveTo>
                    <a:pt x="106" y="0"/>
                  </a:moveTo>
                  <a:lnTo>
                    <a:pt x="106" y="105"/>
                  </a:lnTo>
                  <a:lnTo>
                    <a:pt x="0" y="105"/>
                  </a:lnTo>
                  <a:lnTo>
                    <a:pt x="0" y="0"/>
                  </a:lnTo>
                  <a:lnTo>
                    <a:pt x="106" y="0"/>
                  </a:lnTo>
                  <a:lnTo>
                    <a:pt x="106" y="0"/>
                  </a:lnTo>
                </a:path>
              </a:pathLst>
            </a:custGeom>
            <a:solidFill>
              <a:srgbClr val="FFFFFF"/>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 name="Text Box 19"/>
            <p:cNvSpPr txBox="1">
              <a:spLocks noChangeArrowheads="1"/>
            </p:cNvSpPr>
            <p:nvPr/>
          </p:nvSpPr>
          <p:spPr bwMode="auto">
            <a:xfrm>
              <a:off x="2173288" y="1773239"/>
              <a:ext cx="457200" cy="242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1500" b="1"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DUT</a:t>
              </a:r>
              <a:endParaRPr lang="en-US" altLang="zh-CN" sz="22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2692464" y="2737286"/>
            <a:ext cx="1497013" cy="963611"/>
            <a:chOff x="3524251" y="1706564"/>
            <a:chExt cx="1497013" cy="963611"/>
          </a:xfrm>
        </p:grpSpPr>
        <p:grpSp>
          <p:nvGrpSpPr>
            <p:cNvPr id="14" name="Group 146"/>
            <p:cNvGrpSpPr>
              <a:grpSpLocks/>
            </p:cNvGrpSpPr>
            <p:nvPr/>
          </p:nvGrpSpPr>
          <p:grpSpPr bwMode="auto">
            <a:xfrm>
              <a:off x="3524251" y="1706564"/>
              <a:ext cx="1497013" cy="446087"/>
              <a:chOff x="1728" y="1548"/>
              <a:chExt cx="1037" cy="319"/>
            </a:xfrm>
          </p:grpSpPr>
          <p:sp>
            <p:nvSpPr>
              <p:cNvPr id="17" name="Text Box 147"/>
              <p:cNvSpPr txBox="1">
                <a:spLocks noChangeArrowheads="1"/>
              </p:cNvSpPr>
              <p:nvPr/>
            </p:nvSpPr>
            <p:spPr bwMode="auto">
              <a:xfrm>
                <a:off x="2103" y="1672"/>
                <a:ext cx="318" cy="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647700" indent="-238125" defTabSz="409575">
                  <a:defRPr>
                    <a:solidFill>
                      <a:schemeClr val="tx1"/>
                    </a:solidFill>
                    <a:latin typeface="Arial" panose="020B0604020202020204" pitchFamily="34" charset="0"/>
                    <a:ea typeface="宋体" panose="02010600030101010101" pitchFamily="2" charset="-122"/>
                  </a:defRPr>
                </a:lvl2pPr>
                <a:lvl3pPr marL="1108075" indent="-2873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700"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thru</a:t>
                </a:r>
                <a:endParaRPr lang="en-US" altLang="zh-CN" sz="22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grpSp>
            <p:nvGrpSpPr>
              <p:cNvPr id="18" name="Group 148"/>
              <p:cNvGrpSpPr>
                <a:grpSpLocks/>
              </p:cNvGrpSpPr>
              <p:nvPr/>
            </p:nvGrpSpPr>
            <p:grpSpPr bwMode="auto">
              <a:xfrm>
                <a:off x="1728" y="1548"/>
                <a:ext cx="1037" cy="119"/>
                <a:chOff x="1728" y="1548"/>
                <a:chExt cx="1037" cy="119"/>
              </a:xfrm>
            </p:grpSpPr>
            <p:sp>
              <p:nvSpPr>
                <p:cNvPr id="19" name="Line 149"/>
                <p:cNvSpPr>
                  <a:spLocks noChangeShapeType="1"/>
                </p:cNvSpPr>
                <p:nvPr/>
              </p:nvSpPr>
              <p:spPr bwMode="auto">
                <a:xfrm>
                  <a:off x="1869" y="1607"/>
                  <a:ext cx="755" cy="0"/>
                </a:xfrm>
                <a:prstGeom prst="line">
                  <a:avLst/>
                </a:prstGeom>
                <a:noFill/>
                <a:ln w="476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0" name="AutoShape 150"/>
                <p:cNvSpPr>
                  <a:spLocks noChangeArrowheads="1"/>
                </p:cNvSpPr>
                <p:nvPr/>
              </p:nvSpPr>
              <p:spPr bwMode="auto">
                <a:xfrm flipV="1">
                  <a:off x="1728" y="1548"/>
                  <a:ext cx="147" cy="119"/>
                </a:xfrm>
                <a:prstGeom prst="roundRect">
                  <a:avLst>
                    <a:gd name="adj" fmla="val 0"/>
                  </a:avLst>
                </a:prstGeom>
                <a:solidFill>
                  <a:srgbClr val="C0E1FF"/>
                </a:solidFill>
                <a:ln w="19050">
                  <a:solidFill>
                    <a:srgbClr val="C0E1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1" name="AutoShape 151"/>
                <p:cNvSpPr>
                  <a:spLocks noChangeArrowheads="1"/>
                </p:cNvSpPr>
                <p:nvPr/>
              </p:nvSpPr>
              <p:spPr bwMode="auto">
                <a:xfrm flipV="1">
                  <a:off x="2619" y="1548"/>
                  <a:ext cx="146" cy="119"/>
                </a:xfrm>
                <a:prstGeom prst="roundRect">
                  <a:avLst>
                    <a:gd name="adj" fmla="val 0"/>
                  </a:avLst>
                </a:prstGeom>
                <a:solidFill>
                  <a:srgbClr val="C0E1FF"/>
                </a:solidFill>
                <a:ln w="19050">
                  <a:solidFill>
                    <a:srgbClr val="C0E1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grpSp>
        <p:sp>
          <p:nvSpPr>
            <p:cNvPr id="15" name="Freeform 173"/>
            <p:cNvSpPr>
              <a:spLocks/>
            </p:cNvSpPr>
            <p:nvPr/>
          </p:nvSpPr>
          <p:spPr bwMode="auto">
            <a:xfrm>
              <a:off x="3833813" y="2360613"/>
              <a:ext cx="804862" cy="309562"/>
            </a:xfrm>
            <a:custGeom>
              <a:avLst/>
              <a:gdLst>
                <a:gd name="T0" fmla="*/ 556 w 557"/>
                <a:gd name="T1" fmla="*/ 0 h 221"/>
                <a:gd name="T2" fmla="*/ 556 w 557"/>
                <a:gd name="T3" fmla="*/ 220 h 221"/>
                <a:gd name="T4" fmla="*/ 0 w 557"/>
                <a:gd name="T5" fmla="*/ 220 h 221"/>
                <a:gd name="T6" fmla="*/ 0 w 557"/>
                <a:gd name="T7" fmla="*/ 0 h 221"/>
                <a:gd name="T8" fmla="*/ 556 w 557"/>
                <a:gd name="T9" fmla="*/ 0 h 221"/>
                <a:gd name="T10" fmla="*/ 556 w 557"/>
                <a:gd name="T11" fmla="*/ 0 h 221"/>
              </a:gdLst>
              <a:ahLst/>
              <a:cxnLst>
                <a:cxn ang="0">
                  <a:pos x="T0" y="T1"/>
                </a:cxn>
                <a:cxn ang="0">
                  <a:pos x="T2" y="T3"/>
                </a:cxn>
                <a:cxn ang="0">
                  <a:pos x="T4" y="T5"/>
                </a:cxn>
                <a:cxn ang="0">
                  <a:pos x="T6" y="T7"/>
                </a:cxn>
                <a:cxn ang="0">
                  <a:pos x="T8" y="T9"/>
                </a:cxn>
                <a:cxn ang="0">
                  <a:pos x="T10" y="T11"/>
                </a:cxn>
              </a:cxnLst>
              <a:rect l="0" t="0" r="r" b="b"/>
              <a:pathLst>
                <a:path w="557" h="221">
                  <a:moveTo>
                    <a:pt x="556" y="0"/>
                  </a:moveTo>
                  <a:lnTo>
                    <a:pt x="556" y="220"/>
                  </a:lnTo>
                  <a:lnTo>
                    <a:pt x="0" y="220"/>
                  </a:lnTo>
                  <a:lnTo>
                    <a:pt x="0" y="0"/>
                  </a:lnTo>
                  <a:lnTo>
                    <a:pt x="556" y="0"/>
                  </a:lnTo>
                  <a:lnTo>
                    <a:pt x="556" y="0"/>
                  </a:lnTo>
                </a:path>
              </a:pathLst>
            </a:custGeom>
            <a:gradFill rotWithShape="0">
              <a:gsLst>
                <a:gs pos="0">
                  <a:srgbClr val="80FF80"/>
                </a:gs>
                <a:gs pos="50000">
                  <a:srgbClr val="FFFFFF"/>
                </a:gs>
                <a:gs pos="100000">
                  <a:srgbClr val="80FF80"/>
                </a:gs>
              </a:gsLst>
              <a:lin ang="5400000" scaled="1"/>
            </a:gra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 name="Text Box 176"/>
            <p:cNvSpPr txBox="1">
              <a:spLocks noChangeArrowheads="1"/>
            </p:cNvSpPr>
            <p:nvPr/>
          </p:nvSpPr>
          <p:spPr bwMode="auto">
            <a:xfrm>
              <a:off x="4022725" y="2389189"/>
              <a:ext cx="457200" cy="242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1500" b="1"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DUT</a:t>
              </a:r>
              <a:endParaRPr lang="en-US" altLang="zh-CN" sz="22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grpSp>
      <p:grpSp>
        <p:nvGrpSpPr>
          <p:cNvPr id="22" name="组合 21"/>
          <p:cNvGrpSpPr/>
          <p:nvPr/>
        </p:nvGrpSpPr>
        <p:grpSpPr>
          <a:xfrm>
            <a:off x="5349054" y="2325882"/>
            <a:ext cx="1130300" cy="1795462"/>
            <a:chOff x="6029325" y="1398588"/>
            <a:chExt cx="1130300" cy="1795462"/>
          </a:xfrm>
        </p:grpSpPr>
        <p:sp>
          <p:nvSpPr>
            <p:cNvPr id="23" name="AutoShape 20"/>
            <p:cNvSpPr>
              <a:spLocks noChangeArrowheads="1"/>
            </p:cNvSpPr>
            <p:nvPr/>
          </p:nvSpPr>
          <p:spPr bwMode="auto">
            <a:xfrm flipV="1">
              <a:off x="6229351" y="1492251"/>
              <a:ext cx="511175" cy="257175"/>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4" name="AutoShape 21"/>
            <p:cNvSpPr>
              <a:spLocks noChangeArrowheads="1"/>
            </p:cNvSpPr>
            <p:nvPr/>
          </p:nvSpPr>
          <p:spPr bwMode="auto">
            <a:xfrm flipV="1">
              <a:off x="6740525" y="1508125"/>
              <a:ext cx="242888" cy="171450"/>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5" name="AutoShape 22"/>
            <p:cNvSpPr>
              <a:spLocks noChangeArrowheads="1"/>
            </p:cNvSpPr>
            <p:nvPr/>
          </p:nvSpPr>
          <p:spPr bwMode="auto">
            <a:xfrm flipV="1">
              <a:off x="6981826" y="1550989"/>
              <a:ext cx="119063" cy="85725"/>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6" name="Line 23"/>
            <p:cNvSpPr>
              <a:spLocks noChangeShapeType="1"/>
            </p:cNvSpPr>
            <p:nvPr/>
          </p:nvSpPr>
          <p:spPr bwMode="auto">
            <a:xfrm>
              <a:off x="6992938" y="1560514"/>
              <a:ext cx="6350"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7" name="Line 24"/>
            <p:cNvSpPr>
              <a:spLocks noChangeShapeType="1"/>
            </p:cNvSpPr>
            <p:nvPr/>
          </p:nvSpPr>
          <p:spPr bwMode="auto">
            <a:xfrm>
              <a:off x="7008813" y="1560514"/>
              <a:ext cx="4762"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8" name="Line 25"/>
            <p:cNvSpPr>
              <a:spLocks noChangeShapeType="1"/>
            </p:cNvSpPr>
            <p:nvPr/>
          </p:nvSpPr>
          <p:spPr bwMode="auto">
            <a:xfrm>
              <a:off x="7024688" y="1558926"/>
              <a:ext cx="4762"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9" name="Line 26"/>
            <p:cNvSpPr>
              <a:spLocks noChangeShapeType="1"/>
            </p:cNvSpPr>
            <p:nvPr/>
          </p:nvSpPr>
          <p:spPr bwMode="auto">
            <a:xfrm>
              <a:off x="7040564" y="1558926"/>
              <a:ext cx="3175"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0" name="Line 27"/>
            <p:cNvSpPr>
              <a:spLocks noChangeShapeType="1"/>
            </p:cNvSpPr>
            <p:nvPr/>
          </p:nvSpPr>
          <p:spPr bwMode="auto">
            <a:xfrm>
              <a:off x="7054851" y="1560514"/>
              <a:ext cx="4763"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1" name="Line 28"/>
            <p:cNvSpPr>
              <a:spLocks noChangeShapeType="1"/>
            </p:cNvSpPr>
            <p:nvPr/>
          </p:nvSpPr>
          <p:spPr bwMode="auto">
            <a:xfrm>
              <a:off x="7070725" y="1560514"/>
              <a:ext cx="6350"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2" name="Line 29"/>
            <p:cNvSpPr>
              <a:spLocks noChangeShapeType="1"/>
            </p:cNvSpPr>
            <p:nvPr/>
          </p:nvSpPr>
          <p:spPr bwMode="auto">
            <a:xfrm>
              <a:off x="7085013" y="1558926"/>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3" name="AutoShape 30"/>
            <p:cNvSpPr>
              <a:spLocks noChangeArrowheads="1"/>
            </p:cNvSpPr>
            <p:nvPr/>
          </p:nvSpPr>
          <p:spPr bwMode="auto">
            <a:xfrm flipV="1">
              <a:off x="6210300" y="1398588"/>
              <a:ext cx="509588" cy="309562"/>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4" name="AutoShape 31"/>
            <p:cNvSpPr>
              <a:spLocks noChangeArrowheads="1"/>
            </p:cNvSpPr>
            <p:nvPr/>
          </p:nvSpPr>
          <p:spPr bwMode="auto">
            <a:xfrm flipV="1">
              <a:off x="6719889" y="1468438"/>
              <a:ext cx="244475" cy="169862"/>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5" name="AutoShape 32"/>
            <p:cNvSpPr>
              <a:spLocks noChangeArrowheads="1"/>
            </p:cNvSpPr>
            <p:nvPr/>
          </p:nvSpPr>
          <p:spPr bwMode="auto">
            <a:xfrm flipV="1">
              <a:off x="6961188" y="1509713"/>
              <a:ext cx="120650" cy="87312"/>
            </a:xfrm>
            <a:prstGeom prst="roundRect">
              <a:avLst>
                <a:gd name="adj" fmla="val 0"/>
              </a:avLst>
            </a:prstGeom>
            <a:gradFill rotWithShape="0">
              <a:gsLst>
                <a:gs pos="0">
                  <a:srgbClr val="C0C0C0"/>
                </a:gs>
                <a:gs pos="50000">
                  <a:srgbClr val="EFEFEF"/>
                </a:gs>
                <a:gs pos="100000">
                  <a:srgbClr val="C0C0C0"/>
                </a:gs>
              </a:gsLst>
              <a:lin ang="189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6" name="Line 33"/>
            <p:cNvSpPr>
              <a:spLocks noChangeShapeType="1"/>
            </p:cNvSpPr>
            <p:nvPr/>
          </p:nvSpPr>
          <p:spPr bwMode="auto">
            <a:xfrm>
              <a:off x="6973888" y="1517650"/>
              <a:ext cx="4762"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7" name="Line 34"/>
            <p:cNvSpPr>
              <a:spLocks noChangeShapeType="1"/>
            </p:cNvSpPr>
            <p:nvPr/>
          </p:nvSpPr>
          <p:spPr bwMode="auto">
            <a:xfrm>
              <a:off x="6989764" y="1517650"/>
              <a:ext cx="3175"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8" name="Line 35"/>
            <p:cNvSpPr>
              <a:spLocks noChangeShapeType="1"/>
            </p:cNvSpPr>
            <p:nvPr/>
          </p:nvSpPr>
          <p:spPr bwMode="auto">
            <a:xfrm>
              <a:off x="7004051" y="1517650"/>
              <a:ext cx="4763"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39" name="Line 36"/>
            <p:cNvSpPr>
              <a:spLocks noChangeShapeType="1"/>
            </p:cNvSpPr>
            <p:nvPr/>
          </p:nvSpPr>
          <p:spPr bwMode="auto">
            <a:xfrm>
              <a:off x="7019926" y="1517650"/>
              <a:ext cx="4763"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0" name="Line 37"/>
            <p:cNvSpPr>
              <a:spLocks noChangeShapeType="1"/>
            </p:cNvSpPr>
            <p:nvPr/>
          </p:nvSpPr>
          <p:spPr bwMode="auto">
            <a:xfrm>
              <a:off x="7034213" y="1517650"/>
              <a:ext cx="6350"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1" name="Line 38"/>
            <p:cNvSpPr>
              <a:spLocks noChangeShapeType="1"/>
            </p:cNvSpPr>
            <p:nvPr/>
          </p:nvSpPr>
          <p:spPr bwMode="auto">
            <a:xfrm>
              <a:off x="7051676" y="1517650"/>
              <a:ext cx="4763"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2" name="Line 39"/>
            <p:cNvSpPr>
              <a:spLocks noChangeShapeType="1"/>
            </p:cNvSpPr>
            <p:nvPr/>
          </p:nvSpPr>
          <p:spPr bwMode="auto">
            <a:xfrm>
              <a:off x="7065963" y="1517650"/>
              <a:ext cx="4762"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3" name="Text Box 40"/>
            <p:cNvSpPr txBox="1">
              <a:spLocks noChangeArrowheads="1"/>
            </p:cNvSpPr>
            <p:nvPr/>
          </p:nvSpPr>
          <p:spPr bwMode="auto">
            <a:xfrm>
              <a:off x="6289676" y="1492250"/>
              <a:ext cx="404813"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484188" indent="-74613" defTabSz="409575">
                <a:defRPr>
                  <a:solidFill>
                    <a:schemeClr val="tx1"/>
                  </a:solidFill>
                  <a:latin typeface="Arial" panose="020B0604020202020204" pitchFamily="34" charset="0"/>
                  <a:ea typeface="宋体" panose="02010600030101010101" pitchFamily="2" charset="-122"/>
                </a:defRPr>
              </a:lvl2pPr>
              <a:lvl3pPr marL="882650" indent="-61913"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800" b="1">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SHORT</a:t>
              </a:r>
              <a:endParaRPr lang="en-US" altLang="zh-CN" sz="220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44" name="AutoShape 41"/>
            <p:cNvSpPr>
              <a:spLocks noChangeArrowheads="1"/>
            </p:cNvSpPr>
            <p:nvPr/>
          </p:nvSpPr>
          <p:spPr bwMode="auto">
            <a:xfrm flipV="1">
              <a:off x="6229350" y="1903414"/>
              <a:ext cx="509588" cy="257175"/>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5" name="AutoShape 42"/>
            <p:cNvSpPr>
              <a:spLocks noChangeArrowheads="1"/>
            </p:cNvSpPr>
            <p:nvPr/>
          </p:nvSpPr>
          <p:spPr bwMode="auto">
            <a:xfrm flipV="1">
              <a:off x="6738939" y="1919288"/>
              <a:ext cx="244475" cy="171450"/>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6" name="AutoShape 43"/>
            <p:cNvSpPr>
              <a:spLocks noChangeArrowheads="1"/>
            </p:cNvSpPr>
            <p:nvPr/>
          </p:nvSpPr>
          <p:spPr bwMode="auto">
            <a:xfrm flipV="1">
              <a:off x="6981826" y="1962151"/>
              <a:ext cx="119063" cy="87313"/>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7" name="Line 44"/>
            <p:cNvSpPr>
              <a:spLocks noChangeShapeType="1"/>
            </p:cNvSpPr>
            <p:nvPr/>
          </p:nvSpPr>
          <p:spPr bwMode="auto">
            <a:xfrm>
              <a:off x="6992938" y="1970088"/>
              <a:ext cx="6350"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8" name="Line 45"/>
            <p:cNvSpPr>
              <a:spLocks noChangeShapeType="1"/>
            </p:cNvSpPr>
            <p:nvPr/>
          </p:nvSpPr>
          <p:spPr bwMode="auto">
            <a:xfrm>
              <a:off x="7008813" y="1970088"/>
              <a:ext cx="4762"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49" name="Line 46"/>
            <p:cNvSpPr>
              <a:spLocks noChangeShapeType="1"/>
            </p:cNvSpPr>
            <p:nvPr/>
          </p:nvSpPr>
          <p:spPr bwMode="auto">
            <a:xfrm>
              <a:off x="7024688" y="1970088"/>
              <a:ext cx="4762"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0" name="Line 47"/>
            <p:cNvSpPr>
              <a:spLocks noChangeShapeType="1"/>
            </p:cNvSpPr>
            <p:nvPr/>
          </p:nvSpPr>
          <p:spPr bwMode="auto">
            <a:xfrm>
              <a:off x="7038976" y="1970088"/>
              <a:ext cx="3175"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1" name="Line 48"/>
            <p:cNvSpPr>
              <a:spLocks noChangeShapeType="1"/>
            </p:cNvSpPr>
            <p:nvPr/>
          </p:nvSpPr>
          <p:spPr bwMode="auto">
            <a:xfrm>
              <a:off x="7054851" y="1970088"/>
              <a:ext cx="4763"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2" name="Line 49"/>
            <p:cNvSpPr>
              <a:spLocks noChangeShapeType="1"/>
            </p:cNvSpPr>
            <p:nvPr/>
          </p:nvSpPr>
          <p:spPr bwMode="auto">
            <a:xfrm>
              <a:off x="7070726" y="1970088"/>
              <a:ext cx="4763"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3" name="Line 50"/>
            <p:cNvSpPr>
              <a:spLocks noChangeShapeType="1"/>
            </p:cNvSpPr>
            <p:nvPr/>
          </p:nvSpPr>
          <p:spPr bwMode="auto">
            <a:xfrm>
              <a:off x="7085013" y="1970088"/>
              <a:ext cx="4762"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4" name="AutoShape 51"/>
            <p:cNvSpPr>
              <a:spLocks noChangeArrowheads="1"/>
            </p:cNvSpPr>
            <p:nvPr/>
          </p:nvSpPr>
          <p:spPr bwMode="auto">
            <a:xfrm flipV="1">
              <a:off x="6210300" y="1811338"/>
              <a:ext cx="509588" cy="309562"/>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5" name="AutoShape 52"/>
            <p:cNvSpPr>
              <a:spLocks noChangeArrowheads="1"/>
            </p:cNvSpPr>
            <p:nvPr/>
          </p:nvSpPr>
          <p:spPr bwMode="auto">
            <a:xfrm flipV="1">
              <a:off x="6719889" y="1879600"/>
              <a:ext cx="244475" cy="171450"/>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6" name="AutoShape 53"/>
            <p:cNvSpPr>
              <a:spLocks noChangeArrowheads="1"/>
            </p:cNvSpPr>
            <p:nvPr/>
          </p:nvSpPr>
          <p:spPr bwMode="auto">
            <a:xfrm flipV="1">
              <a:off x="6961188" y="1920875"/>
              <a:ext cx="120650" cy="88900"/>
            </a:xfrm>
            <a:prstGeom prst="roundRect">
              <a:avLst>
                <a:gd name="adj" fmla="val 0"/>
              </a:avLst>
            </a:prstGeom>
            <a:gradFill rotWithShape="0">
              <a:gsLst>
                <a:gs pos="0">
                  <a:srgbClr val="C0C0C0"/>
                </a:gs>
                <a:gs pos="50000">
                  <a:srgbClr val="EFEFEF"/>
                </a:gs>
                <a:gs pos="100000">
                  <a:srgbClr val="C0C0C0"/>
                </a:gs>
              </a:gsLst>
              <a:lin ang="189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7" name="Line 54"/>
            <p:cNvSpPr>
              <a:spLocks noChangeShapeType="1"/>
            </p:cNvSpPr>
            <p:nvPr/>
          </p:nvSpPr>
          <p:spPr bwMode="auto">
            <a:xfrm>
              <a:off x="6973888" y="1930401"/>
              <a:ext cx="4762"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8" name="Line 55"/>
            <p:cNvSpPr>
              <a:spLocks noChangeShapeType="1"/>
            </p:cNvSpPr>
            <p:nvPr/>
          </p:nvSpPr>
          <p:spPr bwMode="auto">
            <a:xfrm>
              <a:off x="6988176" y="1930401"/>
              <a:ext cx="4763"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59" name="Line 56"/>
            <p:cNvSpPr>
              <a:spLocks noChangeShapeType="1"/>
            </p:cNvSpPr>
            <p:nvPr/>
          </p:nvSpPr>
          <p:spPr bwMode="auto">
            <a:xfrm>
              <a:off x="7004051" y="1930401"/>
              <a:ext cx="4763"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0" name="Line 57"/>
            <p:cNvSpPr>
              <a:spLocks noChangeShapeType="1"/>
            </p:cNvSpPr>
            <p:nvPr/>
          </p:nvSpPr>
          <p:spPr bwMode="auto">
            <a:xfrm>
              <a:off x="7018338" y="1930401"/>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1" name="Line 58"/>
            <p:cNvSpPr>
              <a:spLocks noChangeShapeType="1"/>
            </p:cNvSpPr>
            <p:nvPr/>
          </p:nvSpPr>
          <p:spPr bwMode="auto">
            <a:xfrm>
              <a:off x="7034213" y="1930400"/>
              <a:ext cx="6350"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2" name="Line 59"/>
            <p:cNvSpPr>
              <a:spLocks noChangeShapeType="1"/>
            </p:cNvSpPr>
            <p:nvPr/>
          </p:nvSpPr>
          <p:spPr bwMode="auto">
            <a:xfrm>
              <a:off x="7050088" y="1930401"/>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3" name="Line 60"/>
            <p:cNvSpPr>
              <a:spLocks noChangeShapeType="1"/>
            </p:cNvSpPr>
            <p:nvPr/>
          </p:nvSpPr>
          <p:spPr bwMode="auto">
            <a:xfrm>
              <a:off x="7065963" y="1930401"/>
              <a:ext cx="4762"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4" name="Text Box 61"/>
            <p:cNvSpPr txBox="1">
              <a:spLocks noChangeArrowheads="1"/>
            </p:cNvSpPr>
            <p:nvPr/>
          </p:nvSpPr>
          <p:spPr bwMode="auto">
            <a:xfrm>
              <a:off x="6316664" y="1903413"/>
              <a:ext cx="333375" cy="131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484188" indent="-74613" defTabSz="409575">
                <a:defRPr>
                  <a:solidFill>
                    <a:schemeClr val="tx1"/>
                  </a:solidFill>
                  <a:latin typeface="Arial" panose="020B0604020202020204" pitchFamily="34" charset="0"/>
                  <a:ea typeface="宋体" panose="02010600030101010101" pitchFamily="2" charset="-122"/>
                </a:defRPr>
              </a:lvl2pPr>
              <a:lvl3pPr marL="882650" indent="-61913"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800" b="1">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OPEN</a:t>
              </a:r>
              <a:endParaRPr lang="en-US" altLang="zh-CN" sz="220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grpSp>
          <p:nvGrpSpPr>
            <p:cNvPr id="65" name="Group 177"/>
            <p:cNvGrpSpPr>
              <a:grpSpLocks/>
            </p:cNvGrpSpPr>
            <p:nvPr/>
          </p:nvGrpSpPr>
          <p:grpSpPr bwMode="auto">
            <a:xfrm>
              <a:off x="6049963" y="2884488"/>
              <a:ext cx="1109662" cy="309562"/>
              <a:chOff x="3444" y="2307"/>
              <a:chExt cx="769" cy="221"/>
            </a:xfrm>
          </p:grpSpPr>
          <p:sp>
            <p:nvSpPr>
              <p:cNvPr id="91" name="Freeform 178"/>
              <p:cNvSpPr>
                <a:spLocks/>
              </p:cNvSpPr>
              <p:nvPr/>
            </p:nvSpPr>
            <p:spPr bwMode="auto">
              <a:xfrm>
                <a:off x="3550" y="2307"/>
                <a:ext cx="557" cy="221"/>
              </a:xfrm>
              <a:custGeom>
                <a:avLst/>
                <a:gdLst>
                  <a:gd name="T0" fmla="*/ 556 w 557"/>
                  <a:gd name="T1" fmla="*/ 0 h 221"/>
                  <a:gd name="T2" fmla="*/ 556 w 557"/>
                  <a:gd name="T3" fmla="*/ 220 h 221"/>
                  <a:gd name="T4" fmla="*/ 0 w 557"/>
                  <a:gd name="T5" fmla="*/ 220 h 221"/>
                  <a:gd name="T6" fmla="*/ 0 w 557"/>
                  <a:gd name="T7" fmla="*/ 0 h 221"/>
                  <a:gd name="T8" fmla="*/ 556 w 557"/>
                  <a:gd name="T9" fmla="*/ 0 h 221"/>
                  <a:gd name="T10" fmla="*/ 556 w 557"/>
                  <a:gd name="T11" fmla="*/ 0 h 221"/>
                </a:gdLst>
                <a:ahLst/>
                <a:cxnLst>
                  <a:cxn ang="0">
                    <a:pos x="T0" y="T1"/>
                  </a:cxn>
                  <a:cxn ang="0">
                    <a:pos x="T2" y="T3"/>
                  </a:cxn>
                  <a:cxn ang="0">
                    <a:pos x="T4" y="T5"/>
                  </a:cxn>
                  <a:cxn ang="0">
                    <a:pos x="T6" y="T7"/>
                  </a:cxn>
                  <a:cxn ang="0">
                    <a:pos x="T8" y="T9"/>
                  </a:cxn>
                  <a:cxn ang="0">
                    <a:pos x="T10" y="T11"/>
                  </a:cxn>
                </a:cxnLst>
                <a:rect l="0" t="0" r="r" b="b"/>
                <a:pathLst>
                  <a:path w="557" h="221">
                    <a:moveTo>
                      <a:pt x="556" y="0"/>
                    </a:moveTo>
                    <a:lnTo>
                      <a:pt x="556" y="220"/>
                    </a:lnTo>
                    <a:lnTo>
                      <a:pt x="0" y="220"/>
                    </a:lnTo>
                    <a:lnTo>
                      <a:pt x="0" y="0"/>
                    </a:lnTo>
                    <a:lnTo>
                      <a:pt x="556" y="0"/>
                    </a:lnTo>
                    <a:lnTo>
                      <a:pt x="556" y="0"/>
                    </a:lnTo>
                  </a:path>
                </a:pathLst>
              </a:custGeom>
              <a:solidFill>
                <a:srgbClr val="000000"/>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2" name="Freeform 179"/>
              <p:cNvSpPr>
                <a:spLocks/>
              </p:cNvSpPr>
              <p:nvPr/>
            </p:nvSpPr>
            <p:spPr bwMode="auto">
              <a:xfrm>
                <a:off x="3444" y="2370"/>
                <a:ext cx="106" cy="107"/>
              </a:xfrm>
              <a:custGeom>
                <a:avLst/>
                <a:gdLst>
                  <a:gd name="T0" fmla="*/ 105 w 106"/>
                  <a:gd name="T1" fmla="*/ 0 h 107"/>
                  <a:gd name="T2" fmla="*/ 105 w 106"/>
                  <a:gd name="T3" fmla="*/ 106 h 107"/>
                  <a:gd name="T4" fmla="*/ 0 w 106"/>
                  <a:gd name="T5" fmla="*/ 106 h 107"/>
                  <a:gd name="T6" fmla="*/ 0 w 106"/>
                  <a:gd name="T7" fmla="*/ 0 h 107"/>
                  <a:gd name="T8" fmla="*/ 105 w 106"/>
                  <a:gd name="T9" fmla="*/ 0 h 107"/>
                  <a:gd name="T10" fmla="*/ 105 w 106"/>
                  <a:gd name="T11" fmla="*/ 0 h 107"/>
                </a:gdLst>
                <a:ahLst/>
                <a:cxnLst>
                  <a:cxn ang="0">
                    <a:pos x="T0" y="T1"/>
                  </a:cxn>
                  <a:cxn ang="0">
                    <a:pos x="T2" y="T3"/>
                  </a:cxn>
                  <a:cxn ang="0">
                    <a:pos x="T4" y="T5"/>
                  </a:cxn>
                  <a:cxn ang="0">
                    <a:pos x="T6" y="T7"/>
                  </a:cxn>
                  <a:cxn ang="0">
                    <a:pos x="T8" y="T9"/>
                  </a:cxn>
                  <a:cxn ang="0">
                    <a:pos x="T10" y="T11"/>
                  </a:cxn>
                </a:cxnLst>
                <a:rect l="0" t="0" r="r" b="b"/>
                <a:pathLst>
                  <a:path w="106" h="107">
                    <a:moveTo>
                      <a:pt x="105" y="0"/>
                    </a:moveTo>
                    <a:lnTo>
                      <a:pt x="105" y="106"/>
                    </a:lnTo>
                    <a:lnTo>
                      <a:pt x="0" y="106"/>
                    </a:lnTo>
                    <a:lnTo>
                      <a:pt x="0" y="0"/>
                    </a:lnTo>
                    <a:lnTo>
                      <a:pt x="105" y="0"/>
                    </a:lnTo>
                    <a:lnTo>
                      <a:pt x="105" y="0"/>
                    </a:lnTo>
                  </a:path>
                </a:pathLst>
              </a:custGeom>
              <a:solidFill>
                <a:srgbClr val="000000"/>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3" name="Freeform 180"/>
              <p:cNvSpPr>
                <a:spLocks/>
              </p:cNvSpPr>
              <p:nvPr/>
            </p:nvSpPr>
            <p:spPr bwMode="auto">
              <a:xfrm>
                <a:off x="4106" y="2372"/>
                <a:ext cx="107" cy="105"/>
              </a:xfrm>
              <a:custGeom>
                <a:avLst/>
                <a:gdLst>
                  <a:gd name="T0" fmla="*/ 106 w 107"/>
                  <a:gd name="T1" fmla="*/ 0 h 105"/>
                  <a:gd name="T2" fmla="*/ 106 w 107"/>
                  <a:gd name="T3" fmla="*/ 104 h 105"/>
                  <a:gd name="T4" fmla="*/ 0 w 107"/>
                  <a:gd name="T5" fmla="*/ 104 h 105"/>
                  <a:gd name="T6" fmla="*/ 0 w 107"/>
                  <a:gd name="T7" fmla="*/ 0 h 105"/>
                  <a:gd name="T8" fmla="*/ 106 w 107"/>
                  <a:gd name="T9" fmla="*/ 0 h 105"/>
                  <a:gd name="T10" fmla="*/ 106 w 107"/>
                  <a:gd name="T11" fmla="*/ 0 h 105"/>
                </a:gdLst>
                <a:ahLst/>
                <a:cxnLst>
                  <a:cxn ang="0">
                    <a:pos x="T0" y="T1"/>
                  </a:cxn>
                  <a:cxn ang="0">
                    <a:pos x="T2" y="T3"/>
                  </a:cxn>
                  <a:cxn ang="0">
                    <a:pos x="T4" y="T5"/>
                  </a:cxn>
                  <a:cxn ang="0">
                    <a:pos x="T6" y="T7"/>
                  </a:cxn>
                  <a:cxn ang="0">
                    <a:pos x="T8" y="T9"/>
                  </a:cxn>
                  <a:cxn ang="0">
                    <a:pos x="T10" y="T11"/>
                  </a:cxn>
                </a:cxnLst>
                <a:rect l="0" t="0" r="r" b="b"/>
                <a:pathLst>
                  <a:path w="107" h="105">
                    <a:moveTo>
                      <a:pt x="106" y="0"/>
                    </a:moveTo>
                    <a:lnTo>
                      <a:pt x="106" y="104"/>
                    </a:lnTo>
                    <a:lnTo>
                      <a:pt x="0" y="104"/>
                    </a:lnTo>
                    <a:lnTo>
                      <a:pt x="0" y="0"/>
                    </a:lnTo>
                    <a:lnTo>
                      <a:pt x="106" y="0"/>
                    </a:lnTo>
                    <a:lnTo>
                      <a:pt x="106" y="0"/>
                    </a:lnTo>
                  </a:path>
                </a:pathLst>
              </a:custGeom>
              <a:solidFill>
                <a:srgbClr val="000000"/>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66" name="Freeform 181"/>
            <p:cNvSpPr>
              <a:spLocks/>
            </p:cNvSpPr>
            <p:nvPr/>
          </p:nvSpPr>
          <p:spPr bwMode="auto">
            <a:xfrm>
              <a:off x="6183314" y="2859088"/>
              <a:ext cx="803275" cy="309562"/>
            </a:xfrm>
            <a:custGeom>
              <a:avLst/>
              <a:gdLst>
                <a:gd name="T0" fmla="*/ 555 w 556"/>
                <a:gd name="T1" fmla="*/ 0 h 221"/>
                <a:gd name="T2" fmla="*/ 555 w 556"/>
                <a:gd name="T3" fmla="*/ 220 h 221"/>
                <a:gd name="T4" fmla="*/ 0 w 556"/>
                <a:gd name="T5" fmla="*/ 220 h 221"/>
                <a:gd name="T6" fmla="*/ 0 w 556"/>
                <a:gd name="T7" fmla="*/ 0 h 221"/>
                <a:gd name="T8" fmla="*/ 555 w 556"/>
                <a:gd name="T9" fmla="*/ 0 h 221"/>
                <a:gd name="T10" fmla="*/ 555 w 556"/>
                <a:gd name="T11" fmla="*/ 0 h 221"/>
              </a:gdLst>
              <a:ahLst/>
              <a:cxnLst>
                <a:cxn ang="0">
                  <a:pos x="T0" y="T1"/>
                </a:cxn>
                <a:cxn ang="0">
                  <a:pos x="T2" y="T3"/>
                </a:cxn>
                <a:cxn ang="0">
                  <a:pos x="T4" y="T5"/>
                </a:cxn>
                <a:cxn ang="0">
                  <a:pos x="T6" y="T7"/>
                </a:cxn>
                <a:cxn ang="0">
                  <a:pos x="T8" y="T9"/>
                </a:cxn>
                <a:cxn ang="0">
                  <a:pos x="T10" y="T11"/>
                </a:cxn>
              </a:cxnLst>
              <a:rect l="0" t="0" r="r" b="b"/>
              <a:pathLst>
                <a:path w="556" h="221">
                  <a:moveTo>
                    <a:pt x="555" y="0"/>
                  </a:moveTo>
                  <a:lnTo>
                    <a:pt x="555" y="220"/>
                  </a:lnTo>
                  <a:lnTo>
                    <a:pt x="0" y="220"/>
                  </a:lnTo>
                  <a:lnTo>
                    <a:pt x="0" y="0"/>
                  </a:lnTo>
                  <a:lnTo>
                    <a:pt x="555" y="0"/>
                  </a:lnTo>
                  <a:lnTo>
                    <a:pt x="555" y="0"/>
                  </a:lnTo>
                </a:path>
              </a:pathLst>
            </a:custGeom>
            <a:gradFill rotWithShape="0">
              <a:gsLst>
                <a:gs pos="0">
                  <a:srgbClr val="80FF80"/>
                </a:gs>
                <a:gs pos="50000">
                  <a:srgbClr val="FFFFFF"/>
                </a:gs>
                <a:gs pos="100000">
                  <a:srgbClr val="80FF80"/>
                </a:gs>
              </a:gsLst>
              <a:lin ang="5400000" scaled="1"/>
            </a:gra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7" name="Freeform 182"/>
            <p:cNvSpPr>
              <a:spLocks/>
            </p:cNvSpPr>
            <p:nvPr/>
          </p:nvSpPr>
          <p:spPr bwMode="auto">
            <a:xfrm>
              <a:off x="6029325" y="2946401"/>
              <a:ext cx="153988" cy="150813"/>
            </a:xfrm>
            <a:custGeom>
              <a:avLst/>
              <a:gdLst>
                <a:gd name="T0" fmla="*/ 106 w 107"/>
                <a:gd name="T1" fmla="*/ 0 h 107"/>
                <a:gd name="T2" fmla="*/ 106 w 107"/>
                <a:gd name="T3" fmla="*/ 106 h 107"/>
                <a:gd name="T4" fmla="*/ 0 w 107"/>
                <a:gd name="T5" fmla="*/ 106 h 107"/>
                <a:gd name="T6" fmla="*/ 0 w 107"/>
                <a:gd name="T7" fmla="*/ 0 h 107"/>
                <a:gd name="T8" fmla="*/ 106 w 107"/>
                <a:gd name="T9" fmla="*/ 0 h 107"/>
                <a:gd name="T10" fmla="*/ 106 w 107"/>
                <a:gd name="T11" fmla="*/ 0 h 107"/>
              </a:gdLst>
              <a:ahLst/>
              <a:cxnLst>
                <a:cxn ang="0">
                  <a:pos x="T0" y="T1"/>
                </a:cxn>
                <a:cxn ang="0">
                  <a:pos x="T2" y="T3"/>
                </a:cxn>
                <a:cxn ang="0">
                  <a:pos x="T4" y="T5"/>
                </a:cxn>
                <a:cxn ang="0">
                  <a:pos x="T6" y="T7"/>
                </a:cxn>
                <a:cxn ang="0">
                  <a:pos x="T8" y="T9"/>
                </a:cxn>
                <a:cxn ang="0">
                  <a:pos x="T10" y="T11"/>
                </a:cxn>
              </a:cxnLst>
              <a:rect l="0" t="0" r="r" b="b"/>
              <a:pathLst>
                <a:path w="107" h="107">
                  <a:moveTo>
                    <a:pt x="106" y="0"/>
                  </a:moveTo>
                  <a:lnTo>
                    <a:pt x="106" y="106"/>
                  </a:lnTo>
                  <a:lnTo>
                    <a:pt x="0" y="106"/>
                  </a:lnTo>
                  <a:lnTo>
                    <a:pt x="0" y="0"/>
                  </a:lnTo>
                  <a:lnTo>
                    <a:pt x="106" y="0"/>
                  </a:lnTo>
                  <a:lnTo>
                    <a:pt x="106" y="0"/>
                  </a:lnTo>
                </a:path>
              </a:pathLst>
            </a:custGeom>
            <a:solidFill>
              <a:srgbClr val="FFFFFF"/>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8" name="Freeform 183"/>
            <p:cNvSpPr>
              <a:spLocks/>
            </p:cNvSpPr>
            <p:nvPr/>
          </p:nvSpPr>
          <p:spPr bwMode="auto">
            <a:xfrm>
              <a:off x="6985000" y="2949575"/>
              <a:ext cx="153988" cy="147638"/>
            </a:xfrm>
            <a:custGeom>
              <a:avLst/>
              <a:gdLst>
                <a:gd name="T0" fmla="*/ 106 w 107"/>
                <a:gd name="T1" fmla="*/ 0 h 105"/>
                <a:gd name="T2" fmla="*/ 106 w 107"/>
                <a:gd name="T3" fmla="*/ 104 h 105"/>
                <a:gd name="T4" fmla="*/ 0 w 107"/>
                <a:gd name="T5" fmla="*/ 104 h 105"/>
                <a:gd name="T6" fmla="*/ 0 w 107"/>
                <a:gd name="T7" fmla="*/ 0 h 105"/>
                <a:gd name="T8" fmla="*/ 106 w 107"/>
                <a:gd name="T9" fmla="*/ 0 h 105"/>
                <a:gd name="T10" fmla="*/ 106 w 107"/>
                <a:gd name="T11" fmla="*/ 0 h 105"/>
              </a:gdLst>
              <a:ahLst/>
              <a:cxnLst>
                <a:cxn ang="0">
                  <a:pos x="T0" y="T1"/>
                </a:cxn>
                <a:cxn ang="0">
                  <a:pos x="T2" y="T3"/>
                </a:cxn>
                <a:cxn ang="0">
                  <a:pos x="T4" y="T5"/>
                </a:cxn>
                <a:cxn ang="0">
                  <a:pos x="T6" y="T7"/>
                </a:cxn>
                <a:cxn ang="0">
                  <a:pos x="T8" y="T9"/>
                </a:cxn>
                <a:cxn ang="0">
                  <a:pos x="T10" y="T11"/>
                </a:cxn>
              </a:cxnLst>
              <a:rect l="0" t="0" r="r" b="b"/>
              <a:pathLst>
                <a:path w="107" h="105">
                  <a:moveTo>
                    <a:pt x="106" y="0"/>
                  </a:moveTo>
                  <a:lnTo>
                    <a:pt x="106" y="104"/>
                  </a:lnTo>
                  <a:lnTo>
                    <a:pt x="0" y="104"/>
                  </a:lnTo>
                  <a:lnTo>
                    <a:pt x="0" y="0"/>
                  </a:lnTo>
                  <a:lnTo>
                    <a:pt x="106" y="0"/>
                  </a:lnTo>
                  <a:lnTo>
                    <a:pt x="106" y="0"/>
                  </a:lnTo>
                </a:path>
              </a:pathLst>
            </a:custGeom>
            <a:solidFill>
              <a:srgbClr val="FFFFFF"/>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69" name="Text Box 184"/>
            <p:cNvSpPr txBox="1">
              <a:spLocks noChangeArrowheads="1"/>
            </p:cNvSpPr>
            <p:nvPr/>
          </p:nvSpPr>
          <p:spPr bwMode="auto">
            <a:xfrm>
              <a:off x="6372225" y="2886076"/>
              <a:ext cx="4572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1500" b="1"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DUT</a:t>
              </a:r>
              <a:endParaRPr lang="en-US" altLang="zh-CN" sz="22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70" name="AutoShape 185"/>
            <p:cNvSpPr>
              <a:spLocks noChangeArrowheads="1"/>
            </p:cNvSpPr>
            <p:nvPr/>
          </p:nvSpPr>
          <p:spPr bwMode="auto">
            <a:xfrm flipV="1">
              <a:off x="6229351" y="2316163"/>
              <a:ext cx="511175" cy="260350"/>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1" name="AutoShape 186"/>
            <p:cNvSpPr>
              <a:spLocks noChangeArrowheads="1"/>
            </p:cNvSpPr>
            <p:nvPr/>
          </p:nvSpPr>
          <p:spPr bwMode="auto">
            <a:xfrm flipV="1">
              <a:off x="6738939" y="2336801"/>
              <a:ext cx="244475" cy="169863"/>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2" name="AutoShape 187"/>
            <p:cNvSpPr>
              <a:spLocks noChangeArrowheads="1"/>
            </p:cNvSpPr>
            <p:nvPr/>
          </p:nvSpPr>
          <p:spPr bwMode="auto">
            <a:xfrm flipV="1">
              <a:off x="6981826" y="2378076"/>
              <a:ext cx="119063" cy="87313"/>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3" name="Line 188"/>
            <p:cNvSpPr>
              <a:spLocks noChangeShapeType="1"/>
            </p:cNvSpPr>
            <p:nvPr/>
          </p:nvSpPr>
          <p:spPr bwMode="auto">
            <a:xfrm>
              <a:off x="6992938" y="2386013"/>
              <a:ext cx="6350"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4" name="Line 189"/>
            <p:cNvSpPr>
              <a:spLocks noChangeShapeType="1"/>
            </p:cNvSpPr>
            <p:nvPr/>
          </p:nvSpPr>
          <p:spPr bwMode="auto">
            <a:xfrm>
              <a:off x="7008813" y="2386013"/>
              <a:ext cx="4762"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5" name="Line 190"/>
            <p:cNvSpPr>
              <a:spLocks noChangeShapeType="1"/>
            </p:cNvSpPr>
            <p:nvPr/>
          </p:nvSpPr>
          <p:spPr bwMode="auto">
            <a:xfrm>
              <a:off x="7024689" y="2386013"/>
              <a:ext cx="3175"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6" name="Line 191"/>
            <p:cNvSpPr>
              <a:spLocks noChangeShapeType="1"/>
            </p:cNvSpPr>
            <p:nvPr/>
          </p:nvSpPr>
          <p:spPr bwMode="auto">
            <a:xfrm>
              <a:off x="7040564" y="2386013"/>
              <a:ext cx="3175"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7" name="Line 192"/>
            <p:cNvSpPr>
              <a:spLocks noChangeShapeType="1"/>
            </p:cNvSpPr>
            <p:nvPr/>
          </p:nvSpPr>
          <p:spPr bwMode="auto">
            <a:xfrm>
              <a:off x="7054851" y="2387601"/>
              <a:ext cx="4763"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8" name="Line 193"/>
            <p:cNvSpPr>
              <a:spLocks noChangeShapeType="1"/>
            </p:cNvSpPr>
            <p:nvPr/>
          </p:nvSpPr>
          <p:spPr bwMode="auto">
            <a:xfrm>
              <a:off x="7070725" y="2386013"/>
              <a:ext cx="6350"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79" name="Line 194"/>
            <p:cNvSpPr>
              <a:spLocks noChangeShapeType="1"/>
            </p:cNvSpPr>
            <p:nvPr/>
          </p:nvSpPr>
          <p:spPr bwMode="auto">
            <a:xfrm>
              <a:off x="7085013" y="2386013"/>
              <a:ext cx="4762"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0" name="AutoShape 195"/>
            <p:cNvSpPr>
              <a:spLocks noChangeArrowheads="1"/>
            </p:cNvSpPr>
            <p:nvPr/>
          </p:nvSpPr>
          <p:spPr bwMode="auto">
            <a:xfrm flipV="1">
              <a:off x="6210300" y="2228850"/>
              <a:ext cx="509588" cy="306388"/>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1" name="AutoShape 196"/>
            <p:cNvSpPr>
              <a:spLocks noChangeArrowheads="1"/>
            </p:cNvSpPr>
            <p:nvPr/>
          </p:nvSpPr>
          <p:spPr bwMode="auto">
            <a:xfrm flipV="1">
              <a:off x="6719889" y="2297113"/>
              <a:ext cx="244475" cy="169862"/>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2" name="AutoShape 197"/>
            <p:cNvSpPr>
              <a:spLocks noChangeArrowheads="1"/>
            </p:cNvSpPr>
            <p:nvPr/>
          </p:nvSpPr>
          <p:spPr bwMode="auto">
            <a:xfrm flipV="1">
              <a:off x="6961188" y="2338389"/>
              <a:ext cx="120650" cy="85725"/>
            </a:xfrm>
            <a:prstGeom prst="roundRect">
              <a:avLst>
                <a:gd name="adj" fmla="val 0"/>
              </a:avLst>
            </a:prstGeom>
            <a:gradFill rotWithShape="0">
              <a:gsLst>
                <a:gs pos="0">
                  <a:srgbClr val="C0C0C0"/>
                </a:gs>
                <a:gs pos="50000">
                  <a:srgbClr val="EFEFEF"/>
                </a:gs>
                <a:gs pos="100000">
                  <a:srgbClr val="C0C0C0"/>
                </a:gs>
              </a:gsLst>
              <a:lin ang="189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3" name="Line 198"/>
            <p:cNvSpPr>
              <a:spLocks noChangeShapeType="1"/>
            </p:cNvSpPr>
            <p:nvPr/>
          </p:nvSpPr>
          <p:spPr bwMode="auto">
            <a:xfrm>
              <a:off x="6973888" y="2347914"/>
              <a:ext cx="4762"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4" name="Line 199"/>
            <p:cNvSpPr>
              <a:spLocks noChangeShapeType="1"/>
            </p:cNvSpPr>
            <p:nvPr/>
          </p:nvSpPr>
          <p:spPr bwMode="auto">
            <a:xfrm>
              <a:off x="6988176" y="2347914"/>
              <a:ext cx="4763"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5" name="Line 200"/>
            <p:cNvSpPr>
              <a:spLocks noChangeShapeType="1"/>
            </p:cNvSpPr>
            <p:nvPr/>
          </p:nvSpPr>
          <p:spPr bwMode="auto">
            <a:xfrm>
              <a:off x="7004051" y="2347914"/>
              <a:ext cx="4763"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6" name="Line 201"/>
            <p:cNvSpPr>
              <a:spLocks noChangeShapeType="1"/>
            </p:cNvSpPr>
            <p:nvPr/>
          </p:nvSpPr>
          <p:spPr bwMode="auto">
            <a:xfrm>
              <a:off x="7019926" y="2346326"/>
              <a:ext cx="4763"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7" name="Line 202"/>
            <p:cNvSpPr>
              <a:spLocks noChangeShapeType="1"/>
            </p:cNvSpPr>
            <p:nvPr/>
          </p:nvSpPr>
          <p:spPr bwMode="auto">
            <a:xfrm>
              <a:off x="7034213" y="2347913"/>
              <a:ext cx="6350"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8" name="Line 203"/>
            <p:cNvSpPr>
              <a:spLocks noChangeShapeType="1"/>
            </p:cNvSpPr>
            <p:nvPr/>
          </p:nvSpPr>
          <p:spPr bwMode="auto">
            <a:xfrm>
              <a:off x="7051676" y="2347914"/>
              <a:ext cx="4763"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89" name="Line 204"/>
            <p:cNvSpPr>
              <a:spLocks noChangeShapeType="1"/>
            </p:cNvSpPr>
            <p:nvPr/>
          </p:nvSpPr>
          <p:spPr bwMode="auto">
            <a:xfrm>
              <a:off x="7065963" y="2347914"/>
              <a:ext cx="4762" cy="666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0" name="Text Box 205"/>
            <p:cNvSpPr txBox="1">
              <a:spLocks noChangeArrowheads="1"/>
            </p:cNvSpPr>
            <p:nvPr/>
          </p:nvSpPr>
          <p:spPr bwMode="auto">
            <a:xfrm>
              <a:off x="6323014" y="2316163"/>
              <a:ext cx="327025"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484188" indent="-74613" defTabSz="409575">
                <a:defRPr>
                  <a:solidFill>
                    <a:schemeClr val="tx1"/>
                  </a:solidFill>
                  <a:latin typeface="Arial" panose="020B0604020202020204" pitchFamily="34" charset="0"/>
                  <a:ea typeface="宋体" panose="02010600030101010101" pitchFamily="2" charset="-122"/>
                </a:defRPr>
              </a:lvl2pPr>
              <a:lvl3pPr marL="882650" indent="-61913"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800" b="1">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LOAD</a:t>
              </a:r>
              <a:endParaRPr lang="en-US" altLang="zh-CN" sz="220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grpSp>
      <p:grpSp>
        <p:nvGrpSpPr>
          <p:cNvPr id="94" name="组合 93"/>
          <p:cNvGrpSpPr/>
          <p:nvPr/>
        </p:nvGrpSpPr>
        <p:grpSpPr>
          <a:xfrm>
            <a:off x="8222664" y="2353699"/>
            <a:ext cx="2128837" cy="1819761"/>
            <a:chOff x="8170646" y="2654740"/>
            <a:chExt cx="2128837" cy="2510016"/>
          </a:xfrm>
        </p:grpSpPr>
        <p:sp>
          <p:nvSpPr>
            <p:cNvPr id="95" name="AutoShape 62"/>
            <p:cNvSpPr>
              <a:spLocks noChangeArrowheads="1"/>
            </p:cNvSpPr>
            <p:nvPr/>
          </p:nvSpPr>
          <p:spPr bwMode="auto">
            <a:xfrm flipV="1">
              <a:off x="8189696" y="2749991"/>
              <a:ext cx="511175" cy="255587"/>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6" name="AutoShape 63"/>
            <p:cNvSpPr>
              <a:spLocks noChangeArrowheads="1"/>
            </p:cNvSpPr>
            <p:nvPr/>
          </p:nvSpPr>
          <p:spPr bwMode="auto">
            <a:xfrm flipV="1">
              <a:off x="8700871" y="2765865"/>
              <a:ext cx="244475" cy="169862"/>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7" name="AutoShape 64"/>
            <p:cNvSpPr>
              <a:spLocks noChangeArrowheads="1"/>
            </p:cNvSpPr>
            <p:nvPr/>
          </p:nvSpPr>
          <p:spPr bwMode="auto">
            <a:xfrm flipV="1">
              <a:off x="8943758" y="2807140"/>
              <a:ext cx="119063" cy="87312"/>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8" name="Line 65"/>
            <p:cNvSpPr>
              <a:spLocks noChangeShapeType="1"/>
            </p:cNvSpPr>
            <p:nvPr/>
          </p:nvSpPr>
          <p:spPr bwMode="auto">
            <a:xfrm>
              <a:off x="8954870" y="2816665"/>
              <a:ext cx="4762"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99" name="Line 66"/>
            <p:cNvSpPr>
              <a:spLocks noChangeShapeType="1"/>
            </p:cNvSpPr>
            <p:nvPr/>
          </p:nvSpPr>
          <p:spPr bwMode="auto">
            <a:xfrm>
              <a:off x="8969157" y="2816665"/>
              <a:ext cx="6350"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0" name="Line 67"/>
            <p:cNvSpPr>
              <a:spLocks noChangeShapeType="1"/>
            </p:cNvSpPr>
            <p:nvPr/>
          </p:nvSpPr>
          <p:spPr bwMode="auto">
            <a:xfrm>
              <a:off x="8983445" y="2815077"/>
              <a:ext cx="6350"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1" name="Line 68"/>
            <p:cNvSpPr>
              <a:spLocks noChangeShapeType="1"/>
            </p:cNvSpPr>
            <p:nvPr/>
          </p:nvSpPr>
          <p:spPr bwMode="auto">
            <a:xfrm>
              <a:off x="8999320" y="2815077"/>
              <a:ext cx="4762"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2" name="Line 69"/>
            <p:cNvSpPr>
              <a:spLocks noChangeShapeType="1"/>
            </p:cNvSpPr>
            <p:nvPr/>
          </p:nvSpPr>
          <p:spPr bwMode="auto">
            <a:xfrm>
              <a:off x="9015195" y="2816665"/>
              <a:ext cx="4762"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3" name="Line 70"/>
            <p:cNvSpPr>
              <a:spLocks noChangeShapeType="1"/>
            </p:cNvSpPr>
            <p:nvPr/>
          </p:nvSpPr>
          <p:spPr bwMode="auto">
            <a:xfrm>
              <a:off x="9031070" y="2816665"/>
              <a:ext cx="6350"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4" name="Line 71"/>
            <p:cNvSpPr>
              <a:spLocks noChangeShapeType="1"/>
            </p:cNvSpPr>
            <p:nvPr/>
          </p:nvSpPr>
          <p:spPr bwMode="auto">
            <a:xfrm>
              <a:off x="9046945" y="2815077"/>
              <a:ext cx="4762"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5" name="AutoShape 72"/>
            <p:cNvSpPr>
              <a:spLocks noChangeArrowheads="1"/>
            </p:cNvSpPr>
            <p:nvPr/>
          </p:nvSpPr>
          <p:spPr bwMode="auto">
            <a:xfrm flipV="1">
              <a:off x="8170646" y="2656328"/>
              <a:ext cx="511175" cy="309563"/>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6" name="AutoShape 73"/>
            <p:cNvSpPr>
              <a:spLocks noChangeArrowheads="1"/>
            </p:cNvSpPr>
            <p:nvPr/>
          </p:nvSpPr>
          <p:spPr bwMode="auto">
            <a:xfrm flipV="1">
              <a:off x="8681821" y="2724590"/>
              <a:ext cx="242887" cy="171450"/>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7" name="AutoShape 74"/>
            <p:cNvSpPr>
              <a:spLocks noChangeArrowheads="1"/>
            </p:cNvSpPr>
            <p:nvPr/>
          </p:nvSpPr>
          <p:spPr bwMode="auto">
            <a:xfrm flipV="1">
              <a:off x="8923120" y="2767453"/>
              <a:ext cx="120650" cy="85725"/>
            </a:xfrm>
            <a:prstGeom prst="roundRect">
              <a:avLst>
                <a:gd name="adj" fmla="val 0"/>
              </a:avLst>
            </a:prstGeom>
            <a:gradFill rotWithShape="0">
              <a:gsLst>
                <a:gs pos="0">
                  <a:srgbClr val="C0C0C0"/>
                </a:gs>
                <a:gs pos="50000">
                  <a:srgbClr val="EFEFEF"/>
                </a:gs>
                <a:gs pos="100000">
                  <a:srgbClr val="C0C0C0"/>
                </a:gs>
              </a:gsLst>
              <a:lin ang="189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8" name="Line 75"/>
            <p:cNvSpPr>
              <a:spLocks noChangeShapeType="1"/>
            </p:cNvSpPr>
            <p:nvPr/>
          </p:nvSpPr>
          <p:spPr bwMode="auto">
            <a:xfrm>
              <a:off x="8935820" y="2775390"/>
              <a:ext cx="4762"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09" name="Line 76"/>
            <p:cNvSpPr>
              <a:spLocks noChangeShapeType="1"/>
            </p:cNvSpPr>
            <p:nvPr/>
          </p:nvSpPr>
          <p:spPr bwMode="auto">
            <a:xfrm>
              <a:off x="8950108" y="2775390"/>
              <a:ext cx="4763"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0" name="Line 77"/>
            <p:cNvSpPr>
              <a:spLocks noChangeShapeType="1"/>
            </p:cNvSpPr>
            <p:nvPr/>
          </p:nvSpPr>
          <p:spPr bwMode="auto">
            <a:xfrm>
              <a:off x="8964395" y="2775390"/>
              <a:ext cx="4762"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1" name="Line 78"/>
            <p:cNvSpPr>
              <a:spLocks noChangeShapeType="1"/>
            </p:cNvSpPr>
            <p:nvPr/>
          </p:nvSpPr>
          <p:spPr bwMode="auto">
            <a:xfrm>
              <a:off x="8980271" y="2775390"/>
              <a:ext cx="3175"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2" name="Line 79"/>
            <p:cNvSpPr>
              <a:spLocks noChangeShapeType="1"/>
            </p:cNvSpPr>
            <p:nvPr/>
          </p:nvSpPr>
          <p:spPr bwMode="auto">
            <a:xfrm>
              <a:off x="8996145" y="2775390"/>
              <a:ext cx="4762"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3" name="Line 80"/>
            <p:cNvSpPr>
              <a:spLocks noChangeShapeType="1"/>
            </p:cNvSpPr>
            <p:nvPr/>
          </p:nvSpPr>
          <p:spPr bwMode="auto">
            <a:xfrm>
              <a:off x="9012020" y="2775390"/>
              <a:ext cx="4762"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4" name="Line 81"/>
            <p:cNvSpPr>
              <a:spLocks noChangeShapeType="1"/>
            </p:cNvSpPr>
            <p:nvPr/>
          </p:nvSpPr>
          <p:spPr bwMode="auto">
            <a:xfrm>
              <a:off x="9027896" y="2775390"/>
              <a:ext cx="3175"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5" name="Text Box 82"/>
            <p:cNvSpPr txBox="1">
              <a:spLocks noChangeArrowheads="1"/>
            </p:cNvSpPr>
            <p:nvPr/>
          </p:nvSpPr>
          <p:spPr bwMode="auto">
            <a:xfrm>
              <a:off x="8250020" y="2749990"/>
              <a:ext cx="404812" cy="12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484188" indent="-74613" defTabSz="409575">
                <a:defRPr>
                  <a:solidFill>
                    <a:schemeClr val="tx1"/>
                  </a:solidFill>
                  <a:latin typeface="Arial" panose="020B0604020202020204" pitchFamily="34" charset="0"/>
                  <a:ea typeface="宋体" panose="02010600030101010101" pitchFamily="2" charset="-122"/>
                </a:defRPr>
              </a:lvl2pPr>
              <a:lvl3pPr marL="882650" indent="-61913"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800" b="1">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SHORT</a:t>
              </a:r>
              <a:endParaRPr lang="en-US" altLang="zh-CN" sz="220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116" name="AutoShape 83"/>
            <p:cNvSpPr>
              <a:spLocks noChangeArrowheads="1"/>
            </p:cNvSpPr>
            <p:nvPr/>
          </p:nvSpPr>
          <p:spPr bwMode="auto">
            <a:xfrm flipV="1">
              <a:off x="8189696" y="3159565"/>
              <a:ext cx="511175" cy="258762"/>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7" name="AutoShape 84"/>
            <p:cNvSpPr>
              <a:spLocks noChangeArrowheads="1"/>
            </p:cNvSpPr>
            <p:nvPr/>
          </p:nvSpPr>
          <p:spPr bwMode="auto">
            <a:xfrm flipV="1">
              <a:off x="8699283" y="3175441"/>
              <a:ext cx="244475" cy="173037"/>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8" name="AutoShape 85"/>
            <p:cNvSpPr>
              <a:spLocks noChangeArrowheads="1"/>
            </p:cNvSpPr>
            <p:nvPr/>
          </p:nvSpPr>
          <p:spPr bwMode="auto">
            <a:xfrm flipV="1">
              <a:off x="8943758" y="3219891"/>
              <a:ext cx="119063" cy="85725"/>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19" name="Line 86"/>
            <p:cNvSpPr>
              <a:spLocks noChangeShapeType="1"/>
            </p:cNvSpPr>
            <p:nvPr/>
          </p:nvSpPr>
          <p:spPr bwMode="auto">
            <a:xfrm>
              <a:off x="8954870" y="3227828"/>
              <a:ext cx="4762"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0" name="Line 87"/>
            <p:cNvSpPr>
              <a:spLocks noChangeShapeType="1"/>
            </p:cNvSpPr>
            <p:nvPr/>
          </p:nvSpPr>
          <p:spPr bwMode="auto">
            <a:xfrm>
              <a:off x="8969157" y="3227828"/>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1" name="Line 88"/>
            <p:cNvSpPr>
              <a:spLocks noChangeShapeType="1"/>
            </p:cNvSpPr>
            <p:nvPr/>
          </p:nvSpPr>
          <p:spPr bwMode="auto">
            <a:xfrm>
              <a:off x="8983445" y="3227828"/>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2" name="Line 89"/>
            <p:cNvSpPr>
              <a:spLocks noChangeShapeType="1"/>
            </p:cNvSpPr>
            <p:nvPr/>
          </p:nvSpPr>
          <p:spPr bwMode="auto">
            <a:xfrm>
              <a:off x="8999320" y="3227828"/>
              <a:ext cx="4762"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3" name="Line 90"/>
            <p:cNvSpPr>
              <a:spLocks noChangeShapeType="1"/>
            </p:cNvSpPr>
            <p:nvPr/>
          </p:nvSpPr>
          <p:spPr bwMode="auto">
            <a:xfrm>
              <a:off x="9015195" y="3227828"/>
              <a:ext cx="4762"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4" name="Line 91"/>
            <p:cNvSpPr>
              <a:spLocks noChangeShapeType="1"/>
            </p:cNvSpPr>
            <p:nvPr/>
          </p:nvSpPr>
          <p:spPr bwMode="auto">
            <a:xfrm>
              <a:off x="9031070" y="3227828"/>
              <a:ext cx="4762"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5" name="Line 92"/>
            <p:cNvSpPr>
              <a:spLocks noChangeShapeType="1"/>
            </p:cNvSpPr>
            <p:nvPr/>
          </p:nvSpPr>
          <p:spPr bwMode="auto">
            <a:xfrm>
              <a:off x="9046946" y="3227828"/>
              <a:ext cx="3175"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6" name="AutoShape 93"/>
            <p:cNvSpPr>
              <a:spLocks noChangeArrowheads="1"/>
            </p:cNvSpPr>
            <p:nvPr/>
          </p:nvSpPr>
          <p:spPr bwMode="auto">
            <a:xfrm flipV="1">
              <a:off x="8170646" y="3067490"/>
              <a:ext cx="511175" cy="309562"/>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7" name="AutoShape 94"/>
            <p:cNvSpPr>
              <a:spLocks noChangeArrowheads="1"/>
            </p:cNvSpPr>
            <p:nvPr/>
          </p:nvSpPr>
          <p:spPr bwMode="auto">
            <a:xfrm flipV="1">
              <a:off x="8680233" y="3135752"/>
              <a:ext cx="244475" cy="171450"/>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8" name="AutoShape 95"/>
            <p:cNvSpPr>
              <a:spLocks noChangeArrowheads="1"/>
            </p:cNvSpPr>
            <p:nvPr/>
          </p:nvSpPr>
          <p:spPr bwMode="auto">
            <a:xfrm flipV="1">
              <a:off x="8923120" y="3178615"/>
              <a:ext cx="119062" cy="88900"/>
            </a:xfrm>
            <a:prstGeom prst="roundRect">
              <a:avLst>
                <a:gd name="adj" fmla="val 0"/>
              </a:avLst>
            </a:prstGeom>
            <a:gradFill rotWithShape="0">
              <a:gsLst>
                <a:gs pos="0">
                  <a:srgbClr val="C0C0C0"/>
                </a:gs>
                <a:gs pos="50000">
                  <a:srgbClr val="EFEFEF"/>
                </a:gs>
                <a:gs pos="100000">
                  <a:srgbClr val="C0C0C0"/>
                </a:gs>
              </a:gsLst>
              <a:lin ang="189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29" name="Line 96"/>
            <p:cNvSpPr>
              <a:spLocks noChangeShapeType="1"/>
            </p:cNvSpPr>
            <p:nvPr/>
          </p:nvSpPr>
          <p:spPr bwMode="auto">
            <a:xfrm>
              <a:off x="8934232" y="3186553"/>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0" name="Line 97"/>
            <p:cNvSpPr>
              <a:spLocks noChangeShapeType="1"/>
            </p:cNvSpPr>
            <p:nvPr/>
          </p:nvSpPr>
          <p:spPr bwMode="auto">
            <a:xfrm>
              <a:off x="8950108" y="3186553"/>
              <a:ext cx="4763"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1" name="Line 98"/>
            <p:cNvSpPr>
              <a:spLocks noChangeShapeType="1"/>
            </p:cNvSpPr>
            <p:nvPr/>
          </p:nvSpPr>
          <p:spPr bwMode="auto">
            <a:xfrm>
              <a:off x="8964395" y="3186553"/>
              <a:ext cx="4762"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2" name="Line 99"/>
            <p:cNvSpPr>
              <a:spLocks noChangeShapeType="1"/>
            </p:cNvSpPr>
            <p:nvPr/>
          </p:nvSpPr>
          <p:spPr bwMode="auto">
            <a:xfrm>
              <a:off x="8978683" y="3186553"/>
              <a:ext cx="4763"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3" name="Line 100"/>
            <p:cNvSpPr>
              <a:spLocks noChangeShapeType="1"/>
            </p:cNvSpPr>
            <p:nvPr/>
          </p:nvSpPr>
          <p:spPr bwMode="auto">
            <a:xfrm>
              <a:off x="8994558" y="3186552"/>
              <a:ext cx="4763"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4" name="Line 101"/>
            <p:cNvSpPr>
              <a:spLocks noChangeShapeType="1"/>
            </p:cNvSpPr>
            <p:nvPr/>
          </p:nvSpPr>
          <p:spPr bwMode="auto">
            <a:xfrm>
              <a:off x="9010432" y="3186553"/>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5" name="Line 102"/>
            <p:cNvSpPr>
              <a:spLocks noChangeShapeType="1"/>
            </p:cNvSpPr>
            <p:nvPr/>
          </p:nvSpPr>
          <p:spPr bwMode="auto">
            <a:xfrm>
              <a:off x="9026308" y="3186553"/>
              <a:ext cx="4763"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6" name="Text Box 103"/>
            <p:cNvSpPr txBox="1">
              <a:spLocks noChangeArrowheads="1"/>
            </p:cNvSpPr>
            <p:nvPr/>
          </p:nvSpPr>
          <p:spPr bwMode="auto">
            <a:xfrm>
              <a:off x="8277007" y="3159565"/>
              <a:ext cx="331788" cy="131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484188" indent="-74613" defTabSz="409575">
                <a:defRPr>
                  <a:solidFill>
                    <a:schemeClr val="tx1"/>
                  </a:solidFill>
                  <a:latin typeface="Arial" panose="020B0604020202020204" pitchFamily="34" charset="0"/>
                  <a:ea typeface="宋体" panose="02010600030101010101" pitchFamily="2" charset="-122"/>
                </a:defRPr>
              </a:lvl2pPr>
              <a:lvl3pPr marL="882650" indent="-61913"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800" b="1">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OPEN</a:t>
              </a:r>
              <a:endParaRPr lang="en-US" altLang="zh-CN" sz="220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137" name="AutoShape 104"/>
            <p:cNvSpPr>
              <a:spLocks noChangeArrowheads="1"/>
            </p:cNvSpPr>
            <p:nvPr/>
          </p:nvSpPr>
          <p:spPr bwMode="auto">
            <a:xfrm flipV="1">
              <a:off x="9766083" y="2748403"/>
              <a:ext cx="512763" cy="257175"/>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8" name="AutoShape 105"/>
            <p:cNvSpPr>
              <a:spLocks noChangeArrowheads="1"/>
            </p:cNvSpPr>
            <p:nvPr/>
          </p:nvSpPr>
          <p:spPr bwMode="auto">
            <a:xfrm flipV="1">
              <a:off x="9523196" y="2764278"/>
              <a:ext cx="242887" cy="169863"/>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39" name="AutoShape 106"/>
            <p:cNvSpPr>
              <a:spLocks noChangeArrowheads="1"/>
            </p:cNvSpPr>
            <p:nvPr/>
          </p:nvSpPr>
          <p:spPr bwMode="auto">
            <a:xfrm flipV="1">
              <a:off x="9407308" y="2805553"/>
              <a:ext cx="117475" cy="87313"/>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0" name="Line 107"/>
            <p:cNvSpPr>
              <a:spLocks noChangeShapeType="1"/>
            </p:cNvSpPr>
            <p:nvPr/>
          </p:nvSpPr>
          <p:spPr bwMode="auto">
            <a:xfrm flipH="1">
              <a:off x="9508908" y="2815078"/>
              <a:ext cx="4763"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1" name="Line 108"/>
            <p:cNvSpPr>
              <a:spLocks noChangeShapeType="1"/>
            </p:cNvSpPr>
            <p:nvPr/>
          </p:nvSpPr>
          <p:spPr bwMode="auto">
            <a:xfrm flipH="1">
              <a:off x="9493032" y="2815078"/>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2" name="Line 109"/>
            <p:cNvSpPr>
              <a:spLocks noChangeShapeType="1"/>
            </p:cNvSpPr>
            <p:nvPr/>
          </p:nvSpPr>
          <p:spPr bwMode="auto">
            <a:xfrm flipH="1">
              <a:off x="9477157" y="2815078"/>
              <a:ext cx="7938"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3" name="Line 110"/>
            <p:cNvSpPr>
              <a:spLocks noChangeShapeType="1"/>
            </p:cNvSpPr>
            <p:nvPr/>
          </p:nvSpPr>
          <p:spPr bwMode="auto">
            <a:xfrm flipH="1">
              <a:off x="9462870" y="2815078"/>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4" name="Line 111"/>
            <p:cNvSpPr>
              <a:spLocks noChangeShapeType="1"/>
            </p:cNvSpPr>
            <p:nvPr/>
          </p:nvSpPr>
          <p:spPr bwMode="auto">
            <a:xfrm flipH="1">
              <a:off x="9448582" y="2815078"/>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5" name="Line 112"/>
            <p:cNvSpPr>
              <a:spLocks noChangeShapeType="1"/>
            </p:cNvSpPr>
            <p:nvPr/>
          </p:nvSpPr>
          <p:spPr bwMode="auto">
            <a:xfrm flipH="1">
              <a:off x="9431120" y="2815078"/>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6" name="Line 113"/>
            <p:cNvSpPr>
              <a:spLocks noChangeShapeType="1"/>
            </p:cNvSpPr>
            <p:nvPr/>
          </p:nvSpPr>
          <p:spPr bwMode="auto">
            <a:xfrm flipH="1">
              <a:off x="9416832" y="2815078"/>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7" name="AutoShape 114"/>
            <p:cNvSpPr>
              <a:spLocks noChangeArrowheads="1"/>
            </p:cNvSpPr>
            <p:nvPr/>
          </p:nvSpPr>
          <p:spPr bwMode="auto">
            <a:xfrm flipV="1">
              <a:off x="9788308" y="2654740"/>
              <a:ext cx="511175" cy="309562"/>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8" name="AutoShape 115"/>
            <p:cNvSpPr>
              <a:spLocks noChangeArrowheads="1"/>
            </p:cNvSpPr>
            <p:nvPr/>
          </p:nvSpPr>
          <p:spPr bwMode="auto">
            <a:xfrm flipV="1">
              <a:off x="9543833" y="2723002"/>
              <a:ext cx="244475" cy="171450"/>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49" name="AutoShape 116"/>
            <p:cNvSpPr>
              <a:spLocks noChangeArrowheads="1"/>
            </p:cNvSpPr>
            <p:nvPr/>
          </p:nvSpPr>
          <p:spPr bwMode="auto">
            <a:xfrm flipV="1">
              <a:off x="9426358" y="2765866"/>
              <a:ext cx="119063" cy="85725"/>
            </a:xfrm>
            <a:prstGeom prst="roundRect">
              <a:avLst>
                <a:gd name="adj" fmla="val 0"/>
              </a:avLst>
            </a:prstGeom>
            <a:gradFill rotWithShape="0">
              <a:gsLst>
                <a:gs pos="0">
                  <a:srgbClr val="C0C0C0"/>
                </a:gs>
                <a:gs pos="50000">
                  <a:srgbClr val="EFEFEF"/>
                </a:gs>
                <a:gs pos="100000">
                  <a:srgbClr val="C0C0C0"/>
                </a:gs>
              </a:gsLst>
              <a:lin ang="189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0" name="Line 117"/>
            <p:cNvSpPr>
              <a:spLocks noChangeShapeType="1"/>
            </p:cNvSpPr>
            <p:nvPr/>
          </p:nvSpPr>
          <p:spPr bwMode="auto">
            <a:xfrm flipH="1">
              <a:off x="9527957" y="2773803"/>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1" name="Line 118"/>
            <p:cNvSpPr>
              <a:spLocks noChangeShapeType="1"/>
            </p:cNvSpPr>
            <p:nvPr/>
          </p:nvSpPr>
          <p:spPr bwMode="auto">
            <a:xfrm flipH="1">
              <a:off x="9513670" y="2773803"/>
              <a:ext cx="4762"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2" name="Line 119"/>
            <p:cNvSpPr>
              <a:spLocks noChangeShapeType="1"/>
            </p:cNvSpPr>
            <p:nvPr/>
          </p:nvSpPr>
          <p:spPr bwMode="auto">
            <a:xfrm flipH="1">
              <a:off x="9499383" y="2773803"/>
              <a:ext cx="4763"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3" name="Line 120"/>
            <p:cNvSpPr>
              <a:spLocks noChangeShapeType="1"/>
            </p:cNvSpPr>
            <p:nvPr/>
          </p:nvSpPr>
          <p:spPr bwMode="auto">
            <a:xfrm flipH="1">
              <a:off x="9485095" y="2773803"/>
              <a:ext cx="4762"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4" name="Line 121"/>
            <p:cNvSpPr>
              <a:spLocks noChangeShapeType="1"/>
            </p:cNvSpPr>
            <p:nvPr/>
          </p:nvSpPr>
          <p:spPr bwMode="auto">
            <a:xfrm flipH="1">
              <a:off x="9469220" y="2773802"/>
              <a:ext cx="4762"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5" name="Line 122"/>
            <p:cNvSpPr>
              <a:spLocks noChangeShapeType="1"/>
            </p:cNvSpPr>
            <p:nvPr/>
          </p:nvSpPr>
          <p:spPr bwMode="auto">
            <a:xfrm flipH="1">
              <a:off x="9451757" y="2773803"/>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6" name="Line 123"/>
            <p:cNvSpPr>
              <a:spLocks noChangeShapeType="1"/>
            </p:cNvSpPr>
            <p:nvPr/>
          </p:nvSpPr>
          <p:spPr bwMode="auto">
            <a:xfrm flipH="1">
              <a:off x="9437470" y="2773803"/>
              <a:ext cx="4762"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7" name="Text Box 124"/>
            <p:cNvSpPr txBox="1">
              <a:spLocks noChangeArrowheads="1"/>
            </p:cNvSpPr>
            <p:nvPr/>
          </p:nvSpPr>
          <p:spPr bwMode="auto">
            <a:xfrm>
              <a:off x="9832758" y="2748403"/>
              <a:ext cx="404813" cy="12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484188" indent="-74613" defTabSz="409575">
                <a:defRPr>
                  <a:solidFill>
                    <a:schemeClr val="tx1"/>
                  </a:solidFill>
                  <a:latin typeface="Arial" panose="020B0604020202020204" pitchFamily="34" charset="0"/>
                  <a:ea typeface="宋体" panose="02010600030101010101" pitchFamily="2" charset="-122"/>
                </a:defRPr>
              </a:lvl2pPr>
              <a:lvl3pPr marL="882650" indent="-61913"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800" b="1">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SHORT</a:t>
              </a:r>
              <a:endParaRPr lang="en-US" altLang="zh-CN" sz="220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158" name="AutoShape 125"/>
            <p:cNvSpPr>
              <a:spLocks noChangeArrowheads="1"/>
            </p:cNvSpPr>
            <p:nvPr/>
          </p:nvSpPr>
          <p:spPr bwMode="auto">
            <a:xfrm flipV="1">
              <a:off x="9767671" y="3159566"/>
              <a:ext cx="511175" cy="257175"/>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59" name="AutoShape 126"/>
            <p:cNvSpPr>
              <a:spLocks noChangeArrowheads="1"/>
            </p:cNvSpPr>
            <p:nvPr/>
          </p:nvSpPr>
          <p:spPr bwMode="auto">
            <a:xfrm flipV="1">
              <a:off x="9524783" y="3173852"/>
              <a:ext cx="244475" cy="173038"/>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0" name="AutoShape 127"/>
            <p:cNvSpPr>
              <a:spLocks noChangeArrowheads="1"/>
            </p:cNvSpPr>
            <p:nvPr/>
          </p:nvSpPr>
          <p:spPr bwMode="auto">
            <a:xfrm flipV="1">
              <a:off x="9407308" y="3218303"/>
              <a:ext cx="117475" cy="85725"/>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1" name="Line 128"/>
            <p:cNvSpPr>
              <a:spLocks noChangeShapeType="1"/>
            </p:cNvSpPr>
            <p:nvPr/>
          </p:nvSpPr>
          <p:spPr bwMode="auto">
            <a:xfrm flipH="1">
              <a:off x="9508908" y="3226240"/>
              <a:ext cx="4763"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2" name="Line 129"/>
            <p:cNvSpPr>
              <a:spLocks noChangeShapeType="1"/>
            </p:cNvSpPr>
            <p:nvPr/>
          </p:nvSpPr>
          <p:spPr bwMode="auto">
            <a:xfrm flipH="1">
              <a:off x="9493032" y="3226240"/>
              <a:ext cx="6350"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3" name="Line 130"/>
            <p:cNvSpPr>
              <a:spLocks noChangeShapeType="1"/>
            </p:cNvSpPr>
            <p:nvPr/>
          </p:nvSpPr>
          <p:spPr bwMode="auto">
            <a:xfrm flipH="1">
              <a:off x="9477157" y="3226240"/>
              <a:ext cx="7938"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4" name="Line 131"/>
            <p:cNvSpPr>
              <a:spLocks noChangeShapeType="1"/>
            </p:cNvSpPr>
            <p:nvPr/>
          </p:nvSpPr>
          <p:spPr bwMode="auto">
            <a:xfrm flipH="1">
              <a:off x="9464457" y="3226240"/>
              <a:ext cx="6350"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5" name="Line 132"/>
            <p:cNvSpPr>
              <a:spLocks noChangeShapeType="1"/>
            </p:cNvSpPr>
            <p:nvPr/>
          </p:nvSpPr>
          <p:spPr bwMode="auto">
            <a:xfrm flipH="1">
              <a:off x="9448582" y="3226240"/>
              <a:ext cx="6350"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6" name="Line 133"/>
            <p:cNvSpPr>
              <a:spLocks noChangeShapeType="1"/>
            </p:cNvSpPr>
            <p:nvPr/>
          </p:nvSpPr>
          <p:spPr bwMode="auto">
            <a:xfrm flipH="1">
              <a:off x="9431121" y="3226240"/>
              <a:ext cx="7937"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7" name="Line 134"/>
            <p:cNvSpPr>
              <a:spLocks noChangeShapeType="1"/>
            </p:cNvSpPr>
            <p:nvPr/>
          </p:nvSpPr>
          <p:spPr bwMode="auto">
            <a:xfrm flipH="1">
              <a:off x="9416832" y="3226240"/>
              <a:ext cx="6350"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8" name="AutoShape 135"/>
            <p:cNvSpPr>
              <a:spLocks noChangeArrowheads="1"/>
            </p:cNvSpPr>
            <p:nvPr/>
          </p:nvSpPr>
          <p:spPr bwMode="auto">
            <a:xfrm flipV="1">
              <a:off x="9788308" y="3065903"/>
              <a:ext cx="511175" cy="309563"/>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69" name="AutoShape 136"/>
            <p:cNvSpPr>
              <a:spLocks noChangeArrowheads="1"/>
            </p:cNvSpPr>
            <p:nvPr/>
          </p:nvSpPr>
          <p:spPr bwMode="auto">
            <a:xfrm flipV="1">
              <a:off x="9543833" y="3135753"/>
              <a:ext cx="246063" cy="169863"/>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0" name="AutoShape 137"/>
            <p:cNvSpPr>
              <a:spLocks noChangeArrowheads="1"/>
            </p:cNvSpPr>
            <p:nvPr/>
          </p:nvSpPr>
          <p:spPr bwMode="auto">
            <a:xfrm flipV="1">
              <a:off x="9427946" y="3177027"/>
              <a:ext cx="117475" cy="88900"/>
            </a:xfrm>
            <a:prstGeom prst="roundRect">
              <a:avLst>
                <a:gd name="adj" fmla="val 0"/>
              </a:avLst>
            </a:prstGeom>
            <a:gradFill rotWithShape="0">
              <a:gsLst>
                <a:gs pos="0">
                  <a:srgbClr val="C0C0C0"/>
                </a:gs>
                <a:gs pos="50000">
                  <a:srgbClr val="EFEFEF"/>
                </a:gs>
                <a:gs pos="100000">
                  <a:srgbClr val="C0C0C0"/>
                </a:gs>
              </a:gsLst>
              <a:lin ang="189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1" name="Line 138"/>
            <p:cNvSpPr>
              <a:spLocks noChangeShapeType="1"/>
            </p:cNvSpPr>
            <p:nvPr/>
          </p:nvSpPr>
          <p:spPr bwMode="auto">
            <a:xfrm flipH="1">
              <a:off x="9527957" y="3184965"/>
              <a:ext cx="7938"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2" name="Line 139"/>
            <p:cNvSpPr>
              <a:spLocks noChangeShapeType="1"/>
            </p:cNvSpPr>
            <p:nvPr/>
          </p:nvSpPr>
          <p:spPr bwMode="auto">
            <a:xfrm flipH="1">
              <a:off x="9513670" y="3184965"/>
              <a:ext cx="6350"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3" name="Line 140"/>
            <p:cNvSpPr>
              <a:spLocks noChangeShapeType="1"/>
            </p:cNvSpPr>
            <p:nvPr/>
          </p:nvSpPr>
          <p:spPr bwMode="auto">
            <a:xfrm flipH="1">
              <a:off x="9499383" y="3184965"/>
              <a:ext cx="4763"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4" name="Line 141"/>
            <p:cNvSpPr>
              <a:spLocks noChangeShapeType="1"/>
            </p:cNvSpPr>
            <p:nvPr/>
          </p:nvSpPr>
          <p:spPr bwMode="auto">
            <a:xfrm flipH="1">
              <a:off x="9485095" y="3184965"/>
              <a:ext cx="4762"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5" name="Line 142"/>
            <p:cNvSpPr>
              <a:spLocks noChangeShapeType="1"/>
            </p:cNvSpPr>
            <p:nvPr/>
          </p:nvSpPr>
          <p:spPr bwMode="auto">
            <a:xfrm flipH="1">
              <a:off x="9469220" y="3184965"/>
              <a:ext cx="6350"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6" name="Line 143"/>
            <p:cNvSpPr>
              <a:spLocks noChangeShapeType="1"/>
            </p:cNvSpPr>
            <p:nvPr/>
          </p:nvSpPr>
          <p:spPr bwMode="auto">
            <a:xfrm flipH="1">
              <a:off x="9451757" y="3184965"/>
              <a:ext cx="6350"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7" name="Line 144"/>
            <p:cNvSpPr>
              <a:spLocks noChangeShapeType="1"/>
            </p:cNvSpPr>
            <p:nvPr/>
          </p:nvSpPr>
          <p:spPr bwMode="auto">
            <a:xfrm flipH="1">
              <a:off x="9439058" y="3184965"/>
              <a:ext cx="4763"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8" name="Text Box 145"/>
            <p:cNvSpPr txBox="1">
              <a:spLocks noChangeArrowheads="1"/>
            </p:cNvSpPr>
            <p:nvPr/>
          </p:nvSpPr>
          <p:spPr bwMode="auto">
            <a:xfrm>
              <a:off x="9874032" y="3159565"/>
              <a:ext cx="331788" cy="131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484188" indent="-74613" defTabSz="409575">
                <a:defRPr>
                  <a:solidFill>
                    <a:schemeClr val="tx1"/>
                  </a:solidFill>
                  <a:latin typeface="Arial" panose="020B0604020202020204" pitchFamily="34" charset="0"/>
                  <a:ea typeface="宋体" panose="02010600030101010101" pitchFamily="2" charset="-122"/>
                </a:defRPr>
              </a:lvl2pPr>
              <a:lvl3pPr marL="882650" indent="-61913"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800" b="1"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OPEN</a:t>
              </a:r>
              <a:endParaRPr lang="en-US" altLang="zh-CN" sz="22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grpSp>
          <p:nvGrpSpPr>
            <p:cNvPr id="179" name="Group 155"/>
            <p:cNvGrpSpPr>
              <a:grpSpLocks/>
            </p:cNvGrpSpPr>
            <p:nvPr/>
          </p:nvGrpSpPr>
          <p:grpSpPr bwMode="auto">
            <a:xfrm>
              <a:off x="8740875" y="4821678"/>
              <a:ext cx="1109662" cy="309563"/>
              <a:chOff x="5136" y="2746"/>
              <a:chExt cx="769" cy="221"/>
            </a:xfrm>
          </p:grpSpPr>
          <p:sp>
            <p:nvSpPr>
              <p:cNvPr id="232" name="Freeform 156"/>
              <p:cNvSpPr>
                <a:spLocks/>
              </p:cNvSpPr>
              <p:nvPr/>
            </p:nvSpPr>
            <p:spPr bwMode="auto">
              <a:xfrm>
                <a:off x="5243" y="2746"/>
                <a:ext cx="556" cy="221"/>
              </a:xfrm>
              <a:custGeom>
                <a:avLst/>
                <a:gdLst>
                  <a:gd name="T0" fmla="*/ 555 w 556"/>
                  <a:gd name="T1" fmla="*/ 0 h 221"/>
                  <a:gd name="T2" fmla="*/ 555 w 556"/>
                  <a:gd name="T3" fmla="*/ 220 h 221"/>
                  <a:gd name="T4" fmla="*/ 0 w 556"/>
                  <a:gd name="T5" fmla="*/ 220 h 221"/>
                  <a:gd name="T6" fmla="*/ 0 w 556"/>
                  <a:gd name="T7" fmla="*/ 0 h 221"/>
                  <a:gd name="T8" fmla="*/ 555 w 556"/>
                  <a:gd name="T9" fmla="*/ 0 h 221"/>
                  <a:gd name="T10" fmla="*/ 555 w 556"/>
                  <a:gd name="T11" fmla="*/ 0 h 221"/>
                </a:gdLst>
                <a:ahLst/>
                <a:cxnLst>
                  <a:cxn ang="0">
                    <a:pos x="T0" y="T1"/>
                  </a:cxn>
                  <a:cxn ang="0">
                    <a:pos x="T2" y="T3"/>
                  </a:cxn>
                  <a:cxn ang="0">
                    <a:pos x="T4" y="T5"/>
                  </a:cxn>
                  <a:cxn ang="0">
                    <a:pos x="T6" y="T7"/>
                  </a:cxn>
                  <a:cxn ang="0">
                    <a:pos x="T8" y="T9"/>
                  </a:cxn>
                  <a:cxn ang="0">
                    <a:pos x="T10" y="T11"/>
                  </a:cxn>
                </a:cxnLst>
                <a:rect l="0" t="0" r="r" b="b"/>
                <a:pathLst>
                  <a:path w="556" h="221">
                    <a:moveTo>
                      <a:pt x="555" y="0"/>
                    </a:moveTo>
                    <a:lnTo>
                      <a:pt x="555" y="220"/>
                    </a:lnTo>
                    <a:lnTo>
                      <a:pt x="0" y="220"/>
                    </a:lnTo>
                    <a:lnTo>
                      <a:pt x="0" y="0"/>
                    </a:lnTo>
                    <a:lnTo>
                      <a:pt x="555" y="0"/>
                    </a:lnTo>
                    <a:lnTo>
                      <a:pt x="555" y="0"/>
                    </a:lnTo>
                  </a:path>
                </a:pathLst>
              </a:custGeom>
              <a:solidFill>
                <a:srgbClr val="000000"/>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33" name="Freeform 157"/>
              <p:cNvSpPr>
                <a:spLocks/>
              </p:cNvSpPr>
              <p:nvPr/>
            </p:nvSpPr>
            <p:spPr bwMode="auto">
              <a:xfrm>
                <a:off x="5136" y="2810"/>
                <a:ext cx="107" cy="107"/>
              </a:xfrm>
              <a:custGeom>
                <a:avLst/>
                <a:gdLst>
                  <a:gd name="T0" fmla="*/ 106 w 107"/>
                  <a:gd name="T1" fmla="*/ 0 h 107"/>
                  <a:gd name="T2" fmla="*/ 106 w 107"/>
                  <a:gd name="T3" fmla="*/ 106 h 107"/>
                  <a:gd name="T4" fmla="*/ 0 w 107"/>
                  <a:gd name="T5" fmla="*/ 106 h 107"/>
                  <a:gd name="T6" fmla="*/ 0 w 107"/>
                  <a:gd name="T7" fmla="*/ 0 h 107"/>
                  <a:gd name="T8" fmla="*/ 106 w 107"/>
                  <a:gd name="T9" fmla="*/ 0 h 107"/>
                  <a:gd name="T10" fmla="*/ 106 w 107"/>
                  <a:gd name="T11" fmla="*/ 0 h 107"/>
                </a:gdLst>
                <a:ahLst/>
                <a:cxnLst>
                  <a:cxn ang="0">
                    <a:pos x="T0" y="T1"/>
                  </a:cxn>
                  <a:cxn ang="0">
                    <a:pos x="T2" y="T3"/>
                  </a:cxn>
                  <a:cxn ang="0">
                    <a:pos x="T4" y="T5"/>
                  </a:cxn>
                  <a:cxn ang="0">
                    <a:pos x="T6" y="T7"/>
                  </a:cxn>
                  <a:cxn ang="0">
                    <a:pos x="T8" y="T9"/>
                  </a:cxn>
                  <a:cxn ang="0">
                    <a:pos x="T10" y="T11"/>
                  </a:cxn>
                </a:cxnLst>
                <a:rect l="0" t="0" r="r" b="b"/>
                <a:pathLst>
                  <a:path w="107" h="107">
                    <a:moveTo>
                      <a:pt x="106" y="0"/>
                    </a:moveTo>
                    <a:lnTo>
                      <a:pt x="106" y="106"/>
                    </a:lnTo>
                    <a:lnTo>
                      <a:pt x="0" y="106"/>
                    </a:lnTo>
                    <a:lnTo>
                      <a:pt x="0" y="0"/>
                    </a:lnTo>
                    <a:lnTo>
                      <a:pt x="106" y="0"/>
                    </a:lnTo>
                    <a:lnTo>
                      <a:pt x="106" y="0"/>
                    </a:lnTo>
                  </a:path>
                </a:pathLst>
              </a:custGeom>
              <a:solidFill>
                <a:srgbClr val="000000"/>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34" name="Freeform 158"/>
              <p:cNvSpPr>
                <a:spLocks/>
              </p:cNvSpPr>
              <p:nvPr/>
            </p:nvSpPr>
            <p:spPr bwMode="auto">
              <a:xfrm>
                <a:off x="5798" y="2811"/>
                <a:ext cx="107" cy="106"/>
              </a:xfrm>
              <a:custGeom>
                <a:avLst/>
                <a:gdLst>
                  <a:gd name="T0" fmla="*/ 106 w 107"/>
                  <a:gd name="T1" fmla="*/ 0 h 106"/>
                  <a:gd name="T2" fmla="*/ 106 w 107"/>
                  <a:gd name="T3" fmla="*/ 105 h 106"/>
                  <a:gd name="T4" fmla="*/ 0 w 107"/>
                  <a:gd name="T5" fmla="*/ 105 h 106"/>
                  <a:gd name="T6" fmla="*/ 0 w 107"/>
                  <a:gd name="T7" fmla="*/ 0 h 106"/>
                  <a:gd name="T8" fmla="*/ 106 w 107"/>
                  <a:gd name="T9" fmla="*/ 0 h 106"/>
                  <a:gd name="T10" fmla="*/ 106 w 107"/>
                  <a:gd name="T11" fmla="*/ 0 h 106"/>
                </a:gdLst>
                <a:ahLst/>
                <a:cxnLst>
                  <a:cxn ang="0">
                    <a:pos x="T0" y="T1"/>
                  </a:cxn>
                  <a:cxn ang="0">
                    <a:pos x="T2" y="T3"/>
                  </a:cxn>
                  <a:cxn ang="0">
                    <a:pos x="T4" y="T5"/>
                  </a:cxn>
                  <a:cxn ang="0">
                    <a:pos x="T6" y="T7"/>
                  </a:cxn>
                  <a:cxn ang="0">
                    <a:pos x="T8" y="T9"/>
                  </a:cxn>
                  <a:cxn ang="0">
                    <a:pos x="T10" y="T11"/>
                  </a:cxn>
                </a:cxnLst>
                <a:rect l="0" t="0" r="r" b="b"/>
                <a:pathLst>
                  <a:path w="107" h="106">
                    <a:moveTo>
                      <a:pt x="106" y="0"/>
                    </a:moveTo>
                    <a:lnTo>
                      <a:pt x="106" y="105"/>
                    </a:lnTo>
                    <a:lnTo>
                      <a:pt x="0" y="105"/>
                    </a:lnTo>
                    <a:lnTo>
                      <a:pt x="0" y="0"/>
                    </a:lnTo>
                    <a:lnTo>
                      <a:pt x="106" y="0"/>
                    </a:lnTo>
                    <a:lnTo>
                      <a:pt x="106" y="0"/>
                    </a:lnTo>
                  </a:path>
                </a:pathLst>
              </a:custGeom>
              <a:solidFill>
                <a:srgbClr val="000000"/>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sp>
          <p:nvSpPr>
            <p:cNvPr id="180" name="Freeform 159"/>
            <p:cNvSpPr>
              <a:spLocks/>
            </p:cNvSpPr>
            <p:nvPr/>
          </p:nvSpPr>
          <p:spPr bwMode="auto">
            <a:xfrm>
              <a:off x="8875812" y="4797866"/>
              <a:ext cx="801688" cy="307975"/>
            </a:xfrm>
            <a:custGeom>
              <a:avLst/>
              <a:gdLst>
                <a:gd name="T0" fmla="*/ 555 w 556"/>
                <a:gd name="T1" fmla="*/ 0 h 220"/>
                <a:gd name="T2" fmla="*/ 555 w 556"/>
                <a:gd name="T3" fmla="*/ 219 h 220"/>
                <a:gd name="T4" fmla="*/ 0 w 556"/>
                <a:gd name="T5" fmla="*/ 219 h 220"/>
                <a:gd name="T6" fmla="*/ 0 w 556"/>
                <a:gd name="T7" fmla="*/ 0 h 220"/>
                <a:gd name="T8" fmla="*/ 555 w 556"/>
                <a:gd name="T9" fmla="*/ 0 h 220"/>
                <a:gd name="T10" fmla="*/ 555 w 556"/>
                <a:gd name="T11" fmla="*/ 0 h 220"/>
              </a:gdLst>
              <a:ahLst/>
              <a:cxnLst>
                <a:cxn ang="0">
                  <a:pos x="T0" y="T1"/>
                </a:cxn>
                <a:cxn ang="0">
                  <a:pos x="T2" y="T3"/>
                </a:cxn>
                <a:cxn ang="0">
                  <a:pos x="T4" y="T5"/>
                </a:cxn>
                <a:cxn ang="0">
                  <a:pos x="T6" y="T7"/>
                </a:cxn>
                <a:cxn ang="0">
                  <a:pos x="T8" y="T9"/>
                </a:cxn>
                <a:cxn ang="0">
                  <a:pos x="T10" y="T11"/>
                </a:cxn>
              </a:cxnLst>
              <a:rect l="0" t="0" r="r" b="b"/>
              <a:pathLst>
                <a:path w="556" h="220">
                  <a:moveTo>
                    <a:pt x="555" y="0"/>
                  </a:moveTo>
                  <a:lnTo>
                    <a:pt x="555" y="219"/>
                  </a:lnTo>
                  <a:lnTo>
                    <a:pt x="0" y="219"/>
                  </a:lnTo>
                  <a:lnTo>
                    <a:pt x="0" y="0"/>
                  </a:lnTo>
                  <a:lnTo>
                    <a:pt x="555" y="0"/>
                  </a:lnTo>
                  <a:lnTo>
                    <a:pt x="555" y="0"/>
                  </a:lnTo>
                </a:path>
              </a:pathLst>
            </a:custGeom>
            <a:gradFill rotWithShape="0">
              <a:gsLst>
                <a:gs pos="0">
                  <a:srgbClr val="80FF80"/>
                </a:gs>
                <a:gs pos="50000">
                  <a:srgbClr val="FFFFFF"/>
                </a:gs>
                <a:gs pos="100000">
                  <a:srgbClr val="80FF80"/>
                </a:gs>
              </a:gsLst>
              <a:lin ang="5400000" scaled="1"/>
            </a:gra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1" name="Freeform 160"/>
            <p:cNvSpPr>
              <a:spLocks/>
            </p:cNvSpPr>
            <p:nvPr/>
          </p:nvSpPr>
          <p:spPr bwMode="auto">
            <a:xfrm>
              <a:off x="8720238" y="4886766"/>
              <a:ext cx="155575" cy="149225"/>
            </a:xfrm>
            <a:custGeom>
              <a:avLst/>
              <a:gdLst>
                <a:gd name="T0" fmla="*/ 106 w 107"/>
                <a:gd name="T1" fmla="*/ 0 h 107"/>
                <a:gd name="T2" fmla="*/ 106 w 107"/>
                <a:gd name="T3" fmla="*/ 106 h 107"/>
                <a:gd name="T4" fmla="*/ 0 w 107"/>
                <a:gd name="T5" fmla="*/ 106 h 107"/>
                <a:gd name="T6" fmla="*/ 0 w 107"/>
                <a:gd name="T7" fmla="*/ 0 h 107"/>
                <a:gd name="T8" fmla="*/ 106 w 107"/>
                <a:gd name="T9" fmla="*/ 0 h 107"/>
                <a:gd name="T10" fmla="*/ 106 w 107"/>
                <a:gd name="T11" fmla="*/ 0 h 107"/>
              </a:gdLst>
              <a:ahLst/>
              <a:cxnLst>
                <a:cxn ang="0">
                  <a:pos x="T0" y="T1"/>
                </a:cxn>
                <a:cxn ang="0">
                  <a:pos x="T2" y="T3"/>
                </a:cxn>
                <a:cxn ang="0">
                  <a:pos x="T4" y="T5"/>
                </a:cxn>
                <a:cxn ang="0">
                  <a:pos x="T6" y="T7"/>
                </a:cxn>
                <a:cxn ang="0">
                  <a:pos x="T8" y="T9"/>
                </a:cxn>
                <a:cxn ang="0">
                  <a:pos x="T10" y="T11"/>
                </a:cxn>
              </a:cxnLst>
              <a:rect l="0" t="0" r="r" b="b"/>
              <a:pathLst>
                <a:path w="107" h="107">
                  <a:moveTo>
                    <a:pt x="106" y="0"/>
                  </a:moveTo>
                  <a:lnTo>
                    <a:pt x="106" y="106"/>
                  </a:lnTo>
                  <a:lnTo>
                    <a:pt x="0" y="106"/>
                  </a:lnTo>
                  <a:lnTo>
                    <a:pt x="0" y="0"/>
                  </a:lnTo>
                  <a:lnTo>
                    <a:pt x="106" y="0"/>
                  </a:lnTo>
                  <a:lnTo>
                    <a:pt x="106" y="0"/>
                  </a:lnTo>
                </a:path>
              </a:pathLst>
            </a:custGeom>
            <a:solidFill>
              <a:srgbClr val="FFFFFF"/>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2" name="Freeform 161"/>
            <p:cNvSpPr>
              <a:spLocks/>
            </p:cNvSpPr>
            <p:nvPr/>
          </p:nvSpPr>
          <p:spPr bwMode="auto">
            <a:xfrm>
              <a:off x="9675912" y="4888352"/>
              <a:ext cx="153988" cy="147638"/>
            </a:xfrm>
            <a:custGeom>
              <a:avLst/>
              <a:gdLst>
                <a:gd name="T0" fmla="*/ 106 w 107"/>
                <a:gd name="T1" fmla="*/ 0 h 105"/>
                <a:gd name="T2" fmla="*/ 106 w 107"/>
                <a:gd name="T3" fmla="*/ 104 h 105"/>
                <a:gd name="T4" fmla="*/ 0 w 107"/>
                <a:gd name="T5" fmla="*/ 104 h 105"/>
                <a:gd name="T6" fmla="*/ 0 w 107"/>
                <a:gd name="T7" fmla="*/ 0 h 105"/>
                <a:gd name="T8" fmla="*/ 106 w 107"/>
                <a:gd name="T9" fmla="*/ 0 h 105"/>
                <a:gd name="T10" fmla="*/ 106 w 107"/>
                <a:gd name="T11" fmla="*/ 0 h 105"/>
              </a:gdLst>
              <a:ahLst/>
              <a:cxnLst>
                <a:cxn ang="0">
                  <a:pos x="T0" y="T1"/>
                </a:cxn>
                <a:cxn ang="0">
                  <a:pos x="T2" y="T3"/>
                </a:cxn>
                <a:cxn ang="0">
                  <a:pos x="T4" y="T5"/>
                </a:cxn>
                <a:cxn ang="0">
                  <a:pos x="T6" y="T7"/>
                </a:cxn>
                <a:cxn ang="0">
                  <a:pos x="T8" y="T9"/>
                </a:cxn>
                <a:cxn ang="0">
                  <a:pos x="T10" y="T11"/>
                </a:cxn>
              </a:cxnLst>
              <a:rect l="0" t="0" r="r" b="b"/>
              <a:pathLst>
                <a:path w="107" h="105">
                  <a:moveTo>
                    <a:pt x="106" y="0"/>
                  </a:moveTo>
                  <a:lnTo>
                    <a:pt x="106" y="104"/>
                  </a:lnTo>
                  <a:lnTo>
                    <a:pt x="0" y="104"/>
                  </a:lnTo>
                  <a:lnTo>
                    <a:pt x="0" y="0"/>
                  </a:lnTo>
                  <a:lnTo>
                    <a:pt x="106" y="0"/>
                  </a:lnTo>
                  <a:lnTo>
                    <a:pt x="106" y="0"/>
                  </a:lnTo>
                </a:path>
              </a:pathLst>
            </a:custGeom>
            <a:solidFill>
              <a:srgbClr val="FFFFFF"/>
            </a:solidFill>
            <a:ln w="317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3" name="Text Box 162"/>
            <p:cNvSpPr txBox="1">
              <a:spLocks noChangeArrowheads="1"/>
            </p:cNvSpPr>
            <p:nvPr/>
          </p:nvSpPr>
          <p:spPr bwMode="auto">
            <a:xfrm>
              <a:off x="9063137" y="4921868"/>
              <a:ext cx="457200" cy="24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defTabSz="409575">
                <a:defRPr>
                  <a:solidFill>
                    <a:schemeClr val="tx1"/>
                  </a:solidFill>
                  <a:latin typeface="Arial" panose="020B0604020202020204" pitchFamily="34" charset="0"/>
                  <a:ea typeface="宋体" panose="02010600030101010101" pitchFamily="2" charset="-122"/>
                </a:defRPr>
              </a:lvl1pPr>
              <a:lvl2pPr marL="409575" defTabSz="409575">
                <a:defRPr>
                  <a:solidFill>
                    <a:schemeClr val="tx1"/>
                  </a:solidFill>
                  <a:latin typeface="Arial" panose="020B0604020202020204" pitchFamily="34" charset="0"/>
                  <a:ea typeface="宋体" panose="02010600030101010101" pitchFamily="2" charset="-122"/>
                </a:defRPr>
              </a:lvl2pPr>
              <a:lvl3pPr marL="8207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150000"/>
                </a:lnSpc>
                <a:buClr>
                  <a:srgbClr val="104160"/>
                </a:buClr>
                <a:buSzPct val="90000"/>
                <a:buFont typeface="Monotype Sorts" pitchFamily="2" charset="2"/>
                <a:buNone/>
              </a:pPr>
              <a:r>
                <a:rPr lang="en-US" altLang="zh-CN" sz="1500" b="1"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DUT</a:t>
              </a:r>
              <a:endParaRPr lang="en-US" altLang="zh-CN" sz="22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grpSp>
          <p:nvGrpSpPr>
            <p:cNvPr id="184" name="Group 163"/>
            <p:cNvGrpSpPr>
              <a:grpSpLocks/>
            </p:cNvGrpSpPr>
            <p:nvPr/>
          </p:nvGrpSpPr>
          <p:grpSpPr bwMode="auto">
            <a:xfrm>
              <a:off x="8483959" y="3948537"/>
              <a:ext cx="1495425" cy="296584"/>
              <a:chOff x="5022" y="2162"/>
              <a:chExt cx="1036" cy="212"/>
            </a:xfrm>
          </p:grpSpPr>
          <p:sp>
            <p:nvSpPr>
              <p:cNvPr id="227" name="Text Box 164"/>
              <p:cNvSpPr txBox="1">
                <a:spLocks noChangeArrowheads="1"/>
              </p:cNvSpPr>
              <p:nvPr/>
            </p:nvSpPr>
            <p:spPr bwMode="auto">
              <a:xfrm>
                <a:off x="5409" y="2178"/>
                <a:ext cx="318"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647700" indent="-238125" defTabSz="409575">
                  <a:defRPr>
                    <a:solidFill>
                      <a:schemeClr val="tx1"/>
                    </a:solidFill>
                    <a:latin typeface="Arial" panose="020B0604020202020204" pitchFamily="34" charset="0"/>
                    <a:ea typeface="宋体" panose="02010600030101010101" pitchFamily="2" charset="-122"/>
                  </a:defRPr>
                </a:lvl2pPr>
                <a:lvl3pPr marL="1108075" indent="-287338"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1700"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thru</a:t>
                </a:r>
                <a:endParaRPr lang="en-US" altLang="zh-CN" sz="22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grpSp>
            <p:nvGrpSpPr>
              <p:cNvPr id="228" name="Group 165"/>
              <p:cNvGrpSpPr>
                <a:grpSpLocks/>
              </p:cNvGrpSpPr>
              <p:nvPr/>
            </p:nvGrpSpPr>
            <p:grpSpPr bwMode="auto">
              <a:xfrm>
                <a:off x="5022" y="2162"/>
                <a:ext cx="1036" cy="120"/>
                <a:chOff x="5022" y="2162"/>
                <a:chExt cx="1036" cy="120"/>
              </a:xfrm>
            </p:grpSpPr>
            <p:sp>
              <p:nvSpPr>
                <p:cNvPr id="229" name="Line 166"/>
                <p:cNvSpPr>
                  <a:spLocks noChangeShapeType="1"/>
                </p:cNvSpPr>
                <p:nvPr/>
              </p:nvSpPr>
              <p:spPr bwMode="auto">
                <a:xfrm>
                  <a:off x="5162" y="2221"/>
                  <a:ext cx="756" cy="0"/>
                </a:xfrm>
                <a:prstGeom prst="line">
                  <a:avLst/>
                </a:prstGeom>
                <a:noFill/>
                <a:ln w="476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30" name="AutoShape 167"/>
                <p:cNvSpPr>
                  <a:spLocks noChangeArrowheads="1"/>
                </p:cNvSpPr>
                <p:nvPr/>
              </p:nvSpPr>
              <p:spPr bwMode="auto">
                <a:xfrm flipV="1">
                  <a:off x="5022" y="2162"/>
                  <a:ext cx="146" cy="120"/>
                </a:xfrm>
                <a:prstGeom prst="roundRect">
                  <a:avLst>
                    <a:gd name="adj" fmla="val 0"/>
                  </a:avLst>
                </a:prstGeom>
                <a:solidFill>
                  <a:srgbClr val="C0E1FF"/>
                </a:solidFill>
                <a:ln w="19050">
                  <a:solidFill>
                    <a:srgbClr val="C0E1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31" name="AutoShape 168"/>
                <p:cNvSpPr>
                  <a:spLocks noChangeArrowheads="1"/>
                </p:cNvSpPr>
                <p:nvPr/>
              </p:nvSpPr>
              <p:spPr bwMode="auto">
                <a:xfrm flipV="1">
                  <a:off x="5912" y="2162"/>
                  <a:ext cx="146" cy="120"/>
                </a:xfrm>
                <a:prstGeom prst="roundRect">
                  <a:avLst>
                    <a:gd name="adj" fmla="val 0"/>
                  </a:avLst>
                </a:prstGeom>
                <a:solidFill>
                  <a:srgbClr val="C0E1FF"/>
                </a:solidFill>
                <a:ln w="19050">
                  <a:solidFill>
                    <a:srgbClr val="C0E1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50000"/>
                    </a:lnSpc>
                  </a:pPr>
                  <a:endParaRPr lang="zh-CN" altLang="en-US">
                    <a:latin typeface="微软雅黑" panose="020B0503020204020204" pitchFamily="34" charset="-122"/>
                    <a:ea typeface="微软雅黑" panose="020B0503020204020204" pitchFamily="34" charset="-122"/>
                  </a:endParaRPr>
                </a:p>
              </p:txBody>
            </p:sp>
          </p:grpSp>
        </p:grpSp>
        <p:sp>
          <p:nvSpPr>
            <p:cNvPr id="185" name="AutoShape 206"/>
            <p:cNvSpPr>
              <a:spLocks noChangeArrowheads="1"/>
            </p:cNvSpPr>
            <p:nvPr/>
          </p:nvSpPr>
          <p:spPr bwMode="auto">
            <a:xfrm flipV="1">
              <a:off x="8189696" y="3573902"/>
              <a:ext cx="511175" cy="260350"/>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6" name="AutoShape 207"/>
            <p:cNvSpPr>
              <a:spLocks noChangeArrowheads="1"/>
            </p:cNvSpPr>
            <p:nvPr/>
          </p:nvSpPr>
          <p:spPr bwMode="auto">
            <a:xfrm flipV="1">
              <a:off x="8700871" y="3592952"/>
              <a:ext cx="244475" cy="171450"/>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7" name="AutoShape 208"/>
            <p:cNvSpPr>
              <a:spLocks noChangeArrowheads="1"/>
            </p:cNvSpPr>
            <p:nvPr/>
          </p:nvSpPr>
          <p:spPr bwMode="auto">
            <a:xfrm flipV="1">
              <a:off x="8943758" y="3635816"/>
              <a:ext cx="119063" cy="85725"/>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8" name="Line 209"/>
            <p:cNvSpPr>
              <a:spLocks noChangeShapeType="1"/>
            </p:cNvSpPr>
            <p:nvPr/>
          </p:nvSpPr>
          <p:spPr bwMode="auto">
            <a:xfrm>
              <a:off x="8954870" y="3643752"/>
              <a:ext cx="4762"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89" name="Line 210"/>
            <p:cNvSpPr>
              <a:spLocks noChangeShapeType="1"/>
            </p:cNvSpPr>
            <p:nvPr/>
          </p:nvSpPr>
          <p:spPr bwMode="auto">
            <a:xfrm>
              <a:off x="8969157" y="3643752"/>
              <a:ext cx="6350"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0" name="Line 211"/>
            <p:cNvSpPr>
              <a:spLocks noChangeShapeType="1"/>
            </p:cNvSpPr>
            <p:nvPr/>
          </p:nvSpPr>
          <p:spPr bwMode="auto">
            <a:xfrm>
              <a:off x="8983445" y="3643753"/>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1" name="Line 212"/>
            <p:cNvSpPr>
              <a:spLocks noChangeShapeType="1"/>
            </p:cNvSpPr>
            <p:nvPr/>
          </p:nvSpPr>
          <p:spPr bwMode="auto">
            <a:xfrm>
              <a:off x="8999320" y="3643753"/>
              <a:ext cx="4762"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2" name="Line 213"/>
            <p:cNvSpPr>
              <a:spLocks noChangeShapeType="1"/>
            </p:cNvSpPr>
            <p:nvPr/>
          </p:nvSpPr>
          <p:spPr bwMode="auto">
            <a:xfrm>
              <a:off x="9015195" y="3645340"/>
              <a:ext cx="4762"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3" name="Line 214"/>
            <p:cNvSpPr>
              <a:spLocks noChangeShapeType="1"/>
            </p:cNvSpPr>
            <p:nvPr/>
          </p:nvSpPr>
          <p:spPr bwMode="auto">
            <a:xfrm>
              <a:off x="9031070" y="3643752"/>
              <a:ext cx="6350"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4" name="Line 215"/>
            <p:cNvSpPr>
              <a:spLocks noChangeShapeType="1"/>
            </p:cNvSpPr>
            <p:nvPr/>
          </p:nvSpPr>
          <p:spPr bwMode="auto">
            <a:xfrm>
              <a:off x="9046946" y="3643753"/>
              <a:ext cx="3175"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5" name="AutoShape 216"/>
            <p:cNvSpPr>
              <a:spLocks noChangeArrowheads="1"/>
            </p:cNvSpPr>
            <p:nvPr/>
          </p:nvSpPr>
          <p:spPr bwMode="auto">
            <a:xfrm flipV="1">
              <a:off x="8170646" y="3485002"/>
              <a:ext cx="511175" cy="306388"/>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6" name="AutoShape 217"/>
            <p:cNvSpPr>
              <a:spLocks noChangeArrowheads="1"/>
            </p:cNvSpPr>
            <p:nvPr/>
          </p:nvSpPr>
          <p:spPr bwMode="auto">
            <a:xfrm flipV="1">
              <a:off x="8681821" y="3553265"/>
              <a:ext cx="242887" cy="169862"/>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7" name="AutoShape 218"/>
            <p:cNvSpPr>
              <a:spLocks noChangeArrowheads="1"/>
            </p:cNvSpPr>
            <p:nvPr/>
          </p:nvSpPr>
          <p:spPr bwMode="auto">
            <a:xfrm flipV="1">
              <a:off x="8923120" y="3596128"/>
              <a:ext cx="119062" cy="85725"/>
            </a:xfrm>
            <a:prstGeom prst="roundRect">
              <a:avLst>
                <a:gd name="adj" fmla="val 0"/>
              </a:avLst>
            </a:prstGeom>
            <a:gradFill rotWithShape="0">
              <a:gsLst>
                <a:gs pos="0">
                  <a:srgbClr val="C0C0C0"/>
                </a:gs>
                <a:gs pos="50000">
                  <a:srgbClr val="EFEFEF"/>
                </a:gs>
                <a:gs pos="100000">
                  <a:srgbClr val="C0C0C0"/>
                </a:gs>
              </a:gsLst>
              <a:lin ang="189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8" name="Line 219"/>
            <p:cNvSpPr>
              <a:spLocks noChangeShapeType="1"/>
            </p:cNvSpPr>
            <p:nvPr/>
          </p:nvSpPr>
          <p:spPr bwMode="auto">
            <a:xfrm>
              <a:off x="8935820" y="3604065"/>
              <a:ext cx="4762"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99" name="Line 220"/>
            <p:cNvSpPr>
              <a:spLocks noChangeShapeType="1"/>
            </p:cNvSpPr>
            <p:nvPr/>
          </p:nvSpPr>
          <p:spPr bwMode="auto">
            <a:xfrm>
              <a:off x="8950108" y="3604065"/>
              <a:ext cx="4763"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00" name="Line 221"/>
            <p:cNvSpPr>
              <a:spLocks noChangeShapeType="1"/>
            </p:cNvSpPr>
            <p:nvPr/>
          </p:nvSpPr>
          <p:spPr bwMode="auto">
            <a:xfrm>
              <a:off x="8964395" y="3604065"/>
              <a:ext cx="4762"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01" name="Line 222"/>
            <p:cNvSpPr>
              <a:spLocks noChangeShapeType="1"/>
            </p:cNvSpPr>
            <p:nvPr/>
          </p:nvSpPr>
          <p:spPr bwMode="auto">
            <a:xfrm>
              <a:off x="8980271" y="3602477"/>
              <a:ext cx="3175"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02" name="Line 223"/>
            <p:cNvSpPr>
              <a:spLocks noChangeShapeType="1"/>
            </p:cNvSpPr>
            <p:nvPr/>
          </p:nvSpPr>
          <p:spPr bwMode="auto">
            <a:xfrm>
              <a:off x="8996145" y="3604065"/>
              <a:ext cx="4762"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03" name="Line 224"/>
            <p:cNvSpPr>
              <a:spLocks noChangeShapeType="1"/>
            </p:cNvSpPr>
            <p:nvPr/>
          </p:nvSpPr>
          <p:spPr bwMode="auto">
            <a:xfrm>
              <a:off x="9012020" y="3604065"/>
              <a:ext cx="4762"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04" name="Line 225"/>
            <p:cNvSpPr>
              <a:spLocks noChangeShapeType="1"/>
            </p:cNvSpPr>
            <p:nvPr/>
          </p:nvSpPr>
          <p:spPr bwMode="auto">
            <a:xfrm>
              <a:off x="9026308" y="3604065"/>
              <a:ext cx="4763"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05" name="Text Box 226"/>
            <p:cNvSpPr txBox="1">
              <a:spLocks noChangeArrowheads="1"/>
            </p:cNvSpPr>
            <p:nvPr/>
          </p:nvSpPr>
          <p:spPr bwMode="auto">
            <a:xfrm>
              <a:off x="8283358" y="3573903"/>
              <a:ext cx="327025" cy="12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484188" indent="-74613" defTabSz="409575">
                <a:defRPr>
                  <a:solidFill>
                    <a:schemeClr val="tx1"/>
                  </a:solidFill>
                  <a:latin typeface="Arial" panose="020B0604020202020204" pitchFamily="34" charset="0"/>
                  <a:ea typeface="宋体" panose="02010600030101010101" pitchFamily="2" charset="-122"/>
                </a:defRPr>
              </a:lvl2pPr>
              <a:lvl3pPr marL="882650" indent="-61913"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800" b="1">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LOAD</a:t>
              </a:r>
              <a:endParaRPr lang="en-US" altLang="zh-CN" sz="220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206" name="AutoShape 227"/>
            <p:cNvSpPr>
              <a:spLocks noChangeArrowheads="1"/>
            </p:cNvSpPr>
            <p:nvPr/>
          </p:nvSpPr>
          <p:spPr bwMode="auto">
            <a:xfrm flipV="1">
              <a:off x="9766083" y="3572315"/>
              <a:ext cx="512763" cy="260350"/>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07" name="AutoShape 228"/>
            <p:cNvSpPr>
              <a:spLocks noChangeArrowheads="1"/>
            </p:cNvSpPr>
            <p:nvPr/>
          </p:nvSpPr>
          <p:spPr bwMode="auto">
            <a:xfrm flipV="1">
              <a:off x="9523196" y="3591365"/>
              <a:ext cx="244475" cy="171450"/>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08" name="AutoShape 229"/>
            <p:cNvSpPr>
              <a:spLocks noChangeArrowheads="1"/>
            </p:cNvSpPr>
            <p:nvPr/>
          </p:nvSpPr>
          <p:spPr bwMode="auto">
            <a:xfrm flipV="1">
              <a:off x="9407308" y="3634228"/>
              <a:ext cx="117475" cy="85725"/>
            </a:xfrm>
            <a:prstGeom prst="roundRect">
              <a:avLst>
                <a:gd name="adj" fmla="val 0"/>
              </a:avLst>
            </a:prstGeom>
            <a:solidFill>
              <a:srgbClr val="00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09" name="Line 230"/>
            <p:cNvSpPr>
              <a:spLocks noChangeShapeType="1"/>
            </p:cNvSpPr>
            <p:nvPr/>
          </p:nvSpPr>
          <p:spPr bwMode="auto">
            <a:xfrm flipH="1">
              <a:off x="9508908" y="3642165"/>
              <a:ext cx="4763"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10" name="Line 231"/>
            <p:cNvSpPr>
              <a:spLocks noChangeShapeType="1"/>
            </p:cNvSpPr>
            <p:nvPr/>
          </p:nvSpPr>
          <p:spPr bwMode="auto">
            <a:xfrm flipH="1">
              <a:off x="9493032" y="3642165"/>
              <a:ext cx="6350"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11" name="Line 232"/>
            <p:cNvSpPr>
              <a:spLocks noChangeShapeType="1"/>
            </p:cNvSpPr>
            <p:nvPr/>
          </p:nvSpPr>
          <p:spPr bwMode="auto">
            <a:xfrm flipH="1">
              <a:off x="9478745" y="3642165"/>
              <a:ext cx="6350"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12" name="Line 233"/>
            <p:cNvSpPr>
              <a:spLocks noChangeShapeType="1"/>
            </p:cNvSpPr>
            <p:nvPr/>
          </p:nvSpPr>
          <p:spPr bwMode="auto">
            <a:xfrm flipH="1">
              <a:off x="9462870" y="3642165"/>
              <a:ext cx="6350"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13" name="Line 234"/>
            <p:cNvSpPr>
              <a:spLocks noChangeShapeType="1"/>
            </p:cNvSpPr>
            <p:nvPr/>
          </p:nvSpPr>
          <p:spPr bwMode="auto">
            <a:xfrm flipH="1">
              <a:off x="9448582" y="3643753"/>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14" name="Line 235"/>
            <p:cNvSpPr>
              <a:spLocks noChangeShapeType="1"/>
            </p:cNvSpPr>
            <p:nvPr/>
          </p:nvSpPr>
          <p:spPr bwMode="auto">
            <a:xfrm flipH="1">
              <a:off x="9431120" y="3642165"/>
              <a:ext cx="6350"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15" name="Line 236"/>
            <p:cNvSpPr>
              <a:spLocks noChangeShapeType="1"/>
            </p:cNvSpPr>
            <p:nvPr/>
          </p:nvSpPr>
          <p:spPr bwMode="auto">
            <a:xfrm flipH="1">
              <a:off x="9416832" y="3642165"/>
              <a:ext cx="6350" cy="682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16" name="AutoShape 237"/>
            <p:cNvSpPr>
              <a:spLocks noChangeArrowheads="1"/>
            </p:cNvSpPr>
            <p:nvPr/>
          </p:nvSpPr>
          <p:spPr bwMode="auto">
            <a:xfrm flipV="1">
              <a:off x="9788308" y="3483416"/>
              <a:ext cx="511175" cy="307975"/>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17" name="AutoShape 238"/>
            <p:cNvSpPr>
              <a:spLocks noChangeArrowheads="1"/>
            </p:cNvSpPr>
            <p:nvPr/>
          </p:nvSpPr>
          <p:spPr bwMode="auto">
            <a:xfrm flipV="1">
              <a:off x="9543833" y="3553266"/>
              <a:ext cx="244475" cy="168275"/>
            </a:xfrm>
            <a:prstGeom prst="roundRect">
              <a:avLst>
                <a:gd name="adj" fmla="val 0"/>
              </a:avLst>
            </a:prstGeom>
            <a:gradFill rotWithShape="0">
              <a:gsLst>
                <a:gs pos="0">
                  <a:srgbClr val="C0C0C0"/>
                </a:gs>
                <a:gs pos="50000">
                  <a:srgbClr val="EFEFEF"/>
                </a:gs>
                <a:gs pos="100000">
                  <a:srgbClr val="C0C0C0"/>
                </a:gs>
              </a:gsLst>
              <a:lin ang="54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18" name="AutoShape 239"/>
            <p:cNvSpPr>
              <a:spLocks noChangeArrowheads="1"/>
            </p:cNvSpPr>
            <p:nvPr/>
          </p:nvSpPr>
          <p:spPr bwMode="auto">
            <a:xfrm flipV="1">
              <a:off x="9427946" y="3594541"/>
              <a:ext cx="117475" cy="85725"/>
            </a:xfrm>
            <a:prstGeom prst="roundRect">
              <a:avLst>
                <a:gd name="adj" fmla="val 0"/>
              </a:avLst>
            </a:prstGeom>
            <a:gradFill rotWithShape="0">
              <a:gsLst>
                <a:gs pos="0">
                  <a:srgbClr val="C0C0C0"/>
                </a:gs>
                <a:gs pos="50000">
                  <a:srgbClr val="EFEFEF"/>
                </a:gs>
                <a:gs pos="100000">
                  <a:srgbClr val="C0C0C0"/>
                </a:gs>
              </a:gsLst>
              <a:lin ang="1890000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19" name="Line 240"/>
            <p:cNvSpPr>
              <a:spLocks noChangeShapeType="1"/>
            </p:cNvSpPr>
            <p:nvPr/>
          </p:nvSpPr>
          <p:spPr bwMode="auto">
            <a:xfrm flipH="1">
              <a:off x="9527957" y="3602478"/>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20" name="Line 241"/>
            <p:cNvSpPr>
              <a:spLocks noChangeShapeType="1"/>
            </p:cNvSpPr>
            <p:nvPr/>
          </p:nvSpPr>
          <p:spPr bwMode="auto">
            <a:xfrm flipH="1">
              <a:off x="9513670" y="3602478"/>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21" name="Line 242"/>
            <p:cNvSpPr>
              <a:spLocks noChangeShapeType="1"/>
            </p:cNvSpPr>
            <p:nvPr/>
          </p:nvSpPr>
          <p:spPr bwMode="auto">
            <a:xfrm flipH="1">
              <a:off x="9499383" y="3602478"/>
              <a:ext cx="4763"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22" name="Line 243"/>
            <p:cNvSpPr>
              <a:spLocks noChangeShapeType="1"/>
            </p:cNvSpPr>
            <p:nvPr/>
          </p:nvSpPr>
          <p:spPr bwMode="auto">
            <a:xfrm flipH="1">
              <a:off x="9485095" y="3600890"/>
              <a:ext cx="4762"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23" name="Line 244"/>
            <p:cNvSpPr>
              <a:spLocks noChangeShapeType="1"/>
            </p:cNvSpPr>
            <p:nvPr/>
          </p:nvSpPr>
          <p:spPr bwMode="auto">
            <a:xfrm flipH="1">
              <a:off x="9469220" y="3602477"/>
              <a:ext cx="4762" cy="698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24" name="Line 245"/>
            <p:cNvSpPr>
              <a:spLocks noChangeShapeType="1"/>
            </p:cNvSpPr>
            <p:nvPr/>
          </p:nvSpPr>
          <p:spPr bwMode="auto">
            <a:xfrm flipH="1">
              <a:off x="9451757" y="3602478"/>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25" name="Line 246"/>
            <p:cNvSpPr>
              <a:spLocks noChangeShapeType="1"/>
            </p:cNvSpPr>
            <p:nvPr/>
          </p:nvSpPr>
          <p:spPr bwMode="auto">
            <a:xfrm flipH="1">
              <a:off x="9437470" y="3602478"/>
              <a:ext cx="6350" cy="68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226" name="Text Box 247"/>
            <p:cNvSpPr txBox="1">
              <a:spLocks noChangeArrowheads="1"/>
            </p:cNvSpPr>
            <p:nvPr/>
          </p:nvSpPr>
          <p:spPr bwMode="auto">
            <a:xfrm>
              <a:off x="9874033" y="3572315"/>
              <a:ext cx="328613" cy="12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09575">
                <a:defRPr>
                  <a:solidFill>
                    <a:schemeClr val="tx1"/>
                  </a:solidFill>
                  <a:latin typeface="Arial" panose="020B0604020202020204" pitchFamily="34" charset="0"/>
                  <a:ea typeface="宋体" panose="02010600030101010101" pitchFamily="2" charset="-122"/>
                </a:defRPr>
              </a:lvl1pPr>
              <a:lvl2pPr marL="484188" indent="-74613" defTabSz="409575">
                <a:defRPr>
                  <a:solidFill>
                    <a:schemeClr val="tx1"/>
                  </a:solidFill>
                  <a:latin typeface="Arial" panose="020B0604020202020204" pitchFamily="34" charset="0"/>
                  <a:ea typeface="宋体" panose="02010600030101010101" pitchFamily="2" charset="-122"/>
                </a:defRPr>
              </a:lvl2pPr>
              <a:lvl3pPr marL="882650" indent="-61913" defTabSz="409575">
                <a:defRPr>
                  <a:solidFill>
                    <a:schemeClr val="tx1"/>
                  </a:solidFill>
                  <a:latin typeface="Arial" panose="020B0604020202020204" pitchFamily="34" charset="0"/>
                  <a:ea typeface="宋体" panose="02010600030101010101" pitchFamily="2" charset="-122"/>
                </a:defRPr>
              </a:lvl3pPr>
              <a:lvl4pPr marL="1230313" defTabSz="409575">
                <a:defRPr>
                  <a:solidFill>
                    <a:schemeClr val="tx1"/>
                  </a:solidFill>
                  <a:latin typeface="Arial" panose="020B0604020202020204" pitchFamily="34" charset="0"/>
                  <a:ea typeface="宋体" panose="02010600030101010101" pitchFamily="2" charset="-122"/>
                </a:defRPr>
              </a:lvl4pPr>
              <a:lvl5pPr marL="1641475" defTabSz="409575">
                <a:defRPr>
                  <a:solidFill>
                    <a:schemeClr val="tx1"/>
                  </a:solidFill>
                  <a:latin typeface="Arial" panose="020B0604020202020204" pitchFamily="34" charset="0"/>
                  <a:ea typeface="宋体" panose="02010600030101010101" pitchFamily="2" charset="-122"/>
                </a:defRPr>
              </a:lvl5pPr>
              <a:lvl6pPr marL="20986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558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130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70275" defTabSz="4095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50000"/>
                </a:lnSpc>
                <a:buClr>
                  <a:srgbClr val="000000"/>
                </a:buClr>
                <a:buSzPct val="90000"/>
                <a:buFont typeface="Monotype Sorts" pitchFamily="2" charset="2"/>
                <a:buNone/>
              </a:pPr>
              <a:r>
                <a:rPr lang="en-US" altLang="zh-CN" sz="800" b="1"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LOAD</a:t>
              </a:r>
              <a:endParaRPr lang="en-US" altLang="zh-CN" sz="22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112168838"/>
      </p:ext>
    </p:extLst>
  </p:cSld>
  <p:clrMapOvr>
    <a:masterClrMapping/>
  </p:clrMapOvr>
  <p:transition spd="slow">
    <p:push dir="d"/>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基本操作</a:t>
            </a:r>
            <a:endParaRPr lang="zh-CN" altLang="en-US" dirty="0"/>
          </a:p>
        </p:txBody>
      </p:sp>
      <p:sp>
        <p:nvSpPr>
          <p:cNvPr id="2" name="内容占位符 1"/>
          <p:cNvSpPr>
            <a:spLocks noGrp="1"/>
          </p:cNvSpPr>
          <p:nvPr>
            <p:ph idx="1"/>
          </p:nvPr>
        </p:nvSpPr>
        <p:spPr/>
        <p:txBody>
          <a:bodyPr>
            <a:normAutofit fontScale="55000" lnSpcReduction="20000"/>
          </a:bodyPr>
          <a:lstStyle/>
          <a:p>
            <a:pPr marL="457200" indent="-457200">
              <a:buFont typeface="+mj-lt"/>
              <a:buAutoNum type="arabicPeriod"/>
            </a:pPr>
            <a:r>
              <a:rPr lang="zh-CN" altLang="en-US" dirty="0"/>
              <a:t>设置测量参数</a:t>
            </a:r>
          </a:p>
          <a:p>
            <a:pPr marL="914400" lvl="1" indent="-457200">
              <a:lnSpc>
                <a:spcPct val="150000"/>
              </a:lnSpc>
              <a:buFont typeface="+mj-ea"/>
              <a:buAutoNum type="circleNumDbPlain"/>
            </a:pPr>
            <a:r>
              <a:rPr lang="zh-CN" altLang="en-US" dirty="0"/>
              <a:t>预设：</a:t>
            </a:r>
            <a:r>
              <a:rPr lang="en-US" altLang="zh-CN" dirty="0"/>
              <a:t>Preset-&gt;OK;</a:t>
            </a:r>
          </a:p>
          <a:p>
            <a:pPr marL="914400" lvl="1" indent="-457200">
              <a:lnSpc>
                <a:spcPct val="150000"/>
              </a:lnSpc>
              <a:buFont typeface="+mj-ea"/>
              <a:buAutoNum type="circleNumDbPlain"/>
            </a:pPr>
            <a:r>
              <a:rPr lang="zh-CN" altLang="en-US" dirty="0"/>
              <a:t>选择测试参数</a:t>
            </a:r>
            <a:r>
              <a:rPr lang="en-US" altLang="zh-CN" dirty="0" smtClean="0"/>
              <a:t>S11</a:t>
            </a:r>
            <a:r>
              <a:rPr lang="zh-CN" altLang="en-US" dirty="0" smtClean="0"/>
              <a:t>：</a:t>
            </a:r>
            <a:r>
              <a:rPr lang="en-US" altLang="zh-CN" dirty="0" err="1"/>
              <a:t>Meas</a:t>
            </a:r>
            <a:r>
              <a:rPr lang="en-US" altLang="zh-CN" dirty="0"/>
              <a:t>-&gt;</a:t>
            </a:r>
            <a:r>
              <a:rPr lang="en-US" altLang="zh-CN" dirty="0" smtClean="0"/>
              <a:t>S11;</a:t>
            </a:r>
            <a:endParaRPr lang="en-US" altLang="zh-CN" dirty="0"/>
          </a:p>
          <a:p>
            <a:pPr marL="914400" lvl="1" indent="-457200">
              <a:lnSpc>
                <a:spcPct val="150000"/>
              </a:lnSpc>
              <a:buFont typeface="+mj-ea"/>
              <a:buAutoNum type="circleNumDbPlain"/>
            </a:pPr>
            <a:r>
              <a:rPr lang="zh-CN" altLang="en-US" dirty="0"/>
              <a:t>设置数据显示格式为对数幅度格式：</a:t>
            </a:r>
            <a:r>
              <a:rPr lang="en-US" altLang="zh-CN" dirty="0"/>
              <a:t>Format-&gt;</a:t>
            </a:r>
            <a:r>
              <a:rPr lang="en-US" altLang="zh-CN" dirty="0" err="1"/>
              <a:t>LogMag</a:t>
            </a:r>
            <a:r>
              <a:rPr lang="en-US" altLang="zh-CN" dirty="0"/>
              <a:t>;</a:t>
            </a:r>
          </a:p>
          <a:p>
            <a:pPr marL="914400" lvl="1" indent="-457200">
              <a:lnSpc>
                <a:spcPct val="150000"/>
              </a:lnSpc>
              <a:buFont typeface="+mj-ea"/>
              <a:buAutoNum type="circleNumDbPlain"/>
            </a:pPr>
            <a:r>
              <a:rPr lang="zh-CN" altLang="en-US" dirty="0"/>
              <a:t>设置频率范围：</a:t>
            </a:r>
            <a:r>
              <a:rPr lang="en-US" altLang="zh-CN" dirty="0"/>
              <a:t>Start-&gt;1.5GHz</a:t>
            </a:r>
            <a:r>
              <a:rPr lang="zh-CN" altLang="en-US" dirty="0"/>
              <a:t>，</a:t>
            </a:r>
            <a:r>
              <a:rPr lang="en-US" altLang="zh-CN" dirty="0"/>
              <a:t>Stop-&gt;2.5GHz</a:t>
            </a:r>
            <a:r>
              <a:rPr lang="zh-CN" altLang="en-US" dirty="0"/>
              <a:t>（面板键盘上“</a:t>
            </a:r>
            <a:r>
              <a:rPr lang="en-US" altLang="zh-CN" dirty="0"/>
              <a:t>G”</a:t>
            </a:r>
            <a:r>
              <a:rPr lang="zh-CN" altLang="en-US" dirty="0"/>
              <a:t>代表</a:t>
            </a:r>
            <a:r>
              <a:rPr lang="en-US" altLang="zh-CN" dirty="0"/>
              <a:t>GHz</a:t>
            </a:r>
            <a:r>
              <a:rPr lang="zh-CN" altLang="en-US" dirty="0"/>
              <a:t>，“</a:t>
            </a:r>
            <a:r>
              <a:rPr lang="en-US" altLang="zh-CN" dirty="0"/>
              <a:t>M”</a:t>
            </a:r>
            <a:r>
              <a:rPr lang="zh-CN" altLang="en-US" dirty="0"/>
              <a:t>代表</a:t>
            </a:r>
            <a:r>
              <a:rPr lang="en-US" altLang="zh-CN" dirty="0"/>
              <a:t>MHz</a:t>
            </a:r>
            <a:r>
              <a:rPr lang="zh-CN" altLang="en-US" dirty="0"/>
              <a:t>，“</a:t>
            </a:r>
            <a:r>
              <a:rPr lang="en-US" altLang="zh-CN" dirty="0"/>
              <a:t>k”</a:t>
            </a:r>
            <a:r>
              <a:rPr lang="zh-CN" altLang="en-US" dirty="0"/>
              <a:t>代表</a:t>
            </a:r>
            <a:r>
              <a:rPr lang="en-US" altLang="zh-CN" dirty="0"/>
              <a:t>kHz</a:t>
            </a:r>
            <a:r>
              <a:rPr lang="zh-CN" altLang="en-US" dirty="0"/>
              <a:t>；</a:t>
            </a:r>
          </a:p>
          <a:p>
            <a:pPr marL="914400" lvl="1" indent="-457200">
              <a:lnSpc>
                <a:spcPct val="150000"/>
              </a:lnSpc>
              <a:buFont typeface="+mj-ea"/>
              <a:buAutoNum type="circleNumDbPlain"/>
            </a:pPr>
            <a:r>
              <a:rPr lang="zh-CN" altLang="en-US" dirty="0"/>
              <a:t>设置扫描点数：</a:t>
            </a:r>
            <a:r>
              <a:rPr lang="en-US" altLang="zh-CN" dirty="0"/>
              <a:t>Sweep Setup-&gt;Points-&gt;101-&gt;</a:t>
            </a:r>
            <a:r>
              <a:rPr lang="en-US" altLang="zh-CN" dirty="0" smtClean="0"/>
              <a:t>x1</a:t>
            </a:r>
            <a:r>
              <a:rPr lang="zh-CN" altLang="en-US" dirty="0" smtClean="0"/>
              <a:t>（或</a:t>
            </a:r>
            <a:r>
              <a:rPr lang="en-US" altLang="zh-CN" dirty="0" smtClean="0"/>
              <a:t>”Enter”</a:t>
            </a:r>
            <a:r>
              <a:rPr lang="zh-CN" altLang="en-US" dirty="0" smtClean="0"/>
              <a:t>键或按下大按钮）；</a:t>
            </a:r>
            <a:endParaRPr lang="zh-CN" altLang="en-US" dirty="0"/>
          </a:p>
          <a:p>
            <a:pPr marL="914400" lvl="1" indent="-457200">
              <a:lnSpc>
                <a:spcPct val="150000"/>
              </a:lnSpc>
              <a:buFont typeface="+mj-ea"/>
              <a:buAutoNum type="circleNumDbPlain"/>
            </a:pPr>
            <a:r>
              <a:rPr lang="zh-CN" altLang="en-US" dirty="0"/>
              <a:t>设置信号源扫描功率：</a:t>
            </a:r>
            <a:r>
              <a:rPr lang="en-US" altLang="zh-CN" dirty="0"/>
              <a:t>Sweep Setup-&gt;Power-&gt;</a:t>
            </a:r>
            <a:r>
              <a:rPr lang="en-US" altLang="zh-CN" dirty="0" err="1"/>
              <a:t>Foc</a:t>
            </a:r>
            <a:r>
              <a:rPr lang="en-US" altLang="zh-CN" dirty="0"/>
              <a:t>-&gt;-10-&gt;x1-&gt;Entry </a:t>
            </a:r>
            <a:r>
              <a:rPr lang="en-US" altLang="zh-CN" dirty="0" smtClean="0"/>
              <a:t>Off</a:t>
            </a:r>
            <a:r>
              <a:rPr lang="zh-CN" altLang="en-US" dirty="0" smtClean="0"/>
              <a:t>（隐藏设置窗）。</a:t>
            </a:r>
            <a:endParaRPr lang="zh-CN" altLang="en-US" dirty="0"/>
          </a:p>
        </p:txBody>
      </p:sp>
      <p:sp>
        <p:nvSpPr>
          <p:cNvPr id="4" name="日期占位符 3"/>
          <p:cNvSpPr>
            <a:spLocks noGrp="1"/>
          </p:cNvSpPr>
          <p:nvPr>
            <p:ph type="dt" sz="half" idx="10"/>
          </p:nvPr>
        </p:nvSpPr>
        <p:spPr/>
        <p:txBody>
          <a:bodyPr/>
          <a:lstStyle/>
          <a:p>
            <a:fld id="{AC63B0AB-E041-4987-A91E-8BFF40B1AD8F}" type="datetime3">
              <a:rPr lang="zh-CN" altLang="en-US" smtClean="0"/>
              <a:t>2019年5月6日星期一</a:t>
            </a:fld>
            <a:endParaRPr lang="zh-CN" altLang="en-US"/>
          </a:p>
        </p:txBody>
      </p:sp>
      <p:sp>
        <p:nvSpPr>
          <p:cNvPr id="5" name="页脚占位符 4"/>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6" name="灯片编号占位符 5"/>
          <p:cNvSpPr>
            <a:spLocks noGrp="1"/>
          </p:cNvSpPr>
          <p:nvPr>
            <p:ph type="sldNum" sz="quarter" idx="12"/>
          </p:nvPr>
        </p:nvSpPr>
        <p:spPr/>
        <p:txBody>
          <a:bodyPr/>
          <a:lstStyle/>
          <a:p>
            <a:fld id="{D5BA5A3D-E723-4639-877B-B187790AC552}" type="slidenum">
              <a:rPr lang="zh-CN" altLang="en-US" smtClean="0"/>
              <a:pPr/>
              <a:t>23</a:t>
            </a:fld>
            <a:endParaRPr lang="zh-CN" altLang="en-US"/>
          </a:p>
        </p:txBody>
      </p:sp>
    </p:spTree>
    <p:extLst>
      <p:ext uri="{BB962C8B-B14F-4D97-AF65-F5344CB8AC3E}">
        <p14:creationId xmlns:p14="http://schemas.microsoft.com/office/powerpoint/2010/main" val="1599555375"/>
      </p:ext>
    </p:extLst>
  </p:cSld>
  <p:clrMapOvr>
    <a:masterClrMapping/>
  </p:clrMapOvr>
  <p:transition spd="slow">
    <p:push dir="d"/>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仪器校准</a:t>
            </a:r>
            <a:endParaRPr lang="zh-CN" altLang="en-US" dirty="0"/>
          </a:p>
        </p:txBody>
      </p:sp>
      <p:sp>
        <p:nvSpPr>
          <p:cNvPr id="2" name="内容占位符 1"/>
          <p:cNvSpPr>
            <a:spLocks noGrp="1"/>
          </p:cNvSpPr>
          <p:nvPr>
            <p:ph idx="1"/>
          </p:nvPr>
        </p:nvSpPr>
        <p:spPr/>
        <p:txBody>
          <a:bodyPr>
            <a:normAutofit fontScale="55000" lnSpcReduction="20000"/>
          </a:bodyPr>
          <a:lstStyle/>
          <a:p>
            <a:pPr marL="457200" indent="-457200">
              <a:buFont typeface="+mj-lt"/>
              <a:buAutoNum type="arabicPeriod" startAt="2"/>
            </a:pPr>
            <a:r>
              <a:rPr lang="zh-CN" altLang="en-US" dirty="0"/>
              <a:t>单端口校准</a:t>
            </a:r>
          </a:p>
          <a:p>
            <a:pPr marL="914400" lvl="1" indent="-457200">
              <a:lnSpc>
                <a:spcPct val="100000"/>
              </a:lnSpc>
              <a:buFont typeface="+mj-ea"/>
              <a:buAutoNum type="circleNumDbPlain"/>
            </a:pPr>
            <a:r>
              <a:rPr lang="zh-CN" altLang="en-US" dirty="0"/>
              <a:t>设置校准件型号：</a:t>
            </a:r>
            <a:r>
              <a:rPr lang="en-US" altLang="zh-CN" dirty="0"/>
              <a:t>Cal-&gt;Cal Kit-&gt;</a:t>
            </a:r>
            <a:r>
              <a:rPr lang="en-US" altLang="zh-CN" dirty="0" smtClean="0"/>
              <a:t>85032F</a:t>
            </a:r>
            <a:r>
              <a:rPr lang="zh-CN" altLang="en-US" dirty="0" smtClean="0"/>
              <a:t>（或自定义</a:t>
            </a:r>
            <a:r>
              <a:rPr lang="en-US" altLang="zh-CN" dirty="0" smtClean="0"/>
              <a:t>/user</a:t>
            </a:r>
            <a:r>
              <a:rPr lang="zh-CN" altLang="en-US" dirty="0" smtClean="0"/>
              <a:t>）（</a:t>
            </a:r>
            <a:r>
              <a:rPr lang="en-US" altLang="zh-CN" dirty="0"/>
              <a:t>F</a:t>
            </a:r>
            <a:r>
              <a:rPr lang="zh-CN" altLang="en-US" dirty="0"/>
              <a:t>指</a:t>
            </a:r>
            <a:r>
              <a:rPr lang="en-US" altLang="zh-CN" dirty="0" err="1"/>
              <a:t>femal</a:t>
            </a:r>
            <a:r>
              <a:rPr lang="zh-CN" altLang="en-US" dirty="0"/>
              <a:t>母头校准件，</a:t>
            </a:r>
            <a:r>
              <a:rPr lang="en-US" altLang="zh-CN" dirty="0"/>
              <a:t>M</a:t>
            </a:r>
            <a:r>
              <a:rPr lang="zh-CN" altLang="en-US" dirty="0"/>
              <a:t>指</a:t>
            </a:r>
            <a:r>
              <a:rPr lang="en-US" altLang="zh-CN" dirty="0"/>
              <a:t>male</a:t>
            </a:r>
            <a:r>
              <a:rPr lang="zh-CN" altLang="en-US" dirty="0"/>
              <a:t>公头校准件）；</a:t>
            </a:r>
          </a:p>
          <a:p>
            <a:pPr marL="914400" lvl="1" indent="-457200">
              <a:lnSpc>
                <a:spcPct val="100000"/>
              </a:lnSpc>
              <a:buFont typeface="+mj-ea"/>
              <a:buAutoNum type="circleNumDbPlain"/>
            </a:pPr>
            <a:r>
              <a:rPr lang="en-US" altLang="zh-CN" dirty="0"/>
              <a:t>Modify Cal Kit-&gt;Specify CLSs-&gt;Open-&gt;Set All-&gt;Open(m/f),</a:t>
            </a:r>
            <a:r>
              <a:rPr lang="zh-CN" altLang="en-US" dirty="0"/>
              <a:t>返回到</a:t>
            </a:r>
            <a:r>
              <a:rPr lang="en-US" altLang="zh-CN" dirty="0"/>
              <a:t>Specify CLSs-&gt;Short-&gt;Set ALL-&gt;Short(m/f)</a:t>
            </a:r>
            <a:r>
              <a:rPr lang="zh-CN" altLang="en-US" dirty="0" smtClean="0"/>
              <a:t>；返回到</a:t>
            </a:r>
            <a:r>
              <a:rPr lang="en-US" altLang="zh-CN" dirty="0" smtClean="0"/>
              <a:t>Specify CLSs-&gt;load-&gt;Set ALL-&gt;Broadband;</a:t>
            </a:r>
            <a:endParaRPr lang="zh-CN" altLang="en-US" dirty="0"/>
          </a:p>
          <a:p>
            <a:pPr marL="914400" lvl="1" indent="-457200">
              <a:lnSpc>
                <a:spcPct val="100000"/>
              </a:lnSpc>
              <a:buFont typeface="+mj-ea"/>
              <a:buAutoNum type="circleNumDbPlain"/>
            </a:pPr>
            <a:r>
              <a:rPr lang="zh-CN" altLang="en-US" dirty="0"/>
              <a:t>选择单端口校准并选择校准端口：</a:t>
            </a:r>
            <a:r>
              <a:rPr lang="en-US" altLang="zh-CN" dirty="0"/>
              <a:t>Cal-Calibrate-&gt;1-Port Cal-&gt;Select Port-&gt;1</a:t>
            </a:r>
            <a:r>
              <a:rPr lang="zh-CN" altLang="en-US" dirty="0"/>
              <a:t>（端口</a:t>
            </a:r>
            <a:r>
              <a:rPr lang="en-US" altLang="zh-CN" dirty="0"/>
              <a:t>1 </a:t>
            </a:r>
            <a:r>
              <a:rPr lang="zh-CN" altLang="en-US" dirty="0"/>
              <a:t>的校准，端口</a:t>
            </a:r>
            <a:r>
              <a:rPr lang="en-US" altLang="zh-CN" dirty="0"/>
              <a:t>2</a:t>
            </a:r>
            <a:r>
              <a:rPr lang="zh-CN" altLang="en-US" dirty="0"/>
              <a:t>也可如此操作）；</a:t>
            </a:r>
          </a:p>
          <a:p>
            <a:pPr marL="914400" lvl="1" indent="-457200">
              <a:lnSpc>
                <a:spcPct val="100000"/>
              </a:lnSpc>
              <a:buFont typeface="+mj-ea"/>
              <a:buAutoNum type="circleNumDbPlain"/>
            </a:pPr>
            <a:r>
              <a:rPr lang="zh-CN" altLang="en-US" dirty="0"/>
              <a:t>把</a:t>
            </a:r>
            <a:r>
              <a:rPr lang="en-US" altLang="zh-CN" dirty="0"/>
              <a:t>Open</a:t>
            </a:r>
            <a:r>
              <a:rPr lang="zh-CN" altLang="en-US" dirty="0"/>
              <a:t>校准件连接</a:t>
            </a:r>
            <a:r>
              <a:rPr lang="zh-CN" altLang="en-US" dirty="0" smtClean="0"/>
              <a:t>到端口（或与</a:t>
            </a:r>
            <a:r>
              <a:rPr lang="zh-CN" altLang="en-US" dirty="0"/>
              <a:t>校准端口相连的同轴电缆另一连接</a:t>
            </a:r>
            <a:r>
              <a:rPr lang="zh-CN" altLang="en-US" dirty="0" smtClean="0"/>
              <a:t>端），</a:t>
            </a:r>
            <a:r>
              <a:rPr lang="zh-CN" altLang="en-US" dirty="0"/>
              <a:t>点击</a:t>
            </a:r>
            <a:r>
              <a:rPr lang="en-US" altLang="zh-CN" dirty="0"/>
              <a:t>Open</a:t>
            </a:r>
            <a:r>
              <a:rPr lang="zh-CN" altLang="en-US" dirty="0"/>
              <a:t>，校准提示（嘀的响声）后完成</a:t>
            </a:r>
            <a:r>
              <a:rPr lang="en-US" altLang="zh-CN" dirty="0"/>
              <a:t>Open</a:t>
            </a:r>
            <a:r>
              <a:rPr lang="zh-CN" altLang="en-US" dirty="0"/>
              <a:t>校准件的测量</a:t>
            </a:r>
            <a:r>
              <a:rPr lang="zh-CN" altLang="en-US" dirty="0" smtClean="0"/>
              <a:t>；</a:t>
            </a:r>
            <a:r>
              <a:rPr lang="zh-CN" altLang="en-US" dirty="0" smtClean="0">
                <a:solidFill>
                  <a:srgbClr val="FF0000"/>
                </a:solidFill>
              </a:rPr>
              <a:t>保存图形及数据文件。</a:t>
            </a:r>
            <a:endParaRPr lang="zh-CN" altLang="en-US" dirty="0">
              <a:solidFill>
                <a:srgbClr val="FF0000"/>
              </a:solidFill>
            </a:endParaRPr>
          </a:p>
          <a:p>
            <a:pPr marL="914400" lvl="1" indent="-457200">
              <a:lnSpc>
                <a:spcPct val="100000"/>
              </a:lnSpc>
              <a:buFont typeface="+mj-ea"/>
              <a:buAutoNum type="circleNumDbPlain"/>
            </a:pPr>
            <a:r>
              <a:rPr lang="zh-CN" altLang="en-US" dirty="0" smtClean="0"/>
              <a:t>把</a:t>
            </a:r>
            <a:r>
              <a:rPr lang="en-US" altLang="zh-CN" dirty="0" smtClean="0"/>
              <a:t>Short</a:t>
            </a:r>
            <a:r>
              <a:rPr lang="zh-CN" altLang="en-US" dirty="0" smtClean="0"/>
              <a:t>校准件连接到端口（或与校准端口相连的同轴电缆另一连接端）， 点击</a:t>
            </a:r>
            <a:r>
              <a:rPr lang="en-US" altLang="zh-CN" dirty="0" smtClean="0"/>
              <a:t>Short</a:t>
            </a:r>
            <a:r>
              <a:rPr lang="zh-CN" altLang="en-US" dirty="0" smtClean="0"/>
              <a:t>，校准提示（嘀的响声）后完成</a:t>
            </a:r>
            <a:r>
              <a:rPr lang="en-US" altLang="zh-CN" dirty="0" smtClean="0"/>
              <a:t>Short</a:t>
            </a:r>
            <a:r>
              <a:rPr lang="zh-CN" altLang="en-US" dirty="0" smtClean="0"/>
              <a:t>校准件的</a:t>
            </a:r>
            <a:r>
              <a:rPr lang="zh-CN" altLang="en-US" dirty="0"/>
              <a:t>测量；</a:t>
            </a:r>
            <a:r>
              <a:rPr lang="zh-CN" altLang="en-US" sz="2100" dirty="0">
                <a:solidFill>
                  <a:srgbClr val="FF0000"/>
                </a:solidFill>
              </a:rPr>
              <a:t>保存图形及数据文件。</a:t>
            </a:r>
          </a:p>
          <a:p>
            <a:pPr marL="914400" lvl="1" indent="-457200">
              <a:lnSpc>
                <a:spcPct val="100000"/>
              </a:lnSpc>
              <a:buFont typeface="+mj-ea"/>
              <a:buAutoNum type="circleNumDbPlain"/>
            </a:pPr>
            <a:r>
              <a:rPr lang="zh-CN" altLang="en-US" dirty="0" smtClean="0"/>
              <a:t>把</a:t>
            </a:r>
            <a:r>
              <a:rPr lang="en-US" altLang="zh-CN" dirty="0"/>
              <a:t>Load</a:t>
            </a:r>
            <a:r>
              <a:rPr lang="zh-CN" altLang="en-US" dirty="0"/>
              <a:t>校准件连接到端口（或与校准端口相连的同轴电缆另一连接端）， </a:t>
            </a:r>
            <a:r>
              <a:rPr lang="zh-CN" altLang="en-US" dirty="0" smtClean="0"/>
              <a:t>点击</a:t>
            </a:r>
            <a:r>
              <a:rPr lang="en-US" altLang="zh-CN" dirty="0"/>
              <a:t>Load</a:t>
            </a:r>
            <a:r>
              <a:rPr lang="zh-CN" altLang="en-US" dirty="0"/>
              <a:t>，校准提示（嘀的响声）后完成</a:t>
            </a:r>
            <a:r>
              <a:rPr lang="en-US" altLang="zh-CN" dirty="0"/>
              <a:t>Load</a:t>
            </a:r>
            <a:r>
              <a:rPr lang="zh-CN" altLang="en-US" dirty="0"/>
              <a:t>校准件的测量；</a:t>
            </a:r>
            <a:r>
              <a:rPr lang="zh-CN" altLang="en-US" sz="2100" dirty="0">
                <a:solidFill>
                  <a:srgbClr val="FF0000"/>
                </a:solidFill>
              </a:rPr>
              <a:t>保存图形及数据文件。</a:t>
            </a:r>
          </a:p>
          <a:p>
            <a:pPr marL="914400" lvl="1" indent="-457200">
              <a:lnSpc>
                <a:spcPct val="100000"/>
              </a:lnSpc>
              <a:buFont typeface="+mj-ea"/>
              <a:buAutoNum type="circleNumDbPlain"/>
            </a:pPr>
            <a:r>
              <a:rPr lang="zh-CN" altLang="en-US" dirty="0" smtClean="0"/>
              <a:t>点击</a:t>
            </a:r>
            <a:r>
              <a:rPr lang="en-US" altLang="zh-CN" dirty="0" smtClean="0"/>
              <a:t>Done</a:t>
            </a:r>
            <a:r>
              <a:rPr lang="zh-CN" altLang="en-US" dirty="0" smtClean="0"/>
              <a:t>，完成单端口的校准。</a:t>
            </a:r>
          </a:p>
          <a:p>
            <a:endParaRPr lang="zh-CN" altLang="en-US" dirty="0"/>
          </a:p>
        </p:txBody>
      </p:sp>
      <p:sp>
        <p:nvSpPr>
          <p:cNvPr id="4" name="日期占位符 3"/>
          <p:cNvSpPr>
            <a:spLocks noGrp="1"/>
          </p:cNvSpPr>
          <p:nvPr>
            <p:ph type="dt" sz="half" idx="10"/>
          </p:nvPr>
        </p:nvSpPr>
        <p:spPr/>
        <p:txBody>
          <a:bodyPr/>
          <a:lstStyle/>
          <a:p>
            <a:fld id="{A7221988-7C9F-48A5-8163-E14DD0E2FDD1}" type="datetime3">
              <a:rPr lang="zh-CN" altLang="en-US" smtClean="0"/>
              <a:t>2019年5月6日星期一</a:t>
            </a:fld>
            <a:endParaRPr lang="zh-CN" altLang="en-US"/>
          </a:p>
        </p:txBody>
      </p:sp>
      <p:sp>
        <p:nvSpPr>
          <p:cNvPr id="5" name="页脚占位符 4"/>
          <p:cNvSpPr>
            <a:spLocks noGrp="1"/>
          </p:cNvSpPr>
          <p:nvPr>
            <p:ph type="ftr" sz="quarter" idx="11"/>
          </p:nvPr>
        </p:nvSpPr>
        <p:spPr/>
        <p:txBody>
          <a:bodyPr/>
          <a:lstStyle/>
          <a:p>
            <a:r>
              <a:rPr lang="zh-CN" altLang="en-US" dirty="0" smtClean="0"/>
              <a:t>中国科大信息与计算机实验教学中心</a:t>
            </a:r>
            <a:endParaRPr lang="zh-CN" altLang="en-US" dirty="0"/>
          </a:p>
        </p:txBody>
      </p:sp>
      <p:sp>
        <p:nvSpPr>
          <p:cNvPr id="6" name="灯片编号占位符 5"/>
          <p:cNvSpPr>
            <a:spLocks noGrp="1"/>
          </p:cNvSpPr>
          <p:nvPr>
            <p:ph type="sldNum" sz="quarter" idx="12"/>
          </p:nvPr>
        </p:nvSpPr>
        <p:spPr/>
        <p:txBody>
          <a:bodyPr/>
          <a:lstStyle/>
          <a:p>
            <a:fld id="{D5BA5A3D-E723-4639-877B-B187790AC552}" type="slidenum">
              <a:rPr lang="zh-CN" altLang="en-US" smtClean="0"/>
              <a:pPr/>
              <a:t>24</a:t>
            </a:fld>
            <a:endParaRPr lang="zh-CN" altLang="en-US" dirty="0"/>
          </a:p>
        </p:txBody>
      </p:sp>
    </p:spTree>
    <p:extLst>
      <p:ext uri="{BB962C8B-B14F-4D97-AF65-F5344CB8AC3E}">
        <p14:creationId xmlns:p14="http://schemas.microsoft.com/office/powerpoint/2010/main" val="861165514"/>
      </p:ext>
    </p:extLst>
  </p:cSld>
  <p:clrMapOvr>
    <a:masterClrMapping/>
  </p:clrMapOvr>
  <p:transition spd="slow">
    <p:push dir="d"/>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仪器校准</a:t>
            </a:r>
            <a:endParaRPr lang="zh-CN" altLang="en-US" dirty="0"/>
          </a:p>
        </p:txBody>
      </p:sp>
      <p:sp>
        <p:nvSpPr>
          <p:cNvPr id="2" name="内容占位符 1"/>
          <p:cNvSpPr>
            <a:spLocks noGrp="1"/>
          </p:cNvSpPr>
          <p:nvPr>
            <p:ph idx="1"/>
          </p:nvPr>
        </p:nvSpPr>
        <p:spPr/>
        <p:txBody>
          <a:bodyPr>
            <a:normAutofit fontScale="70000" lnSpcReduction="20000"/>
          </a:bodyPr>
          <a:lstStyle/>
          <a:p>
            <a:pPr marL="457200" indent="-457200">
              <a:buFont typeface="+mj-lt"/>
              <a:buAutoNum type="arabicPeriod" startAt="3"/>
            </a:pPr>
            <a:r>
              <a:rPr lang="zh-CN" altLang="en-US" dirty="0"/>
              <a:t>双端口校准</a:t>
            </a:r>
          </a:p>
          <a:p>
            <a:pPr marL="914400" lvl="1" indent="-457200">
              <a:lnSpc>
                <a:spcPct val="120000"/>
              </a:lnSpc>
              <a:buFont typeface="+mj-ea"/>
              <a:buAutoNum type="circleNumDbPlain"/>
            </a:pPr>
            <a:r>
              <a:rPr lang="zh-CN" altLang="en-US" dirty="0"/>
              <a:t>在单端口校准完成后，直接进行双端口的校准，不能按</a:t>
            </a:r>
            <a:r>
              <a:rPr lang="en-US" altLang="zh-CN" dirty="0"/>
              <a:t>Preset</a:t>
            </a:r>
            <a:r>
              <a:rPr lang="zh-CN" altLang="en-US" dirty="0"/>
              <a:t>按钮，否则要重新选择校准件进行校准；</a:t>
            </a:r>
          </a:p>
          <a:p>
            <a:pPr marL="914400" lvl="1" indent="-457200">
              <a:lnSpc>
                <a:spcPct val="120000"/>
              </a:lnSpc>
              <a:buFont typeface="+mj-ea"/>
              <a:buAutoNum type="circleNumDbPlain"/>
            </a:pPr>
            <a:r>
              <a:rPr lang="zh-CN" altLang="en-US" dirty="0"/>
              <a:t>选择二端口校准：</a:t>
            </a:r>
            <a:r>
              <a:rPr lang="en-US" altLang="zh-CN" dirty="0"/>
              <a:t>Cal-&gt;Calibrate-&gt;2-Port Cal</a:t>
            </a:r>
            <a:r>
              <a:rPr lang="zh-CN" altLang="en-US" dirty="0"/>
              <a:t>；</a:t>
            </a:r>
          </a:p>
          <a:p>
            <a:pPr marL="914400" lvl="1" indent="-457200">
              <a:lnSpc>
                <a:spcPct val="120000"/>
              </a:lnSpc>
              <a:buFont typeface="+mj-ea"/>
              <a:buAutoNum type="circleNumDbPlain"/>
            </a:pPr>
            <a:r>
              <a:rPr lang="zh-CN" altLang="en-US" dirty="0"/>
              <a:t>点击</a:t>
            </a:r>
            <a:r>
              <a:rPr lang="en-US" altLang="zh-CN" dirty="0"/>
              <a:t>Reflect</a:t>
            </a:r>
            <a:r>
              <a:rPr lang="zh-CN" altLang="en-US" dirty="0"/>
              <a:t>，进入界面后，在</a:t>
            </a:r>
            <a:r>
              <a:rPr lang="en-US" altLang="zh-CN" dirty="0"/>
              <a:t>1</a:t>
            </a:r>
            <a:r>
              <a:rPr lang="zh-CN" altLang="en-US" dirty="0"/>
              <a:t>端口和</a:t>
            </a:r>
            <a:r>
              <a:rPr lang="en-US" altLang="zh-CN" dirty="0"/>
              <a:t>2</a:t>
            </a:r>
            <a:r>
              <a:rPr lang="zh-CN" altLang="en-US" dirty="0" smtClean="0"/>
              <a:t>端口按菜单顺序接入</a:t>
            </a:r>
            <a:r>
              <a:rPr lang="en-US" altLang="zh-CN" dirty="0" err="1"/>
              <a:t>Open,Short,Load</a:t>
            </a:r>
            <a:r>
              <a:rPr lang="zh-CN" altLang="en-US" dirty="0"/>
              <a:t>三种校准件，每接入一个校准件后，点击相应选项完成校准。所有步骤完成后，点击</a:t>
            </a:r>
            <a:r>
              <a:rPr lang="en-US" altLang="zh-CN" dirty="0" err="1"/>
              <a:t>Retrun</a:t>
            </a:r>
            <a:r>
              <a:rPr lang="zh-CN" altLang="en-US" dirty="0"/>
              <a:t>返回。</a:t>
            </a:r>
          </a:p>
          <a:p>
            <a:pPr marL="914400" lvl="1" indent="-457200">
              <a:lnSpc>
                <a:spcPct val="120000"/>
              </a:lnSpc>
              <a:buFont typeface="+mj-ea"/>
              <a:buAutoNum type="circleNumDbPlain"/>
            </a:pPr>
            <a:r>
              <a:rPr lang="zh-CN" altLang="en-US" dirty="0"/>
              <a:t>点击</a:t>
            </a:r>
            <a:r>
              <a:rPr lang="en-US" altLang="zh-CN" dirty="0"/>
              <a:t>Transmission</a:t>
            </a:r>
            <a:r>
              <a:rPr lang="zh-CN" altLang="en-US" dirty="0"/>
              <a:t>，在</a:t>
            </a:r>
            <a:r>
              <a:rPr lang="en-US" altLang="zh-CN" dirty="0"/>
              <a:t>1</a:t>
            </a:r>
            <a:r>
              <a:rPr lang="zh-CN" altLang="en-US" dirty="0"/>
              <a:t>端口和</a:t>
            </a:r>
            <a:r>
              <a:rPr lang="en-US" altLang="zh-CN" dirty="0"/>
              <a:t>2</a:t>
            </a:r>
            <a:r>
              <a:rPr lang="zh-CN" altLang="en-US" dirty="0"/>
              <a:t>端口之间接入直通连接，点击</a:t>
            </a:r>
            <a:r>
              <a:rPr lang="en-US" altLang="zh-CN" dirty="0"/>
              <a:t>Port 1-2 Thru</a:t>
            </a:r>
            <a:r>
              <a:rPr lang="zh-CN" altLang="en-US" dirty="0" smtClean="0"/>
              <a:t>，进行校准。</a:t>
            </a:r>
            <a:r>
              <a:rPr lang="zh-CN" altLang="en-US" dirty="0"/>
              <a:t>完成后，点击</a:t>
            </a:r>
            <a:r>
              <a:rPr lang="en-US" altLang="zh-CN" dirty="0" err="1"/>
              <a:t>Retrun</a:t>
            </a:r>
            <a:r>
              <a:rPr lang="en-US" altLang="zh-CN" dirty="0"/>
              <a:t> </a:t>
            </a:r>
            <a:r>
              <a:rPr lang="zh-CN" altLang="en-US" dirty="0"/>
              <a:t>返回。</a:t>
            </a:r>
            <a:r>
              <a:rPr lang="zh-CN" altLang="en-US" sz="1900" dirty="0">
                <a:solidFill>
                  <a:srgbClr val="FF0000"/>
                </a:solidFill>
              </a:rPr>
              <a:t>保存图形及数据文件</a:t>
            </a:r>
            <a:r>
              <a:rPr lang="zh-CN" altLang="en-US" dirty="0"/>
              <a:t>。</a:t>
            </a:r>
          </a:p>
          <a:p>
            <a:pPr marL="914400" lvl="1" indent="-457200">
              <a:lnSpc>
                <a:spcPct val="120000"/>
              </a:lnSpc>
              <a:buFont typeface="+mj-ea"/>
              <a:buAutoNum type="circleNumDbPlain"/>
            </a:pPr>
            <a:r>
              <a:rPr lang="zh-CN" altLang="en-US" dirty="0" smtClean="0"/>
              <a:t>点击</a:t>
            </a:r>
            <a:r>
              <a:rPr lang="en-US" altLang="zh-CN" dirty="0"/>
              <a:t>Done</a:t>
            </a:r>
            <a:r>
              <a:rPr lang="zh-CN" altLang="en-US" dirty="0"/>
              <a:t>，完成双端口的校准。</a:t>
            </a:r>
          </a:p>
        </p:txBody>
      </p:sp>
      <p:sp>
        <p:nvSpPr>
          <p:cNvPr id="4" name="日期占位符 3"/>
          <p:cNvSpPr>
            <a:spLocks noGrp="1"/>
          </p:cNvSpPr>
          <p:nvPr>
            <p:ph type="dt" sz="half" idx="10"/>
          </p:nvPr>
        </p:nvSpPr>
        <p:spPr/>
        <p:txBody>
          <a:bodyPr/>
          <a:lstStyle/>
          <a:p>
            <a:fld id="{72504077-2045-4D6E-8439-CDFD6F230F25}" type="datetime3">
              <a:rPr lang="zh-CN" altLang="en-US" smtClean="0"/>
              <a:t>2019年5月6日星期一</a:t>
            </a:fld>
            <a:endParaRPr lang="zh-CN" altLang="en-US"/>
          </a:p>
        </p:txBody>
      </p:sp>
      <p:sp>
        <p:nvSpPr>
          <p:cNvPr id="5" name="页脚占位符 4"/>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6" name="灯片编号占位符 5"/>
          <p:cNvSpPr>
            <a:spLocks noGrp="1"/>
          </p:cNvSpPr>
          <p:nvPr>
            <p:ph type="sldNum" sz="quarter" idx="12"/>
          </p:nvPr>
        </p:nvSpPr>
        <p:spPr/>
        <p:txBody>
          <a:bodyPr/>
          <a:lstStyle/>
          <a:p>
            <a:fld id="{D5BA5A3D-E723-4639-877B-B187790AC552}" type="slidenum">
              <a:rPr lang="zh-CN" altLang="en-US" smtClean="0"/>
              <a:pPr/>
              <a:t>25</a:t>
            </a:fld>
            <a:endParaRPr lang="zh-CN" altLang="en-US"/>
          </a:p>
        </p:txBody>
      </p:sp>
    </p:spTree>
    <p:extLst>
      <p:ext uri="{BB962C8B-B14F-4D97-AF65-F5344CB8AC3E}">
        <p14:creationId xmlns:p14="http://schemas.microsoft.com/office/powerpoint/2010/main" val="1152198022"/>
      </p:ext>
    </p:extLst>
  </p:cSld>
  <p:clrMapOvr>
    <a:masterClrMapping/>
  </p:clrMapOvr>
  <p:transition spd="slow">
    <p:push dir="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调整数据或图形显示</a:t>
            </a:r>
            <a:endParaRPr lang="zh-CN" altLang="en-US" dirty="0"/>
          </a:p>
        </p:txBody>
      </p:sp>
      <p:sp>
        <p:nvSpPr>
          <p:cNvPr id="2" name="内容占位符 1"/>
          <p:cNvSpPr>
            <a:spLocks noGrp="1"/>
          </p:cNvSpPr>
          <p:nvPr>
            <p:ph idx="1"/>
          </p:nvPr>
        </p:nvSpPr>
        <p:spPr/>
        <p:txBody>
          <a:bodyPr>
            <a:normAutofit fontScale="92500" lnSpcReduction="10000"/>
          </a:bodyPr>
          <a:lstStyle/>
          <a:p>
            <a:pPr marL="457200" indent="-457200">
              <a:buFont typeface="+mj-lt"/>
              <a:buAutoNum type="arabicPeriod" startAt="4"/>
            </a:pPr>
            <a:r>
              <a:rPr lang="zh-CN" altLang="en-US" dirty="0"/>
              <a:t>调整显示面板显示刻度</a:t>
            </a:r>
          </a:p>
          <a:p>
            <a:pPr marL="914400" lvl="1" indent="-457200">
              <a:lnSpc>
                <a:spcPct val="150000"/>
              </a:lnSpc>
              <a:buFont typeface="+mj-ea"/>
              <a:buAutoNum type="circleNumDbPlain"/>
            </a:pPr>
            <a:r>
              <a:rPr lang="zh-CN" altLang="en-US" dirty="0"/>
              <a:t>纵轴格数设置：</a:t>
            </a:r>
            <a:r>
              <a:rPr lang="en-US" altLang="zh-CN" dirty="0"/>
              <a:t>Scale-</a:t>
            </a:r>
            <a:r>
              <a:rPr lang="en-US" altLang="zh-CN" dirty="0" smtClean="0"/>
              <a:t>&gt;Divisions-&gt;30-</a:t>
            </a:r>
            <a:r>
              <a:rPr lang="en-US" altLang="zh-CN" dirty="0"/>
              <a:t>&gt;x1-&gt;Entry Off;</a:t>
            </a:r>
          </a:p>
          <a:p>
            <a:pPr marL="914400" lvl="1" indent="-457200">
              <a:lnSpc>
                <a:spcPct val="150000"/>
              </a:lnSpc>
              <a:buFont typeface="+mj-ea"/>
              <a:buAutoNum type="circleNumDbPlain"/>
            </a:pPr>
            <a:r>
              <a:rPr lang="zh-CN" altLang="en-US" dirty="0"/>
              <a:t>设置每格范围：</a:t>
            </a:r>
            <a:r>
              <a:rPr lang="en-US" altLang="zh-CN" dirty="0"/>
              <a:t>Scale/</a:t>
            </a:r>
            <a:r>
              <a:rPr lang="en-US" altLang="zh-CN" dirty="0" err="1"/>
              <a:t>Div</a:t>
            </a:r>
            <a:r>
              <a:rPr lang="en-US" altLang="zh-CN" dirty="0"/>
              <a:t>-</a:t>
            </a:r>
            <a:r>
              <a:rPr lang="en-US" altLang="zh-CN" dirty="0" smtClean="0"/>
              <a:t>&gt;10-</a:t>
            </a:r>
            <a:r>
              <a:rPr lang="en-US" altLang="zh-CN" dirty="0"/>
              <a:t>&gt;x1-&gt;Entry Off;</a:t>
            </a:r>
          </a:p>
          <a:p>
            <a:pPr marL="914400" lvl="1" indent="-457200">
              <a:lnSpc>
                <a:spcPct val="150000"/>
              </a:lnSpc>
              <a:buFont typeface="+mj-ea"/>
              <a:buAutoNum type="circleNumDbPlain"/>
            </a:pPr>
            <a:r>
              <a:rPr lang="zh-CN" altLang="en-US" dirty="0"/>
              <a:t>设置参考格：</a:t>
            </a:r>
            <a:r>
              <a:rPr lang="en-US" altLang="zh-CN" dirty="0"/>
              <a:t>Reference Position-</a:t>
            </a:r>
            <a:r>
              <a:rPr lang="en-US" altLang="zh-CN" dirty="0" smtClean="0"/>
              <a:t>&gt;20-</a:t>
            </a:r>
            <a:r>
              <a:rPr lang="en-US" altLang="zh-CN" dirty="0"/>
              <a:t>&gt;x1-&gt;Entry Off</a:t>
            </a:r>
            <a:r>
              <a:rPr lang="zh-CN" altLang="en-US" dirty="0"/>
              <a:t>。</a:t>
            </a:r>
          </a:p>
        </p:txBody>
      </p:sp>
      <p:sp>
        <p:nvSpPr>
          <p:cNvPr id="4" name="日期占位符 3"/>
          <p:cNvSpPr>
            <a:spLocks noGrp="1"/>
          </p:cNvSpPr>
          <p:nvPr>
            <p:ph type="dt" sz="half" idx="10"/>
          </p:nvPr>
        </p:nvSpPr>
        <p:spPr/>
        <p:txBody>
          <a:bodyPr/>
          <a:lstStyle/>
          <a:p>
            <a:fld id="{CADEC1FC-CC7E-4EBC-9CB4-8A9063B70056}" type="datetime3">
              <a:rPr lang="zh-CN" altLang="en-US" smtClean="0"/>
              <a:t>2019年5月6日星期一</a:t>
            </a:fld>
            <a:endParaRPr lang="zh-CN" altLang="en-US"/>
          </a:p>
        </p:txBody>
      </p:sp>
      <p:sp>
        <p:nvSpPr>
          <p:cNvPr id="5" name="页脚占位符 4"/>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6" name="灯片编号占位符 5"/>
          <p:cNvSpPr>
            <a:spLocks noGrp="1"/>
          </p:cNvSpPr>
          <p:nvPr>
            <p:ph type="sldNum" sz="quarter" idx="12"/>
          </p:nvPr>
        </p:nvSpPr>
        <p:spPr/>
        <p:txBody>
          <a:bodyPr/>
          <a:lstStyle/>
          <a:p>
            <a:fld id="{D5BA5A3D-E723-4639-877B-B187790AC552}" type="slidenum">
              <a:rPr lang="zh-CN" altLang="en-US" smtClean="0"/>
              <a:pPr/>
              <a:t>26</a:t>
            </a:fld>
            <a:endParaRPr lang="zh-CN" altLang="en-US"/>
          </a:p>
        </p:txBody>
      </p:sp>
    </p:spTree>
    <p:extLst>
      <p:ext uri="{BB962C8B-B14F-4D97-AF65-F5344CB8AC3E}">
        <p14:creationId xmlns:p14="http://schemas.microsoft.com/office/powerpoint/2010/main" val="379634360"/>
      </p:ext>
    </p:extLst>
  </p:cSld>
  <p:clrMapOvr>
    <a:masterClrMapping/>
  </p:clrMapOvr>
  <p:transition spd="slow">
    <p:push dir="d"/>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测量结果记录</a:t>
            </a:r>
            <a:endParaRPr lang="zh-CN" altLang="en-US" dirty="0"/>
          </a:p>
        </p:txBody>
      </p:sp>
      <p:sp>
        <p:nvSpPr>
          <p:cNvPr id="2" name="内容占位符 1"/>
          <p:cNvSpPr>
            <a:spLocks noGrp="1"/>
          </p:cNvSpPr>
          <p:nvPr>
            <p:ph idx="1"/>
          </p:nvPr>
        </p:nvSpPr>
        <p:spPr/>
        <p:txBody>
          <a:bodyPr>
            <a:normAutofit fontScale="55000" lnSpcReduction="20000"/>
          </a:bodyPr>
          <a:lstStyle/>
          <a:p>
            <a:pPr marL="457200" indent="-457200">
              <a:buFont typeface="+mj-lt"/>
              <a:buAutoNum type="arabicPeriod" startAt="5"/>
            </a:pPr>
            <a:r>
              <a:rPr lang="zh-CN" altLang="en-US" dirty="0" smtClean="0"/>
              <a:t>结果记录操作</a:t>
            </a:r>
            <a:endParaRPr lang="en-US" altLang="zh-CN" dirty="0" smtClean="0"/>
          </a:p>
          <a:p>
            <a:pPr marL="914400" lvl="1" indent="-457200">
              <a:lnSpc>
                <a:spcPct val="120000"/>
              </a:lnSpc>
              <a:buFont typeface="+mj-ea"/>
              <a:buAutoNum type="circleNumDbPlain"/>
            </a:pPr>
            <a:r>
              <a:rPr lang="zh-CN" altLang="en-US" dirty="0" smtClean="0"/>
              <a:t>设置</a:t>
            </a:r>
            <a:r>
              <a:rPr lang="en-US" altLang="zh-CN" dirty="0"/>
              <a:t>Marker</a:t>
            </a:r>
            <a:r>
              <a:rPr lang="zh-CN" altLang="en-US" dirty="0"/>
              <a:t>并读取测试参数幅度值：</a:t>
            </a:r>
            <a:r>
              <a:rPr lang="en-US" altLang="zh-CN" dirty="0"/>
              <a:t>Marker-&gt;</a:t>
            </a:r>
            <a:r>
              <a:rPr lang="en-US" altLang="zh-CN" dirty="0" err="1"/>
              <a:t>Foc</a:t>
            </a:r>
            <a:r>
              <a:rPr lang="en-US" altLang="zh-CN" dirty="0"/>
              <a:t>-&gt;2000-&gt;M-&gt;Entry Off;</a:t>
            </a:r>
          </a:p>
          <a:p>
            <a:pPr marL="914400" lvl="1" indent="-457200">
              <a:lnSpc>
                <a:spcPct val="120000"/>
              </a:lnSpc>
              <a:buFont typeface="+mj-ea"/>
              <a:buAutoNum type="circleNumDbPlain"/>
            </a:pPr>
            <a:r>
              <a:rPr lang="zh-CN" altLang="en-US" dirty="0"/>
              <a:t>找出测量范围内测量参数的最大值及对应频率：</a:t>
            </a:r>
            <a:r>
              <a:rPr lang="en-US" altLang="zh-CN" dirty="0" smtClean="0"/>
              <a:t>Marker-&gt;Marker n</a:t>
            </a:r>
            <a:r>
              <a:rPr lang="zh-CN" altLang="en-US" dirty="0" smtClean="0"/>
              <a:t>（由设置的</a:t>
            </a:r>
            <a:r>
              <a:rPr lang="en-US" altLang="zh-CN" dirty="0" smtClean="0"/>
              <a:t>marker</a:t>
            </a:r>
            <a:r>
              <a:rPr lang="zh-CN" altLang="en-US" dirty="0" smtClean="0"/>
              <a:t>个数确定）</a:t>
            </a:r>
            <a:r>
              <a:rPr lang="en-US" altLang="zh-CN" dirty="0" smtClean="0"/>
              <a:t>-&gt;Marker </a:t>
            </a:r>
            <a:r>
              <a:rPr lang="en-US" altLang="zh-CN" dirty="0"/>
              <a:t>Search-&gt;Max;</a:t>
            </a:r>
          </a:p>
          <a:p>
            <a:pPr marL="914400" lvl="1" indent="-457200">
              <a:lnSpc>
                <a:spcPct val="120000"/>
              </a:lnSpc>
              <a:buFont typeface="+mj-ea"/>
              <a:buAutoNum type="circleNumDbPlain"/>
            </a:pPr>
            <a:r>
              <a:rPr lang="zh-CN" altLang="en-US" dirty="0"/>
              <a:t>以表格形式显示标记数值：</a:t>
            </a:r>
            <a:r>
              <a:rPr lang="en-US" altLang="zh-CN" dirty="0"/>
              <a:t>Marker </a:t>
            </a:r>
            <a:r>
              <a:rPr lang="en-US" altLang="zh-CN" dirty="0" err="1"/>
              <a:t>Rctn</a:t>
            </a:r>
            <a:r>
              <a:rPr lang="en-US" altLang="zh-CN" dirty="0"/>
              <a:t>-&gt;Marker Table;</a:t>
            </a:r>
          </a:p>
          <a:p>
            <a:pPr marL="914400" lvl="1" indent="-457200">
              <a:lnSpc>
                <a:spcPct val="120000"/>
              </a:lnSpc>
              <a:buFont typeface="+mj-ea"/>
              <a:buAutoNum type="circleNumDbPlain"/>
            </a:pPr>
            <a:r>
              <a:rPr lang="zh-CN" altLang="en-US" dirty="0"/>
              <a:t>背景反色：</a:t>
            </a:r>
            <a:r>
              <a:rPr lang="en-US" altLang="zh-CN" dirty="0"/>
              <a:t>Display-&gt;Invert Color</a:t>
            </a:r>
            <a:r>
              <a:rPr lang="zh-CN" altLang="en-US" dirty="0"/>
              <a:t>；</a:t>
            </a:r>
          </a:p>
          <a:p>
            <a:pPr marL="914400" lvl="1" indent="-457200">
              <a:lnSpc>
                <a:spcPct val="120000"/>
              </a:lnSpc>
              <a:buFont typeface="+mj-ea"/>
              <a:buAutoNum type="circleNumDbPlain"/>
            </a:pPr>
            <a:r>
              <a:rPr lang="zh-CN" altLang="en-US" dirty="0"/>
              <a:t>截屏保存数据图像：</a:t>
            </a:r>
            <a:r>
              <a:rPr lang="en-US" altLang="zh-CN" dirty="0"/>
              <a:t>System-&gt;Dump Screen Image…-&gt;</a:t>
            </a:r>
            <a:r>
              <a:rPr lang="zh-CN" altLang="en-US" dirty="0"/>
              <a:t>修改文件名并保存（保存到</a:t>
            </a:r>
            <a:r>
              <a:rPr lang="en-US" altLang="zh-CN" dirty="0"/>
              <a:t>U</a:t>
            </a:r>
            <a:r>
              <a:rPr lang="zh-CN" altLang="en-US" dirty="0"/>
              <a:t>盘后请删除）</a:t>
            </a:r>
          </a:p>
          <a:p>
            <a:pPr marL="914400" lvl="1" indent="-457200">
              <a:lnSpc>
                <a:spcPct val="120000"/>
              </a:lnSpc>
              <a:buFont typeface="+mj-ea"/>
              <a:buAutoNum type="circleNumDbPlain"/>
            </a:pPr>
            <a:r>
              <a:rPr lang="zh-CN" altLang="en-US" dirty="0"/>
              <a:t>点击屏幕功能菜单上方的</a:t>
            </a:r>
            <a:r>
              <a:rPr lang="en-US" altLang="zh-CN" dirty="0"/>
              <a:t>Resize</a:t>
            </a:r>
            <a:r>
              <a:rPr lang="zh-CN" altLang="en-US" dirty="0"/>
              <a:t>，最小化显示窗口，从</a:t>
            </a:r>
            <a:r>
              <a:rPr lang="en-US" altLang="zh-CN" dirty="0"/>
              <a:t>D</a:t>
            </a:r>
            <a:r>
              <a:rPr lang="zh-CN" altLang="en-US" dirty="0"/>
              <a:t>盘拷贝数据到</a:t>
            </a:r>
            <a:r>
              <a:rPr lang="en-US" altLang="zh-CN" dirty="0"/>
              <a:t>U</a:t>
            </a:r>
            <a:r>
              <a:rPr lang="zh-CN" altLang="en-US" dirty="0"/>
              <a:t>盘；</a:t>
            </a:r>
          </a:p>
          <a:p>
            <a:pPr marL="914400" lvl="1" indent="-457200">
              <a:lnSpc>
                <a:spcPct val="120000"/>
              </a:lnSpc>
              <a:buFont typeface="+mj-ea"/>
              <a:buAutoNum type="circleNumDbPlain"/>
            </a:pPr>
            <a:r>
              <a:rPr lang="zh-CN" altLang="en-US" dirty="0"/>
              <a:t>以数据形式保存结果：</a:t>
            </a:r>
            <a:r>
              <a:rPr lang="en-US" altLang="zh-CN" dirty="0"/>
              <a:t>Save/Recall-&gt;Save Trace Data…-&gt;</a:t>
            </a:r>
            <a:r>
              <a:rPr lang="zh-CN" altLang="en-US" dirty="0"/>
              <a:t>修改文件名，将数据以</a:t>
            </a:r>
            <a:r>
              <a:rPr lang="en-US" altLang="zh-CN" dirty="0"/>
              <a:t>CSV</a:t>
            </a:r>
            <a:r>
              <a:rPr lang="zh-CN" altLang="en-US" dirty="0"/>
              <a:t>格式保存。</a:t>
            </a:r>
          </a:p>
        </p:txBody>
      </p:sp>
      <p:sp>
        <p:nvSpPr>
          <p:cNvPr id="4" name="日期占位符 3"/>
          <p:cNvSpPr>
            <a:spLocks noGrp="1"/>
          </p:cNvSpPr>
          <p:nvPr>
            <p:ph type="dt" sz="half" idx="10"/>
          </p:nvPr>
        </p:nvSpPr>
        <p:spPr/>
        <p:txBody>
          <a:bodyPr/>
          <a:lstStyle/>
          <a:p>
            <a:fld id="{43655AFB-21A8-4A23-BDE1-A8CFC452DA9B}" type="datetime3">
              <a:rPr lang="zh-CN" altLang="en-US" smtClean="0"/>
              <a:t>2019年5月6日星期一</a:t>
            </a:fld>
            <a:endParaRPr lang="zh-CN" altLang="en-US"/>
          </a:p>
        </p:txBody>
      </p:sp>
      <p:sp>
        <p:nvSpPr>
          <p:cNvPr id="5" name="页脚占位符 4"/>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6" name="灯片编号占位符 5"/>
          <p:cNvSpPr>
            <a:spLocks noGrp="1"/>
          </p:cNvSpPr>
          <p:nvPr>
            <p:ph type="sldNum" sz="quarter" idx="12"/>
          </p:nvPr>
        </p:nvSpPr>
        <p:spPr/>
        <p:txBody>
          <a:bodyPr/>
          <a:lstStyle/>
          <a:p>
            <a:fld id="{D5BA5A3D-E723-4639-877B-B187790AC552}" type="slidenum">
              <a:rPr lang="zh-CN" altLang="en-US" smtClean="0"/>
              <a:pPr/>
              <a:t>27</a:t>
            </a:fld>
            <a:endParaRPr lang="zh-CN" altLang="en-US"/>
          </a:p>
        </p:txBody>
      </p:sp>
    </p:spTree>
    <p:extLst>
      <p:ext uri="{BB962C8B-B14F-4D97-AF65-F5344CB8AC3E}">
        <p14:creationId xmlns:p14="http://schemas.microsoft.com/office/powerpoint/2010/main" val="228336300"/>
      </p:ext>
    </p:extLst>
  </p:cSld>
  <p:clrMapOvr>
    <a:masterClrMapping/>
  </p:clrMapOvr>
  <p:transition spd="slow">
    <p:push di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参数测量</a:t>
            </a:r>
            <a:endParaRPr lang="zh-CN" altLang="en-US" dirty="0"/>
          </a:p>
        </p:txBody>
      </p:sp>
      <p:sp>
        <p:nvSpPr>
          <p:cNvPr id="2" name="内容占位符 1"/>
          <p:cNvSpPr>
            <a:spLocks noGrp="1"/>
          </p:cNvSpPr>
          <p:nvPr>
            <p:ph idx="1"/>
          </p:nvPr>
        </p:nvSpPr>
        <p:spPr/>
        <p:txBody>
          <a:bodyPr/>
          <a:lstStyle/>
          <a:p>
            <a:pPr marL="457200" indent="-457200">
              <a:buFont typeface="+mj-lt"/>
              <a:buAutoNum type="arabicPeriod"/>
            </a:pPr>
            <a:r>
              <a:rPr lang="zh-CN" altLang="en-US" dirty="0"/>
              <a:t>终端负载分别为</a:t>
            </a:r>
            <a:r>
              <a:rPr lang="en-US" altLang="zh-CN" dirty="0" err="1"/>
              <a:t>Open,Short,Load</a:t>
            </a:r>
            <a:r>
              <a:rPr lang="zh-CN" altLang="en-US" dirty="0"/>
              <a:t>负载时，测量其</a:t>
            </a:r>
            <a:r>
              <a:rPr lang="en-US" altLang="zh-CN" dirty="0"/>
              <a:t>S11</a:t>
            </a:r>
            <a:r>
              <a:rPr lang="zh-CN" altLang="en-US" dirty="0"/>
              <a:t>参数，截图保存数据（曲线要在表格的合适位置，不能在表格顶部或底部）</a:t>
            </a:r>
            <a:r>
              <a:rPr lang="zh-CN" altLang="en-US" dirty="0" smtClean="0"/>
              <a:t>。</a:t>
            </a:r>
            <a:endParaRPr lang="en-US" altLang="zh-CN" dirty="0" smtClean="0"/>
          </a:p>
          <a:p>
            <a:pPr marL="457200" indent="-457200">
              <a:buFont typeface="+mj-lt"/>
              <a:buAutoNum type="arabicPeriod"/>
            </a:pPr>
            <a:r>
              <a:rPr lang="zh-CN" altLang="en-US" dirty="0" smtClean="0"/>
              <a:t>双</a:t>
            </a:r>
            <a:r>
              <a:rPr lang="zh-CN" altLang="en-US" dirty="0"/>
              <a:t>端口校准后，直接测量直通件的</a:t>
            </a:r>
            <a:r>
              <a:rPr lang="en-US" altLang="zh-CN" dirty="0"/>
              <a:t>S</a:t>
            </a:r>
            <a:r>
              <a:rPr lang="zh-CN" altLang="en-US" dirty="0"/>
              <a:t>参数，截图保存数据。分析为什么会得到这样的图形？</a:t>
            </a:r>
          </a:p>
          <a:p>
            <a:endParaRPr lang="zh-CN" altLang="en-US" dirty="0"/>
          </a:p>
        </p:txBody>
      </p:sp>
      <p:sp>
        <p:nvSpPr>
          <p:cNvPr id="4" name="日期占位符 3"/>
          <p:cNvSpPr>
            <a:spLocks noGrp="1"/>
          </p:cNvSpPr>
          <p:nvPr>
            <p:ph type="dt" sz="half" idx="10"/>
          </p:nvPr>
        </p:nvSpPr>
        <p:spPr/>
        <p:txBody>
          <a:bodyPr/>
          <a:lstStyle/>
          <a:p>
            <a:fld id="{8BB4AB99-EB5A-4200-945C-4A22B27B8951}" type="datetime3">
              <a:rPr lang="zh-CN" altLang="en-US" smtClean="0"/>
              <a:t>2019年5月6日星期一</a:t>
            </a:fld>
            <a:endParaRPr lang="zh-CN" altLang="en-US"/>
          </a:p>
        </p:txBody>
      </p:sp>
      <p:sp>
        <p:nvSpPr>
          <p:cNvPr id="5" name="页脚占位符 4"/>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6" name="灯片编号占位符 5"/>
          <p:cNvSpPr>
            <a:spLocks noGrp="1"/>
          </p:cNvSpPr>
          <p:nvPr>
            <p:ph type="sldNum" sz="quarter" idx="12"/>
          </p:nvPr>
        </p:nvSpPr>
        <p:spPr/>
        <p:txBody>
          <a:bodyPr/>
          <a:lstStyle/>
          <a:p>
            <a:fld id="{D5BA5A3D-E723-4639-877B-B187790AC552}" type="slidenum">
              <a:rPr lang="zh-CN" altLang="en-US" smtClean="0"/>
              <a:pPr/>
              <a:t>28</a:t>
            </a:fld>
            <a:endParaRPr lang="zh-CN" altLang="en-US"/>
          </a:p>
        </p:txBody>
      </p:sp>
    </p:spTree>
    <p:extLst>
      <p:ext uri="{BB962C8B-B14F-4D97-AF65-F5344CB8AC3E}">
        <p14:creationId xmlns:p14="http://schemas.microsoft.com/office/powerpoint/2010/main" val="3588210611"/>
      </p:ext>
    </p:extLst>
  </p:cSld>
  <p:clrMapOvr>
    <a:masterClrMapping/>
  </p:clrMapOvr>
  <p:transition spd="slow">
    <p:push dir="d"/>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实验报告内容</a:t>
            </a:r>
          </a:p>
        </p:txBody>
      </p:sp>
      <p:sp>
        <p:nvSpPr>
          <p:cNvPr id="4" name="内容占位符 3"/>
          <p:cNvSpPr>
            <a:spLocks noGrp="1"/>
          </p:cNvSpPr>
          <p:nvPr>
            <p:ph idx="1"/>
          </p:nvPr>
        </p:nvSpPr>
        <p:spPr/>
        <p:txBody>
          <a:bodyPr>
            <a:normAutofit lnSpcReduction="10000"/>
          </a:bodyPr>
          <a:lstStyle/>
          <a:p>
            <a:r>
              <a:rPr lang="zh-CN" altLang="en-US" dirty="0"/>
              <a:t>找资料说明矢量网络分析仪的主要构成。</a:t>
            </a:r>
          </a:p>
          <a:p>
            <a:r>
              <a:rPr lang="zh-CN" altLang="en-US" dirty="0"/>
              <a:t>找资料说明矢量网络分析仪在射频测量、设计、调试中的应用。</a:t>
            </a:r>
          </a:p>
          <a:p>
            <a:r>
              <a:rPr lang="zh-CN" altLang="en-US" dirty="0"/>
              <a:t>找资料说明矢量网络分析仪在测量中的校准要求及方法。</a:t>
            </a:r>
          </a:p>
          <a:p>
            <a:r>
              <a:rPr lang="zh-CN" altLang="en-US" dirty="0"/>
              <a:t>找资料说明矢量网络分析仪在测量中引入的误差来源及处理方法。</a:t>
            </a:r>
          </a:p>
          <a:p>
            <a:endParaRPr lang="zh-CN" altLang="en-US" dirty="0"/>
          </a:p>
        </p:txBody>
      </p:sp>
      <p:sp>
        <p:nvSpPr>
          <p:cNvPr id="5" name="日期占位符 4"/>
          <p:cNvSpPr>
            <a:spLocks noGrp="1"/>
          </p:cNvSpPr>
          <p:nvPr>
            <p:ph type="dt" sz="half" idx="10"/>
          </p:nvPr>
        </p:nvSpPr>
        <p:spPr/>
        <p:txBody>
          <a:bodyPr/>
          <a:lstStyle/>
          <a:p>
            <a:fld id="{FD72E878-7C2D-407C-85A8-9A96DC00CC19}" type="datetime3">
              <a:rPr lang="zh-CN" altLang="en-US" smtClean="0"/>
              <a:t>2019年5月6日星期一</a:t>
            </a:fld>
            <a:endParaRPr lang="zh-CN" altLang="en-US"/>
          </a:p>
        </p:txBody>
      </p:sp>
      <p:sp>
        <p:nvSpPr>
          <p:cNvPr id="6" name="页脚占位符 5"/>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7" name="灯片编号占位符 6"/>
          <p:cNvSpPr>
            <a:spLocks noGrp="1"/>
          </p:cNvSpPr>
          <p:nvPr>
            <p:ph type="sldNum" sz="quarter" idx="12"/>
          </p:nvPr>
        </p:nvSpPr>
        <p:spPr/>
        <p:txBody>
          <a:bodyPr/>
          <a:lstStyle/>
          <a:p>
            <a:fld id="{D5BA5A3D-E723-4639-877B-B187790AC552}" type="slidenum">
              <a:rPr lang="zh-CN" altLang="en-US" smtClean="0"/>
              <a:pPr/>
              <a:t>29</a:t>
            </a:fld>
            <a:endParaRPr lang="zh-CN" altLang="en-US"/>
          </a:p>
        </p:txBody>
      </p:sp>
    </p:spTree>
    <p:extLst>
      <p:ext uri="{BB962C8B-B14F-4D97-AF65-F5344CB8AC3E}">
        <p14:creationId xmlns:p14="http://schemas.microsoft.com/office/powerpoint/2010/main" val="837577469"/>
      </p:ext>
    </p:extLst>
  </p:cSld>
  <p:clrMapOvr>
    <a:masterClrMapping/>
  </p:clrMapOvr>
  <p:transition spd="slow">
    <p:push dir="d"/>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smtClean="0"/>
              <a:t>实验内容</a:t>
            </a:r>
            <a:endParaRPr lang="zh-CN" altLang="en-US" dirty="0"/>
          </a:p>
        </p:txBody>
      </p:sp>
      <p:sp>
        <p:nvSpPr>
          <p:cNvPr id="2" name="内容占位符 1"/>
          <p:cNvSpPr>
            <a:spLocks noGrp="1"/>
          </p:cNvSpPr>
          <p:nvPr>
            <p:ph idx="1"/>
          </p:nvPr>
        </p:nvSpPr>
        <p:spPr/>
        <p:txBody>
          <a:bodyPr>
            <a:normAutofit/>
          </a:bodyPr>
          <a:lstStyle/>
          <a:p>
            <a:r>
              <a:rPr lang="zh-CN" altLang="en-US" sz="4400" dirty="0" smtClean="0"/>
              <a:t>实验讲义</a:t>
            </a:r>
            <a:endParaRPr lang="zh-CN" altLang="en-US" sz="4400" dirty="0"/>
          </a:p>
        </p:txBody>
      </p:sp>
      <p:sp>
        <p:nvSpPr>
          <p:cNvPr id="3" name="日期占位符 2"/>
          <p:cNvSpPr>
            <a:spLocks noGrp="1"/>
          </p:cNvSpPr>
          <p:nvPr>
            <p:ph type="dt" sz="half" idx="10"/>
          </p:nvPr>
        </p:nvSpPr>
        <p:spPr/>
        <p:txBody>
          <a:bodyPr/>
          <a:lstStyle/>
          <a:p>
            <a:fld id="{ED5A6125-1CB8-426F-8DC4-044E2660FA29}" type="datetime3">
              <a:rPr lang="zh-CN" altLang="en-US" smtClean="0"/>
              <a:t>2019年5月6日星期一</a:t>
            </a:fld>
            <a:endParaRPr lang="zh-CN" altLang="en-US"/>
          </a:p>
        </p:txBody>
      </p:sp>
      <p:sp>
        <p:nvSpPr>
          <p:cNvPr id="4" name="页脚占位符 3"/>
          <p:cNvSpPr>
            <a:spLocks noGrp="1"/>
          </p:cNvSpPr>
          <p:nvPr>
            <p:ph type="ftr" sz="quarter" idx="11"/>
          </p:nvPr>
        </p:nvSpPr>
        <p:spPr/>
        <p:txBody>
          <a:bodyPr/>
          <a:lstStyle/>
          <a:p>
            <a:r>
              <a:rPr lang="zh-CN" altLang="en-US" smtClean="0"/>
              <a:t>中国科大信息与计算机实验教学中心</a:t>
            </a:r>
            <a:endParaRPr lang="zh-CN" altLang="en-US"/>
          </a:p>
        </p:txBody>
      </p:sp>
      <p:sp>
        <p:nvSpPr>
          <p:cNvPr id="5" name="灯片编号占位符 4"/>
          <p:cNvSpPr>
            <a:spLocks noGrp="1"/>
          </p:cNvSpPr>
          <p:nvPr>
            <p:ph type="sldNum" sz="quarter" idx="12"/>
          </p:nvPr>
        </p:nvSpPr>
        <p:spPr/>
        <p:txBody>
          <a:bodyPr/>
          <a:lstStyle/>
          <a:p>
            <a:fld id="{D5BA5A3D-E723-4639-877B-B187790AC552}" type="slidenum">
              <a:rPr lang="zh-CN" altLang="en-US" smtClean="0"/>
              <a:pPr/>
              <a:t>30</a:t>
            </a:fld>
            <a:endParaRPr lang="zh-CN" altLang="en-US"/>
          </a:p>
        </p:txBody>
      </p:sp>
    </p:spTree>
    <p:extLst>
      <p:ext uri="{BB962C8B-B14F-4D97-AF65-F5344CB8AC3E}">
        <p14:creationId xmlns:p14="http://schemas.microsoft.com/office/powerpoint/2010/main" val="1135612424"/>
      </p:ext>
    </p:extLst>
  </p:cSld>
  <p:clrMapOvr>
    <a:masterClrMapping/>
  </p:clrMapOvr>
  <p:transition spd="slow">
    <p:push dir="d"/>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积分">
  <a:themeElements>
    <a:clrScheme name="积分">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积分">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实验五-二端口微波器件散射参数的测量.pptx" id="{73DA4690-BAA1-4D28-9264-F18F5476C17A}" vid="{AE9DAA63-D840-4257-9A41-55E030A827E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实验模板</Template>
  <TotalTime>1245</TotalTime>
  <Words>4187</Words>
  <Application>Microsoft Office PowerPoint</Application>
  <PresentationFormat>宽屏</PresentationFormat>
  <Paragraphs>515</Paragraphs>
  <Slides>30</Slides>
  <Notes>10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30</vt:i4>
      </vt:variant>
    </vt:vector>
  </HeadingPairs>
  <TitlesOfParts>
    <vt:vector size="45" baseType="lpstr">
      <vt:lpstr>ITCCentury Book</vt:lpstr>
      <vt:lpstr>ITCCenturyBookT</vt:lpstr>
      <vt:lpstr>Monotype Sorts</vt:lpstr>
      <vt:lpstr>华文仿宋</vt:lpstr>
      <vt:lpstr>宋体</vt:lpstr>
      <vt:lpstr>微软雅黑</vt:lpstr>
      <vt:lpstr>Arial</vt:lpstr>
      <vt:lpstr>Calibri</vt:lpstr>
      <vt:lpstr>Symbol</vt:lpstr>
      <vt:lpstr>Times New Roman</vt:lpstr>
      <vt:lpstr>Tw Cen MT</vt:lpstr>
      <vt:lpstr>Tw Cen MT Condensed</vt:lpstr>
      <vt:lpstr>Wingdings</vt:lpstr>
      <vt:lpstr>Wingdings 3</vt:lpstr>
      <vt:lpstr>积分</vt:lpstr>
      <vt:lpstr>网络分析仪的认识与基本操作</vt:lpstr>
      <vt:lpstr>实验注意事项及要求</vt:lpstr>
      <vt:lpstr>实验目的</vt:lpstr>
      <vt:lpstr>网络分析仪的用途</vt:lpstr>
      <vt:lpstr>网络分析仪的用途</vt:lpstr>
      <vt:lpstr>矢量网络分析仪E5061B面板图（正面）</vt:lpstr>
      <vt:lpstr>矢量网络分析仪E5061B面板图（正面）</vt:lpstr>
      <vt:lpstr>矢量网络分析仪E5061B面板图（正面）</vt:lpstr>
      <vt:lpstr>E5061B面板图（背面）</vt:lpstr>
      <vt:lpstr>网络分析仪组成框图</vt:lpstr>
      <vt:lpstr>网络分析仪测试信号流程</vt:lpstr>
      <vt:lpstr>矢量网络分析仪的信号源</vt:lpstr>
      <vt:lpstr>信号分离装置</vt:lpstr>
      <vt:lpstr>定向耦合器用于反射性能测试</vt:lpstr>
      <vt:lpstr>网络分析仪测量误差</vt:lpstr>
      <vt:lpstr>反射参数测试误差分析</vt:lpstr>
      <vt:lpstr>校准的基本分类</vt:lpstr>
      <vt:lpstr>校准的概念</vt:lpstr>
      <vt:lpstr>测试中的校准</vt:lpstr>
      <vt:lpstr>TRL校准（Thru-Reflect-Line）特点</vt:lpstr>
      <vt:lpstr>ENA 支持的校准件方式</vt:lpstr>
      <vt:lpstr>不同的校准方法总结</vt:lpstr>
      <vt:lpstr>基本操作</vt:lpstr>
      <vt:lpstr>仪器校准</vt:lpstr>
      <vt:lpstr>仪器校准</vt:lpstr>
      <vt:lpstr>调整数据或图形显示</vt:lpstr>
      <vt:lpstr>测量结果记录</vt:lpstr>
      <vt:lpstr>参数测量</vt:lpstr>
      <vt:lpstr>实验报告内容</vt:lpstr>
      <vt:lpstr>实验内容</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安捷伦5061B介绍</dc:title>
  <dc:creator>ustc</dc:creator>
  <cp:lastModifiedBy>admin</cp:lastModifiedBy>
  <cp:revision>198</cp:revision>
  <dcterms:created xsi:type="dcterms:W3CDTF">2016-05-23T01:44:57Z</dcterms:created>
  <dcterms:modified xsi:type="dcterms:W3CDTF">2019-05-06T10:21:19Z</dcterms:modified>
</cp:coreProperties>
</file>