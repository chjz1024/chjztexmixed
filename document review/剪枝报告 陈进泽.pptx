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60" r:id="rId4"/>
    <p:sldId id="258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63" r:id="rId13"/>
    <p:sldId id="264" r:id="rId14"/>
    <p:sldId id="272" r:id="rId15"/>
    <p:sldId id="275" r:id="rId16"/>
    <p:sldId id="273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E808F-7807-4EBF-8249-8A90B4775904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E838A-5457-4D70-8186-79CD9CFD8D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60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2E838A-5457-4D70-8186-79CD9CFD8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78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97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68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5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967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38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43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7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66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4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485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194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567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003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932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2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49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5E4B620-6E3E-4137-97D1-957F27F5D4E8}" type="datetimeFigureOut">
              <a:rPr lang="zh-CN" altLang="en-US" smtClean="0"/>
              <a:t>2018/11/20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A9E3469-9A79-4142-88E7-965D09EE0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57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45521" y="883679"/>
            <a:ext cx="8574622" cy="2616199"/>
          </a:xfrm>
        </p:spPr>
        <p:txBody>
          <a:bodyPr>
            <a:normAutofit/>
          </a:bodyPr>
          <a:lstStyle/>
          <a:p>
            <a:r>
              <a:rPr lang="en-US" altLang="zh-CN" sz="7200" dirty="0" smtClean="0"/>
              <a:t>Pruning</a:t>
            </a:r>
            <a:r>
              <a:rPr lang="zh-CN" altLang="en-US" sz="7200" dirty="0" smtClean="0"/>
              <a:t>文献报告</a:t>
            </a:r>
            <a:endParaRPr lang="zh-CN" altLang="en-US" sz="72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214931" y="3499878"/>
            <a:ext cx="6987645" cy="1388534"/>
          </a:xfrm>
        </p:spPr>
        <p:txBody>
          <a:bodyPr>
            <a:normAutofit/>
          </a:bodyPr>
          <a:lstStyle/>
          <a:p>
            <a:r>
              <a:rPr lang="zh-CN" altLang="en-US" sz="2800" dirty="0" smtClean="0"/>
              <a:t>陈进泽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87813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3944" y="130629"/>
            <a:ext cx="5321439" cy="1071154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/>
              <a:t>Grow and Prune Compact, Fast, and </a:t>
            </a:r>
            <a:r>
              <a:rPr lang="en-US" altLang="zh-CN" sz="3600" b="1" dirty="0" smtClean="0"/>
              <a:t>Accurate LSTMs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23944" y="1657351"/>
            <a:ext cx="3934855" cy="4721468"/>
          </a:xfrm>
        </p:spPr>
        <p:txBody>
          <a:bodyPr>
            <a:normAutofit/>
          </a:bodyPr>
          <a:lstStyle/>
          <a:p>
            <a:r>
              <a:rPr lang="en-US" altLang="zh-CN" sz="1600" dirty="0" smtClean="0"/>
              <a:t>Hidden-Layer LSTM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Strengthened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Easy </a:t>
            </a:r>
            <a:r>
              <a:rPr lang="en-US" altLang="zh-CN" sz="1600" dirty="0" smtClean="0"/>
              <a:t>regularization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Flexible </a:t>
            </a:r>
            <a:r>
              <a:rPr lang="en-US" altLang="zh-CN" sz="1600" dirty="0" smtClean="0"/>
              <a:t>gates</a:t>
            </a:r>
          </a:p>
          <a:p>
            <a:r>
              <a:rPr lang="en-US" altLang="zh-CN" sz="1600" dirty="0" smtClean="0"/>
              <a:t>Grow &amp; Pruning Training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Growth policy: Activate a dormant w in W </a:t>
            </a:r>
            <a:r>
              <a:rPr lang="en-US" altLang="zh-CN" sz="1600" dirty="0" err="1"/>
              <a:t>iff</a:t>
            </a:r>
            <a:r>
              <a:rPr lang="en-US" altLang="zh-CN" sz="1600" dirty="0"/>
              <a:t> |</a:t>
            </a:r>
            <a:r>
              <a:rPr lang="en-US" altLang="zh-CN" sz="1600" dirty="0" err="1"/>
              <a:t>w.grad</a:t>
            </a:r>
            <a:r>
              <a:rPr lang="en-US" altLang="zh-CN" sz="1600" dirty="0"/>
              <a:t>| is larger than the (100α)</a:t>
            </a:r>
            <a:r>
              <a:rPr lang="en-US" altLang="zh-CN" sz="1600" dirty="0" err="1"/>
              <a:t>th</a:t>
            </a:r>
            <a:r>
              <a:rPr lang="en-US" altLang="zh-CN" sz="1600" dirty="0"/>
              <a:t> percentile of all elements in |</a:t>
            </a:r>
            <a:r>
              <a:rPr lang="en-US" altLang="zh-CN" sz="1600" dirty="0" err="1"/>
              <a:t>W.grad</a:t>
            </a:r>
            <a:r>
              <a:rPr lang="en-US" altLang="zh-CN" sz="1600" dirty="0" smtClean="0"/>
              <a:t>|.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1600" dirty="0"/>
              <a:t>Pruning policy: Remove a w </a:t>
            </a:r>
            <a:r>
              <a:rPr lang="en-US" altLang="zh-CN" sz="1600" dirty="0" err="1"/>
              <a:t>iff</a:t>
            </a:r>
            <a:r>
              <a:rPr lang="en-US" altLang="zh-CN" sz="1600" dirty="0"/>
              <a:t> |w| is smaller than the (100β)</a:t>
            </a:r>
            <a:r>
              <a:rPr lang="en-US" altLang="zh-CN" sz="1600" dirty="0" err="1"/>
              <a:t>th</a:t>
            </a:r>
            <a:r>
              <a:rPr lang="en-US" altLang="zh-CN" sz="1600" dirty="0"/>
              <a:t> percentile of all elements in |W|.</a:t>
            </a:r>
            <a:endParaRPr lang="en-US" altLang="zh-CN" sz="1600" dirty="0" smtClean="0"/>
          </a:p>
          <a:p>
            <a:r>
              <a:rPr lang="en-US" altLang="zh-CN" sz="1600" dirty="0" smtClean="0"/>
              <a:t>Results </a:t>
            </a:r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endParaRPr lang="en-US" altLang="zh-CN" sz="1600" dirty="0" smtClean="0"/>
          </a:p>
          <a:p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58" y="1071155"/>
            <a:ext cx="4583326" cy="29469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702" y="6304704"/>
            <a:ext cx="3630096" cy="5296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703" y="5395533"/>
            <a:ext cx="3630096" cy="90917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858" y="6187057"/>
            <a:ext cx="3630096" cy="49905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3858" y="5395533"/>
            <a:ext cx="3630096" cy="79152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936630" y="5118534"/>
            <a:ext cx="2549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NeuralTalk</a:t>
            </a:r>
            <a:r>
              <a:rPr lang="en-US" altLang="zh-CN" sz="1200" dirty="0" smtClean="0"/>
              <a:t> for Image Captioning</a:t>
            </a:r>
            <a:endParaRPr lang="zh-CN" altLang="en-US" sz="1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6599085" y="5117767"/>
            <a:ext cx="2580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DeepSpeech2 for Speech Recognition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580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40350" y="1374530"/>
            <a:ext cx="4569502" cy="3124201"/>
          </a:xfrm>
        </p:spPr>
        <p:txBody>
          <a:bodyPr vert="horz"/>
          <a:lstStyle/>
          <a:p>
            <a:r>
              <a:rPr lang="en-US" altLang="zh-CN" dirty="0" smtClean="0"/>
              <a:t>Pruning Methodology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/>
              <a:t>pseudocode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577759" y="218552"/>
            <a:ext cx="5702272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/>
              <a:t>EFFICIENT METHODS AND HARDWARE FOR DEEP </a:t>
            </a:r>
            <a:r>
              <a:rPr lang="en-US" altLang="zh-CN" sz="3600" b="1" dirty="0" smtClean="0"/>
              <a:t>LEARNING(125p)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03" y="1843932"/>
            <a:ext cx="2866805" cy="144889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703" y="3903784"/>
            <a:ext cx="4199148" cy="2672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竖排文字占位符 2"/>
              <p:cNvSpPr txBox="1">
                <a:spLocks/>
              </p:cNvSpPr>
              <p:nvPr/>
            </p:nvSpPr>
            <p:spPr>
              <a:xfrm>
                <a:off x="6195927" y="1374530"/>
                <a:ext cx="5449211" cy="312420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 smtClean="0"/>
                  <a:t>Learning Rate &amp; Dropout Ratio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𝑟𝑒𝑡𝑟𝑎𝑖𝑛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𝑖𝑟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𝑖𝑜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altLang="zh-CN" dirty="0" smtClean="0"/>
              </a:p>
              <a:p>
                <a:r>
                  <a:rPr lang="en-US" altLang="zh-CN" dirty="0" smtClean="0"/>
                  <a:t>Direct Pruning &amp; Iterative Pruning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Font typeface="Arial"/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8" name="竖排文字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927" y="1374530"/>
                <a:ext cx="5449211" cy="3124201"/>
              </a:xfrm>
              <a:prstGeom prst="rect">
                <a:avLst/>
              </a:prstGeom>
              <a:blipFill>
                <a:blip r:embed="rId4"/>
                <a:stretch>
                  <a:fillRect l="-2796" t="-6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198" y="4122390"/>
            <a:ext cx="5419048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51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6587115" y="2347798"/>
            <a:ext cx="5702272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/>
              <a:t>Hardware Efficiency Considerations</a:t>
            </a:r>
            <a:endParaRPr lang="en-US" altLang="zh-CN" sz="3600" b="1" dirty="0" smtClean="0"/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idx="1"/>
          </p:nvPr>
        </p:nvSpPr>
        <p:spPr>
          <a:xfrm>
            <a:off x="1729972" y="147794"/>
            <a:ext cx="10018713" cy="4400007"/>
          </a:xfrm>
        </p:spPr>
        <p:txBody>
          <a:bodyPr vert="horz"/>
          <a:lstStyle/>
          <a:p>
            <a:r>
              <a:rPr lang="en-US" altLang="zh-CN" dirty="0" smtClean="0"/>
              <a:t>Different Pruning Granularities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Load Balance (parallel processing)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72" y="735617"/>
            <a:ext cx="4857143" cy="230476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115" y="3745145"/>
            <a:ext cx="4600000" cy="2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4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竖排文字占位符 9"/>
          <p:cNvSpPr txBox="1">
            <a:spLocks/>
          </p:cNvSpPr>
          <p:nvPr/>
        </p:nvSpPr>
        <p:spPr>
          <a:xfrm>
            <a:off x="1729972" y="147794"/>
            <a:ext cx="10018713" cy="6710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Results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MNIST: connections by 12x, computation by 12x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RNNs &amp; LSTMs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280" y="1505450"/>
            <a:ext cx="4375360" cy="360212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476" y="1730323"/>
            <a:ext cx="5009524" cy="3152381"/>
          </a:xfrm>
          <a:prstGeom prst="rect">
            <a:avLst/>
          </a:prstGeom>
        </p:spPr>
      </p:pic>
      <p:sp>
        <p:nvSpPr>
          <p:cNvPr id="12" name="竖排文字占位符 9"/>
          <p:cNvSpPr txBox="1">
            <a:spLocks/>
          </p:cNvSpPr>
          <p:nvPr/>
        </p:nvSpPr>
        <p:spPr>
          <a:xfrm>
            <a:off x="6982747" y="1364776"/>
            <a:ext cx="5209253" cy="365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Speedup and Energy </a:t>
            </a:r>
            <a:r>
              <a:rPr lang="en-US" altLang="zh-CN" dirty="0" smtClean="0"/>
              <a:t>Efficiency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marL="457200" lvl="1" indent="0">
              <a:buNone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382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577759" y="257741"/>
            <a:ext cx="5702272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 err="1"/>
              <a:t>DeepRebirth</a:t>
            </a:r>
            <a:r>
              <a:rPr lang="en-US" altLang="zh-CN" sz="3600" b="1" dirty="0"/>
              <a:t>: Accelerating Deep Neural Network Execution on Mobile Devices</a:t>
            </a:r>
            <a:endParaRPr lang="en-US" altLang="zh-CN" sz="3600" b="1" dirty="0" smtClean="0"/>
          </a:p>
        </p:txBody>
      </p:sp>
      <p:sp>
        <p:nvSpPr>
          <p:cNvPr id="6" name="内容占位符 2"/>
          <p:cNvSpPr>
            <a:spLocks noGrp="1"/>
          </p:cNvSpPr>
          <p:nvPr>
            <p:ph sz="half" idx="1"/>
          </p:nvPr>
        </p:nvSpPr>
        <p:spPr>
          <a:xfrm>
            <a:off x="1407602" y="489356"/>
            <a:ext cx="4895055" cy="5874421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Fundamentals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Non-tensor </a:t>
            </a:r>
            <a:r>
              <a:rPr lang="en-US" altLang="zh-CN" sz="2000" dirty="0"/>
              <a:t>layers consume too much time in </a:t>
            </a:r>
            <a:r>
              <a:rPr lang="en-US" altLang="zh-CN" sz="2000" dirty="0" smtClean="0"/>
              <a:t>model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 smtClean="0"/>
              <a:t>Non-tensor layers can be combined into tensor layers</a:t>
            </a:r>
            <a:endParaRPr lang="en-US" altLang="zh-CN" sz="2000" dirty="0"/>
          </a:p>
          <a:p>
            <a:r>
              <a:rPr lang="en-US" altLang="zh-CN" sz="2200" dirty="0" smtClean="0"/>
              <a:t>Methodologies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Streamline </a:t>
            </a:r>
            <a:r>
              <a:rPr lang="en-US" altLang="zh-CN" sz="2000" dirty="0" smtClean="0"/>
              <a:t>Slimming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Branch Slimming</a:t>
            </a:r>
            <a:endParaRPr lang="en-US" altLang="zh-CN" sz="2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657" y="1844091"/>
            <a:ext cx="4958111" cy="214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28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2696" y="493122"/>
            <a:ext cx="4895055" cy="494212"/>
          </a:xfrm>
        </p:spPr>
        <p:txBody>
          <a:bodyPr/>
          <a:lstStyle/>
          <a:p>
            <a:r>
              <a:rPr lang="en-US" altLang="zh-CN" dirty="0"/>
              <a:t>Streamline Slimming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7018608" y="493122"/>
            <a:ext cx="4895055" cy="49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Branch Slimming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96" y="987334"/>
            <a:ext cx="4438095" cy="435238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503" y="1220667"/>
            <a:ext cx="7457143" cy="3885714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sz="half" idx="1"/>
          </p:nvPr>
        </p:nvSpPr>
        <p:spPr>
          <a:xfrm>
            <a:off x="1977324" y="5833927"/>
            <a:ext cx="8512150" cy="4942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800" b="1" dirty="0" smtClean="0"/>
              <a:t>Retrain the network to obtain the best performance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2966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84759" y="315685"/>
            <a:ext cx="3388134" cy="807721"/>
          </a:xfrm>
        </p:spPr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790" y="1123406"/>
            <a:ext cx="4419048" cy="45904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969" y="1732928"/>
            <a:ext cx="4638095" cy="3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4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67853" y="1328895"/>
            <a:ext cx="4895055" cy="755469"/>
          </a:xfrm>
        </p:spPr>
        <p:txBody>
          <a:bodyPr/>
          <a:lstStyle/>
          <a:p>
            <a:r>
              <a:rPr lang="en-US" altLang="zh-CN" dirty="0" smtClean="0"/>
              <a:t>Different </a:t>
            </a:r>
            <a:r>
              <a:rPr lang="en-US" altLang="zh-CN" dirty="0"/>
              <a:t>Pruning </a:t>
            </a:r>
            <a:r>
              <a:rPr lang="en-US" altLang="zh-CN" dirty="0" smtClean="0"/>
              <a:t>Granularities</a:t>
            </a:r>
            <a:endParaRPr lang="zh-CN" altLang="en-US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1577759" y="257741"/>
            <a:ext cx="7370298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/>
              <a:t>COARSE PRUNING OF CONVOLUTIONAL </a:t>
            </a:r>
            <a:r>
              <a:rPr lang="en-US" altLang="zh-CN" sz="3600" b="1" dirty="0" smtClean="0"/>
              <a:t>NEURAL </a:t>
            </a:r>
            <a:r>
              <a:rPr lang="en-US" altLang="zh-CN" sz="3600" b="1" dirty="0"/>
              <a:t>NETWORKS WITH RANDOM </a:t>
            </a:r>
            <a:r>
              <a:rPr lang="en-US" altLang="zh-CN" sz="3600" b="1" dirty="0" smtClean="0"/>
              <a:t>MASKS(CNN)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" y="1997289"/>
            <a:ext cx="6030069" cy="2881840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6901043" y="1267690"/>
            <a:ext cx="4895055" cy="755469"/>
          </a:xfrm>
        </p:spPr>
        <p:txBody>
          <a:bodyPr/>
          <a:lstStyle/>
          <a:p>
            <a:r>
              <a:rPr lang="en-US" altLang="zh-CN" dirty="0" smtClean="0"/>
              <a:t>Retrain procedure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043" y="1997289"/>
            <a:ext cx="4895055" cy="455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0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91980" y="0"/>
            <a:ext cx="6000705" cy="3605349"/>
          </a:xfrm>
        </p:spPr>
        <p:txBody>
          <a:bodyPr>
            <a:normAutofit/>
          </a:bodyPr>
          <a:lstStyle/>
          <a:p>
            <a:r>
              <a:rPr lang="en-US" altLang="zh-CN" sz="2400" b="1" dirty="0" smtClean="0"/>
              <a:t>PRUNING </a:t>
            </a:r>
            <a:r>
              <a:rPr lang="en-US" altLang="zh-CN" sz="2400" b="1" dirty="0"/>
              <a:t>CANDIDATE </a:t>
            </a:r>
            <a:r>
              <a:rPr lang="en-US" altLang="zh-CN" sz="2400" b="1" dirty="0" smtClean="0"/>
              <a:t>SELECTION</a:t>
            </a:r>
          </a:p>
          <a:p>
            <a:pPr marL="0" indent="0">
              <a:buNone/>
            </a:pPr>
            <a:r>
              <a:rPr lang="en-US" altLang="zh-CN" sz="2400" dirty="0" smtClean="0"/>
              <a:t>	Randomly </a:t>
            </a:r>
            <a:r>
              <a:rPr lang="en-US" altLang="zh-CN" sz="2400" dirty="0"/>
              <a:t>generate N pruning masks and compute the misclassification rate (MCR) for each one</a:t>
            </a:r>
            <a:r>
              <a:rPr lang="en-US" altLang="zh-CN" sz="2400" dirty="0" smtClean="0"/>
              <a:t>.</a:t>
            </a:r>
          </a:p>
          <a:p>
            <a:pPr marL="0" indent="0">
              <a:buNone/>
            </a:pPr>
            <a:r>
              <a:rPr lang="en-US" altLang="zh-CN" sz="2400" dirty="0"/>
              <a:t>	N can be estimated initially and later used in several pruning passes.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09" y="181324"/>
            <a:ext cx="5405346" cy="4664996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525142" y="3043645"/>
            <a:ext cx="6000705" cy="3605349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FEATURE MAP AND KERNEL </a:t>
            </a:r>
            <a:r>
              <a:rPr lang="en-US" altLang="zh-CN" sz="2400" b="1" dirty="0" smtClean="0"/>
              <a:t>PRUNING</a:t>
            </a:r>
          </a:p>
          <a:p>
            <a:pPr marL="0" indent="0">
              <a:buNone/>
            </a:pPr>
            <a:r>
              <a:rPr lang="en-US" altLang="zh-CN" sz="2400" dirty="0"/>
              <a:t>	Pruning a feature map eliminates all the incoming and outgoing kernels because the outgoing kernels are no more meaningful</a:t>
            </a:r>
            <a:r>
              <a:rPr lang="en-US" altLang="zh-CN" sz="2400" dirty="0" smtClean="0"/>
              <a:t>.</a:t>
            </a:r>
          </a:p>
          <a:p>
            <a:pPr marL="0" indent="0">
              <a:buNone/>
            </a:pPr>
            <a:r>
              <a:rPr lang="en-US" altLang="zh-CN" sz="2400" dirty="0" smtClean="0"/>
              <a:t>	*The </a:t>
            </a:r>
            <a:r>
              <a:rPr lang="en-US" altLang="zh-CN" sz="2400" dirty="0"/>
              <a:t>true benefit of kernel pruning can be obtained with FFT based masked convolution.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286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84311" y="178525"/>
            <a:ext cx="4895055" cy="507275"/>
          </a:xfrm>
        </p:spPr>
        <p:txBody>
          <a:bodyPr>
            <a:normAutofit/>
          </a:bodyPr>
          <a:lstStyle/>
          <a:p>
            <a:r>
              <a:rPr lang="en-US" altLang="zh-CN" sz="2400" b="1" dirty="0" smtClean="0"/>
              <a:t>Evaluation</a:t>
            </a:r>
            <a:endParaRPr lang="zh-CN" altLang="en-US" sz="24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9" y="1078426"/>
            <a:ext cx="5749970" cy="259471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330" y="432162"/>
            <a:ext cx="6044670" cy="468418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3118" y="4415244"/>
            <a:ext cx="5836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Benefit: In memory cost &amp; computation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8367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7759" y="921768"/>
            <a:ext cx="6664904" cy="5513865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Fundamentals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	Redundancies exist in </a:t>
            </a:r>
            <a:r>
              <a:rPr lang="en-US" altLang="zh-CN" dirty="0" err="1" smtClean="0"/>
              <a:t>maxout</a:t>
            </a:r>
            <a:r>
              <a:rPr lang="en-US" altLang="zh-CN" dirty="0" smtClean="0"/>
              <a:t> units.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	The maximum of several neurons is </a:t>
            </a:r>
            <a:r>
              <a:rPr lang="en-US" altLang="zh-CN" dirty="0"/>
              <a:t>able to </a:t>
            </a:r>
            <a:r>
              <a:rPr lang="en-US" altLang="zh-CN" dirty="0" smtClean="0"/>
              <a:t>approximate </a:t>
            </a:r>
            <a:r>
              <a:rPr lang="en-US" altLang="zh-CN" dirty="0"/>
              <a:t>a more complex neuron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Methodology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Neuron Pruning</a:t>
            </a:r>
          </a:p>
          <a:p>
            <a:pPr lvl="2">
              <a:buFont typeface="Wingdings" panose="05000000000000000000" pitchFamily="2" charset="2"/>
              <a:buChar char="n"/>
            </a:pPr>
            <a:r>
              <a:rPr lang="en-US" altLang="zh-CN" dirty="0" smtClean="0"/>
              <a:t>A </a:t>
            </a:r>
            <a:r>
              <a:rPr lang="en-US" altLang="zh-CN" dirty="0"/>
              <a:t>CNN with a </a:t>
            </a:r>
            <a:r>
              <a:rPr lang="en-US" altLang="zh-CN" dirty="0" err="1"/>
              <a:t>maxout</a:t>
            </a:r>
            <a:r>
              <a:rPr lang="en-US" altLang="zh-CN" dirty="0"/>
              <a:t> layer is </a:t>
            </a:r>
            <a:r>
              <a:rPr lang="en-US" altLang="zh-CN" dirty="0" smtClean="0"/>
              <a:t>trained</a:t>
            </a:r>
          </a:p>
          <a:p>
            <a:pPr lvl="2">
              <a:buFont typeface="Wingdings" panose="05000000000000000000" pitchFamily="2" charset="2"/>
              <a:buChar char="n"/>
            </a:pPr>
            <a:r>
              <a:rPr lang="en-US" altLang="zh-CN" dirty="0" smtClean="0"/>
              <a:t>The </a:t>
            </a:r>
            <a:r>
              <a:rPr lang="en-US" altLang="zh-CN" dirty="0"/>
              <a:t>least active neurons of each </a:t>
            </a:r>
            <a:r>
              <a:rPr lang="en-US" altLang="zh-CN" dirty="0" err="1"/>
              <a:t>maxout</a:t>
            </a:r>
            <a:r>
              <a:rPr lang="en-US" altLang="zh-CN" dirty="0"/>
              <a:t> unit are removed from the </a:t>
            </a:r>
            <a:r>
              <a:rPr lang="en-US" altLang="zh-CN" dirty="0" smtClean="0"/>
              <a:t>network</a:t>
            </a:r>
          </a:p>
          <a:p>
            <a:pPr lvl="2">
              <a:buFont typeface="Wingdings" panose="05000000000000000000" pitchFamily="2" charset="2"/>
              <a:buChar char="n"/>
            </a:pPr>
            <a:r>
              <a:rPr lang="en-US" altLang="zh-CN" dirty="0" smtClean="0"/>
              <a:t>The </a:t>
            </a:r>
            <a:r>
              <a:rPr lang="en-US" altLang="zh-CN" dirty="0"/>
              <a:t>remaining neurons of the CNN are re-trained. After re-training, the process is </a:t>
            </a:r>
            <a:r>
              <a:rPr lang="en-US" altLang="zh-CN" dirty="0" smtClean="0"/>
              <a:t>repeated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Weight </a:t>
            </a:r>
            <a:r>
              <a:rPr lang="en-US" altLang="zh-CN" dirty="0" smtClean="0"/>
              <a:t>Pruning</a:t>
            </a:r>
          </a:p>
          <a:p>
            <a:pPr lvl="2">
              <a:buFont typeface="Wingdings" panose="05000000000000000000" pitchFamily="2" charset="2"/>
              <a:buChar char="n"/>
            </a:pPr>
            <a:r>
              <a:rPr lang="en-US" altLang="zh-CN" dirty="0" smtClean="0"/>
              <a:t>Set Threshold</a:t>
            </a:r>
          </a:p>
          <a:p>
            <a:pPr lvl="2">
              <a:buFont typeface="Wingdings" panose="05000000000000000000" pitchFamily="2" charset="2"/>
              <a:buChar char="n"/>
            </a:pPr>
            <a:r>
              <a:rPr lang="en-US" altLang="zh-CN" dirty="0" smtClean="0"/>
              <a:t>Weights </a:t>
            </a:r>
            <a:r>
              <a:rPr lang="en-US" altLang="zh-CN" dirty="0"/>
              <a:t>below this threshold are </a:t>
            </a:r>
            <a:r>
              <a:rPr lang="en-US" altLang="zh-CN" dirty="0" smtClean="0"/>
              <a:t>deleted</a:t>
            </a:r>
          </a:p>
          <a:p>
            <a:pPr lvl="2">
              <a:buFont typeface="Wingdings" panose="05000000000000000000" pitchFamily="2" charset="2"/>
              <a:buChar char="n"/>
            </a:pPr>
            <a:r>
              <a:rPr lang="en-US" altLang="zh-CN" dirty="0" smtClean="0"/>
              <a:t>The </a:t>
            </a:r>
            <a:r>
              <a:rPr lang="en-US" altLang="zh-CN" dirty="0"/>
              <a:t>network is </a:t>
            </a:r>
            <a:r>
              <a:rPr lang="en-US" altLang="zh-CN" dirty="0" smtClean="0"/>
              <a:t>re-trained</a:t>
            </a:r>
            <a:endParaRPr lang="en-US" altLang="zh-CN" dirty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577759" y="218552"/>
            <a:ext cx="6106718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/>
              <a:t>Neuron Pruning for Compressing Deep Networks using </a:t>
            </a:r>
            <a:r>
              <a:rPr lang="en-US" altLang="zh-CN" sz="3600" b="1" dirty="0" err="1"/>
              <a:t>Maxout</a:t>
            </a:r>
            <a:r>
              <a:rPr lang="en-US" altLang="zh-CN" sz="3600" b="1" dirty="0"/>
              <a:t> </a:t>
            </a:r>
            <a:r>
              <a:rPr lang="en-US" altLang="zh-CN" sz="3600" b="1" dirty="0" smtClean="0"/>
              <a:t>Architectures (GCPR)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027" y="2331050"/>
            <a:ext cx="5307783" cy="13476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89836" y="6297116"/>
            <a:ext cx="9912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[1] Moya </a:t>
            </a:r>
            <a:r>
              <a:rPr lang="en-US" altLang="zh-CN" sz="1200" dirty="0"/>
              <a:t>Rueda, Fernando &amp; </a:t>
            </a:r>
            <a:r>
              <a:rPr lang="en-US" altLang="zh-CN" sz="1200" dirty="0" err="1"/>
              <a:t>Grzeszick</a:t>
            </a:r>
            <a:r>
              <a:rPr lang="en-US" altLang="zh-CN" sz="1200" dirty="0"/>
              <a:t>, Rene &amp; A. Fink, Gernot. (2017). Neuron Pruning for Compressing Deep Networks Using </a:t>
            </a:r>
            <a:r>
              <a:rPr lang="en-US" altLang="zh-CN" sz="1200" dirty="0" err="1"/>
              <a:t>Maxout</a:t>
            </a:r>
            <a:r>
              <a:rPr lang="en-US" altLang="zh-CN" sz="1200" dirty="0"/>
              <a:t> Architectures. 177-188. 10.1007/978-3-319-66709-6_15.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3118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18511" y="93618"/>
            <a:ext cx="4895055" cy="1173480"/>
          </a:xfrm>
        </p:spPr>
        <p:txBody>
          <a:bodyPr/>
          <a:lstStyle/>
          <a:p>
            <a:r>
              <a:rPr lang="en-US" altLang="zh-CN" dirty="0" smtClean="0"/>
              <a:t>Evaluation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627" y="680358"/>
            <a:ext cx="5209524" cy="3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628" y="4099406"/>
            <a:ext cx="5209524" cy="1998173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7153254" y="223157"/>
            <a:ext cx="4895055" cy="5874421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Results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The performance of this reduction approach depends strongly on the position of the </a:t>
            </a:r>
            <a:r>
              <a:rPr lang="en-US" altLang="zh-CN" sz="2000" dirty="0" err="1"/>
              <a:t>maxout</a:t>
            </a:r>
            <a:r>
              <a:rPr lang="en-US" altLang="zh-CN" sz="2000" dirty="0"/>
              <a:t> layer in the network</a:t>
            </a:r>
            <a:r>
              <a:rPr lang="en-US" altLang="zh-CN" sz="20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sz="2000" dirty="0"/>
              <a:t>The proposed approach allows to reduce a network’s size by 61−74% on an architectural level and without affecting the network’s performance.</a:t>
            </a:r>
            <a:endParaRPr lang="en-US" altLang="zh-CN" sz="2000" dirty="0" smtClean="0"/>
          </a:p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489836" y="6297116"/>
            <a:ext cx="9912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[1] Moya </a:t>
            </a:r>
            <a:r>
              <a:rPr lang="en-US" altLang="zh-CN" sz="1200" dirty="0"/>
              <a:t>Rueda, Fernando &amp; </a:t>
            </a:r>
            <a:r>
              <a:rPr lang="en-US" altLang="zh-CN" sz="1200" dirty="0" err="1"/>
              <a:t>Grzeszick</a:t>
            </a:r>
            <a:r>
              <a:rPr lang="en-US" altLang="zh-CN" sz="1200" dirty="0"/>
              <a:t>, Rene &amp; A. Fink, Gernot. (2017). Neuron Pruning for Compressing Deep Networks Using </a:t>
            </a:r>
            <a:r>
              <a:rPr lang="en-US" altLang="zh-CN" sz="1200" dirty="0" err="1"/>
              <a:t>Maxout</a:t>
            </a:r>
            <a:r>
              <a:rPr lang="en-US" altLang="zh-CN" sz="1200" dirty="0"/>
              <a:t> Architectures. 177-188. 10.1007/978-3-319-66709-6_15.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6671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7759" y="921768"/>
            <a:ext cx="6664904" cy="5513865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Fundamentals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The performance of non-structured pruning is limited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Whether </a:t>
            </a:r>
            <a:r>
              <a:rPr lang="en-US" altLang="zh-CN" dirty="0"/>
              <a:t>a filter can be pruned depends on the outputs </a:t>
            </a:r>
            <a:r>
              <a:rPr lang="en-US" altLang="zh-CN" dirty="0" smtClean="0"/>
              <a:t>of its </a:t>
            </a:r>
            <a:r>
              <a:rPr lang="en-US" altLang="zh-CN" dirty="0"/>
              <a:t>next layer, not its own layer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Methodology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Filter selection</a:t>
            </a:r>
            <a:r>
              <a:rPr lang="en-US" altLang="zh-CN" dirty="0"/>
              <a:t>: </a:t>
            </a:r>
            <a:r>
              <a:rPr lang="en-US" altLang="zh-CN" dirty="0" smtClean="0"/>
              <a:t>Using </a:t>
            </a:r>
            <a:r>
              <a:rPr lang="en-US" altLang="zh-CN" dirty="0"/>
              <a:t>a subset </a:t>
            </a:r>
            <a:r>
              <a:rPr lang="en-US" altLang="zh-CN" dirty="0" smtClean="0"/>
              <a:t>of channels </a:t>
            </a:r>
            <a:r>
              <a:rPr lang="en-US" altLang="zh-CN" dirty="0"/>
              <a:t>in layer (</a:t>
            </a:r>
            <a:r>
              <a:rPr lang="en-US" altLang="zh-CN" dirty="0" err="1"/>
              <a:t>i</a:t>
            </a:r>
            <a:r>
              <a:rPr lang="en-US" altLang="zh-CN" dirty="0"/>
              <a:t> + 1)’s input to approximate the output in layer </a:t>
            </a:r>
            <a:r>
              <a:rPr lang="en-US" altLang="zh-CN" dirty="0" err="1"/>
              <a:t>i</a:t>
            </a:r>
            <a:r>
              <a:rPr lang="en-US" altLang="zh-CN" dirty="0"/>
              <a:t> + </a:t>
            </a:r>
            <a:r>
              <a:rPr lang="en-US" altLang="zh-CN" dirty="0" smtClean="0"/>
              <a:t>1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Pruning: Weak </a:t>
            </a:r>
            <a:r>
              <a:rPr lang="en-US" altLang="zh-CN" dirty="0"/>
              <a:t>channels in layer (</a:t>
            </a:r>
            <a:r>
              <a:rPr lang="en-US" altLang="zh-CN" dirty="0" err="1"/>
              <a:t>i</a:t>
            </a:r>
            <a:r>
              <a:rPr lang="en-US" altLang="zh-CN" dirty="0"/>
              <a:t> + 1)’s input and their corresponding filters in layer </a:t>
            </a:r>
            <a:r>
              <a:rPr lang="en-US" altLang="zh-CN" dirty="0" err="1"/>
              <a:t>i</a:t>
            </a:r>
            <a:r>
              <a:rPr lang="en-US" altLang="zh-CN" dirty="0"/>
              <a:t> would be pruned away</a:t>
            </a:r>
            <a:r>
              <a:rPr lang="en-US" altLang="zh-CN" dirty="0" smtClean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Fine-tuning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Iterate to step 1 to prune the next </a:t>
            </a:r>
            <a:r>
              <a:rPr lang="en-US" altLang="zh-CN" dirty="0" smtClean="0"/>
              <a:t>layer</a:t>
            </a:r>
          </a:p>
          <a:p>
            <a:r>
              <a:rPr lang="en-US" altLang="zh-CN" dirty="0" smtClean="0"/>
              <a:t>Principle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577759" y="218552"/>
            <a:ext cx="6106718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 err="1"/>
              <a:t>ThiNet</a:t>
            </a:r>
            <a:r>
              <a:rPr lang="en-US" altLang="zh-CN" sz="3600" b="1" dirty="0"/>
              <a:t>: A Filter Level Pruning Method for Deep Neural Network Compression</a:t>
            </a:r>
            <a:endParaRPr lang="en-US" altLang="zh-CN" sz="36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1489836" y="6297116"/>
            <a:ext cx="9912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[2</a:t>
            </a:r>
            <a:r>
              <a:rPr lang="en-US" altLang="zh-CN" sz="1200" dirty="0"/>
              <a:t>] Luo, Jian-</a:t>
            </a:r>
            <a:r>
              <a:rPr lang="en-US" altLang="zh-CN" sz="1200" dirty="0" err="1"/>
              <a:t>Hao</a:t>
            </a:r>
            <a:r>
              <a:rPr lang="en-US" altLang="zh-CN" sz="1200" dirty="0"/>
              <a:t> &amp; Wu, </a:t>
            </a:r>
            <a:r>
              <a:rPr lang="en-US" altLang="zh-CN" sz="1200" dirty="0" err="1"/>
              <a:t>Jianxin</a:t>
            </a:r>
            <a:r>
              <a:rPr lang="en-US" altLang="zh-CN" sz="1200" dirty="0"/>
              <a:t> &amp; Lin, </a:t>
            </a:r>
            <a:r>
              <a:rPr lang="en-US" altLang="zh-CN" sz="1200" dirty="0" err="1"/>
              <a:t>Weiyao</a:t>
            </a:r>
            <a:r>
              <a:rPr lang="en-US" altLang="zh-CN" sz="1200" dirty="0"/>
              <a:t>. (2017). </a:t>
            </a:r>
            <a:r>
              <a:rPr lang="en-US" altLang="zh-CN" sz="1200" dirty="0" err="1"/>
              <a:t>ThiNet</a:t>
            </a:r>
            <a:r>
              <a:rPr lang="en-US" altLang="zh-CN" sz="1200" dirty="0"/>
              <a:t>: A Filter Level Pruning Method for Deep Neural Network Compression. 5068-5076. 10.1109/ICCV.2017.541. </a:t>
            </a:r>
            <a:endParaRPr lang="zh-CN" altLang="en-US" sz="1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30" y="1571059"/>
            <a:ext cx="3800000" cy="30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166" y="5575455"/>
            <a:ext cx="2780952" cy="5428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700" y="5584978"/>
            <a:ext cx="3152381" cy="523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864" y="5584978"/>
            <a:ext cx="885714" cy="561905"/>
          </a:xfrm>
          <a:prstGeom prst="rect">
            <a:avLst/>
          </a:prstGeom>
        </p:spPr>
      </p:pic>
      <p:sp>
        <p:nvSpPr>
          <p:cNvPr id="10" name="加号 9"/>
          <p:cNvSpPr/>
          <p:nvPr/>
        </p:nvSpPr>
        <p:spPr>
          <a:xfrm>
            <a:off x="4631118" y="5750169"/>
            <a:ext cx="229582" cy="228600"/>
          </a:xfrm>
          <a:prstGeom prst="mathPlus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虚尾箭头 10"/>
          <p:cNvSpPr/>
          <p:nvPr/>
        </p:nvSpPr>
        <p:spPr>
          <a:xfrm>
            <a:off x="8076792" y="5758961"/>
            <a:ext cx="603381" cy="228600"/>
          </a:xfrm>
          <a:prstGeom prst="stripedRightArrow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48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7759" y="921768"/>
            <a:ext cx="6664904" cy="5513865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Fundamentals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The performance of non-structured pruning is limited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Whether </a:t>
            </a:r>
            <a:r>
              <a:rPr lang="en-US" altLang="zh-CN" dirty="0"/>
              <a:t>a filter can be pruned depends on the outputs </a:t>
            </a:r>
            <a:r>
              <a:rPr lang="en-US" altLang="zh-CN" dirty="0" smtClean="0"/>
              <a:t>of its </a:t>
            </a:r>
            <a:r>
              <a:rPr lang="en-US" altLang="zh-CN" dirty="0"/>
              <a:t>next layer, not its own layer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Methodology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Filter selection</a:t>
            </a:r>
            <a:r>
              <a:rPr lang="en-US" altLang="zh-CN" dirty="0"/>
              <a:t>: </a:t>
            </a:r>
            <a:r>
              <a:rPr lang="en-US" altLang="zh-CN" dirty="0" smtClean="0"/>
              <a:t>Using </a:t>
            </a:r>
            <a:r>
              <a:rPr lang="en-US" altLang="zh-CN" dirty="0"/>
              <a:t>a subset </a:t>
            </a:r>
            <a:r>
              <a:rPr lang="en-US" altLang="zh-CN" dirty="0" smtClean="0"/>
              <a:t>of channels </a:t>
            </a:r>
            <a:r>
              <a:rPr lang="en-US" altLang="zh-CN" dirty="0"/>
              <a:t>in layer (</a:t>
            </a:r>
            <a:r>
              <a:rPr lang="en-US" altLang="zh-CN" dirty="0" err="1"/>
              <a:t>i</a:t>
            </a:r>
            <a:r>
              <a:rPr lang="en-US" altLang="zh-CN" dirty="0"/>
              <a:t> + 1)’s input to approximate the output in layer </a:t>
            </a:r>
            <a:r>
              <a:rPr lang="en-US" altLang="zh-CN" dirty="0" err="1"/>
              <a:t>i</a:t>
            </a:r>
            <a:r>
              <a:rPr lang="en-US" altLang="zh-CN" dirty="0"/>
              <a:t> + </a:t>
            </a:r>
            <a:r>
              <a:rPr lang="en-US" altLang="zh-CN" dirty="0" smtClean="0"/>
              <a:t>1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Pruning: Weak </a:t>
            </a:r>
            <a:r>
              <a:rPr lang="en-US" altLang="zh-CN" dirty="0"/>
              <a:t>channels in layer (</a:t>
            </a:r>
            <a:r>
              <a:rPr lang="en-US" altLang="zh-CN" dirty="0" err="1"/>
              <a:t>i</a:t>
            </a:r>
            <a:r>
              <a:rPr lang="en-US" altLang="zh-CN" dirty="0"/>
              <a:t> + 1)’s input and their corresponding filters in layer </a:t>
            </a:r>
            <a:r>
              <a:rPr lang="en-US" altLang="zh-CN" dirty="0" err="1"/>
              <a:t>i</a:t>
            </a:r>
            <a:r>
              <a:rPr lang="en-US" altLang="zh-CN" dirty="0"/>
              <a:t> would be pruned away</a:t>
            </a:r>
            <a:r>
              <a:rPr lang="en-US" altLang="zh-CN" dirty="0" smtClean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Fine-tuning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Iterate to step 1 to prune the next </a:t>
            </a:r>
            <a:r>
              <a:rPr lang="en-US" altLang="zh-CN" dirty="0" smtClean="0"/>
              <a:t>layer</a:t>
            </a:r>
          </a:p>
          <a:p>
            <a:r>
              <a:rPr lang="en-US" altLang="zh-CN" dirty="0" smtClean="0"/>
              <a:t>Principle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577759" y="218552"/>
            <a:ext cx="6106718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 err="1"/>
              <a:t>ThiNet</a:t>
            </a:r>
            <a:r>
              <a:rPr lang="en-US" altLang="zh-CN" sz="3600" b="1" dirty="0"/>
              <a:t>: A Filter Level Pruning Method for Deep Neural Network Compression</a:t>
            </a:r>
            <a:endParaRPr lang="en-US" altLang="zh-CN" sz="36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1489836" y="6297116"/>
            <a:ext cx="9912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[2</a:t>
            </a:r>
            <a:r>
              <a:rPr lang="en-US" altLang="zh-CN" sz="1200" dirty="0"/>
              <a:t>] Luo, Jian-</a:t>
            </a:r>
            <a:r>
              <a:rPr lang="en-US" altLang="zh-CN" sz="1200" dirty="0" err="1"/>
              <a:t>Hao</a:t>
            </a:r>
            <a:r>
              <a:rPr lang="en-US" altLang="zh-CN" sz="1200" dirty="0"/>
              <a:t> &amp; Wu, </a:t>
            </a:r>
            <a:r>
              <a:rPr lang="en-US" altLang="zh-CN" sz="1200" dirty="0" err="1"/>
              <a:t>Jianxin</a:t>
            </a:r>
            <a:r>
              <a:rPr lang="en-US" altLang="zh-CN" sz="1200" dirty="0"/>
              <a:t> &amp; Lin, </a:t>
            </a:r>
            <a:r>
              <a:rPr lang="en-US" altLang="zh-CN" sz="1200" dirty="0" err="1"/>
              <a:t>Weiyao</a:t>
            </a:r>
            <a:r>
              <a:rPr lang="en-US" altLang="zh-CN" sz="1200" dirty="0"/>
              <a:t>. (2017). </a:t>
            </a:r>
            <a:r>
              <a:rPr lang="en-US" altLang="zh-CN" sz="1200" dirty="0" err="1"/>
              <a:t>ThiNet</a:t>
            </a:r>
            <a:r>
              <a:rPr lang="en-US" altLang="zh-CN" sz="1200" dirty="0"/>
              <a:t>: A Filter Level Pruning Method for Deep Neural Network Compression. 5068-5076. 10.1109/ICCV.2017.541. </a:t>
            </a:r>
            <a:endParaRPr lang="zh-CN" altLang="en-US" sz="1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30" y="1571059"/>
            <a:ext cx="3800000" cy="30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166" y="5575455"/>
            <a:ext cx="2780952" cy="5428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700" y="5584978"/>
            <a:ext cx="3152381" cy="523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9864" y="5584978"/>
            <a:ext cx="885714" cy="561905"/>
          </a:xfrm>
          <a:prstGeom prst="rect">
            <a:avLst/>
          </a:prstGeom>
        </p:spPr>
      </p:pic>
      <p:sp>
        <p:nvSpPr>
          <p:cNvPr id="10" name="加号 9"/>
          <p:cNvSpPr/>
          <p:nvPr/>
        </p:nvSpPr>
        <p:spPr>
          <a:xfrm>
            <a:off x="4631118" y="5750169"/>
            <a:ext cx="229582" cy="228600"/>
          </a:xfrm>
          <a:prstGeom prst="mathPlus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虚尾箭头 10"/>
          <p:cNvSpPr/>
          <p:nvPr/>
        </p:nvSpPr>
        <p:spPr>
          <a:xfrm>
            <a:off x="8076792" y="5758961"/>
            <a:ext cx="603381" cy="228600"/>
          </a:xfrm>
          <a:prstGeom prst="stripedRightArrow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1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489836" y="105508"/>
                <a:ext cx="8920256" cy="116058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smtClean="0"/>
                  <a:t>Training Procedure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Aim: To find a subset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⊂{1,2,…,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 smtClean="0"/>
                  <a:t> that match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dirty="0" smtClean="0"/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489836" y="105508"/>
                <a:ext cx="8920256" cy="1160584"/>
              </a:xfrm>
              <a:blipFill>
                <a:blip r:embed="rId2"/>
                <a:stretch>
                  <a:fillRect l="-1025" b="-42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489836" y="6297116"/>
            <a:ext cx="9912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[2</a:t>
            </a:r>
            <a:r>
              <a:rPr lang="en-US" altLang="zh-CN" sz="1200" dirty="0"/>
              <a:t>] Luo, Jian-</a:t>
            </a:r>
            <a:r>
              <a:rPr lang="en-US" altLang="zh-CN" sz="1200" dirty="0" err="1"/>
              <a:t>Hao</a:t>
            </a:r>
            <a:r>
              <a:rPr lang="en-US" altLang="zh-CN" sz="1200" dirty="0"/>
              <a:t> &amp; Wu, </a:t>
            </a:r>
            <a:r>
              <a:rPr lang="en-US" altLang="zh-CN" sz="1200" dirty="0" err="1"/>
              <a:t>Jianxin</a:t>
            </a:r>
            <a:r>
              <a:rPr lang="en-US" altLang="zh-CN" sz="1200" dirty="0"/>
              <a:t> &amp; Lin, </a:t>
            </a:r>
            <a:r>
              <a:rPr lang="en-US" altLang="zh-CN" sz="1200" dirty="0" err="1"/>
              <a:t>Weiyao</a:t>
            </a:r>
            <a:r>
              <a:rPr lang="en-US" altLang="zh-CN" sz="1200" dirty="0"/>
              <a:t>. (2017). </a:t>
            </a:r>
            <a:r>
              <a:rPr lang="en-US" altLang="zh-CN" sz="1200" dirty="0" err="1"/>
              <a:t>ThiNet</a:t>
            </a:r>
            <a:r>
              <a:rPr lang="en-US" altLang="zh-CN" sz="1200" dirty="0"/>
              <a:t>: A Filter Level Pruning Method for Deep Neural Network Compression. 5068-5076. 10.1109/ICCV.2017.541. </a:t>
            </a:r>
            <a:endParaRPr lang="zh-CN" altLang="en-US" sz="1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844" y="2669114"/>
            <a:ext cx="4104762" cy="309523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383" y="1057042"/>
            <a:ext cx="3838095" cy="122857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89478" y="1541358"/>
            <a:ext cx="52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Or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828" y="1323497"/>
            <a:ext cx="3657143" cy="942857"/>
          </a:xfrm>
          <a:prstGeom prst="rect">
            <a:avLst/>
          </a:prstGeom>
        </p:spPr>
      </p:pic>
      <p:sp>
        <p:nvSpPr>
          <p:cNvPr id="12" name="内容占位符 2"/>
          <p:cNvSpPr>
            <a:spLocks noGrp="1"/>
          </p:cNvSpPr>
          <p:nvPr>
            <p:ph sz="half" idx="1"/>
          </p:nvPr>
        </p:nvSpPr>
        <p:spPr>
          <a:xfrm>
            <a:off x="1202620" y="1895565"/>
            <a:ext cx="8920256" cy="1160584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A </a:t>
            </a:r>
            <a:r>
              <a:rPr lang="en-US" altLang="zh-CN" dirty="0"/>
              <a:t>greedy algorithm for channel selection</a:t>
            </a:r>
            <a:endParaRPr lang="en-US" altLang="zh-CN" dirty="0" smtClean="0"/>
          </a:p>
        </p:txBody>
      </p:sp>
      <p:sp>
        <p:nvSpPr>
          <p:cNvPr id="15" name="内容占位符 2"/>
          <p:cNvSpPr>
            <a:spLocks noGrp="1"/>
          </p:cNvSpPr>
          <p:nvPr>
            <p:ph sz="half" idx="1"/>
          </p:nvPr>
        </p:nvSpPr>
        <p:spPr>
          <a:xfrm>
            <a:off x="6048854" y="1935500"/>
            <a:ext cx="4597372" cy="1160584"/>
          </a:xfrm>
        </p:spPr>
        <p:txBody>
          <a:bodyPr>
            <a:normAutofit/>
          </a:bodyPr>
          <a:lstStyle/>
          <a:p>
            <a:r>
              <a:rPr lang="en-US" altLang="zh-CN" dirty="0"/>
              <a:t>Minimize the reconstruction error</a:t>
            </a:r>
            <a:endParaRPr lang="en-US" altLang="zh-CN" dirty="0" smtClean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595" y="2722861"/>
            <a:ext cx="3895238" cy="102857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486" y="3439341"/>
            <a:ext cx="1419048" cy="180952"/>
          </a:xfrm>
          <a:prstGeom prst="rect">
            <a:avLst/>
          </a:prstGeom>
        </p:spPr>
      </p:pic>
      <p:sp>
        <p:nvSpPr>
          <p:cNvPr id="19" name="内容占位符 2"/>
          <p:cNvSpPr>
            <a:spLocks noGrp="1"/>
          </p:cNvSpPr>
          <p:nvPr>
            <p:ph sz="half" idx="1"/>
          </p:nvPr>
        </p:nvSpPr>
        <p:spPr>
          <a:xfrm>
            <a:off x="5912828" y="4571365"/>
            <a:ext cx="4597372" cy="1160584"/>
          </a:xfrm>
        </p:spPr>
        <p:txBody>
          <a:bodyPr>
            <a:normAutofit/>
          </a:bodyPr>
          <a:lstStyle/>
          <a:p>
            <a:r>
              <a:rPr lang="en-US" altLang="zh-CN" dirty="0"/>
              <a:t>Pruning strategy</a:t>
            </a:r>
            <a:endParaRPr lang="en-US" altLang="zh-CN" dirty="0" smtClean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2173" y="3963550"/>
            <a:ext cx="3876190" cy="23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8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5" grpId="0" build="p"/>
      <p:bldP spid="1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89836" y="87924"/>
            <a:ext cx="2229310" cy="360484"/>
          </a:xfrm>
        </p:spPr>
        <p:txBody>
          <a:bodyPr anchor="t">
            <a:normAutofit lnSpcReduction="10000"/>
          </a:bodyPr>
          <a:lstStyle/>
          <a:p>
            <a:r>
              <a:rPr lang="en-US" altLang="zh-CN" dirty="0" smtClean="0"/>
              <a:t>Evaluation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89836" y="6297116"/>
            <a:ext cx="9912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[2</a:t>
            </a:r>
            <a:r>
              <a:rPr lang="en-US" altLang="zh-CN" sz="1200" dirty="0"/>
              <a:t>] Luo, Jian-</a:t>
            </a:r>
            <a:r>
              <a:rPr lang="en-US" altLang="zh-CN" sz="1200" dirty="0" err="1"/>
              <a:t>Hao</a:t>
            </a:r>
            <a:r>
              <a:rPr lang="en-US" altLang="zh-CN" sz="1200" dirty="0"/>
              <a:t> &amp; Wu, </a:t>
            </a:r>
            <a:r>
              <a:rPr lang="en-US" altLang="zh-CN" sz="1200" dirty="0" err="1"/>
              <a:t>Jianxin</a:t>
            </a:r>
            <a:r>
              <a:rPr lang="en-US" altLang="zh-CN" sz="1200" dirty="0"/>
              <a:t> &amp; Lin, </a:t>
            </a:r>
            <a:r>
              <a:rPr lang="en-US" altLang="zh-CN" sz="1200" dirty="0" err="1"/>
              <a:t>Weiyao</a:t>
            </a:r>
            <a:r>
              <a:rPr lang="en-US" altLang="zh-CN" sz="1200" dirty="0"/>
              <a:t>. (2017). </a:t>
            </a:r>
            <a:r>
              <a:rPr lang="en-US" altLang="zh-CN" sz="1200" dirty="0" err="1"/>
              <a:t>ThiNet</a:t>
            </a:r>
            <a:r>
              <a:rPr lang="en-US" altLang="zh-CN" sz="1200" dirty="0"/>
              <a:t>: A Filter Level Pruning Method for Deep Neural Network Compression. 5068-5076. 10.1109/ICCV.2017.541. </a:t>
            </a: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836" y="975070"/>
            <a:ext cx="3828571" cy="3571429"/>
          </a:xfrm>
          <a:prstGeom prst="rect">
            <a:avLst/>
          </a:prstGeom>
        </p:spPr>
      </p:pic>
      <p:sp>
        <p:nvSpPr>
          <p:cNvPr id="21" name="内容占位符 2"/>
          <p:cNvSpPr>
            <a:spLocks noGrp="1"/>
          </p:cNvSpPr>
          <p:nvPr>
            <p:ph sz="half" idx="1"/>
          </p:nvPr>
        </p:nvSpPr>
        <p:spPr>
          <a:xfrm>
            <a:off x="1489836" y="567579"/>
            <a:ext cx="3609702" cy="407491"/>
          </a:xfrm>
        </p:spPr>
        <p:txBody>
          <a:bodyPr anchor="t">
            <a:normAutofit/>
          </a:bodyPr>
          <a:lstStyle/>
          <a:p>
            <a:r>
              <a:rPr lang="en-US" altLang="zh-CN" dirty="0"/>
              <a:t>Different filter selection criteria</a:t>
            </a:r>
            <a:endParaRPr lang="en-US" altLang="zh-CN" dirty="0" smtClean="0"/>
          </a:p>
        </p:txBody>
      </p:sp>
      <p:sp>
        <p:nvSpPr>
          <p:cNvPr id="22" name="内容占位符 2"/>
          <p:cNvSpPr>
            <a:spLocks noGrp="1"/>
          </p:cNvSpPr>
          <p:nvPr>
            <p:ph sz="half" idx="1"/>
          </p:nvPr>
        </p:nvSpPr>
        <p:spPr>
          <a:xfrm>
            <a:off x="5880128" y="165606"/>
            <a:ext cx="3050730" cy="536236"/>
          </a:xfrm>
        </p:spPr>
        <p:txBody>
          <a:bodyPr anchor="t">
            <a:normAutofit/>
          </a:bodyPr>
          <a:lstStyle/>
          <a:p>
            <a:r>
              <a:rPr lang="en-US" altLang="zh-CN" dirty="0"/>
              <a:t>VGG-16 on ImageNet</a:t>
            </a:r>
            <a:endParaRPr lang="en-US" altLang="zh-CN" dirty="0" smtClean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28" y="498116"/>
            <a:ext cx="3341523" cy="4048383"/>
          </a:xfrm>
          <a:prstGeom prst="rect">
            <a:avLst/>
          </a:prstGeom>
        </p:spPr>
      </p:pic>
      <p:sp>
        <p:nvSpPr>
          <p:cNvPr id="23" name="内容占位符 2"/>
          <p:cNvSpPr>
            <a:spLocks noGrp="1"/>
          </p:cNvSpPr>
          <p:nvPr>
            <p:ph sz="half" idx="1"/>
          </p:nvPr>
        </p:nvSpPr>
        <p:spPr>
          <a:xfrm>
            <a:off x="5880128" y="4500861"/>
            <a:ext cx="3050730" cy="536236"/>
          </a:xfrm>
        </p:spPr>
        <p:txBody>
          <a:bodyPr anchor="t">
            <a:normAutofit/>
          </a:bodyPr>
          <a:lstStyle/>
          <a:p>
            <a:r>
              <a:rPr lang="en-US" altLang="zh-CN" dirty="0"/>
              <a:t>VGG-16 on ImageNet</a:t>
            </a:r>
            <a:endParaRPr lang="en-US" altLang="zh-CN" dirty="0" smtClean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128" y="4879009"/>
            <a:ext cx="3344702" cy="130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3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77759" y="1116623"/>
            <a:ext cx="6664904" cy="5319010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Fundamentals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The correlation between two connected neurons are defined by the magnitude of the correlation between their neural activations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Methodology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Baseline model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dirty="0" smtClean="0"/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577759" y="218552"/>
            <a:ext cx="6036379" cy="10711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600" b="1" dirty="0" err="1"/>
              <a:t>Sparsifying</a:t>
            </a:r>
            <a:r>
              <a:rPr lang="en-US" altLang="zh-CN" sz="3600" b="1" dirty="0"/>
              <a:t> Neural Network Connections for Face Recognition</a:t>
            </a:r>
            <a:endParaRPr lang="en-US" altLang="zh-CN" sz="3600" b="1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1489836" y="6297116"/>
            <a:ext cx="9912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[3] Sun</a:t>
            </a:r>
            <a:r>
              <a:rPr lang="en-US" altLang="zh-CN" sz="1200" dirty="0"/>
              <a:t>, Yi &amp; Wang, </a:t>
            </a:r>
            <a:r>
              <a:rPr lang="en-US" altLang="zh-CN" sz="1200" dirty="0" err="1"/>
              <a:t>Xiaogang</a:t>
            </a:r>
            <a:r>
              <a:rPr lang="en-US" altLang="zh-CN" sz="1200" dirty="0"/>
              <a:t> &amp; Tang, </a:t>
            </a:r>
            <a:r>
              <a:rPr lang="en-US" altLang="zh-CN" sz="1200" dirty="0" err="1"/>
              <a:t>Xiaoou</a:t>
            </a:r>
            <a:r>
              <a:rPr lang="en-US" altLang="zh-CN" sz="1200" dirty="0"/>
              <a:t>. (2016). </a:t>
            </a:r>
            <a:r>
              <a:rPr lang="en-US" altLang="zh-CN" sz="1200" dirty="0" err="1"/>
              <a:t>Sparsifying</a:t>
            </a:r>
            <a:r>
              <a:rPr lang="en-US" altLang="zh-CN" sz="1200" dirty="0"/>
              <a:t> Neural Network Connections for Face Recognition. 4856-4864. 10.1109/CVPR.2016.525. </a:t>
            </a:r>
            <a:endParaRPr lang="zh-CN" altLang="en-US" sz="1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351" y="2882241"/>
            <a:ext cx="4076190" cy="3133333"/>
          </a:xfrm>
          <a:prstGeom prst="rect">
            <a:avLst/>
          </a:prstGeom>
        </p:spPr>
      </p:pic>
      <p:sp>
        <p:nvSpPr>
          <p:cNvPr id="9" name="内容占位符 2"/>
          <p:cNvSpPr>
            <a:spLocks noGrp="1"/>
          </p:cNvSpPr>
          <p:nvPr>
            <p:ph sz="half" idx="1"/>
          </p:nvPr>
        </p:nvSpPr>
        <p:spPr>
          <a:xfrm>
            <a:off x="6729372" y="2080367"/>
            <a:ext cx="2967863" cy="2368540"/>
          </a:xfrm>
        </p:spPr>
        <p:txBody>
          <a:bodyPr anchor="t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Sparse </a:t>
            </a:r>
            <a:r>
              <a:rPr lang="en-US" altLang="zh-CN" dirty="0" err="1"/>
              <a:t>ConvNets</a:t>
            </a:r>
            <a:endParaRPr lang="en-US" altLang="zh-CN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372" y="2423012"/>
            <a:ext cx="3600000" cy="3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89836" y="6297116"/>
            <a:ext cx="9912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[3] Sun</a:t>
            </a:r>
            <a:r>
              <a:rPr lang="en-US" altLang="zh-CN" sz="1200" dirty="0"/>
              <a:t>, Yi &amp; Wang, </a:t>
            </a:r>
            <a:r>
              <a:rPr lang="en-US" altLang="zh-CN" sz="1200" dirty="0" err="1"/>
              <a:t>Xiaogang</a:t>
            </a:r>
            <a:r>
              <a:rPr lang="en-US" altLang="zh-CN" sz="1200" dirty="0"/>
              <a:t> &amp; Tang, </a:t>
            </a:r>
            <a:r>
              <a:rPr lang="en-US" altLang="zh-CN" sz="1200" dirty="0" err="1"/>
              <a:t>Xiaoou</a:t>
            </a:r>
            <a:r>
              <a:rPr lang="en-US" altLang="zh-CN" sz="1200" dirty="0"/>
              <a:t>. (2016). </a:t>
            </a:r>
            <a:r>
              <a:rPr lang="en-US" altLang="zh-CN" sz="1200" dirty="0" err="1"/>
              <a:t>Sparsifying</a:t>
            </a:r>
            <a:r>
              <a:rPr lang="en-US" altLang="zh-CN" sz="1200" dirty="0"/>
              <a:t> Neural Network Connections for Face Recognition. 4856-4864. 10.1109/CVPR.2016.525. </a:t>
            </a:r>
            <a:endParaRPr lang="zh-CN" altLang="en-US" sz="1200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"/>
          </p:nvPr>
        </p:nvSpPr>
        <p:spPr>
          <a:xfrm>
            <a:off x="1646215" y="175778"/>
            <a:ext cx="5163010" cy="591679"/>
          </a:xfrm>
        </p:spPr>
        <p:txBody>
          <a:bodyPr anchor="t">
            <a:normAutofit/>
          </a:bodyPr>
          <a:lstStyle/>
          <a:p>
            <a:r>
              <a:rPr lang="en-US" altLang="zh-CN" dirty="0" err="1"/>
              <a:t>Sparsify</a:t>
            </a:r>
            <a:r>
              <a:rPr lang="en-US" altLang="zh-CN" dirty="0"/>
              <a:t> </a:t>
            </a:r>
            <a:r>
              <a:rPr lang="en-US" altLang="zh-CN" dirty="0" smtClean="0"/>
              <a:t>connections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15" y="574941"/>
            <a:ext cx="3435739" cy="222635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214" y="2801300"/>
            <a:ext cx="3435739" cy="352735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934" y="2377364"/>
            <a:ext cx="3571429" cy="1066667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934" y="3444031"/>
            <a:ext cx="3514286" cy="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1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89836" y="6297116"/>
            <a:ext cx="9912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[3] Sun</a:t>
            </a:r>
            <a:r>
              <a:rPr lang="en-US" altLang="zh-CN" sz="1200" dirty="0"/>
              <a:t>, Yi &amp; Wang, </a:t>
            </a:r>
            <a:r>
              <a:rPr lang="en-US" altLang="zh-CN" sz="1200" dirty="0" err="1"/>
              <a:t>Xiaogang</a:t>
            </a:r>
            <a:r>
              <a:rPr lang="en-US" altLang="zh-CN" sz="1200" dirty="0"/>
              <a:t> &amp; Tang, </a:t>
            </a:r>
            <a:r>
              <a:rPr lang="en-US" altLang="zh-CN" sz="1200" dirty="0" err="1"/>
              <a:t>Xiaoou</a:t>
            </a:r>
            <a:r>
              <a:rPr lang="en-US" altLang="zh-CN" sz="1200" dirty="0"/>
              <a:t>. (2016). </a:t>
            </a:r>
            <a:r>
              <a:rPr lang="en-US" altLang="zh-CN" sz="1200" dirty="0" err="1"/>
              <a:t>Sparsifying</a:t>
            </a:r>
            <a:r>
              <a:rPr lang="en-US" altLang="zh-CN" sz="1200" dirty="0"/>
              <a:t> Neural Network Connections for Face Recognition. 4856-4864. 10.1109/CVPR.2016.525. </a:t>
            </a:r>
            <a:endParaRPr lang="zh-CN" altLang="en-US" sz="1200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"/>
          </p:nvPr>
        </p:nvSpPr>
        <p:spPr>
          <a:xfrm>
            <a:off x="1646215" y="175778"/>
            <a:ext cx="5163010" cy="591679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Evaluation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310" y="3112696"/>
            <a:ext cx="7428571" cy="21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310" y="695452"/>
            <a:ext cx="3542857" cy="2038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167" y="695452"/>
            <a:ext cx="3642970" cy="2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2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4312" y="0"/>
            <a:ext cx="10018713" cy="679938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84312" y="583223"/>
            <a:ext cx="10018713" cy="3733801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Pruning criterion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Second derivative related criterion. </a:t>
            </a:r>
            <a:r>
              <a:rPr lang="en-US" altLang="zh-CN" dirty="0"/>
              <a:t>“Optimal Brain Damage</a:t>
            </a:r>
            <a:r>
              <a:rPr lang="en-US" altLang="zh-CN" dirty="0" smtClean="0"/>
              <a:t>.”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Weights with small means and large variances are pruned</a:t>
            </a:r>
            <a:r>
              <a:rPr lang="en-US" altLang="zh-CN" dirty="0" smtClean="0"/>
              <a:t>. &lt;- weights treated as Gaussian random variables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Absolute </a:t>
            </a:r>
            <a:r>
              <a:rPr lang="en-US" altLang="zh-CN" dirty="0"/>
              <a:t>weight sum</a:t>
            </a:r>
            <a:r>
              <a:rPr lang="en-US" altLang="zh-CN" dirty="0" smtClean="0"/>
              <a:t>. </a:t>
            </a:r>
            <a:r>
              <a:rPr lang="en-US" altLang="zh-CN" i="1" dirty="0">
                <a:solidFill>
                  <a:srgbClr val="FF0000"/>
                </a:solidFill>
              </a:rPr>
              <a:t>Single </a:t>
            </a:r>
            <a:r>
              <a:rPr lang="en-US" altLang="zh-CN" i="1" dirty="0" smtClean="0">
                <a:solidFill>
                  <a:srgbClr val="FF0000"/>
                </a:solidFill>
              </a:rPr>
              <a:t>Layer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Measure the sparsity of activations after the </a:t>
            </a:r>
            <a:r>
              <a:rPr lang="en-US" altLang="zh-CN" dirty="0" err="1" smtClean="0"/>
              <a:t>ReLU</a:t>
            </a:r>
            <a:r>
              <a:rPr lang="en-US" altLang="zh-CN" dirty="0" smtClean="0"/>
              <a:t> function. &lt;- the number of zero outputs </a:t>
            </a:r>
            <a:r>
              <a:rPr lang="en-US" altLang="zh-CN" i="1" dirty="0">
                <a:solidFill>
                  <a:srgbClr val="FF0000"/>
                </a:solidFill>
              </a:rPr>
              <a:t>Single </a:t>
            </a:r>
            <a:r>
              <a:rPr lang="en-US" altLang="zh-CN" i="1" dirty="0" smtClean="0">
                <a:solidFill>
                  <a:srgbClr val="FF0000"/>
                </a:solidFill>
              </a:rPr>
              <a:t>Layer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Taylor expansion to approximate the influence to loss function induced by removing each filter</a:t>
            </a:r>
            <a:r>
              <a:rPr lang="en-US" altLang="zh-CN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Absolute weight (Song Han) </a:t>
            </a:r>
            <a:r>
              <a:rPr lang="en-US" altLang="zh-CN" i="1" dirty="0" smtClean="0">
                <a:solidFill>
                  <a:srgbClr val="FF0000"/>
                </a:solidFill>
              </a:rPr>
              <a:t>Single Layer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Correlation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Random path loss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>
          <a:xfrm>
            <a:off x="1484312" y="4006361"/>
            <a:ext cx="3421796" cy="2587870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Pruning granularity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Layer-wise </a:t>
            </a:r>
            <a:r>
              <a:rPr lang="en-US" altLang="zh-CN" dirty="0" smtClean="0"/>
              <a:t>pruning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Feature map </a:t>
            </a:r>
            <a:r>
              <a:rPr lang="en-US" altLang="zh-CN" dirty="0" smtClean="0"/>
              <a:t>pruning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Kernel-pruning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Intra-kernel-pruning</a:t>
            </a:r>
            <a:endParaRPr lang="en-US" altLang="zh-CN" dirty="0" smtClean="0"/>
          </a:p>
        </p:txBody>
      </p:sp>
      <p:sp>
        <p:nvSpPr>
          <p:cNvPr id="6" name="内容占位符 2"/>
          <p:cNvSpPr>
            <a:spLocks noGrp="1"/>
          </p:cNvSpPr>
          <p:nvPr>
            <p:ph sz="half" idx="1"/>
          </p:nvPr>
        </p:nvSpPr>
        <p:spPr>
          <a:xfrm>
            <a:off x="4906108" y="4006360"/>
            <a:ext cx="3421796" cy="1119554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Retraining procedure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Iteratively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One-shot</a:t>
            </a:r>
          </a:p>
        </p:txBody>
      </p:sp>
      <p:sp>
        <p:nvSpPr>
          <p:cNvPr id="7" name="内容占位符 2"/>
          <p:cNvSpPr>
            <a:spLocks noGrp="1"/>
          </p:cNvSpPr>
          <p:nvPr>
            <p:ph sz="half" idx="1"/>
          </p:nvPr>
        </p:nvSpPr>
        <p:spPr>
          <a:xfrm>
            <a:off x="7908862" y="4006360"/>
            <a:ext cx="4022299" cy="1787769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When to stop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Training converges (seldom)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Achieve the desired pruning ratio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After specific epochs</a:t>
            </a:r>
          </a:p>
        </p:txBody>
      </p:sp>
    </p:spTree>
    <p:extLst>
      <p:ext uri="{BB962C8B-B14F-4D97-AF65-F5344CB8AC3E}">
        <p14:creationId xmlns:p14="http://schemas.microsoft.com/office/powerpoint/2010/main" val="2118919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4312" y="0"/>
            <a:ext cx="10018713" cy="67993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75520" y="583223"/>
            <a:ext cx="10018713" cy="6274777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Some interesting notes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Sparsity improves performance &lt;- “</a:t>
            </a:r>
            <a:r>
              <a:rPr lang="en-US" altLang="zh-CN" dirty="0" err="1"/>
              <a:t>Sparsifying</a:t>
            </a:r>
            <a:r>
              <a:rPr lang="en-US" altLang="zh-CN" dirty="0"/>
              <a:t> Neural Network Connections for Face Recognition</a:t>
            </a:r>
            <a:r>
              <a:rPr lang="en-US" altLang="zh-CN" dirty="0" smtClean="0"/>
              <a:t>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Directly </a:t>
            </a:r>
            <a:r>
              <a:rPr lang="en-US" altLang="zh-CN" dirty="0"/>
              <a:t>training the sparse </a:t>
            </a:r>
            <a:r>
              <a:rPr lang="en-US" altLang="zh-CN" dirty="0" err="1"/>
              <a:t>ConvNet</a:t>
            </a:r>
            <a:r>
              <a:rPr lang="en-US" altLang="zh-CN" dirty="0"/>
              <a:t> from scratch failed to find good solutions for face recognition, while using a previously learned denser model to properly initialize a sparser model is critical to continue learning effective features for face </a:t>
            </a:r>
            <a:r>
              <a:rPr lang="en-US" altLang="zh-CN" dirty="0" smtClean="0"/>
              <a:t>recognition.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keeping a small portion of connections to weakly correlated neurons is also helpful</a:t>
            </a:r>
            <a:r>
              <a:rPr lang="en-US" altLang="zh-CN" dirty="0" smtClean="0"/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Better </a:t>
            </a:r>
            <a:r>
              <a:rPr lang="en-US" altLang="zh-CN" dirty="0"/>
              <a:t>pruning results can be achieved when a network is pruned with both granularities successively. </a:t>
            </a:r>
            <a:r>
              <a:rPr lang="en-US" altLang="zh-CN" dirty="0" smtClean="0"/>
              <a:t>&lt;- “COARSE </a:t>
            </a:r>
            <a:r>
              <a:rPr lang="en-US" altLang="zh-CN" dirty="0"/>
              <a:t>PRUNING OF CONVOLUTIONAL NEURAL NETWORKS WITH RANDOM </a:t>
            </a:r>
            <a:r>
              <a:rPr lang="en-US" altLang="zh-CN" dirty="0" smtClean="0"/>
              <a:t>MASKS”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Pre-retraining </a:t>
            </a:r>
            <a:r>
              <a:rPr lang="en-US" altLang="zh-CN" dirty="0"/>
              <a:t>least adversarial pruning masks perform better after </a:t>
            </a:r>
            <a:r>
              <a:rPr lang="en-US" altLang="zh-CN" dirty="0" smtClean="0"/>
              <a:t>retraining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/>
              <a:t>T</a:t>
            </a:r>
            <a:r>
              <a:rPr lang="en-US" altLang="zh-CN" dirty="0" smtClean="0"/>
              <a:t>he </a:t>
            </a:r>
            <a:r>
              <a:rPr lang="en-US" altLang="zh-CN" dirty="0"/>
              <a:t>number of neuron synapses has reached the peak in early childhood, followed by gradual pruning during its development</a:t>
            </a:r>
            <a:r>
              <a:rPr lang="en-US" altLang="zh-CN" dirty="0" smtClean="0"/>
              <a:t>. </a:t>
            </a:r>
            <a:r>
              <a:rPr lang="en-US" altLang="zh-CN" dirty="0"/>
              <a:t>&lt;- </a:t>
            </a:r>
            <a:r>
              <a:rPr lang="en-US" altLang="zh-CN" dirty="0" smtClean="0"/>
              <a:t>“</a:t>
            </a:r>
            <a:r>
              <a:rPr lang="en-US" altLang="zh-CN" dirty="0" err="1" smtClean="0"/>
              <a:t>ThiNet</a:t>
            </a:r>
            <a:r>
              <a:rPr lang="en-US" altLang="zh-CN" dirty="0"/>
              <a:t>: A Filter Level Pruning Method for Deep Neural Network </a:t>
            </a:r>
            <a:r>
              <a:rPr lang="en-US" altLang="zh-CN" dirty="0" smtClean="0"/>
              <a:t>Compression”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Neurons </a:t>
            </a:r>
            <a:r>
              <a:rPr lang="en-US" altLang="zh-CN" dirty="0"/>
              <a:t>only get pruned at a very high compression ratio &lt;- “Neuron Pruning for Compressing Deep Networks using </a:t>
            </a:r>
            <a:r>
              <a:rPr lang="en-US" altLang="zh-CN" dirty="0" err="1"/>
              <a:t>Maxout</a:t>
            </a:r>
            <a:r>
              <a:rPr lang="en-US" altLang="zh-CN" dirty="0"/>
              <a:t> Architectures</a:t>
            </a:r>
            <a:r>
              <a:rPr lang="en-US" altLang="zh-CN" dirty="0" smtClean="0"/>
              <a:t>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Probabilistically </a:t>
            </a:r>
            <a:r>
              <a:rPr lang="en-US" altLang="zh-CN" dirty="0"/>
              <a:t>pruning parameters based on their absolute </a:t>
            </a:r>
            <a:r>
              <a:rPr lang="en-US" altLang="zh-CN" dirty="0" smtClean="0"/>
              <a:t>value gave </a:t>
            </a:r>
            <a:r>
              <a:rPr lang="en-US" altLang="zh-CN" dirty="0"/>
              <a:t>worse results with respect to </a:t>
            </a:r>
            <a:r>
              <a:rPr lang="en-US" altLang="zh-CN" dirty="0" smtClean="0"/>
              <a:t>accuracy </a:t>
            </a:r>
            <a:r>
              <a:rPr lang="en-US" altLang="zh-CN" dirty="0"/>
              <a:t>&lt;- “EFFICIENT METHODS AND HARDWARE FOR DEEP LEARNING</a:t>
            </a:r>
            <a:r>
              <a:rPr lang="en-US" altLang="zh-CN" dirty="0" smtClean="0"/>
              <a:t>”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 smtClean="0"/>
              <a:t>Accuracy doesn’t drop sharply until about 70% the pruning ratio and less as pruning becomes coarser</a:t>
            </a:r>
          </a:p>
        </p:txBody>
      </p:sp>
    </p:spTree>
    <p:extLst>
      <p:ext uri="{BB962C8B-B14F-4D97-AF65-F5344CB8AC3E}">
        <p14:creationId xmlns:p14="http://schemas.microsoft.com/office/powerpoint/2010/main" val="391197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4312" y="202223"/>
            <a:ext cx="3114065" cy="764931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dirty="0" smtClean="0"/>
              <a:t>Bibliography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84312" y="967154"/>
            <a:ext cx="10707688" cy="4176346"/>
          </a:xfrm>
        </p:spPr>
        <p:txBody>
          <a:bodyPr anchor="t">
            <a:normAutofit/>
          </a:bodyPr>
          <a:lstStyle/>
          <a:p>
            <a:r>
              <a:rPr lang="en-US" altLang="zh-CN" dirty="0"/>
              <a:t>Dai, </a:t>
            </a:r>
            <a:r>
              <a:rPr lang="en-US" altLang="zh-CN" dirty="0" err="1"/>
              <a:t>Xiaoliang</a:t>
            </a:r>
            <a:r>
              <a:rPr lang="en-US" altLang="zh-CN" dirty="0"/>
              <a:t> &amp; Yin, </a:t>
            </a:r>
            <a:r>
              <a:rPr lang="en-US" altLang="zh-CN" dirty="0" err="1"/>
              <a:t>Hongxu</a:t>
            </a:r>
            <a:r>
              <a:rPr lang="en-US" altLang="zh-CN" dirty="0"/>
              <a:t> &amp; </a:t>
            </a:r>
            <a:r>
              <a:rPr lang="en-US" altLang="zh-CN" dirty="0" err="1"/>
              <a:t>Jha</a:t>
            </a:r>
            <a:r>
              <a:rPr lang="en-US" altLang="zh-CN" dirty="0"/>
              <a:t>, N.K.. (2018). Grow and Prune Compact, Fast, and Accurate LSTMs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Dally, Bill. (2017). Efficient methods and hardware for deep learning. 1. 10.1145/3149166.3149168. </a:t>
            </a:r>
            <a:endParaRPr lang="en-US" altLang="zh-CN" dirty="0" smtClean="0"/>
          </a:p>
          <a:p>
            <a:r>
              <a:rPr lang="en-US" altLang="zh-CN" dirty="0"/>
              <a:t>Li, </a:t>
            </a:r>
            <a:r>
              <a:rPr lang="en-US" altLang="zh-CN" dirty="0" err="1"/>
              <a:t>Dawei</a:t>
            </a:r>
            <a:r>
              <a:rPr lang="en-US" altLang="zh-CN" dirty="0"/>
              <a:t> &amp; Wang, </a:t>
            </a:r>
            <a:r>
              <a:rPr lang="en-US" altLang="zh-CN" dirty="0" err="1"/>
              <a:t>Xiaolong</a:t>
            </a:r>
            <a:r>
              <a:rPr lang="en-US" altLang="zh-CN" dirty="0"/>
              <a:t> &amp; Kong, </a:t>
            </a:r>
            <a:r>
              <a:rPr lang="en-US" altLang="zh-CN" dirty="0" err="1"/>
              <a:t>Deguang</a:t>
            </a:r>
            <a:r>
              <a:rPr lang="en-US" altLang="zh-CN" dirty="0"/>
              <a:t>. (2017). </a:t>
            </a:r>
            <a:r>
              <a:rPr lang="en-US" altLang="zh-CN" dirty="0" err="1"/>
              <a:t>DeepRebirth</a:t>
            </a:r>
            <a:r>
              <a:rPr lang="en-US" altLang="zh-CN" dirty="0"/>
              <a:t>: Accelerating Deep Neural Network Execution on Mobile Devices. </a:t>
            </a:r>
            <a:endParaRPr lang="en-US" altLang="zh-CN" dirty="0" smtClean="0"/>
          </a:p>
          <a:p>
            <a:r>
              <a:rPr lang="en-US" altLang="zh-CN" dirty="0"/>
              <a:t>Coarse Pruning of Convolutional Neural Networks with Random Masks </a:t>
            </a:r>
            <a:r>
              <a:rPr lang="en-US" altLang="zh-CN" dirty="0" smtClean="0"/>
              <a:t>(ICLR2017 rejected)</a:t>
            </a:r>
          </a:p>
          <a:p>
            <a:r>
              <a:rPr lang="en-US" altLang="zh-CN" dirty="0"/>
              <a:t>[1] Moya Rueda, Fernando &amp; </a:t>
            </a:r>
            <a:r>
              <a:rPr lang="en-US" altLang="zh-CN" dirty="0" err="1"/>
              <a:t>Grzeszick</a:t>
            </a:r>
            <a:r>
              <a:rPr lang="en-US" altLang="zh-CN" dirty="0"/>
              <a:t>, Rene &amp; A. Fink, Gernot. (2017). Neuron Pruning for Compressing Deep Networks Using </a:t>
            </a:r>
            <a:r>
              <a:rPr lang="en-US" altLang="zh-CN" dirty="0" err="1"/>
              <a:t>Maxout</a:t>
            </a:r>
            <a:r>
              <a:rPr lang="en-US" altLang="zh-CN" dirty="0"/>
              <a:t> Architectures. 177-188. 10.1007/978-3-319-66709-6_15. </a:t>
            </a:r>
            <a:endParaRPr lang="en-US" altLang="zh-CN" dirty="0" smtClean="0"/>
          </a:p>
          <a:p>
            <a:r>
              <a:rPr lang="en-US" altLang="zh-CN" dirty="0" smtClean="0"/>
              <a:t>[2] Luo</a:t>
            </a:r>
            <a:r>
              <a:rPr lang="en-US" altLang="zh-CN" dirty="0"/>
              <a:t>, Jian-</a:t>
            </a:r>
            <a:r>
              <a:rPr lang="en-US" altLang="zh-CN" dirty="0" err="1"/>
              <a:t>Hao</a:t>
            </a:r>
            <a:r>
              <a:rPr lang="en-US" altLang="zh-CN" dirty="0"/>
              <a:t> &amp; Wu, </a:t>
            </a:r>
            <a:r>
              <a:rPr lang="en-US" altLang="zh-CN" dirty="0" err="1"/>
              <a:t>Jianxin</a:t>
            </a:r>
            <a:r>
              <a:rPr lang="en-US" altLang="zh-CN" dirty="0"/>
              <a:t> &amp; Lin, </a:t>
            </a:r>
            <a:r>
              <a:rPr lang="en-US" altLang="zh-CN" dirty="0" err="1"/>
              <a:t>Weiyao</a:t>
            </a:r>
            <a:r>
              <a:rPr lang="en-US" altLang="zh-CN" dirty="0"/>
              <a:t>. (2017). </a:t>
            </a:r>
            <a:r>
              <a:rPr lang="en-US" altLang="zh-CN" dirty="0" err="1"/>
              <a:t>ThiNet</a:t>
            </a:r>
            <a:r>
              <a:rPr lang="en-US" altLang="zh-CN" dirty="0"/>
              <a:t>: A Filter Level Pruning Method for Deep Neural Network Compression. 5068-5076. 10.1109/ICCV.2017.541. </a:t>
            </a:r>
            <a:endParaRPr lang="en-US" altLang="zh-CN" dirty="0" smtClean="0"/>
          </a:p>
          <a:p>
            <a:r>
              <a:rPr lang="en-US" altLang="zh-CN" dirty="0"/>
              <a:t>[3] Sun, Yi &amp; Wang, </a:t>
            </a:r>
            <a:r>
              <a:rPr lang="en-US" altLang="zh-CN" dirty="0" err="1"/>
              <a:t>Xiaogang</a:t>
            </a:r>
            <a:r>
              <a:rPr lang="en-US" altLang="zh-CN" dirty="0"/>
              <a:t> &amp; Tang, </a:t>
            </a:r>
            <a:r>
              <a:rPr lang="en-US" altLang="zh-CN" dirty="0" err="1"/>
              <a:t>Xiaoou</a:t>
            </a:r>
            <a:r>
              <a:rPr lang="en-US" altLang="zh-CN" dirty="0"/>
              <a:t>. (2016). </a:t>
            </a:r>
            <a:r>
              <a:rPr lang="en-US" altLang="zh-CN" dirty="0" err="1"/>
              <a:t>Sparsifying</a:t>
            </a:r>
            <a:r>
              <a:rPr lang="en-US" altLang="zh-CN" dirty="0"/>
              <a:t> Neural Network Connections for Face Recognition. 4856-4864. 10.1109/CVPR.2016.525. 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b="1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871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4312" y="202223"/>
            <a:ext cx="3114065" cy="764931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dirty="0" smtClean="0"/>
              <a:t>Source Code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84312" y="967154"/>
            <a:ext cx="10707688" cy="3156438"/>
          </a:xfrm>
        </p:spPr>
        <p:txBody>
          <a:bodyPr anchor="t">
            <a:normAutofit/>
          </a:bodyPr>
          <a:lstStyle/>
          <a:p>
            <a:r>
              <a:rPr lang="en-US" altLang="zh-CN" dirty="0" smtClean="0"/>
              <a:t>Soft </a:t>
            </a:r>
            <a:r>
              <a:rPr lang="en-US" altLang="zh-CN" dirty="0"/>
              <a:t>Filter Pruning for Accelerating Deep Convolutional Neural Networks</a:t>
            </a:r>
          </a:p>
          <a:p>
            <a:r>
              <a:rPr lang="en-US" altLang="zh-CN" dirty="0" err="1"/>
              <a:t>ThiNet</a:t>
            </a:r>
            <a:r>
              <a:rPr lang="en-US" altLang="zh-CN" dirty="0"/>
              <a:t>: A Filter Level Pruning Method for Deep Neural Network Compression</a:t>
            </a:r>
          </a:p>
          <a:p>
            <a:r>
              <a:rPr lang="en-US" altLang="zh-CN" dirty="0"/>
              <a:t>Pruning Convolutional Neural Networks for Resource Efficient Inference</a:t>
            </a:r>
          </a:p>
          <a:p>
            <a:r>
              <a:rPr lang="en-US" altLang="zh-CN" dirty="0"/>
              <a:t>Dynamic Network Surgery for Efficient DNNs</a:t>
            </a:r>
          </a:p>
          <a:p>
            <a:r>
              <a:rPr lang="en-US" altLang="zh-CN" dirty="0"/>
              <a:t>Learning both Weights and Connections for Efficient Neural Networks -- /d </a:t>
            </a:r>
            <a:r>
              <a:rPr lang="en-US" altLang="zh-CN" dirty="0" err="1"/>
              <a:t>DeepCompression-PyTorch</a:t>
            </a:r>
            <a:endParaRPr lang="en-US" altLang="zh-CN" dirty="0"/>
          </a:p>
          <a:p>
            <a:r>
              <a:rPr lang="en-US" altLang="zh-CN" dirty="0"/>
              <a:t>Deep Compression: Compressing Deep Neural Networks with Pruning, Trained Quantization and Huffman Coding -- /d </a:t>
            </a:r>
            <a:r>
              <a:rPr lang="en-US" altLang="zh-CN" dirty="0" err="1"/>
              <a:t>DeepCompression-caffe</a:t>
            </a:r>
            <a:endParaRPr lang="en-US" altLang="zh-CN" dirty="0"/>
          </a:p>
          <a:p>
            <a:r>
              <a:rPr lang="en-US" altLang="zh-CN" dirty="0"/>
              <a:t>Channel Pruning for Accelerating Very Deep Neural </a:t>
            </a:r>
            <a:r>
              <a:rPr lang="en-US" altLang="zh-CN" dirty="0" smtClean="0"/>
              <a:t>Networks</a:t>
            </a:r>
            <a:endParaRPr lang="en-US" altLang="zh-CN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80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视差">
  <a:themeElements>
    <a:clrScheme name="视差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视差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视差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243</TotalTime>
  <Words>1329</Words>
  <Application>Microsoft Office PowerPoint</Application>
  <PresentationFormat>宽屏</PresentationFormat>
  <Paragraphs>188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等线</vt:lpstr>
      <vt:lpstr>华文楷体</vt:lpstr>
      <vt:lpstr>Arial</vt:lpstr>
      <vt:lpstr>Cambria Math</vt:lpstr>
      <vt:lpstr>Corbel</vt:lpstr>
      <vt:lpstr>Wingdings</vt:lpstr>
      <vt:lpstr>视差</vt:lpstr>
      <vt:lpstr>Pruning文献报告</vt:lpstr>
      <vt:lpstr>Grow and Prune Compact, Fast, and Accurate LSTMs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Summary</vt:lpstr>
      <vt:lpstr>Bibliography</vt:lpstr>
      <vt:lpstr>Source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Pruning文献报告</dc:title>
  <dc:creator>Windows 用户</dc:creator>
  <cp:lastModifiedBy>Windows 用户</cp:lastModifiedBy>
  <cp:revision>281</cp:revision>
  <dcterms:created xsi:type="dcterms:W3CDTF">2018-11-18T10:58:08Z</dcterms:created>
  <dcterms:modified xsi:type="dcterms:W3CDTF">2018-11-20T12:11:49Z</dcterms:modified>
</cp:coreProperties>
</file>